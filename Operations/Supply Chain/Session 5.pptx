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91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rZfNbDIUj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GCK18JyPVXI" TargetMode="External"/><Relationship Id="rId4" Type="http://schemas.openxmlformats.org/officeDocument/2006/relationships/hyperlink" Target="https://www.youtube.com/watch?v=oZ4ViVjBpTk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elvNcsHlG6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42t_t0-sxs0" TargetMode="External"/><Relationship Id="rId4" Type="http://schemas.openxmlformats.org/officeDocument/2006/relationships/hyperlink" Target="https://www.youtube.com/watch?v=wQ3Z60YFBaY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J2pTNTksno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y9tyXL87l1A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J2pTNTksno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365760" y="5989320"/>
            <a:ext cx="12801600" cy="1280160"/>
          </a:xfrm>
          <a:prstGeom prst="rect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 |  SUPPLY CHAIN &amp; LOGISTICS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Information Systems, Reverse Logistics,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 &amp; 3PL / 4PL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Logistics Networks  •  Selecting Logistics Providers &amp; Intermediaries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201168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Ajit M. Maurya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Prin. L. N. Welingkar Institute of Management Development &amp; Research (WeSchool), Mumbai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— 5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19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Information Systems (LIS)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1122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technologies, ERP/WMS/TMS, 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27157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6426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Logistics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0083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process flow, types of flows, real cases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5387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Logistics Network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9044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location, network configurations, trade-offs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" y="4507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434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3PL &amp; 4PL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800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outsourcing, roles, comparison, examples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2960" y="54041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53309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Selection &amp; Intermediaries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56967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criteria, RFP process, decision 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and components of a Logistics Information System (LIS) in coordinating supply chain flows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reverse logistics process and its strategic drivers — returns, recalls, recycling, sustainability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key principles of logistics network design, including facility location and network configuration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2885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3PL and 4PL models and identify when each is appropriate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51297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select logistics providers and intermediaries using a structured decision framework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Information Systems (LIS)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49808" y="3977640"/>
            <a:ext cx="182880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backbone connecting demand, inventory, transport and warehousing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Logistics Information System?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system of people, processes and technology that captures, stores, and communicates data needed to plan, execute, and control logistics activities.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fragmented data (orders, inventory, shipments) into timely, accurate information for decision-making.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order processing, inventory visibility, warehouse operations, transportation, and customer service.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shift from reactive firefighting to proactive, data-driven supply chain management.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 accuracy, lower inventory cost, faster cycle times, and real-time end-to-end visibility.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3FE2F4-47D4-0544-B6EE-7CB9AEC48B13}"/>
              </a:ext>
            </a:extLst>
          </p:cNvPr>
          <p:cNvSpPr/>
          <p:nvPr/>
        </p:nvSpPr>
        <p:spPr>
          <a:xfrm>
            <a:off x="9049789" y="5675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2B35F6-90EA-7F47-1BB9-084694730E1F}"/>
              </a:ext>
            </a:extLst>
          </p:cNvPr>
          <p:cNvSpPr txBox="1"/>
          <p:nvPr/>
        </p:nvSpPr>
        <p:spPr>
          <a:xfrm>
            <a:off x="9390610" y="38735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of a Logistics Information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customer orders, checks stock availability, and triggers fulfillment workflows.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4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stock levels, locations, and movements in real time across nodes.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Management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putaway, picking, packing and slotting decisions inside a facility.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4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4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Management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routes, selects carriers, tenders loads, and tracks in-transit shipments.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9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 Interface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order status, ETAs, and exception alerts to customers and sales teams.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64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64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Analytics (MIS)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operational data into KPIs — OTIF, fill rate, cost-to-serve — for managers.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C6501ED-C81B-9B18-415C-4C9A292A1C0E}"/>
              </a:ext>
            </a:extLst>
          </p:cNvPr>
          <p:cNvSpPr/>
          <p:nvPr/>
        </p:nvSpPr>
        <p:spPr>
          <a:xfrm>
            <a:off x="8695027" y="560742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0EE67E-0C2B-4EA5-2809-171C016FB533}"/>
              </a:ext>
            </a:extLst>
          </p:cNvPr>
          <p:cNvSpPr txBox="1"/>
          <p:nvPr/>
        </p:nvSpPr>
        <p:spPr>
          <a:xfrm>
            <a:off x="9035848" y="593802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Technologies Behind LIS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(Electronic Data Interchange):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automated exchange of purchase orders, invoices, and ASNs between trading partners.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Barcoding &amp; RFID: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identification of items, pallets and containers for real-time inventory accuracy.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GIS &amp; Telematics: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vehicle location, route tracking, and geofencing for transportation visibility.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and shock monitoring for cold-chain and fragile-cargo shipments.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APIs: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ERP, WMS and TMS systems from different vendors to exchange data seamlessly.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0F46C0-A2DB-1FF0-720E-CCA21508148B}"/>
              </a:ext>
            </a:extLst>
          </p:cNvPr>
          <p:cNvSpPr/>
          <p:nvPr/>
        </p:nvSpPr>
        <p:spPr>
          <a:xfrm>
            <a:off x="9002683" y="4787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3B5239-4B8B-6896-3B11-42F183537521}"/>
              </a:ext>
            </a:extLst>
          </p:cNvPr>
          <p:cNvSpPr txBox="1"/>
          <p:nvPr/>
        </p:nvSpPr>
        <p:spPr>
          <a:xfrm>
            <a:off x="9343504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LIS Software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(e.g., SAP, Oracle)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671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finance, procurement, and logistics data across the enterprise.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892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4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837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Management System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1671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storage, picking paths, and labour inside distribution centres.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3741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3192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Management System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64845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loads, optimizes routes, and manages freight settlement.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1729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4808" y="33741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4808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3192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 Management System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64845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dock doors and tracks trailers within a yard or DC campus.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9808" y="48554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800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Planning System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12978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demand and synchronizes supply plans across the network.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64808" y="48554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64808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00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/ Control-Tower Platform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512978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data from multiple systems into one real-time dashboard.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8E4D285-4C16-90FA-20EA-2838DA3FCF52}"/>
              </a:ext>
            </a:extLst>
          </p:cNvPr>
          <p:cNvSpPr/>
          <p:nvPr/>
        </p:nvSpPr>
        <p:spPr>
          <a:xfrm>
            <a:off x="9049789" y="29263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5E521C-78A6-EA64-5C59-F751AEC04128}"/>
              </a:ext>
            </a:extLst>
          </p:cNvPr>
          <p:cNvSpPr txBox="1"/>
          <p:nvPr/>
        </p:nvSpPr>
        <p:spPr>
          <a:xfrm>
            <a:off x="9390610" y="35985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 in Action — Real Company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WMS coordinates millions of SKUs across fulfillment centres with robotics integration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sync between warehouse, seller, and customer-facing app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pre-positions inventory near expected demand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0799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Maersk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TradeLens-style digital platform gave shippers real-time container visibility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reefer containers monitor temperature across ocean transit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links customs, ports, and inland transport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0275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MySupplyChain control tower dashboard for multi-modal shipment tracking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RFID-enabled parcel sortation raises scan accuracy and throughput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ETA engine uses traffic, weather, and historical transit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85484F-54BD-97B4-0A7B-C20438ACCEC9}"/>
              </a:ext>
            </a:extLst>
          </p:cNvPr>
          <p:cNvSpPr/>
          <p:nvPr/>
        </p:nvSpPr>
        <p:spPr>
          <a:xfrm>
            <a:off x="9049789" y="-4836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A8ABCF-8AE1-EDB7-5811-E7A9FD078C52}"/>
              </a:ext>
            </a:extLst>
          </p:cNvPr>
          <p:cNvSpPr txBox="1"/>
          <p:nvPr/>
        </p:nvSpPr>
        <p:spPr>
          <a:xfrm>
            <a:off x="9390610" y="32576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Implementation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Visibility: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inventory and shipment status across the network.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Decision speed: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replace end-of-day or weekly manual reports.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Cost control: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route and load planning reduces empty miles and warehouse labour cost.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Integration: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and disparate data formats slow down system-to-system integration.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Data quality &amp; cybersecurity: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master data undermines trust in the system; connected devices widen the attack surface.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2D24BA-C0A2-2DAF-61AA-75417E26B06F}"/>
              </a:ext>
            </a:extLst>
          </p:cNvPr>
          <p:cNvSpPr/>
          <p:nvPr/>
        </p:nvSpPr>
        <p:spPr>
          <a:xfrm>
            <a:off x="8853054" y="95883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1B1C31-800B-9E99-6D2C-DC56A5A8E18F}"/>
              </a:ext>
            </a:extLst>
          </p:cNvPr>
          <p:cNvSpPr txBox="1"/>
          <p:nvPr/>
        </p:nvSpPr>
        <p:spPr>
          <a:xfrm>
            <a:off x="9193875" y="42647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WATCH &amp; 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Video: Understanding Logistics Information Systems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before class discussion — how does each video's example map to the LIS components covered?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508760" y="2167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Logistics Management Explained</a:t>
            </a:r>
            <a:endParaRPr lang="en-US" sz="1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508760" y="2542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https://www.youtube.com/watch?v=RrZfNbDIUjs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401568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>
            <a:hlinkClick r:id="rId4"/>
          </p:cNvPr>
          <p:cNvSpPr/>
          <p:nvPr/>
        </p:nvSpPr>
        <p:spPr>
          <a:xfrm>
            <a:off x="1508760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Logistics Management Explained: What It Is and Where It Fits</a:t>
            </a:r>
            <a:endParaRPr lang="en-US" sz="140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508760" y="3657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https://www.youtube.com/watch?v=oZ4ViVjBpTk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Text 17">
            <a:hlinkClick r:id="rId5"/>
          </p:cNvPr>
          <p:cNvSpPr/>
          <p:nvPr/>
        </p:nvSpPr>
        <p:spPr>
          <a:xfrm>
            <a:off x="1508760" y="43982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Introduction to Logistics and Supply Chain Management</a:t>
            </a:r>
            <a:endParaRPr lang="en-US" sz="1400" dirty="0"/>
          </a:p>
        </p:txBody>
      </p:sp>
      <p:sp>
        <p:nvSpPr>
          <p:cNvPr id="20" name="Text 18">
            <a:hlinkClick r:id="rId5"/>
          </p:cNvPr>
          <p:cNvSpPr/>
          <p:nvPr/>
        </p:nvSpPr>
        <p:spPr>
          <a:xfrm>
            <a:off x="1508760" y="47731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https://www.youtube.com/watch?v=GCK18JyPVXI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4498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classroom use: play the 3–6 minute clip, then debrief with the discussion prompts on the following slide.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Logistics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49808" y="3977640"/>
            <a:ext cx="182880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backward flow of goods — from returns to recovery and disposal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REVERSE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Reverse Logistics?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planning, implementing and controlling the efficient flow of goods, information and returns from the point of consumption back to the point of origin.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Aftermarket logistics, returns management, or closed-loop supply chain management.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Recaptures value from products that would otherwise be scrapped — through resale, repair, remanufacture, or recycling.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importance: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return rates and sustainability regulation have made reverse logistics a board-level priority, not an afterthought.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ED166-72C9-11F8-A124-F648491C5560}"/>
              </a:ext>
            </a:extLst>
          </p:cNvPr>
          <p:cNvSpPr/>
          <p:nvPr/>
        </p:nvSpPr>
        <p:spPr>
          <a:xfrm>
            <a:off x="8894279" y="7315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1BCDE0-F65F-0E2F-CDE7-482A09D0A116}"/>
              </a:ext>
            </a:extLst>
          </p:cNvPr>
          <p:cNvSpPr txBox="1"/>
          <p:nvPr/>
        </p:nvSpPr>
        <p:spPr>
          <a:xfrm>
            <a:off x="9235100" y="40374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REVERSE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vs. Reverse Logistics — Key Differences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solidFill>
            <a:srgbClr val="141B4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4160520" cy="502920"/>
          </a:xfrm>
          <a:prstGeom prst="rect">
            <a:avLst/>
          </a:prstGeom>
          <a:solidFill>
            <a:srgbClr val="D98E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Logistics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4160520" cy="502920"/>
          </a:xfrm>
          <a:prstGeom prst="rect">
            <a:avLst/>
          </a:prstGeom>
          <a:solidFill>
            <a:srgbClr val="D98E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5236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Logistics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direction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→ Customer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2286000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4380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Producer / recovery point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goods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8529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83280" y="28529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standardized product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8529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43800" y="28529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damaged, used, or defective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19856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4198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419856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83280" y="3419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predictable demand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419856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43800" y="3419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timing are uncertain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8678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8368" y="39867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39867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0" y="3986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often uniform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52360" y="39867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543800" y="3986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damaged or non-standard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553712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368" y="4553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options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4553712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83280" y="45537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known destination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52360" y="4553712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43800" y="45537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options — resale, repair, recycle, dispose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8368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visibility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5120640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383280" y="51206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understood, budgeted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52360" y="5120640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543800" y="51206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hidden / under-measured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E91C7B5-2BF0-36BD-81C1-719AF2E6CAE2}"/>
              </a:ext>
            </a:extLst>
          </p:cNvPr>
          <p:cNvSpPr/>
          <p:nvPr/>
        </p:nvSpPr>
        <p:spPr>
          <a:xfrm>
            <a:off x="9049789" y="84788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21D69F-F6FE-4A6E-E952-02B109E2B918}"/>
              </a:ext>
            </a:extLst>
          </p:cNvPr>
          <p:cNvSpPr txBox="1"/>
          <p:nvPr/>
        </p:nvSpPr>
        <p:spPr>
          <a:xfrm>
            <a:off x="9390610" y="415384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REVERSE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Drivers of Reverse Logistics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Returns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returns from e-commerce, wrong-size, or damaged-in-transit items.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4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Recalls &amp; Quality Issues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or safety-driven withdrawal of defective products from the market.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End-of-Life Recovery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and disposal at the end of a product's useful life (e-waste, batteries).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4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4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&amp; Circular Economy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 goals push firms toward remanufacturing and material recovery.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9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Producer Responsibility (EPR) laws mandate take-back programmes.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64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64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Warranty &amp; Repair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routed back for servicing, refurbishment, and re-issue.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10FC77E-4629-C486-5D12-AB3CEDE5239B}"/>
              </a:ext>
            </a:extLst>
          </p:cNvPr>
          <p:cNvSpPr/>
          <p:nvPr/>
        </p:nvSpPr>
        <p:spPr>
          <a:xfrm>
            <a:off x="9042325" y="11645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C86DE2-8ED2-EF00-B805-8D9195A76412}"/>
              </a:ext>
            </a:extLst>
          </p:cNvPr>
          <p:cNvSpPr txBox="1"/>
          <p:nvPr/>
        </p:nvSpPr>
        <p:spPr>
          <a:xfrm>
            <a:off x="9383146" y="44705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REVERSE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Reverse Logistics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05763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05763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returned, used or end-of-life products from customers or retail points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56662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12694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69818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981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22422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&amp; Sorting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40710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condition and route each item to the right recovery path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0717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6749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33872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3387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86477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04765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Repair, refurbish, remanufacture, or disassemble for parts/materials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4771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40803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097926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97926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0531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Redistribution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68819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as refurbished, donate, or route to secondary markets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48826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4858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361981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361981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14586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Disposal / Recycling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32874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Environmentally sound disposal or material recycling for unusable items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logistics is typically modelled as a five-stage flow, moving a returned item from the customer back through the network to its best next use.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4E2BD8-FD1B-8622-9DDE-ADC0D009EB34}"/>
              </a:ext>
            </a:extLst>
          </p:cNvPr>
          <p:cNvSpPr/>
          <p:nvPr/>
        </p:nvSpPr>
        <p:spPr>
          <a:xfrm>
            <a:off x="9049789" y="8902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26C035-FB35-E212-2CC8-5AB6967062CE}"/>
              </a:ext>
            </a:extLst>
          </p:cNvPr>
          <p:cNvSpPr txBox="1"/>
          <p:nvPr/>
        </p:nvSpPr>
        <p:spPr>
          <a:xfrm>
            <a:off x="9390610" y="41961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REVERSE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Reverse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671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customer returns for refund, exchange, or store credit.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892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4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837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&amp; Refurbishment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1671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products to a sellable or usable condition.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3741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3192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Remanufacturing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64845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Disassembling and rebuilding products to as-new specification.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1729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4808" y="33741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4808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3192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64845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raw materials (metal, plastic, e-waste components) for reuse.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9808" y="48554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800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12978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Environmentally compliant destruction of unusable or hazardous items.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64808" y="48554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64808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00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Recovery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512978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pallets, crates and containers cycled back to the source.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9254BA1-6CE1-93F4-3D91-34EF8A9CA8ED}"/>
              </a:ext>
            </a:extLst>
          </p:cNvPr>
          <p:cNvSpPr/>
          <p:nvPr/>
        </p:nvSpPr>
        <p:spPr>
          <a:xfrm>
            <a:off x="8847626" y="6616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0A898E-E964-DFFD-481F-B19C7E88FCD9}"/>
              </a:ext>
            </a:extLst>
          </p:cNvPr>
          <p:cNvSpPr txBox="1"/>
          <p:nvPr/>
        </p:nvSpPr>
        <p:spPr>
          <a:xfrm>
            <a:off x="9188447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REVERSE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Logistics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returns via QR code drop-off at partner stores (no box/label needed)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grading routes items to resale, liquidation, or donation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"FBA Grade and Resell" recovers value from customer-returned inventory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0799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Trade-In and Apple Renew programmes recover devices for refurbishment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 robot disassembles iPhones to recover rare-earth materials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goal: use only recycled/renewable materials in products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0275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H&amp;M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Garment Collecting take-back scheme for used clothing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sorted for rewear, reuse, or fibre-to-fibre recycling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Producer Responsibility aligned with EU textile regulation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907CDF2-59CD-C3D5-A7A2-4610488880C3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503E2-C2D0-A997-2F49-3223C9EA8E8A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WATCH &amp; 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Video: Reverse Logistics Explained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viewing, ask: which stage of the 5-step reverse flow does each video emphasize?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508760" y="2167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Reverse Logistics? Global Supply Chain Solutions Explained</a:t>
            </a:r>
            <a:endParaRPr lang="en-US" sz="1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508760" y="2542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https://www.youtube.com/shorts/elvNcsHlG64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401568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>
            <a:hlinkClick r:id="rId4"/>
          </p:cNvPr>
          <p:cNvSpPr/>
          <p:nvPr/>
        </p:nvSpPr>
        <p:spPr>
          <a:xfrm>
            <a:off x="1508760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Reverse Logistics Explained</a:t>
            </a:r>
            <a:endParaRPr lang="en-US" sz="140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508760" y="3657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https://www.youtube.com/watch?v=wQ3Z60YFBaY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Text 17">
            <a:hlinkClick r:id="rId5"/>
          </p:cNvPr>
          <p:cNvSpPr/>
          <p:nvPr/>
        </p:nvSpPr>
        <p:spPr>
          <a:xfrm>
            <a:off x="1508760" y="43982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REVERSE LOGISTICS? Part 1 (Supply Chain Basics)</a:t>
            </a:r>
            <a:endParaRPr lang="en-US" sz="1400" dirty="0"/>
          </a:p>
        </p:txBody>
      </p:sp>
      <p:sp>
        <p:nvSpPr>
          <p:cNvPr id="20" name="Text 18">
            <a:hlinkClick r:id="rId5"/>
          </p:cNvPr>
          <p:cNvSpPr/>
          <p:nvPr/>
        </p:nvSpPr>
        <p:spPr>
          <a:xfrm>
            <a:off x="1508760" y="47731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https://www.youtube.com/watch?v=42t_t0-sxs0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4498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classroom use: play the 3–6 minute clip, then debrief with the discussion prompts on the following slide.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Logistics Network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49808" y="3977640"/>
            <a:ext cx="182880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locate facilities and how to connect them for cost, speed and service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NETWORK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Logistics Network Design?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process of deciding the number, location, and role of facilities — plants, warehouses, DCs — and the flows that connect them to customers.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horizon: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long-term, capital-intensive decision, typically revisited every 3-5 years or after major demand shifts.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logistics cost (facility + inventory + transportation) while meeting target service levels.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designed network locks in high cost-to-serve and slow delivery for years — hard and expensive to undo.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AA4B92-3CAE-1794-6423-1623509C5525}"/>
              </a:ext>
            </a:extLst>
          </p:cNvPr>
          <p:cNvSpPr/>
          <p:nvPr/>
        </p:nvSpPr>
        <p:spPr>
          <a:xfrm>
            <a:off x="9068450" y="-6990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E828DE-05A9-2A90-6BD0-60BAC1150813}"/>
              </a:ext>
            </a:extLst>
          </p:cNvPr>
          <p:cNvSpPr txBox="1"/>
          <p:nvPr/>
        </p:nvSpPr>
        <p:spPr>
          <a:xfrm>
            <a:off x="9409271" y="32360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NETWORK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Strategic Decisions in Network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Facilities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plants/DCs/warehouses are needed to balance cost and coverage?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4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Location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each facility sit relative to suppliers, customers and infrastructure?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Allocation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volume and which products/markets does each facility serve?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4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4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Positioning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network should safety stock and buffer inventory sit?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9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Mode &amp; Lanes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(road/rail/air/sea) and routing links each network node?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64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64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vs. Outsource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firm own facilities/fleet or contract out to 3PL/4PL partners?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49A6384-5025-71A0-9099-A1E26E88C842}"/>
              </a:ext>
            </a:extLst>
          </p:cNvPr>
          <p:cNvSpPr/>
          <p:nvPr/>
        </p:nvSpPr>
        <p:spPr>
          <a:xfrm>
            <a:off x="9068450" y="-6990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8AD8D-36BB-DBCF-BC7D-5F24C56D29D0}"/>
              </a:ext>
            </a:extLst>
          </p:cNvPr>
          <p:cNvSpPr txBox="1"/>
          <p:nvPr/>
        </p:nvSpPr>
        <p:spPr>
          <a:xfrm>
            <a:off x="9409271" y="32360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NETWORK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That Shape Network Design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targets: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lead-time promises (same-day, next-day) dictate how close DCs must be to demand.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trade-offs: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larger DCs lower facility and inventory cost but raise outbound transportation cost — and vice versa.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seasonality, and geographic concentration of customers shape where nodes are needed.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regulation: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Port/road/rail access, free-trade zones, taxation, and labour availability affect site economics.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resilience: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Diversifying facility locations reduces exposure to a single point of disruption (natural disaster, geopolitical risk).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863096-CB24-5C28-B89D-43700C26A258}"/>
              </a:ext>
            </a:extLst>
          </p:cNvPr>
          <p:cNvSpPr/>
          <p:nvPr/>
        </p:nvSpPr>
        <p:spPr>
          <a:xfrm>
            <a:off x="9002683" y="0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FC4DE4-A8A3-F968-E2FD-52D559AE8658}"/>
              </a:ext>
            </a:extLst>
          </p:cNvPr>
          <p:cNvSpPr txBox="1"/>
          <p:nvPr/>
        </p:nvSpPr>
        <p:spPr>
          <a:xfrm>
            <a:off x="9343504" y="33059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NETWORK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Location Analysis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Center-of-Gravity method: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 facility at the demand- and volume-weighted geographic centre of its customer base to minimize transport distance.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Factor Rating: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candidate sites against criteria (labour cost, infrastructure, proximity, incentives) each weighted by importance.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/ Network Optimization Software: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thousands of network configurations (e.g., anyLogistix) to find the lowest-cost feasible design.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/ Total Cost Analysis: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total landed cost of alternative site options across a range of volumes.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B54BA9-0926-E31D-498C-893507ECC597}"/>
              </a:ext>
            </a:extLst>
          </p:cNvPr>
          <p:cNvSpPr/>
          <p:nvPr/>
        </p:nvSpPr>
        <p:spPr>
          <a:xfrm>
            <a:off x="9002683" y="4061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ADCD0E-9958-EFAF-CA26-0D41D41B63EA}"/>
              </a:ext>
            </a:extLst>
          </p:cNvPr>
          <p:cNvSpPr txBox="1"/>
          <p:nvPr/>
        </p:nvSpPr>
        <p:spPr>
          <a:xfrm>
            <a:off x="9343504" y="334657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NETWORK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Network Configurations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solidFill>
            <a:srgbClr val="141B4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4160520" cy="502920"/>
          </a:xfrm>
          <a:prstGeom prst="rect">
            <a:avLst/>
          </a:prstGeom>
          <a:solidFill>
            <a:srgbClr val="D98E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4160520" cy="502920"/>
          </a:xfrm>
          <a:prstGeom prst="rect">
            <a:avLst/>
          </a:prstGeom>
          <a:solidFill>
            <a:srgbClr val="D98E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5236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(single DC)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national/regional DC serves all customers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2286000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4380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Low-volume, high-value SKUs; slower service acceptable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(multi-DC)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8529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83280" y="28529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regional DCs positioned near demand clusters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8529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43800" y="28529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service-level needs, bulky or fast-moving goods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19856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4198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419856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83280" y="3419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consolidates volume, spokes handle last-mile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419856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43800" y="3419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and less-than-truckload (LTL) networks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8678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8368" y="39867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39867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0" y="3986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flow through a facility with minimal storage time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52360" y="39867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543800" y="3986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High-velocity retail replenishment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553712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368" y="4553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Direct-to-Customer (DTC)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4553712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83280" y="45537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directly from plant/3PL fulfillment centre to end user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52360" y="4553712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43800" y="45537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E-commerce, drop-shipping models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ABEDF46-12FB-CBA3-5E26-F6FE4ADD64B7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36668B-0508-DCB5-4DAB-FD33B9CA2CF4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NETWORK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Flipkart / Amazon India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network: national FCs, regional sortation hubs, local delivery stations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"dark stores" added in metros for 1-2 hour delivery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re-optimized each festive season for demand spikes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0799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 (Inditex)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highly automated distribution centre in Spain serves stores worldwide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model traded off for speed of fashion-cycle replenishment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bridges the distance gap to distant store networks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47472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02752" y="17830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Coca-Cola India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532888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bottling and distribution network across regional plants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stockists (RDS) act as the last-mile spoke to retailers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density tuned to local demand and road infrastructure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B172FB6-48F9-EA8E-894F-21D063957C97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1E2F11-3CE1-27D3-B971-3F0752681060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WATCH &amp; 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Video: Logistics Network &amp; Distribution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trade-off between cost and service does the video's example illustrate?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508760" y="2167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3PL vs 4PL: Layers of Logistics Explained</a:t>
            </a:r>
            <a:endParaRPr lang="en-US" sz="1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508760" y="2542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https://www.youtube.com/watch?v=9J2pTNTksno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401568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>
            <a:hlinkClick r:id="rId4"/>
          </p:cNvPr>
          <p:cNvSpPr/>
          <p:nvPr/>
        </p:nvSpPr>
        <p:spPr>
          <a:xfrm>
            <a:off x="1508760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 Management in 12 Minutes</a:t>
            </a:r>
            <a:endParaRPr lang="en-US" sz="140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508760" y="3657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https://www.youtube.com/watch?v=y9tyXL87l1A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3342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classroom use: play the 3–6 minute clip, then debrief with the discussion prompts on the following slide.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3PL and 4PL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49808" y="3977640"/>
            <a:ext cx="182880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logistics execution and strategy to specialist partners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3PL / 4PL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Logistics Outsourcing — 1PL to 5PL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1PL: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shipper/manufacturer manages and moves its own goods with in-house resources.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Asset-owning carriers (trucking, shipping, rail companies) transport goods for the shipper.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provider manages warehousing, transportation and fulfillment on the client's behalf.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4PL: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non-asset-owning integrator manages the entire supply chain, often coordinating multiple 3PLs.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5PL: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and manages multiple 4PLs / supply chain networks, typically for very large, complex enterprises.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F7C3C9-5BAD-B6F9-FD94-1BC1DF174639}"/>
              </a:ext>
            </a:extLst>
          </p:cNvPr>
          <p:cNvSpPr/>
          <p:nvPr/>
        </p:nvSpPr>
        <p:spPr>
          <a:xfrm>
            <a:off x="9002683" y="432027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846B9E-C09D-8AD9-871F-CA9B699C57EC}"/>
              </a:ext>
            </a:extLst>
          </p:cNvPr>
          <p:cNvSpPr txBox="1"/>
          <p:nvPr/>
        </p:nvSpPr>
        <p:spPr>
          <a:xfrm>
            <a:off x="9343504" y="465087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3PL / 4PL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Logistics (3PL)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provider that executes one or more logistics functions — warehousing, transportation, fulfillment, returns — on behalf of a client.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owns or leases warehouses, trucks, and labour; some operate an asset-light model using partner carriers.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style: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transactional/operational — priced by volume, lane, or storage used.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services: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Warehousing, pick-pack-ship, freight negotiation, inventory management, reverse logistics.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DHL Supply Chain, Blue Dart, Delhivery, XPO Logistics, FedEx Supply Chain.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815773-7DA4-2014-3F1D-5FCC7C069081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CE2FB-4BCE-CFFB-97F9-C172EED174E8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3PL / 4PL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Fourth-Party Logistics (4PL)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non-asset-based integrator that designs, manages and optimizes a client's entire supply chain — often coordinating several 3PLs.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warehouses or trucks of its own; value lies in strategy, technology, and vendor orchestration.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style: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Strategic, long-term partnership — the 4PL becomes the client's single point of accountability.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services: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design, control-tower visibility, carrier/3PL selection, continuous cost optimization.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Supply Chain Services, DHL 4PL (Lead Logistics), Kuehne+Nagel Integrated Logistics.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708E7-792D-5421-3A41-80B434687843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12D739-0F4D-D479-2002-54C4B3B3DE5A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3PL / 4PL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3PL vs. 4PL — Side-by-Side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solidFill>
            <a:srgbClr val="141B4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4160520" cy="502920"/>
          </a:xfrm>
          <a:prstGeom prst="rect">
            <a:avLst/>
          </a:prstGeom>
          <a:solidFill>
            <a:srgbClr val="D98E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4160520" cy="502920"/>
          </a:xfrm>
          <a:prstGeom prst="rect">
            <a:avLst/>
          </a:prstGeom>
          <a:solidFill>
            <a:srgbClr val="D98E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5236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— moving and storing goods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2286000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43800" y="2286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designing and optimizing the network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owned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8529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83280" y="28529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trucks, labour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8529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43800" y="28529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technology and expertise only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19856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4198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419856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83280" y="3419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a few logistics functions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419856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43800" y="3419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supply chain oversight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8678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8368" y="39867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39867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0" y="3986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Transactional, lane/volume priced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52360" y="39867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543800" y="3986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Strategic, long-term partnership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553712"/>
            <a:ext cx="274320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368" y="4553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4553712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83280" y="45537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operations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52360" y="4553712"/>
            <a:ext cx="416052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43800" y="45537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3PLs and carriers on client's behalf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8368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5120640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383280" y="51206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SMEs, single-function outsourcing needs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52360" y="5120640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543800" y="51206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complex, multi-region supply chains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EEED6BE-8C8A-ED06-2331-4B7F8F2A766F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BAA461-9049-EFF7-48F5-CC47D3915DCF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WATCH &amp; 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Video: 3PL vs 4PL Explained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using the video, map a real company you know to either the 3PL or 4PL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508760" y="2167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3PL vs 4PL Logistics: The Layers of Logistics Explained</a:t>
            </a:r>
            <a:endParaRPr lang="en-US" sz="1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508760" y="2542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https://www.youtube.com/watch?v=9J2pTNTksno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classroom use: play the 3–6 minute clip, then debrief with the discussion prompts on the following slide.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Logistics Providers &amp; Intermediaries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49808" y="3977640"/>
            <a:ext cx="182880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partners to execute the network design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INTERMEDIARIES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Logistics Intermediaries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Forwarders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international shipment, consolidation, and documentation on the shipper's behalf.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64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4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29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Customs Brokers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customs clearance, duties, and regulatory compliance at borders.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and operate the physical transport — trucking, rail, ocean, or air fleets.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6440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4808" y="34655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4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Warehousing &amp; Fulfillment Companies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7398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storage, pick-pack-ship, and value-added services.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9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Agents / Brokers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shipper capacity needs with available carrier capacity in the spot market.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74573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64808" y="49469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64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92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/ Visibility Providers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52212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tracking, TMS, or control-tower platforms that connect the other players.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F3A16E5-ED27-565E-C8ED-1CB5F0DB5745}"/>
              </a:ext>
            </a:extLst>
          </p:cNvPr>
          <p:cNvSpPr/>
          <p:nvPr/>
        </p:nvSpPr>
        <p:spPr>
          <a:xfrm>
            <a:off x="9049789" y="52555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363885-A3F2-C055-BB0E-7DFD93703219}"/>
              </a:ext>
            </a:extLst>
          </p:cNvPr>
          <p:cNvSpPr txBox="1"/>
          <p:nvPr/>
        </p:nvSpPr>
        <p:spPr>
          <a:xfrm>
            <a:off x="9390610" y="383151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INTERMEDIARIES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Intermediaries in the Supply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scale: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small shipments from many shippers to access better freight rates.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expertise: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complex customs, regulatory, or mode-specific requirements shippers can't justify building in-house.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transfer: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operational and, in some contracts, financial risk of delay or damage.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reach into regions or networks the shipper does not operate in directly.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firms scale logistics capacity up or down without fixed asset investment.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7CCAE0-67F8-AECB-A2C9-E24C5BEC7DE7}"/>
              </a:ext>
            </a:extLst>
          </p:cNvPr>
          <p:cNvSpPr/>
          <p:nvPr/>
        </p:nvSpPr>
        <p:spPr>
          <a:xfrm>
            <a:off x="9002683" y="7315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D84990-C41F-A38C-5A47-72082A3B4229}"/>
              </a:ext>
            </a:extLst>
          </p:cNvPr>
          <p:cNvSpPr txBox="1"/>
          <p:nvPr/>
        </p:nvSpPr>
        <p:spPr>
          <a:xfrm>
            <a:off x="9343504" y="40374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PROVIDER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Selecting a Logistics Provider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competitiveness: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benchmarked pricing relative to service level offered.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reliability: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on On-Time-In-Full (OTIF) delivery and damage/error rates.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reach &amp; capacity: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 and ability to flex capacity during peak demand.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visibility: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tracking, system integration (API/EDI) with the client's LIS.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078224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sustain operations and invest, especially for long-term 4PL relationships.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464515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credentials: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reporting, fleet efficiency, and alignment with client ESG targets.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AEED321-7F6C-20FE-9243-1F205F0B038B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8D3948-BB10-991A-F9F1-69E5CB4F6310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PROVIDER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Provider Selection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05763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05763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Requirements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service level, budget, and scope of outsourced activities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56662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12694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69818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981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22422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RFI / RFP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40710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 information and formal proposals from shortlisted providers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0717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6749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33872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3387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86477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Score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04765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scorecard or AHP across cost, service, technology, risk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4771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40803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097926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97926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0531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Visit &amp; Due Diligence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68819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capability, financial health, and cultural fit on-site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48826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4858" y="2651760"/>
            <a:ext cx="200802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361981" y="2359152"/>
            <a:ext cx="502920" cy="502920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361981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14586" y="2852928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&amp; Onboard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32874" y="3401568"/>
            <a:ext cx="1751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SLAs/KPIs, integrate systems, and pilot before full rollout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A8FF034-679D-A257-F6BD-7411453AB056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667EDE-BE68-88E4-9FF5-7891E096D3ED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Selection — A Worked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D2C apparel brand scaling from 500 to 20,000 orders/month needs to outsource fulfillment.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3PLs evaluated on weighted criteria: cost (30%), SLA reliability (25%), tech integration (20%), scalability (15%), location fit (10%).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 scored highest despite a 6% higher rate card — its API-ready WMS cut integration time from 6 weeks to 10 days.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511296"/>
            <a:ext cx="100584" cy="100584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</a:t>
            </a: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is rarely the right criterion in isolation — total cost of ownership and service risk matter as much as the rate card.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Information Systems, Reverse Logistics &amp; Network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8BD99B-0CC2-A4F8-4E1C-C7D530B0B795}"/>
              </a:ext>
            </a:extLst>
          </p:cNvPr>
          <p:cNvSpPr/>
          <p:nvPr/>
        </p:nvSpPr>
        <p:spPr>
          <a:xfrm>
            <a:off x="9049789" y="661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617C81-6DC2-EE72-D77E-AEC05D52B21B}"/>
              </a:ext>
            </a:extLst>
          </p:cNvPr>
          <p:cNvSpPr txBox="1"/>
          <p:nvPr/>
        </p:nvSpPr>
        <p:spPr>
          <a:xfrm>
            <a:off x="9390610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956816"/>
            <a:ext cx="109728" cy="109728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18196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is the connective tissue — without accurate, real-time data, every downstream logistics decision suffers.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615184"/>
            <a:ext cx="109728" cy="109728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6112" y="24780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logistics is a strategic value-recovery process, not just a returns-handling cost centre.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3273552"/>
            <a:ext cx="109728" cy="109728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6112" y="31363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decisions are long-lived and capital-intensive — get facility location and configuration right early.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931920"/>
            <a:ext cx="109728" cy="109728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96112" y="3794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 buys execution; 4PL buys strategic orchestration — choose based on complexity, not just cost.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590288"/>
            <a:ext cx="109728" cy="109728"/>
          </a:xfrm>
          <a:prstGeom prst="ellipse">
            <a:avLst/>
          </a:prstGeom>
          <a:solidFill>
            <a:srgbClr val="D98E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6112" y="44531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and intermediary selection should be a structured, criteria-weighted process — not a rate-card decision alone.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 For a company you know well, would you recommend a 3PL or a 4PL model — and why?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Ajit M. Maurya  |  WeSchool, Mumbai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4106</Words>
  <Application>Microsoft Office PowerPoint</Application>
  <PresentationFormat>Widescreen</PresentationFormat>
  <Paragraphs>595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Ajit Maurya</cp:lastModifiedBy>
  <cp:revision>2</cp:revision>
  <dcterms:created xsi:type="dcterms:W3CDTF">2026-08-04T06:44:31Z</dcterms:created>
  <dcterms:modified xsi:type="dcterms:W3CDTF">2026-08-08T16:53:22Z</dcterms:modified>
</cp:coreProperties>
</file>