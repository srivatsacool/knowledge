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3"/>
  </p:notesMasterIdLst>
  <p:sldIdLst>
    <p:sldId id="317" r:id="rId2"/>
    <p:sldId id="257" r:id="rId3"/>
    <p:sldId id="31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422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B5C00-062C-E5C3-72AB-E1B07AC1E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97297-F368-04B9-DB07-7EC5FC6AA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4A93B-9548-E9C9-A1D0-35506EA27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1BC39-8C2C-422C-7871-2C8A582DE6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57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30A21-9043-B3FD-6EF3-29312DDAC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75792-EE7E-7357-98D1-30CD85538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2" indent="0" algn="ctr">
              <a:buNone/>
              <a:defRPr sz="2000"/>
            </a:lvl2pPr>
            <a:lvl3pPr marL="914363" indent="0" algn="ctr">
              <a:buNone/>
              <a:defRPr sz="1800"/>
            </a:lvl3pPr>
            <a:lvl4pPr marL="1371545" indent="0" algn="ctr">
              <a:buNone/>
              <a:defRPr sz="1600"/>
            </a:lvl4pPr>
            <a:lvl5pPr marL="1828727" indent="0" algn="ctr">
              <a:buNone/>
              <a:defRPr sz="1600"/>
            </a:lvl5pPr>
            <a:lvl6pPr marL="2285909" indent="0" algn="ctr">
              <a:buNone/>
              <a:defRPr sz="1600"/>
            </a:lvl6pPr>
            <a:lvl7pPr marL="2743090" indent="0" algn="ctr">
              <a:buNone/>
              <a:defRPr sz="1600"/>
            </a:lvl7pPr>
            <a:lvl8pPr marL="3200272" indent="0" algn="ctr">
              <a:buNone/>
              <a:defRPr sz="1600"/>
            </a:lvl8pPr>
            <a:lvl9pPr marL="3657454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78FDA-E5CC-6BB2-EDA7-69DB6BAFF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38972-1CE9-4618-A565-E31F6D00BDB2}" type="datetime1">
              <a:rPr lang="en-US" smtClean="0"/>
              <a:t>8/8/2026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7530F-71DB-54A0-7851-F3E230B6C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D5A05-856F-A25A-DFAD-FA5A8A0F9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6B5DA-D357-4588-BF01-141D6E84A9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780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2.png"/><Relationship Id="rId4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9.png"/><Relationship Id="rId4" Type="http://schemas.openxmlformats.org/officeDocument/2006/relationships/image" Target="../media/image4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41A2C-7F36-CE3F-F177-64E2FA854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968" y="4498257"/>
            <a:ext cx="12535464" cy="1740157"/>
          </a:xfrm>
        </p:spPr>
        <p:txBody>
          <a:bodyPr>
            <a:noAutofit/>
          </a:bodyPr>
          <a:lstStyle/>
          <a:p>
            <a:pPr algn="l"/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Subject Name: Logistics and Supply Chain Management</a:t>
            </a:r>
            <a:br>
              <a:rPr lang="en-US" sz="32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</a:b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Session No: 02</a:t>
            </a:r>
            <a:br>
              <a:rPr lang="en-US" sz="32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</a:b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cs typeface="Platypi Medium" pitchFamily="34" charset="-120"/>
              </a:rPr>
              <a:t>Faculty Name: Prof Ajit M Maurya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296B3A-BD2F-EA29-FBAD-8064B02D3947}"/>
              </a:ext>
            </a:extLst>
          </p:cNvPr>
          <p:cNvSpPr/>
          <p:nvPr/>
        </p:nvSpPr>
        <p:spPr>
          <a:xfrm>
            <a:off x="0" y="1"/>
            <a:ext cx="12192000" cy="56043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63"/>
            <a:endParaRPr lang="en-US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8CCC77-1165-5D0B-54C1-A6313A68DCF2}"/>
              </a:ext>
            </a:extLst>
          </p:cNvPr>
          <p:cNvSpPr/>
          <p:nvPr/>
        </p:nvSpPr>
        <p:spPr>
          <a:xfrm>
            <a:off x="0" y="6415548"/>
            <a:ext cx="12192000" cy="44245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63"/>
            <a:endParaRPr lang="en-US" dirty="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6" name="Picture 5" descr="A purple and green logo&#10;&#10;AI-generated content may be incorrect.">
            <a:extLst>
              <a:ext uri="{FF2B5EF4-FFF2-40B4-BE49-F238E27FC236}">
                <a16:creationId xmlns:a16="http://schemas.microsoft.com/office/drawing/2014/main" id="{2AFC1DAF-887C-9C3F-7C38-01CE211F0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768" y="525285"/>
            <a:ext cx="4726950" cy="133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3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388CE34-5ED2-B182-3893-5F4D7A751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45" y="2673926"/>
            <a:ext cx="11152909" cy="12219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3B911D-B8F2-24FB-EB9F-F96F74855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760070-CE73-6A3B-6C91-51AFFB5CB7E9}"/>
              </a:ext>
            </a:extLst>
          </p:cNvPr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8EBFE5-3A46-605D-575C-882CACC6EFB5}"/>
              </a:ext>
            </a:extLst>
          </p:cNvPr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1434E10-2FD8-9191-BC02-3728EB3E8B46}"/>
              </a:ext>
            </a:extLst>
          </p:cNvPr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97A6A2C-7604-9E3F-55CC-89F110EA4EB6}"/>
              </a:ext>
            </a:extLst>
          </p:cNvPr>
          <p:cNvSpPr/>
          <p:nvPr/>
        </p:nvSpPr>
        <p:spPr>
          <a:xfrm>
            <a:off x="640080" y="1691640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51F59D1-EDDA-EEE8-07DD-57A1841DBE7C}"/>
              </a:ext>
            </a:extLst>
          </p:cNvPr>
          <p:cNvSpPr/>
          <p:nvPr/>
        </p:nvSpPr>
        <p:spPr>
          <a:xfrm>
            <a:off x="804672" y="169164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5B9731-E281-1442-5469-8106F440FE6F}"/>
              </a:ext>
            </a:extLst>
          </p:cNvPr>
          <p:cNvSpPr/>
          <p:nvPr/>
        </p:nvSpPr>
        <p:spPr>
          <a:xfrm>
            <a:off x="1600200" y="1691640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Management</a:t>
            </a:r>
            <a:endParaRPr lang="en-US" sz="14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0828DE3-18AF-4866-534C-50FC112E4F5D}"/>
              </a:ext>
            </a:extLst>
          </p:cNvPr>
          <p:cNvSpPr/>
          <p:nvPr/>
        </p:nvSpPr>
        <p:spPr>
          <a:xfrm>
            <a:off x="640080" y="2715768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CCE6893-52D7-4727-7DC7-A7400823B1BE}"/>
              </a:ext>
            </a:extLst>
          </p:cNvPr>
          <p:cNvSpPr/>
          <p:nvPr/>
        </p:nvSpPr>
        <p:spPr>
          <a:xfrm>
            <a:off x="804672" y="2715768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F0577A2-C888-F482-BB1D-9CE6A76FB6DC}"/>
              </a:ext>
            </a:extLst>
          </p:cNvPr>
          <p:cNvSpPr/>
          <p:nvPr/>
        </p:nvSpPr>
        <p:spPr>
          <a:xfrm>
            <a:off x="1600200" y="271576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Planning Framework</a:t>
            </a:r>
            <a:endParaRPr lang="en-US" sz="14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362CC61-128A-5729-A291-EC1E559D84E1}"/>
              </a:ext>
            </a:extLst>
          </p:cNvPr>
          <p:cNvSpPr/>
          <p:nvPr/>
        </p:nvSpPr>
        <p:spPr>
          <a:xfrm>
            <a:off x="640080" y="3739896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0630CD6-DF20-7BF2-CEF9-2406A3E23641}"/>
              </a:ext>
            </a:extLst>
          </p:cNvPr>
          <p:cNvSpPr/>
          <p:nvPr/>
        </p:nvSpPr>
        <p:spPr>
          <a:xfrm>
            <a:off x="804672" y="3739896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CE4CF13-2C6E-7A6C-2EAD-114D5AF66FD0}"/>
              </a:ext>
            </a:extLst>
          </p:cNvPr>
          <p:cNvSpPr/>
          <p:nvPr/>
        </p:nvSpPr>
        <p:spPr>
          <a:xfrm>
            <a:off x="1600200" y="3739896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Time, Geography &amp; Product Dimensions</a:t>
            </a:r>
            <a:endParaRPr lang="en-US" sz="145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FAEF526-D563-3EF9-B3A8-AFDF31DAF5DF}"/>
              </a:ext>
            </a:extLst>
          </p:cNvPr>
          <p:cNvSpPr/>
          <p:nvPr/>
        </p:nvSpPr>
        <p:spPr>
          <a:xfrm>
            <a:off x="640080" y="4764024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12F9437-E73C-94BD-D31E-757A88E5A0B9}"/>
              </a:ext>
            </a:extLst>
          </p:cNvPr>
          <p:cNvSpPr/>
          <p:nvPr/>
        </p:nvSpPr>
        <p:spPr>
          <a:xfrm>
            <a:off x="804672" y="4764024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B64E049-3D2F-6169-FB61-06C88DC5808B}"/>
              </a:ext>
            </a:extLst>
          </p:cNvPr>
          <p:cNvSpPr/>
          <p:nvPr/>
        </p:nvSpPr>
        <p:spPr>
          <a:xfrm>
            <a:off x="1600200" y="4764024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of Forecasted Data</a:t>
            </a:r>
            <a:endParaRPr lang="en-US" sz="14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7055E83-159E-51F3-8A80-22B8D26BC24E}"/>
              </a:ext>
            </a:extLst>
          </p:cNvPr>
          <p:cNvSpPr/>
          <p:nvPr/>
        </p:nvSpPr>
        <p:spPr>
          <a:xfrm>
            <a:off x="640080" y="5788152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0A82789-9242-4210-86CE-BB8BC6E6FF16}"/>
              </a:ext>
            </a:extLst>
          </p:cNvPr>
          <p:cNvSpPr/>
          <p:nvPr/>
        </p:nvSpPr>
        <p:spPr>
          <a:xfrm>
            <a:off x="804672" y="5788152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4AD72D3-40C9-A897-C004-69F417595CA1}"/>
              </a:ext>
            </a:extLst>
          </p:cNvPr>
          <p:cNvSpPr/>
          <p:nvPr/>
        </p:nvSpPr>
        <p:spPr>
          <a:xfrm>
            <a:off x="1600200" y="5788152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Management</a:t>
            </a:r>
            <a:endParaRPr lang="en-US" sz="14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C5BA75B-09B9-F13D-0A36-1CCB0A31E29A}"/>
              </a:ext>
            </a:extLst>
          </p:cNvPr>
          <p:cNvSpPr/>
          <p:nvPr/>
        </p:nvSpPr>
        <p:spPr>
          <a:xfrm>
            <a:off x="6309360" y="1691640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2BADA52-B9C9-FEBC-5AC8-D255ED14C2AD}"/>
              </a:ext>
            </a:extLst>
          </p:cNvPr>
          <p:cNvSpPr/>
          <p:nvPr/>
        </p:nvSpPr>
        <p:spPr>
          <a:xfrm>
            <a:off x="6473952" y="1691640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0BBE2A4-FB0B-6196-ACDA-DC291F3D308A}"/>
              </a:ext>
            </a:extLst>
          </p:cNvPr>
          <p:cNvSpPr/>
          <p:nvPr/>
        </p:nvSpPr>
        <p:spPr>
          <a:xfrm>
            <a:off x="7269480" y="1691640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Management</a:t>
            </a:r>
            <a:endParaRPr lang="en-US" sz="14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78255E2-03C4-16AC-E9ED-AAEC01F40BCF}"/>
              </a:ext>
            </a:extLst>
          </p:cNvPr>
          <p:cNvSpPr/>
          <p:nvPr/>
        </p:nvSpPr>
        <p:spPr>
          <a:xfrm>
            <a:off x="6309360" y="2715768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858456E-8941-EBB1-33F1-42B5EF19C1D1}"/>
              </a:ext>
            </a:extLst>
          </p:cNvPr>
          <p:cNvSpPr/>
          <p:nvPr/>
        </p:nvSpPr>
        <p:spPr>
          <a:xfrm>
            <a:off x="6473952" y="2715768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B1E21D4-242F-D28A-F87C-C8BE3CB0F6B8}"/>
              </a:ext>
            </a:extLst>
          </p:cNvPr>
          <p:cNvSpPr/>
          <p:nvPr/>
        </p:nvSpPr>
        <p:spPr>
          <a:xfrm>
            <a:off x="7269480" y="2715768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Management</a:t>
            </a:r>
            <a:endParaRPr lang="en-US" sz="14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951A747-D441-2DDD-9658-D325CFEEE0EE}"/>
              </a:ext>
            </a:extLst>
          </p:cNvPr>
          <p:cNvSpPr/>
          <p:nvPr/>
        </p:nvSpPr>
        <p:spPr>
          <a:xfrm>
            <a:off x="6309360" y="3739896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99D2970-9C53-AA9E-A994-C3DC0F603F24}"/>
              </a:ext>
            </a:extLst>
          </p:cNvPr>
          <p:cNvSpPr/>
          <p:nvPr/>
        </p:nvSpPr>
        <p:spPr>
          <a:xfrm>
            <a:off x="6473952" y="3739896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48E2165-C0C5-F5B7-09FF-682C9DF0A424}"/>
              </a:ext>
            </a:extLst>
          </p:cNvPr>
          <p:cNvSpPr/>
          <p:nvPr/>
        </p:nvSpPr>
        <p:spPr>
          <a:xfrm>
            <a:off x="7269480" y="3739896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Management</a:t>
            </a:r>
            <a:endParaRPr lang="en-US" sz="145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474ED40-B315-4225-4D9B-DE3BB8A74EA2}"/>
              </a:ext>
            </a:extLst>
          </p:cNvPr>
          <p:cNvSpPr/>
          <p:nvPr/>
        </p:nvSpPr>
        <p:spPr>
          <a:xfrm>
            <a:off x="6309360" y="4764024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F7A5F48B-1A45-2925-7A0C-2A70AD023CD1}"/>
              </a:ext>
            </a:extLst>
          </p:cNvPr>
          <p:cNvSpPr/>
          <p:nvPr/>
        </p:nvSpPr>
        <p:spPr>
          <a:xfrm>
            <a:off x="6473952" y="4764024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4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3B4682A-7016-4621-9AB2-939EBAF6AA41}"/>
              </a:ext>
            </a:extLst>
          </p:cNvPr>
          <p:cNvSpPr/>
          <p:nvPr/>
        </p:nvSpPr>
        <p:spPr>
          <a:xfrm>
            <a:off x="7269480" y="4764024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Management</a:t>
            </a:r>
            <a:endParaRPr lang="en-US" sz="14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E3CC8BC6-4909-9732-FA50-82E302FF49A7}"/>
              </a:ext>
            </a:extLst>
          </p:cNvPr>
          <p:cNvSpPr/>
          <p:nvPr/>
        </p:nvSpPr>
        <p:spPr>
          <a:xfrm>
            <a:off x="6309360" y="5788152"/>
            <a:ext cx="5394960" cy="89611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90B7708-2499-C6F0-A6AF-9AA094C9CF47}"/>
              </a:ext>
            </a:extLst>
          </p:cNvPr>
          <p:cNvSpPr/>
          <p:nvPr/>
        </p:nvSpPr>
        <p:spPr>
          <a:xfrm>
            <a:off x="6473952" y="5788152"/>
            <a:ext cx="8229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1933136-FD1A-FCAB-C8C8-10D55148F2AA}"/>
              </a:ext>
            </a:extLst>
          </p:cNvPr>
          <p:cNvSpPr/>
          <p:nvPr/>
        </p:nvSpPr>
        <p:spPr>
          <a:xfrm>
            <a:off x="7269480" y="5788152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S&amp;OP and S&amp;OE</a:t>
            </a:r>
            <a:endParaRPr lang="en-US" sz="145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127B680E-D4AC-2033-C46E-CB38E0B47411}"/>
              </a:ext>
            </a:extLst>
          </p:cNvPr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672339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Management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what demand management means and why it anchors the entire supply chain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Demand Management?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management is the supply chain process that balances customer requirements with the capabilities of the supply chain — it plans, shapes, and coordinates all sources of demand for a product or service so operations can be organised efficiently to satisfy that demand.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0" y="1645920"/>
            <a:ext cx="2377440" cy="237744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734" y="2264054"/>
            <a:ext cx="1141171" cy="11411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32638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635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502005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554480" y="5312664"/>
            <a:ext cx="9692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smartphone maker uses demand management to combine online pre-orders, retail sell-through data, and carrier commitments into one coordinated view of expected demand before committing production.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A231A9C-C563-1D02-E3D4-8C62FD4F1ADB}"/>
              </a:ext>
            </a:extLst>
          </p:cNvPr>
          <p:cNvSpPr/>
          <p:nvPr/>
        </p:nvSpPr>
        <p:spPr>
          <a:xfrm>
            <a:off x="8847734" y="3290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8A6C3-AE86-DFF0-C8D7-68018C9F9F69}"/>
              </a:ext>
            </a:extLst>
          </p:cNvPr>
          <p:cNvSpPr txBox="1"/>
          <p:nvPr/>
        </p:nvSpPr>
        <p:spPr>
          <a:xfrm>
            <a:off x="9188555" y="333886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of Demand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Forecasting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realistic, unbiased view of future demand across products, channels and time.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4395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6818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Demand-Supply Balance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66818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what customers want with what the supply chain can profitably deliver.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3537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Cross-Functional Alignment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6397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shared number that sales, marketing, finance and operations all plan against.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54380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mand-mgmt-ppt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44919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Shaping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pricing, promotions and incentives to influence demand toward available supply.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8218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43958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demand-mgmt-ppt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688" y="449199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66818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Level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66818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customer service and fill rates while controlling inventory investment.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7797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33537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demand-mgmt-ppt/icons/syn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9267" y="449199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6397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Responsiveness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56397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demand signals early and adjust plans faster than the competition.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77AAF5B-8E90-1AFB-70F8-AD903D561CBB}"/>
              </a:ext>
            </a:extLst>
          </p:cNvPr>
          <p:cNvSpPr/>
          <p:nvPr/>
        </p:nvSpPr>
        <p:spPr>
          <a:xfrm>
            <a:off x="8866604" y="47874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90385C-02D6-8CEB-CEEE-2B1E512E19CF}"/>
              </a:ext>
            </a:extLst>
          </p:cNvPr>
          <p:cNvSpPr txBox="1"/>
          <p:nvPr/>
        </p:nvSpPr>
        <p:spPr>
          <a:xfrm>
            <a:off x="9207425" y="37847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Management vs. Demand Forecasting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Forecasting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analytical activity: predicting future demand from data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/ quantitative technique-driven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one output — the forecast number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 into the wider process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0188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Management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0188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broader end-to-end process that owns demand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forecasting, shaping, prioritisation and communication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consensus plan the business commits to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is one activity within 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333DF71-23B8-BD7A-614F-AD3E4CF3D54F}"/>
              </a:ext>
            </a:extLst>
          </p:cNvPr>
          <p:cNvSpPr/>
          <p:nvPr/>
        </p:nvSpPr>
        <p:spPr>
          <a:xfrm>
            <a:off x="9002683" y="0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EB3C78-1B95-7767-BBF3-759C39063768}"/>
              </a:ext>
            </a:extLst>
          </p:cNvPr>
          <p:cNvSpPr txBox="1"/>
          <p:nvPr/>
        </p:nvSpPr>
        <p:spPr>
          <a:xfrm>
            <a:off x="9343504" y="330596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of the Demand Management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mand-mgmt-ppt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Demand Data Collection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sales, POS data, orders, and market intelligence gathered from every channel.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8392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7004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Statistical Forecasting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299008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and causal models generate a baseline, unconstrained forecast.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mand-mgmt-ppt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8450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6758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Consensus &amp; Collaboration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399592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marketing and finance review and adjust the statistical baseline into one agreed number.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mand-mgmt-ppt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85089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68172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Demand Shaping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500176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Promotions, pricing and allocation decisions actively influence demand toward supply capability.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9F5968E-1104-D080-D6C2-4F096392E0E9}"/>
              </a:ext>
            </a:extLst>
          </p:cNvPr>
          <p:cNvSpPr/>
          <p:nvPr/>
        </p:nvSpPr>
        <p:spPr>
          <a:xfrm>
            <a:off x="9002683" y="47874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FA73B7-3B09-49D5-5D10-3214418C0971}"/>
              </a:ext>
            </a:extLst>
          </p:cNvPr>
          <p:cNvSpPr txBox="1"/>
          <p:nvPr/>
        </p:nvSpPr>
        <p:spPr>
          <a:xfrm>
            <a:off x="9343504" y="37847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Demand Management at a Beverage Company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beverage company sells through supermarkets, e-commerce, and food-service. Its demand management team blends three inputs into one plan: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67919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statistical forecast from 3 years of POS history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8698" y="251460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68698" y="267919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05858" y="338328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Sales-team input on retailer promotions and new listings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7317" y="251460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97317" y="267919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34477" y="338328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input on summer campaign and weather-driven spikes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single consensus forecast that production, procurement and logistics all plan against — avoiding the stockouts that occurred when each function forecasted independently.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0E7610C-6195-D8C3-20E5-75F7719458ED}"/>
              </a:ext>
            </a:extLst>
          </p:cNvPr>
          <p:cNvSpPr/>
          <p:nvPr/>
        </p:nvSpPr>
        <p:spPr>
          <a:xfrm>
            <a:off x="8866604" y="482104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72F557-D144-C7CD-DB8E-23D0845C3E8D}"/>
              </a:ext>
            </a:extLst>
          </p:cNvPr>
          <p:cNvSpPr txBox="1"/>
          <p:nvPr/>
        </p:nvSpPr>
        <p:spPr>
          <a:xfrm>
            <a:off x="9207425" y="515163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Planning Framework &amp; Structure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organisations structure the people, process and data that turn raw demand signals into a plan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Demand Planning Process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Gathering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history, POS, orders and market intelligence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84643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13243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50403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77835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Forecast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7835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baseline forecast using time-series models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9246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77846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5006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42438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42438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 adjust for known events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13849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42449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79609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07041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 Forecast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07041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sign-off on one number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78452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07052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744212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771644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&amp; Monitor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71644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plan; track forecast accuracy (MAPE)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typically repeats monthly, feeding directly into the Sales &amp; Operations Planning (S&amp;OP) meeting.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2D1F857-F045-E89E-7527-EA9A875E2B39}"/>
              </a:ext>
            </a:extLst>
          </p:cNvPr>
          <p:cNvSpPr/>
          <p:nvPr/>
        </p:nvSpPr>
        <p:spPr>
          <a:xfrm>
            <a:off x="9022114" y="-20970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498C75-73DF-25CC-E5B2-553BAE85CF0F}"/>
              </a:ext>
            </a:extLst>
          </p:cNvPr>
          <p:cNvSpPr txBox="1"/>
          <p:nvPr/>
        </p:nvSpPr>
        <p:spPr>
          <a:xfrm>
            <a:off x="9362935" y="309626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Organisational Structure for Demand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mand-mgmt-ppt/icons/personChalk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Planning Manager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end-to-end process; chairs the consensus review and reports forecast accuracy.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8392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7004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Planner / Analyst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299008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statistical baselines, maintains forecasting models, and analyses forecast error by SKU.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mand-mgmt-ppt/icons/bullho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8450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6758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Marketing Representatives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399592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market intelligence — promotions, new listings, competitor actions.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mand-mgmt-ppt/icons/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85089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68172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S&amp;OP / Executive Sponsor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500176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conflicts between demand and supply constraints at the monthly review.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F6F9044-7270-70A8-25DF-20AD7BBD390C}"/>
              </a:ext>
            </a:extLst>
          </p:cNvPr>
          <p:cNvSpPr/>
          <p:nvPr/>
        </p:nvSpPr>
        <p:spPr>
          <a:xfrm>
            <a:off x="9088536" y="-18288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7C43AA-31AF-8DEE-3D0A-2B57ED5DC68B}"/>
              </a:ext>
            </a:extLst>
          </p:cNvPr>
          <p:cNvSpPr txBox="1"/>
          <p:nvPr/>
        </p:nvSpPr>
        <p:spPr>
          <a:xfrm>
            <a:off x="9429357" y="31230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to Demand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Sales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outlier-adjusted sell-in and sell-out history by SKU and location.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4395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6818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 &amp; Channel Data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66818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Point-of-sale scan data revealing true consumer offtake, not just shipments.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3537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bullhor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Promotions Calendar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6397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price cuts, displays and campaigns that will lift demand.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54380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mand-mgmt-ppt/icons/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44919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Intelligence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launches, economic indicators, and category trends.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8218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43958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demand-mgmt-ppt/icons/clipboar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688" y="449199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66818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Book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66818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customer orders and contractual commitments.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7797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33537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demand-mgmt-ppt/icons/syn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9267" y="449199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6397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Product Plans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56397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timing and cannibalisation assumptions for new SKUs.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D3FB6FC-7F69-F00C-DC54-903A8F918CA2}"/>
              </a:ext>
            </a:extLst>
          </p:cNvPr>
          <p:cNvSpPr/>
          <p:nvPr/>
        </p:nvSpPr>
        <p:spPr>
          <a:xfrm>
            <a:off x="8866604" y="93594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DDF2466-6D89-ED77-EA8F-87D8D089648F}"/>
              </a:ext>
            </a:extLst>
          </p:cNvPr>
          <p:cNvSpPr txBox="1"/>
          <p:nvPr/>
        </p:nvSpPr>
        <p:spPr>
          <a:xfrm>
            <a:off x="9207425" y="42419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 of Demand Planning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Forecast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Unconstrained, model-generated baseline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by time-series / causal methods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commercial judgement and known events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as the analytical starting point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0188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 Forecast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0188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baseline adjusted by business input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number owned by the whole organisation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S&amp;OP, procurement and production plans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for accuracy (MAPE, bias) every cycle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ED3D142-4561-0F59-BCAC-1E25F0FF6490}"/>
              </a:ext>
            </a:extLst>
          </p:cNvPr>
          <p:cNvSpPr/>
          <p:nvPr/>
        </p:nvSpPr>
        <p:spPr>
          <a:xfrm>
            <a:off x="8981885" y="47874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CF9E64-EF1B-8CEE-AC7E-36C7794893C3}"/>
              </a:ext>
            </a:extLst>
          </p:cNvPr>
          <p:cNvSpPr txBox="1"/>
          <p:nvPr/>
        </p:nvSpPr>
        <p:spPr>
          <a:xfrm>
            <a:off x="9322706" y="37847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Demand Planning Framework at an FMCG Company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packaged-foods company runs a monthly demand planning cycle with a dedicated team of 6 planners covering 40 categories.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Planners pull POS and shipment history; statistical baseline generated in the forecasting system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Sales managers review the baseline by key account and flag upcoming promotions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Marketing adds new-product and campaign assumptions; finance checks revenue implications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Consensus forecast signed off at the demand review, then handed to the S&amp;OP meeting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541782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5549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52029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54480" y="5495544"/>
            <a:ext cx="9692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(MAPE) improved from 38% to 22% within two cycles once sales and marketing began collaborating on a single number instead of forecasting separately.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30DE905-2969-84AC-72BA-7B710E5BE513}"/>
              </a:ext>
            </a:extLst>
          </p:cNvPr>
          <p:cNvSpPr/>
          <p:nvPr/>
        </p:nvSpPr>
        <p:spPr>
          <a:xfrm>
            <a:off x="8866604" y="2621910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57EFD0-1B00-4F5A-CCEA-F15EDA7AB610}"/>
              </a:ext>
            </a:extLst>
          </p:cNvPr>
          <p:cNvSpPr txBox="1"/>
          <p:nvPr/>
        </p:nvSpPr>
        <p:spPr>
          <a:xfrm>
            <a:off x="9207425" y="2952506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Time, Geography &amp; Product Dimensions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forecast lives on three axes at once — when, where, and what — and must stay consistent across all three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OF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Time Dimension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are built across nested time horizons, each serving a different planning decision: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54380" y="24917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/home/claude/demand-mgmt-ppt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61747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1546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Short-Term (Weekly)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35661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replenishment, scheduling and S&amp;OE execution decisions.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8218" y="228600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43958" y="24917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mand-mgmt-ppt/icons/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261747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6818" y="31546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Medium-Term (Monthly)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66818" y="35661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S&amp;OP, procurement commitments and workforce planning.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27797" y="2286000"/>
            <a:ext cx="3515258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33537" y="249174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/home/claude/demand-mgmt-ppt/icons/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2617470"/>
            <a:ext cx="251460" cy="251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56397" y="315468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(Quarterly/Annual)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56397" y="356616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capacity investment, budgeting and strategic sourcing.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334B343-3E87-21E6-011F-8121C0325853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2839AE-74D8-1480-D77E-2D5CD58775F2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OF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Time-Bucketed Forecasting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air-conditioner manufacturer forecasts in three time buckets simultaneously: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54203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drive factory scheduling during the peak summer season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8698" y="237744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68698" y="254203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05858" y="324612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set procurement of compressors and sheet metal 3 months out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7317" y="2377440"/>
            <a:ext cx="3454298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97317" y="254203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34477" y="3246120"/>
            <a:ext cx="317997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justify a new production line investment for next year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Time-phasing means the weekly total for a month must reconcile exactly to that month’s monthly forecast — a key consistency check covered later in this unit.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9FB8186-082B-40A4-0490-BE42944970E9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7D2FD2-449E-E00D-0DBE-57E7B6E70742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OF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Geography Dimension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also organised in a location hierarchy, from the broadest market down to the individual point of sale: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036003" cy="2194560"/>
          </a:xfrm>
          <a:prstGeom prst="roundRect">
            <a:avLst>
              <a:gd name="adj" fmla="val 31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303580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" y="354787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/ Region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42976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Asia-Pacific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84643" y="3794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13243" y="2926080"/>
            <a:ext cx="2036003" cy="2194560"/>
          </a:xfrm>
          <a:prstGeom prst="roundRect">
            <a:avLst>
              <a:gd name="adj" fmla="val 3144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50403" y="303580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77835" y="354787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7835" y="42976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India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9246" y="3794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077846" y="2926080"/>
            <a:ext cx="2036003" cy="2194560"/>
          </a:xfrm>
          <a:prstGeom prst="roundRect">
            <a:avLst>
              <a:gd name="adj" fmla="val 31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5006" y="303580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42438" y="354787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/ State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42438" y="42976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Western Zone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13849" y="3794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42449" y="2926080"/>
            <a:ext cx="2036003" cy="2194560"/>
          </a:xfrm>
          <a:prstGeom prst="roundRect">
            <a:avLst>
              <a:gd name="adj" fmla="val 3144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79609" y="303580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507041" y="354787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/ DC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07041" y="42976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Mumbai DC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378452" y="3794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607052" y="2926080"/>
            <a:ext cx="2036003" cy="2194560"/>
          </a:xfrm>
          <a:prstGeom prst="roundRect">
            <a:avLst>
              <a:gd name="adj" fmla="val 31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744212" y="303580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771644" y="354787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/ Outlet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71644" y="4297680"/>
            <a:ext cx="170681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point of sale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A50298D-CBA1-6FB3-6382-31922496D8FD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F9B3E0-2EE4-61A1-83B1-99B6DDB2BFB8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OF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Aggregation vs. Disaggregation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Top-Down (Aggregate first)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total national demand for bottled water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down to regions using historical share %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stable, but misses local nuances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new products with thin store-level history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0188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 (Disaggregate first)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0188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demand at each retail store individually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upward to region and national totals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local promotions and weather effects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clean, granular POS data to work well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7EA736-8755-CE54-2EFF-D635D14F3D9C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5BE235-667A-E88B-689A-D7F1D660F190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OF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 Dimension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are forecast at multiple levels of a hierarchy, and each level answers a different business question: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42773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5856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2578608"/>
            <a:ext cx="10040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“Beverages” — used for category-level budgeting and shelf-space planning.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3375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mand-mgmt-ppt/icons/cub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4792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31012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/ Sub-Brand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63040" y="3630168"/>
            <a:ext cx="10040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“Sparkling Water” — used for marketing investment decisions.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3891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emand-mgmt-ppt/icons/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53085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3616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SKU (Stock-Keeping Unit)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63040" y="4681728"/>
            <a:ext cx="10040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“500ml Lemon, pack of 6” — the level at which orders and production actually occur.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EC0070A-F4CE-9C9E-EB00-1C012BF8A425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4DD4B8-4F43-9683-6F34-E5DB7F290869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OF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New Product Introduction Forecasting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snack-food company is launching a new flavour with no sales history of its own.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Identify a comparable "like-item" — the most recent flavour launched in the same category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Borrow that item’s adoption curve and scale it by planned distribution and marketing spend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Forecast at brand level first, then allocate down to the new SKU using planned pack-mix ratios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Replace the borrowed curve with actual POS data after 8-12 weeks of real sales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541782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5549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52029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54480" y="5495544"/>
            <a:ext cx="9692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Product-dimension forecasting for new items relies on analogy and judgement, since statistical models need history that does not yet exist.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5867ADB-5D57-AC78-C8B9-C52635FA918D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3AA9D9-09E2-D69D-8758-A3DB15F8447A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OF DEMAND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Integrating Time, Geography &amp; Product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demand plan is really a three-dimensional cube: every forecast cell is defined by a time bucket, a location, and a product. Planners must be able to slice the cube any way a decision requires — and every slice must reconcile to the same totals.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2377440" cy="237744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cu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734" y="2172614"/>
            <a:ext cx="1141171" cy="11411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32638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635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502005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554480" y="5312664"/>
            <a:ext cx="9692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retailer’s monthly national forecast for "500ml water" must equal the sum of every store’s weekly forecasts for that SKU rolled up across the month — this is the consistency check explored next.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5A8FEF-DB91-5729-D4F8-FE1FBAC5544C}"/>
              </a:ext>
            </a:extLst>
          </p:cNvPr>
          <p:cNvSpPr/>
          <p:nvPr/>
        </p:nvSpPr>
        <p:spPr>
          <a:xfrm>
            <a:off x="9035934" y="47874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EA3305-96E7-B5F2-025E-886C362C20A5}"/>
              </a:ext>
            </a:extLst>
          </p:cNvPr>
          <p:cNvSpPr txBox="1"/>
          <p:nvPr/>
        </p:nvSpPr>
        <p:spPr>
          <a:xfrm>
            <a:off x="9376755" y="37847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 of Forecasted Data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the same demand story holds true whichever level, location or time bucket you look at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CONSISTENCY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Consistency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mand-mgmt-ppt/icons/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Conflicting Plans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regional totals do not sum to the national forecast, procurement and production plan against different numbers.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box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8392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7004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Imbalance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299008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forecasts create stockouts in one location and excess stock in another.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mand-mgmt-ppt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8450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6758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in the Process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399592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finance lose confidence in a plan that changes depending on how it is sliced.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mand-mgmt-ppt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85089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68172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Version of the Truth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500176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lets every function — sales, ops, finance — work from the same committed numbers.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AF8F1B6-4DD8-5E6F-AA38-B8075E6E2543}"/>
              </a:ext>
            </a:extLst>
          </p:cNvPr>
          <p:cNvSpPr/>
          <p:nvPr/>
        </p:nvSpPr>
        <p:spPr>
          <a:xfrm>
            <a:off x="8836457" y="68954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A2359A-01E1-B9D6-7E92-28FA6D2A0022}"/>
              </a:ext>
            </a:extLst>
          </p:cNvPr>
          <p:cNvSpPr txBox="1"/>
          <p:nvPr/>
        </p:nvSpPr>
        <p:spPr>
          <a:xfrm>
            <a:off x="9177278" y="39955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CONSISTENCY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to Ensure Consistency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arro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Top-Down Reconciliation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forecast is split to lower levels using fixed historical proportions.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4395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ch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6818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Bottom-Up Reconciliation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66818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forecasts are summed upward; totals become the aggregate forecast automatically.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3537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Middle-Out Reconciliation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6397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starts at a stable mid-level (e.g. brand) and is reconciled both up and down.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41605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method is chosen, forecasting systems apply proportional adjustment factors so every level of the hierarchy always sums correctly — this is the core of forecast consistency.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12EE328-B2C5-43B1-A1DB-3EE456DF1260}"/>
              </a:ext>
            </a:extLst>
          </p:cNvPr>
          <p:cNvSpPr/>
          <p:nvPr/>
        </p:nvSpPr>
        <p:spPr>
          <a:xfrm>
            <a:off x="8981886" y="47874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FABB0E-446A-419F-DC39-45714D5EBB37}"/>
              </a:ext>
            </a:extLst>
          </p:cNvPr>
          <p:cNvSpPr txBox="1"/>
          <p:nvPr/>
        </p:nvSpPr>
        <p:spPr>
          <a:xfrm>
            <a:off x="9322707" y="37847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CONSISTENCY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Reconciling SKU-Level and Category Forecasts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 forecasts "Breakfast Cereals" at 100,000 units nationally for the month, but the sum of all individual SKU-level, store-level forecasts adds up to only 91,000 units.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8620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Factor = 100,000 ÷ 91,000 = 1.099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SKU-store forecast is multiplied by 1.099 to reconcile to the category total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10881360" cy="1874520"/>
          </a:xfrm>
          <a:prstGeom prst="roundRect">
            <a:avLst>
              <a:gd name="adj" fmla="val 439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509778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2349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4480" y="456285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554480" y="4855464"/>
            <a:ext cx="969264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detailed forecast cell is scaled up proportionally by the factor 1.099, so category, brand and SKU totals all agree — avoiding a mismatch between the demand plan used by finance and the one used by the warehouse.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3F3C61B-F631-AAA9-7140-EB8120642585}"/>
              </a:ext>
            </a:extLst>
          </p:cNvPr>
          <p:cNvSpPr/>
          <p:nvPr/>
        </p:nvSpPr>
        <p:spPr>
          <a:xfrm>
            <a:off x="9049789" y="2427468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6BF641-F4D1-7474-9C86-606D0A3BB4F6}"/>
              </a:ext>
            </a:extLst>
          </p:cNvPr>
          <p:cNvSpPr txBox="1"/>
          <p:nvPr/>
        </p:nvSpPr>
        <p:spPr>
          <a:xfrm>
            <a:off x="9390610" y="2758064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Management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demand plan into a reliable, cost-effective flow of materials from suppliers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Supply Management?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management is the process of identifying, evaluating and managing the suppliers and materials required to meet the demand plan — covering sourcing strategy, supplier relationships, contracts and supply risk.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2377440" cy="237744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734" y="2172614"/>
            <a:ext cx="1141171" cy="11411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32638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635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502005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554480" y="5312664"/>
            <a:ext cx="9692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management spans strategic sourcing (which suppliers, which contracts), tactical buying (purchase orders, delivery schedules) and supplier performance management.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2D47390-FA1A-DD4A-B522-A46836FCD1F4}"/>
              </a:ext>
            </a:extLst>
          </p:cNvPr>
          <p:cNvSpPr/>
          <p:nvPr/>
        </p:nvSpPr>
        <p:spPr>
          <a:xfrm>
            <a:off x="8836457" y="68954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E09C7C-2DC2-2FA1-2E6A-A533B8F37328}"/>
              </a:ext>
            </a:extLst>
          </p:cNvPr>
          <p:cNvSpPr txBox="1"/>
          <p:nvPr/>
        </p:nvSpPr>
        <p:spPr>
          <a:xfrm>
            <a:off x="9177278" y="39955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Selection &amp; Evaluation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price, payment terms and total landed cost, not just quoted price.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4395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6818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66818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rates, certifications and consistency of incoming materials.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3537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Reliability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6397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On-time-in-full (OTIF) performance and lead-time consistency.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54380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mand-mgmt-ppt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44919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Ability to scale volume up or down as demand plans change.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8218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43958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demand-mgmt-ppt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688" y="449199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66818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Stability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66818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Supplier’s ability to survive disruption without failing to supply.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7797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33537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demand-mgmt-ppt/icons/light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9267" y="449199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6397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56397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co-develop new materials, packaging or processes.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CF7816-EA69-3576-EF1C-C2812C3F819A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3476249-F568-AD56-9935-4A3331CB1C82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Supply Risk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mand-mgmt-ppt/icons/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Single-Source Risk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on one supplier or one region concentrates disruption risk — mitigated by dual-sourcing.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8392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7004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Geopolitical &amp; Logistics Risk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299008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closures, tariffs and trade restrictions can halt inbound material flow overnight.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mand-mgmt-ppt/icons/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8450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6758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 Strategies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399592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of critical materials and pre-qualified backup suppliers reduce exposure.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mand-mgmt-ppt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85089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68172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500176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scorecards and early-warning signals (financial, capacity) flag risk before it disrupts supply.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4EE75F4-E527-754B-1A62-44CC0A5C4D2D}"/>
              </a:ext>
            </a:extLst>
          </p:cNvPr>
          <p:cNvSpPr/>
          <p:nvPr/>
        </p:nvSpPr>
        <p:spPr>
          <a:xfrm>
            <a:off x="9074671" y="47610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5B8812-092B-31A3-99C9-CF3281B5164B}"/>
              </a:ext>
            </a:extLst>
          </p:cNvPr>
          <p:cNvSpPr txBox="1"/>
          <p:nvPr/>
        </p:nvSpPr>
        <p:spPr>
          <a:xfrm>
            <a:off x="9415492" y="378206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Supply Management at an Automotive OEM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manufacturer sources semiconductors from a single overseas supplier. A regional chip shortage threatens three months of vehicle production.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1: Qualify a second chip supplier in a different region within 6 weeks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2: Redesign selected vehicle trims to use more widely available chip variants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3: Prioritise allocation of scarce chips to the highest-margin, highest-demand models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10881360" cy="1463040"/>
          </a:xfrm>
          <a:prstGeom prst="roundRect">
            <a:avLst>
              <a:gd name="adj" fmla="val 562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507492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2120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47457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54480" y="5038344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supply management turns a potential production shutdown into a manageable trade-off — by having supplier diversity and flexible product design decided in advance, not during the crisis.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D952F7-9162-36F2-EC14-746B8902ADD3}"/>
              </a:ext>
            </a:extLst>
          </p:cNvPr>
          <p:cNvSpPr/>
          <p:nvPr/>
        </p:nvSpPr>
        <p:spPr>
          <a:xfrm>
            <a:off x="9049789" y="216928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9DF4BD-308C-D807-BB68-8960806BD6F0}"/>
              </a:ext>
            </a:extLst>
          </p:cNvPr>
          <p:cNvSpPr txBox="1"/>
          <p:nvPr/>
        </p:nvSpPr>
        <p:spPr>
          <a:xfrm>
            <a:off x="9390610" y="249987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Management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the right stock, in the right place, at the lowest total cost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Inventory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Materials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 inputs awaiting conversion into finished product.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0824" y="173736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96564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294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9424" y="260604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Work-in-Process (WIP)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19424" y="30175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completed goods still moving through production.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3008" y="173736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3874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box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478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1608" y="260604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Finished Goods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1608" y="30175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products ready for sale and distribution.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75191" y="173736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280931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mand-mgmt-ppt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6661" y="206883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3791" y="260604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Stock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03791" y="30175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inventory held to absorb demand and lead-time variability.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9D64175-DCFD-913B-1A98-BAF98A5DA695}"/>
              </a:ext>
            </a:extLst>
          </p:cNvPr>
          <p:cNvSpPr/>
          <p:nvPr/>
        </p:nvSpPr>
        <p:spPr>
          <a:xfrm>
            <a:off x="8836457" y="59623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FFEFC0-A904-CCF9-319F-2C58318F7243}"/>
              </a:ext>
            </a:extLst>
          </p:cNvPr>
          <p:cNvSpPr txBox="1"/>
          <p:nvPr/>
        </p:nvSpPr>
        <p:spPr>
          <a:xfrm>
            <a:off x="9177278" y="390219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Costs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mand-mgmt-ppt/icons/ware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7909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0992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 (Carrying) Cost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02996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insurance, obsolescence and the cost of capital tied up in stock — typically 15–25% of inventory value per year.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0678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89864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Ordering Cost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321868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and processing cost incurred every time an order is placed with a supplier.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11480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mand-mgmt-ppt/icons/exclam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25653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08736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 Cost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4407408"/>
            <a:ext cx="10040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sales, expediting fees and customer goodwill lost when inventory runs out.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C60A800-AB8C-C72B-C543-2C977717A8D5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86B7FF-C9D8-430F-1777-A5A4F71B3A24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Economic Order Quantity (EOQ)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EOQ finds the order quantity that minimises the sum of ordering cost and holding cost.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EOQ = √(2DS / H)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annual demand, S = ordering cost per order, H = holding cost per unit per year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55080" y="233172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curve for total ordering cost falls as order size grows, and total holding cost rises — EOQ sits at the point where the two curves cross and total cost is lowest.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BE55E34-2E05-CE56-4EF4-C45940B34905}"/>
              </a:ext>
            </a:extLst>
          </p:cNvPr>
          <p:cNvSpPr/>
          <p:nvPr/>
        </p:nvSpPr>
        <p:spPr>
          <a:xfrm>
            <a:off x="8836457" y="59623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BC7E8C-7D82-E5AA-D79A-647399973933}"/>
              </a:ext>
            </a:extLst>
          </p:cNvPr>
          <p:cNvSpPr txBox="1"/>
          <p:nvPr/>
        </p:nvSpPr>
        <p:spPr>
          <a:xfrm>
            <a:off x="9177278" y="390219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Stock &amp; Reorder Point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ROP = (Average Daily Demand × Lead Time) + Safety Stock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inventory level that triggers a new replenishment order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stock absorbs uncertainty in demand and lead time. A common approach sets it using a service-level factor (Z), the standard deviation of demand, and lead time: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108960" y="3794760"/>
            <a:ext cx="5943600" cy="1371600"/>
          </a:xfrm>
          <a:prstGeom prst="roundRect">
            <a:avLst>
              <a:gd name="adj" fmla="val 5333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3959352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Stock = Z × σ(demand) × √Lead Time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3280" y="4709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desired service level → higher Z → more safety stock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0E69954-2ECD-F7FB-1319-2B8A99996FCA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C859D8-4AEF-CC16-E67A-96D742235FD8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EOQ &amp; Reorder Point Calculation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distributor sells 7,200 units/year of an item. Ordering cost = ₹500/order, holding cost = ₹20/unit/year, lead time = 10 days, average daily demand = 20 units.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8620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EOQ = √(2×7,200×500 / 20) = 600 units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order quantity per replenishment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269748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46520" y="286207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ROP = 20 × 10 = 200 units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46520" y="35204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when stock falls to 200 units (ignoring safety stock)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20574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8680" y="500634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14350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54480" y="437997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554480" y="4672584"/>
            <a:ext cx="969264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distributor places roughly 12 orders a year (7,200 ÷ 600), each of 600 units, and triggers the next order whenever on-hand stock reaches 200 units — balancing ordering effort against holding cost.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D61521D-7FF8-C49C-F8F5-832880E94C6E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05926D-34B8-DED4-0B39-4120DE5687F1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fac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Management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the demand plan into an executable manufacturing schedule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Production Planning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forecast and confirmed orders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84643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13243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50403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77835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Production Schedule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7835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build, how much, and when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9246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77846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5006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42438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Requirements (MRP)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42438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schedule into component needs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13849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42449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79609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07041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Check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07041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machine and labour availability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78452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07052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744212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771644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Shop-Floor Scheduling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71644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and release work orders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7373250-4C0A-C5B6-BD66-AD6F61EF0E37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699A3E-7759-0B4F-F63A-57222A92D811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Strategies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Make-to-Stock (MTS)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ahead of demand and held as finished-goods inventory. Fast delivery, higher inventory risk.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4395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clipboard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6818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Make-to-Order (MTO)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66818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starts only after a confirmed customer order. Low inventory, longer lead time.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3537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puzz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Assemble-to-Order (ATO)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6397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components are stocked; final assembly happens after order, balancing speed and flexibility.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1EF7BAB-E3C9-47D5-C907-2B2B0F5EFBFF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972687-7FFA-89A3-AD88-AA6A5AE5778C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Planning &amp; Utilisation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EEF3FC"/>
          </a:solidFill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Utilisation = (Actual Output / Design Capacity) × 100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much of the available capacity is actually being used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demand-mgmt-ppt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38785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32186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Rough-Cut Capacity Planning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353872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 of whether the master schedule is feasible against key bottleneck resources.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41605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demand-mgmt-ppt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430225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41330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Detailed Capacity Planning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463040" y="445312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and labour-hour level check once the schedule is confirmed.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5216652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50474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Constraints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463040" y="5367528"/>
            <a:ext cx="10040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Overtime, subcontracting or shift changes are used to close capacity gaps.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1FCF4F7-DF1F-FA94-F548-74496FA9BC16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B0B0DF-D680-C992-43AE-8EB542542819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Production Scheduling at a Textile Plant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textile plant must fulfil three orders this week: 5,000m of cotton fabric (due Friday), 3,000m of blended fabric (due Wednesday), and a rush order of 1,000m denim (due Tuesday).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10881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Shortest-due-date rule: denim rush order is scheduled first despite being the smallest run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fabric is sequenced next to meet its Wednesday deadline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fabric, with the most slack, fills remaining capacity through to Friday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86918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063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465429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54480" y="4946904"/>
            <a:ext cx="96926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by due date rather than order size kept all three deliveries on time and avoided a late-shipment penalty on the rush denim order.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54DD98-4BFD-9D4A-06D5-394B6F3D72CF}"/>
              </a:ext>
            </a:extLst>
          </p:cNvPr>
          <p:cNvSpPr/>
          <p:nvPr/>
        </p:nvSpPr>
        <p:spPr>
          <a:xfrm>
            <a:off x="9049789" y="263347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27798D-1295-AD5D-2089-C42B4F9079DF}"/>
              </a:ext>
            </a:extLst>
          </p:cNvPr>
          <p:cNvSpPr txBox="1"/>
          <p:nvPr/>
        </p:nvSpPr>
        <p:spPr>
          <a:xfrm>
            <a:off x="9390610" y="296406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Management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materials and finished goods efficiently across the supply chain network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Modes of Transportation &amp; Selection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tru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door-to-door, best for short-to-medium distance and small shipments.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0824" y="173736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96564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t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294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9424" y="260604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19424" y="30175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per unit for bulk, long-distance inland freight; slower and less flexible.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3008" y="173736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3874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s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478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1608" y="260604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1608" y="30175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 for international bulk cargo; long transit times.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75191" y="1737360"/>
            <a:ext cx="256786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280931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mand-mgmt-ppt/icons/pla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6661" y="206883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03791" y="2606040"/>
            <a:ext cx="211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03791" y="3017520"/>
            <a:ext cx="2110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and most expensive; used for urgent or high-value shipments.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4114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selection trades off cost, speed, reliability and shipment characteristics (weight, volume, value, urgency).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BC2FE16-4755-FA91-6DFD-C749671BCEA7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848D42E-706D-E388-FA1A-CAFBE95CF30E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Transportation Management System (TMS)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mand-mgmt-ppt/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18333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Planning &amp; Optimisation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the most efficient sequence and mode for each shipment.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69748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28392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67004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Freight Rating &amp; Booking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63040" y="299008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carrier rates and books capacity automatically.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/home/claude/demand-mgmt-ppt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3845052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6758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Shipment Tracking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463040" y="399592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real-time visibility of in-transit goods to planners and customers.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" y="47091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/home/claude/demand-mgmt-ppt/icons/clipboard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" y="4850892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468172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 Performance Management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5001768"/>
            <a:ext cx="10040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on-time delivery and damage rates to guide future carrier selection.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5954431-AF4B-3331-AE66-83A8D0D369D3}"/>
              </a:ext>
            </a:extLst>
          </p:cNvPr>
          <p:cNvSpPr/>
          <p:nvPr/>
        </p:nvSpPr>
        <p:spPr>
          <a:xfrm>
            <a:off x="8866604" y="1485636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433D75-C1BF-C8E1-04F3-A7CF5FD8D833}"/>
              </a:ext>
            </a:extLst>
          </p:cNvPr>
          <p:cNvSpPr txBox="1"/>
          <p:nvPr/>
        </p:nvSpPr>
        <p:spPr>
          <a:xfrm>
            <a:off x="9207425" y="181623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Freight Cost Optimisation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Consolidation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smaller shipments into full truckloads to cut cost per unit.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4395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6818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Optimisation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66818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Minimising total distance and empty backhauls across delivery routes.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3537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Carrier Negotiation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6397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commitments and multi-year contracts in exchange for lower rates.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6FC293B-801A-90F6-B6D9-03CC47CC452C}"/>
              </a:ext>
            </a:extLst>
          </p:cNvPr>
          <p:cNvSpPr/>
          <p:nvPr/>
        </p:nvSpPr>
        <p:spPr>
          <a:xfrm>
            <a:off x="8836457" y="59623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1953F2-6931-BF4E-AC43-6E6256AAEF3E}"/>
              </a:ext>
            </a:extLst>
          </p:cNvPr>
          <p:cNvSpPr txBox="1"/>
          <p:nvPr/>
        </p:nvSpPr>
        <p:spPr>
          <a:xfrm>
            <a:off x="9177278" y="390219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Transportation Network for an E-Commerce Company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retailer ships from 3 regional warehouses to customers nationwide, using a tiered transportation strategy: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54203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Line-Haul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truckloads move bulk inventory between warehouses overnight by road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68698" y="237744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68698" y="254203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Last-Mile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05858" y="324612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courier partners handle final delivery to the customer’s door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7317" y="2377440"/>
            <a:ext cx="3454298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97317" y="2542032"/>
            <a:ext cx="34542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34477" y="3246120"/>
            <a:ext cx="317997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freight is reserved only for guaranteed next-day premium orders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matching transportation mode to delivery-speed promise rather than using one mode for everything, the retailer cut average freight cost per order by 18%.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2A2E24C-85A7-8252-F766-2E8CB544CC30}"/>
              </a:ext>
            </a:extLst>
          </p:cNvPr>
          <p:cNvSpPr/>
          <p:nvPr/>
        </p:nvSpPr>
        <p:spPr>
          <a:xfrm>
            <a:off x="8963225" y="4830186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1E1FE0-0376-4EC3-748C-91D9BAFB7593}"/>
              </a:ext>
            </a:extLst>
          </p:cNvPr>
          <p:cNvSpPr txBox="1"/>
          <p:nvPr/>
        </p:nvSpPr>
        <p:spPr>
          <a:xfrm>
            <a:off x="9304046" y="51607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mapm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 Management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where facilities should sit within the supply chain network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Facility Location Decision Factors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mapmar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Proximity to Demand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facilities reduce delivery time and last-mile transportation cost.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4395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6818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to Transport Infrastructure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66818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Highways, ports, rail links and airports affect inbound and outbound flow.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3537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Labour Availability &amp; Cost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6397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workforce supply and wage levels shape operating cost.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54380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mand-mgmt-ppt/icons/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44919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Land, Tax &amp; Regulatory Costs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Real-estate cost, incentives, and local regulations affect total cost of ownership.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8218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43958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demand-mgmt-ppt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9688" y="449199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66818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Exposure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66818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disaster risk and geopolitical stability of the region.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7797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33537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demand-mgmt-ppt/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9267" y="449199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6397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56397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expand the facility as demand grows over time.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BC7EE19-1373-A948-6B5A-C8F285639FBF}"/>
              </a:ext>
            </a:extLst>
          </p:cNvPr>
          <p:cNvSpPr/>
          <p:nvPr/>
        </p:nvSpPr>
        <p:spPr>
          <a:xfrm>
            <a:off x="8836457" y="50292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DA6C38-7416-31F4-8B79-38E5D9D659F5}"/>
              </a:ext>
            </a:extLst>
          </p:cNvPr>
          <p:cNvSpPr txBox="1"/>
          <p:nvPr/>
        </p:nvSpPr>
        <p:spPr>
          <a:xfrm>
            <a:off x="9177278" y="38088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Warehouse / Distribution Centre Network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Centralised Network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large warehouses serving wide areas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inventory holding cost (pooling effect)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Longer, costlier last-mile delivery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manage and control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0188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Decentralised Network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0188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smaller warehouses close to demand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cheaper last-mile delivery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total inventory investment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to coordinate and replenish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42AC4D-FEDD-80F5-2B96-60609FFD7F60}"/>
              </a:ext>
            </a:extLst>
          </p:cNvPr>
          <p:cNvSpPr/>
          <p:nvPr/>
        </p:nvSpPr>
        <p:spPr>
          <a:xfrm>
            <a:off x="8944563" y="47874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FCC996-1A26-C018-C258-AE7F8B50ECEC}"/>
              </a:ext>
            </a:extLst>
          </p:cNvPr>
          <p:cNvSpPr txBox="1"/>
          <p:nvPr/>
        </p:nvSpPr>
        <p:spPr>
          <a:xfrm>
            <a:off x="9285384" y="37847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Location-Allocation Models: An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Location-allocation models mathematically decide both where to place facilities and which customers each facility should serve, typically minimising total transportation and fixed facility cost.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88493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71576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Centre-of-Gravity Method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3035808"/>
            <a:ext cx="10040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customer locations by shipment volume to find the lowest-transport-cost site.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7947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mand-mgmt-ppt/icons/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9364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76732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Mixed-Integer Programming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63040" y="4087368"/>
            <a:ext cx="10040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models that choose facility count, sites and customer allocation simultaneously.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84632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emand-mgmt-ppt/icons/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98805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81888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Models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63040" y="5138928"/>
            <a:ext cx="10040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network scenarios against demand variability and service-level targets.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2544EAE-EA55-6309-572D-3E68F83FFA5F}"/>
              </a:ext>
            </a:extLst>
          </p:cNvPr>
          <p:cNvSpPr/>
          <p:nvPr/>
        </p:nvSpPr>
        <p:spPr>
          <a:xfrm>
            <a:off x="9049789" y="47874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D5C511-19EA-CB22-3D4B-E23B13474939}"/>
              </a:ext>
            </a:extLst>
          </p:cNvPr>
          <p:cNvSpPr txBox="1"/>
          <p:nvPr/>
        </p:nvSpPr>
        <p:spPr>
          <a:xfrm>
            <a:off x="9390610" y="378470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Locating a Regional Distribution Centre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consumer goods company needs a new DC to serve its fast-growing southern market of five major cities.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Centre-of-gravity analysis, weighted by each city’s order volume, points to a site near the region’s midpoint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candidate site is checked against highway and rail access, land cost, and labour availability</a:t>
            </a:r>
            <a:endParaRPr lang="en-US" sz="1350" dirty="0"/>
          </a:p>
          <a:p>
            <a:pPr marL="203200" indent="-2032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nearby city with slightly higher land cost but direct highway access is chosen over the pure centre-of-gravity point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4348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86918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0063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456285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54480" y="4855464"/>
            <a:ext cx="9692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DC cut average delivery time to the five cities from 2 days to same-day/next-day, while keeping inbound transportation cost from the factory nearly unchanged.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A66ACF-393A-8DB5-4778-992320995280}"/>
              </a:ext>
            </a:extLst>
          </p:cNvPr>
          <p:cNvSpPr/>
          <p:nvPr/>
        </p:nvSpPr>
        <p:spPr>
          <a:xfrm>
            <a:off x="9049789" y="-38994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8D30AF-6C28-15B0-FE80-13F96536099D}"/>
              </a:ext>
            </a:extLst>
          </p:cNvPr>
          <p:cNvSpPr txBox="1"/>
          <p:nvPr/>
        </p:nvSpPr>
        <p:spPr>
          <a:xfrm>
            <a:off x="9390610" y="29160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548640"/>
            <a:ext cx="384048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4000" b="1" dirty="0">
                <a:solidFill>
                  <a:srgbClr val="141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0" dirty="0"/>
          </a:p>
        </p:txBody>
      </p:sp>
      <p:sp>
        <p:nvSpPr>
          <p:cNvPr id="3" name="Shape 1"/>
          <p:cNvSpPr/>
          <p:nvPr/>
        </p:nvSpPr>
        <p:spPr>
          <a:xfrm>
            <a:off x="1005840" y="2057400"/>
            <a:ext cx="1371600" cy="137160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/home/claude/demand-mgmt-ppt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740" y="24003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703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S&amp;OP and S&amp;OE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integrating processes that align demand, supply, and financial plans — monthly and week-to-week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S&amp;OP / S&amp;OE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Sales &amp; Operations Planning (S&amp;OP)?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S&amp;OP is a monthly, cross-functional decision-making process that aligns the demand plan, the supply plan, new-product plans and financial targets into one integrated business plan endorsed by leadership.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0" y="1554480"/>
            <a:ext cx="2377440" cy="237744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734" y="2172614"/>
            <a:ext cx="1141171" cy="114117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489204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" y="532638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mand-mgmt-ppt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4635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502005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554480" y="5312664"/>
            <a:ext cx="9692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S&amp;OP exists to reconcile what sales wants to sell, what operations can supply, and what finance can afford — into a single, agreed monthly plan.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6FD625A-E3BE-E8C3-07AB-7A86775818B6}"/>
              </a:ext>
            </a:extLst>
          </p:cNvPr>
          <p:cNvSpPr/>
          <p:nvPr/>
        </p:nvSpPr>
        <p:spPr>
          <a:xfrm>
            <a:off x="8836457" y="59623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00A912-1EB7-70E4-AEC6-5C5C4B47C012}"/>
              </a:ext>
            </a:extLst>
          </p:cNvPr>
          <p:cNvSpPr txBox="1"/>
          <p:nvPr/>
        </p:nvSpPr>
        <p:spPr>
          <a:xfrm>
            <a:off x="9177278" y="390219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S&amp;OP / S&amp;OE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Monthly S&amp;OP 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Data Gathering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sales, forecast and performance data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84643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13243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50403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77835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Demand Review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7835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 agree the demand plan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49246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77846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5006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42438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Supply Review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42438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checks capacity and constraints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13849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342449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41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79609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07041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Pre-S&amp;OP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07041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gaps; prepare scenarios &amp; trade-offs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78452" y="32004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07052" y="2103120"/>
            <a:ext cx="2036003" cy="2651760"/>
          </a:xfrm>
          <a:prstGeom prst="roundRect">
            <a:avLst>
              <a:gd name="adj" fmla="val 314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744212" y="2212848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771644" y="2724912"/>
            <a:ext cx="170681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Executive S&amp;OP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71644" y="3474720"/>
            <a:ext cx="170681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approves the final integrated plan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694111F-DF96-FDD5-5469-81FC1BD2EC26}"/>
              </a:ext>
            </a:extLst>
          </p:cNvPr>
          <p:cNvSpPr/>
          <p:nvPr/>
        </p:nvSpPr>
        <p:spPr>
          <a:xfrm>
            <a:off x="8972554" y="29586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81DCFC-F818-D18D-5CC8-48C3F3493C3E}"/>
              </a:ext>
            </a:extLst>
          </p:cNvPr>
          <p:cNvSpPr txBox="1"/>
          <p:nvPr/>
        </p:nvSpPr>
        <p:spPr>
          <a:xfrm>
            <a:off x="9313375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S&amp;OP / S&amp;OE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Operations Execution (S&amp;OE)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S&amp;OE is the short-term, weekly counterpart to S&amp;OP — it manages execution against the approved plan within the current month, resolving day-to-day exceptions before they become monthly-scale problems.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2976372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80720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Monitoring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3127248"/>
            <a:ext cx="10040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material shortages, machine downtime, or demand spikes as they happen.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79476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mand-mgmt-ppt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9364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76732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Rapid Resolution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63040" y="4087368"/>
            <a:ext cx="10040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Empowered weekly meetings make fast trade-off decisions within plan boundaries.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emand-mgmt-ppt/icons/sy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4896612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727448"/>
            <a:ext cx="10040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to S&amp;OP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63040" y="5047488"/>
            <a:ext cx="100401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exceptions are escalated to the next monthly S&amp;OP cycle for a structural fix.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BFE9ECF-F30C-804B-39ED-2C35EB68DBD1}"/>
              </a:ext>
            </a:extLst>
          </p:cNvPr>
          <p:cNvSpPr/>
          <p:nvPr/>
        </p:nvSpPr>
        <p:spPr>
          <a:xfrm>
            <a:off x="8836457" y="59623"/>
            <a:ext cx="3142211" cy="118441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F70BB4-FD65-02A2-3FD7-CE23253829EC}"/>
              </a:ext>
            </a:extLst>
          </p:cNvPr>
          <p:cNvSpPr txBox="1"/>
          <p:nvPr/>
        </p:nvSpPr>
        <p:spPr>
          <a:xfrm>
            <a:off x="9177278" y="390219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Important slide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S&amp;OP / S&amp;OE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S&amp;OP vs. S&amp;OE: A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S&amp;OP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cadence, 1–24 month planning horizon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and tactical trade-off decisions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senior/executive leadership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plan for volume, capacity and inventory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55868" y="1737360"/>
            <a:ext cx="5295748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30188" y="196596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S&amp;OE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30188" y="2560320"/>
            <a:ext cx="474710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cadence, current-month horizon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Operational, execution-level decisions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planning and operations managers</a:t>
            </a:r>
            <a:endParaRPr lang="en-US" sz="12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actual performance aligned to the plan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2C4D7C-48A7-BFBA-69E3-FF6A67E9405D}"/>
              </a:ext>
            </a:extLst>
          </p:cNvPr>
          <p:cNvSpPr/>
          <p:nvPr/>
        </p:nvSpPr>
        <p:spPr>
          <a:xfrm>
            <a:off x="9049789" y="0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E5845B-C1E7-2B56-D9BC-1DCAE045D4F2}"/>
              </a:ext>
            </a:extLst>
          </p:cNvPr>
          <p:cNvSpPr txBox="1"/>
          <p:nvPr/>
        </p:nvSpPr>
        <p:spPr>
          <a:xfrm>
            <a:off x="9390610" y="330596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S&amp;OP / S&amp;OE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Integrated S&amp;OP / S&amp;OE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4380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mand-mgmt-ppt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06883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Forecast Accuracy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consensus number replaces multiple conflicting departmental forecasts.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38218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43958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/home/claude/demand-mgmt-ppt/icons/bal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688" y="20688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6818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Service &amp; Inventory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566818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and supply stay balanced, lowering both stockouts and excess stock.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7797" y="173736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33537" y="194310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/home/claude/demand-mgmt-ppt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9267" y="2068830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6397" y="2606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Cross-Functional Alignment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56397" y="30175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operations and finance work from the same numbers and priorities.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754380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/home/claude/demand-mgmt-ppt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110" y="4491990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Response to Change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77240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S&amp;OE resolves near-term exceptions before they disrupt the monthly plan.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38218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543958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/home/claude/demand-mgmt-ppt/icons/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688" y="4491990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66818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Visibility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566818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plan is directly tied to the revenue and margin plan.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127797" y="416052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E0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33537" y="4366260"/>
            <a:ext cx="502920" cy="502920"/>
          </a:xfrm>
          <a:prstGeom prst="ellipse">
            <a:avLst/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/home/claude/demand-mgmt-ppt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9267" y="4491990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56397" y="502920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Accountable Plan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56397" y="544068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formally owns one integrated plan rather than several silos.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1DAFE9F-9436-ACC7-C28C-0069967C8512}"/>
              </a:ext>
            </a:extLst>
          </p:cNvPr>
          <p:cNvSpPr/>
          <p:nvPr/>
        </p:nvSpPr>
        <p:spPr>
          <a:xfrm>
            <a:off x="9049789" y="29586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19DA591-8F3D-9833-29C7-97FCBF32E4C7}"/>
              </a:ext>
            </a:extLst>
          </p:cNvPr>
          <p:cNvSpPr txBox="1"/>
          <p:nvPr/>
        </p:nvSpPr>
        <p:spPr>
          <a:xfrm>
            <a:off x="9390610" y="360182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EF3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S&amp;OP / S&amp;OE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S&amp;OP Cycle at a Consumer Electronics Company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914400" cy="0"/>
          </a:xfrm>
          <a:prstGeom prst="line">
            <a:avLst/>
          </a:prstGeom>
          <a:noFill/>
          <a:ln w="3175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headphone brand runs monthly S&amp;OP ahead of its holiday season launch.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review: Marketing raises the forecast 30% for a planned festive campaign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review: Operations confirms the factory can only flex output by 15% at short notice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Pre-S&amp;OP: Planners model two scenarios — air-freight expedite vs. a phased regional launch</a:t>
            </a:r>
            <a:endParaRPr lang="en-US" sz="1300" dirty="0"/>
          </a:p>
          <a:p>
            <a:pPr marL="203200" indent="-2032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S&amp;OP: Leadership approves a phased launch, prioritising the top two markets first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5052060"/>
            <a:ext cx="548640" cy="54864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/home/claude/demand-mgmt-ppt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1892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4745736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FOLLOW-THROUGH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54480" y="5038344"/>
            <a:ext cx="9692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S&amp;OE meetings then tracked factory output against the approved ramp-up, catching a component delay early enough to keep the top-priority market on schedule.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33BABB7-2894-DC97-52D7-0D5F21CAC1AA}"/>
              </a:ext>
            </a:extLst>
          </p:cNvPr>
          <p:cNvSpPr/>
          <p:nvPr/>
        </p:nvSpPr>
        <p:spPr>
          <a:xfrm>
            <a:off x="9049789" y="1894962"/>
            <a:ext cx="3142211" cy="1184412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635ADD-29D0-6CAF-58F8-77C2B1DD6B9D}"/>
              </a:ext>
            </a:extLst>
          </p:cNvPr>
          <p:cNvSpPr txBox="1"/>
          <p:nvPr/>
        </p:nvSpPr>
        <p:spPr>
          <a:xfrm>
            <a:off x="9390610" y="2225558"/>
            <a:ext cx="24605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Read this slide 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914400"/>
            <a:ext cx="1097280" cy="1097280"/>
          </a:xfrm>
          <a:prstGeom prst="ellipse">
            <a:avLst/>
          </a:prstGeom>
          <a:solidFill>
            <a:srgbClr val="C9962C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/home/claude/demand-mgmt-ppt/icons/fl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8872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194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25603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Demand Signal to Delivered Order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22960" y="3474720"/>
            <a:ext cx="9875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management turns raw signals into one consensus plan across time, geography and product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Supply, inventory, production, transportation and location decisions all execute against that plan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S&amp;OP aligns the business monthly; S&amp;OE keeps execution on track week to week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41248" y="5943600"/>
            <a:ext cx="1005840" cy="0"/>
          </a:xfrm>
          <a:prstGeom prst="line">
            <a:avLst/>
          </a:prstGeom>
          <a:noFill/>
          <a:ln w="38100">
            <a:solidFill>
              <a:srgbClr val="C996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6080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4527</Words>
  <Application>Microsoft Office PowerPoint</Application>
  <PresentationFormat>Widescreen</PresentationFormat>
  <Paragraphs>721</Paragraphs>
  <Slides>61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Platypi Medium</vt:lpstr>
      <vt:lpstr>Aptos</vt:lpstr>
      <vt:lpstr>Arial</vt:lpstr>
      <vt:lpstr>Calibri</vt:lpstr>
      <vt:lpstr>Cambria</vt:lpstr>
      <vt:lpstr>Office Theme</vt:lpstr>
      <vt:lpstr>Subject Name: Logistics and Supply Chain Management Session No: 02 Faculty Name: Prof Ajit M Maurya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Ajit Maurya</cp:lastModifiedBy>
  <cp:revision>3</cp:revision>
  <dcterms:created xsi:type="dcterms:W3CDTF">2026-07-14T08:12:18Z</dcterms:created>
  <dcterms:modified xsi:type="dcterms:W3CDTF">2026-08-08T16:37:36Z</dcterms:modified>
</cp:coreProperties>
</file>