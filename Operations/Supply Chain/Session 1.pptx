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3" r:id="rId2"/>
  </p:sldMasterIdLst>
  <p:notesMasterIdLst>
    <p:notesMasterId r:id="rId34"/>
  </p:notesMasterIdLst>
  <p:sldIdLst>
    <p:sldId id="270" r:id="rId3"/>
    <p:sldId id="273" r:id="rId4"/>
    <p:sldId id="272" r:id="rId5"/>
    <p:sldId id="269"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71" r:id="rId33"/>
  </p:sldIdLst>
  <p:sldSz cx="14630400" cy="8229600"/>
  <p:notesSz cx="8229600" cy="14630400"/>
  <p:embeddedFontLst>
    <p:embeddedFont>
      <p:font typeface="Platypi Medium" panose="020B0604020202020204" charset="0"/>
      <p:regular r:id="rId35"/>
    </p:embeddedFont>
    <p:embeddedFont>
      <p:font typeface="Source Serif Pro" panose="02040603050405020204" pitchFamily="18" charset="0"/>
      <p:regular r:id="rId36"/>
      <p:bold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8" d="100"/>
          <a:sy n="58" d="100"/>
        </p:scale>
        <p:origin x="64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3.fntdata"/><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1.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4647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9ECBE-4B01-1333-5FA5-BF3525F490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DE3B3D-0384-58F8-6F61-81FC9AF55F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E1018-5755-9038-6905-7A45E84DB3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F82D42-CF88-2ECE-7A69-9661507C992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71539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628E1-1BEA-B1C7-905F-3B369208D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859108-402E-2760-6C09-6E33F243E9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D69056-1418-8FE6-AF52-C782E7FC92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363C13-8372-A4FA-1A28-D469C66E6646}"/>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815187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30A21-9043-B3FD-6EF3-29312DDACE64}"/>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p>
        </p:txBody>
      </p:sp>
      <p:sp>
        <p:nvSpPr>
          <p:cNvPr id="3" name="Subtitle 2">
            <a:extLst>
              <a:ext uri="{FF2B5EF4-FFF2-40B4-BE49-F238E27FC236}">
                <a16:creationId xmlns:a16="http://schemas.microsoft.com/office/drawing/2014/main" id="{5E275792-EE7E-7357-98D1-30CD855384D8}"/>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a:extLst>
              <a:ext uri="{FF2B5EF4-FFF2-40B4-BE49-F238E27FC236}">
                <a16:creationId xmlns:a16="http://schemas.microsoft.com/office/drawing/2014/main" id="{14A78FDA-E5CC-6BB2-EDA7-69DB6BAFFC39}"/>
              </a:ext>
            </a:extLst>
          </p:cNvPr>
          <p:cNvSpPr>
            <a:spLocks noGrp="1"/>
          </p:cNvSpPr>
          <p:nvPr>
            <p:ph type="dt" sz="half" idx="10"/>
          </p:nvPr>
        </p:nvSpPr>
        <p:spPr/>
        <p:txBody>
          <a:bodyPr/>
          <a:lstStyle/>
          <a:p>
            <a:fld id="{F7F38972-1CE9-4618-A565-E31F6D00BDB2}" type="datetime1">
              <a:rPr lang="en-US" smtClean="0"/>
              <a:t>7/7/2026</a:t>
            </a:fld>
            <a:endParaRPr lang="en-US"/>
          </a:p>
        </p:txBody>
      </p:sp>
      <p:sp>
        <p:nvSpPr>
          <p:cNvPr id="5" name="Footer Placeholder 4">
            <a:extLst>
              <a:ext uri="{FF2B5EF4-FFF2-40B4-BE49-F238E27FC236}">
                <a16:creationId xmlns:a16="http://schemas.microsoft.com/office/drawing/2014/main" id="{7E57530F-71DB-54A0-7851-F3E230B6CC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7D5A05-856F-A25A-DFAD-FA5A8A0F90CF}"/>
              </a:ext>
            </a:extLst>
          </p:cNvPr>
          <p:cNvSpPr>
            <a:spLocks noGrp="1"/>
          </p:cNvSpPr>
          <p:nvPr>
            <p:ph type="sldNum" sz="quarter" idx="12"/>
          </p:nvPr>
        </p:nvSpPr>
        <p:spPr/>
        <p:txBody>
          <a:bodyPr/>
          <a:lstStyle/>
          <a:p>
            <a:fld id="{7FF6B5DA-D357-4588-BF01-141D6E84A90B}" type="slidenum">
              <a:rPr lang="en-US" smtClean="0"/>
              <a:t>‹#›</a:t>
            </a:fld>
            <a:endParaRPr lang="en-US"/>
          </a:p>
        </p:txBody>
      </p:sp>
    </p:spTree>
    <p:extLst>
      <p:ext uri="{BB962C8B-B14F-4D97-AF65-F5344CB8AC3E}">
        <p14:creationId xmlns:p14="http://schemas.microsoft.com/office/powerpoint/2010/main" val="33878882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82761-590F-7781-62E7-D677ED270C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BBE7C5-3E23-4282-05DE-6BECA135E2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55DC80-4A69-A93D-01E0-F23B1E91CFCE}"/>
              </a:ext>
            </a:extLst>
          </p:cNvPr>
          <p:cNvSpPr>
            <a:spLocks noGrp="1"/>
          </p:cNvSpPr>
          <p:nvPr>
            <p:ph type="dt" sz="half" idx="10"/>
          </p:nvPr>
        </p:nvSpPr>
        <p:spPr/>
        <p:txBody>
          <a:bodyPr/>
          <a:lstStyle/>
          <a:p>
            <a:fld id="{81D0EB15-E910-4DA0-B347-04B64BAE630C}" type="datetime1">
              <a:rPr lang="en-US" smtClean="0"/>
              <a:t>7/7/2026</a:t>
            </a:fld>
            <a:endParaRPr lang="en-US"/>
          </a:p>
        </p:txBody>
      </p:sp>
      <p:sp>
        <p:nvSpPr>
          <p:cNvPr id="5" name="Footer Placeholder 4">
            <a:extLst>
              <a:ext uri="{FF2B5EF4-FFF2-40B4-BE49-F238E27FC236}">
                <a16:creationId xmlns:a16="http://schemas.microsoft.com/office/drawing/2014/main" id="{6B55E720-EABA-EE2E-A31E-0E31589ABF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EDD03C-A6F3-8DA1-DB50-22AE6D615269}"/>
              </a:ext>
            </a:extLst>
          </p:cNvPr>
          <p:cNvSpPr>
            <a:spLocks noGrp="1"/>
          </p:cNvSpPr>
          <p:nvPr>
            <p:ph type="sldNum" sz="quarter" idx="12"/>
          </p:nvPr>
        </p:nvSpPr>
        <p:spPr/>
        <p:txBody>
          <a:bodyPr/>
          <a:lstStyle/>
          <a:p>
            <a:fld id="{7FF6B5DA-D357-4588-BF01-141D6E84A90B}" type="slidenum">
              <a:rPr lang="en-US" smtClean="0"/>
              <a:t>‹#›</a:t>
            </a:fld>
            <a:endParaRPr lang="en-US"/>
          </a:p>
        </p:txBody>
      </p:sp>
    </p:spTree>
    <p:extLst>
      <p:ext uri="{BB962C8B-B14F-4D97-AF65-F5344CB8AC3E}">
        <p14:creationId xmlns:p14="http://schemas.microsoft.com/office/powerpoint/2010/main" val="11117367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9352F-0144-013D-E98F-E69847D065F3}"/>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p>
        </p:txBody>
      </p:sp>
      <p:sp>
        <p:nvSpPr>
          <p:cNvPr id="3" name="Text Placeholder 2">
            <a:extLst>
              <a:ext uri="{FF2B5EF4-FFF2-40B4-BE49-F238E27FC236}">
                <a16:creationId xmlns:a16="http://schemas.microsoft.com/office/drawing/2014/main" id="{5A860640-A812-4B67-9548-AF85113CA274}"/>
              </a:ext>
            </a:extLst>
          </p:cNvPr>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E9FAEA-5409-9C5F-4D08-09FD838431D0}"/>
              </a:ext>
            </a:extLst>
          </p:cNvPr>
          <p:cNvSpPr>
            <a:spLocks noGrp="1"/>
          </p:cNvSpPr>
          <p:nvPr>
            <p:ph type="dt" sz="half" idx="10"/>
          </p:nvPr>
        </p:nvSpPr>
        <p:spPr/>
        <p:txBody>
          <a:bodyPr/>
          <a:lstStyle/>
          <a:p>
            <a:fld id="{C6E33D38-8613-4148-890D-82CF09E94C18}" type="datetime1">
              <a:rPr lang="en-US" smtClean="0"/>
              <a:t>7/7/2026</a:t>
            </a:fld>
            <a:endParaRPr lang="en-US"/>
          </a:p>
        </p:txBody>
      </p:sp>
      <p:sp>
        <p:nvSpPr>
          <p:cNvPr id="5" name="Footer Placeholder 4">
            <a:extLst>
              <a:ext uri="{FF2B5EF4-FFF2-40B4-BE49-F238E27FC236}">
                <a16:creationId xmlns:a16="http://schemas.microsoft.com/office/drawing/2014/main" id="{5C47404B-1B62-83F0-EC62-7880258F2B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196EA2-6D01-E726-4AF3-522C0D96812A}"/>
              </a:ext>
            </a:extLst>
          </p:cNvPr>
          <p:cNvSpPr>
            <a:spLocks noGrp="1"/>
          </p:cNvSpPr>
          <p:nvPr>
            <p:ph type="sldNum" sz="quarter" idx="12"/>
          </p:nvPr>
        </p:nvSpPr>
        <p:spPr/>
        <p:txBody>
          <a:bodyPr/>
          <a:lstStyle/>
          <a:p>
            <a:fld id="{7FF6B5DA-D357-4588-BF01-141D6E84A90B}" type="slidenum">
              <a:rPr lang="en-US" smtClean="0"/>
              <a:t>‹#›</a:t>
            </a:fld>
            <a:endParaRPr lang="en-US"/>
          </a:p>
        </p:txBody>
      </p:sp>
    </p:spTree>
    <p:extLst>
      <p:ext uri="{BB962C8B-B14F-4D97-AF65-F5344CB8AC3E}">
        <p14:creationId xmlns:p14="http://schemas.microsoft.com/office/powerpoint/2010/main" val="24267023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6FFC9-D700-3CD8-BCD5-F0AC6E6905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BEBD87-3A5E-3D10-F8E9-6E05E1757012}"/>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8F2A74-2DC0-91F4-5709-94137F71DBF7}"/>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EAE095-1497-DA40-0C4A-760839E5C220}"/>
              </a:ext>
            </a:extLst>
          </p:cNvPr>
          <p:cNvSpPr>
            <a:spLocks noGrp="1"/>
          </p:cNvSpPr>
          <p:nvPr>
            <p:ph type="dt" sz="half" idx="10"/>
          </p:nvPr>
        </p:nvSpPr>
        <p:spPr/>
        <p:txBody>
          <a:bodyPr/>
          <a:lstStyle/>
          <a:p>
            <a:fld id="{60ACA482-FE16-49C0-9539-C983C1586C99}" type="datetime1">
              <a:rPr lang="en-US" smtClean="0"/>
              <a:t>7/7/2026</a:t>
            </a:fld>
            <a:endParaRPr lang="en-US"/>
          </a:p>
        </p:txBody>
      </p:sp>
      <p:sp>
        <p:nvSpPr>
          <p:cNvPr id="6" name="Footer Placeholder 5">
            <a:extLst>
              <a:ext uri="{FF2B5EF4-FFF2-40B4-BE49-F238E27FC236}">
                <a16:creationId xmlns:a16="http://schemas.microsoft.com/office/drawing/2014/main" id="{18D628EB-3A27-2AB4-E291-36FD071FB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12E718-784D-88DB-88AC-1CEC94F17919}"/>
              </a:ext>
            </a:extLst>
          </p:cNvPr>
          <p:cNvSpPr>
            <a:spLocks noGrp="1"/>
          </p:cNvSpPr>
          <p:nvPr>
            <p:ph type="sldNum" sz="quarter" idx="12"/>
          </p:nvPr>
        </p:nvSpPr>
        <p:spPr/>
        <p:txBody>
          <a:bodyPr/>
          <a:lstStyle/>
          <a:p>
            <a:fld id="{7FF6B5DA-D357-4588-BF01-141D6E84A90B}" type="slidenum">
              <a:rPr lang="en-US" smtClean="0"/>
              <a:t>‹#›</a:t>
            </a:fld>
            <a:endParaRPr lang="en-US"/>
          </a:p>
        </p:txBody>
      </p:sp>
    </p:spTree>
    <p:extLst>
      <p:ext uri="{BB962C8B-B14F-4D97-AF65-F5344CB8AC3E}">
        <p14:creationId xmlns:p14="http://schemas.microsoft.com/office/powerpoint/2010/main" val="6176948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E9D58-4111-C8B0-1029-1B385FE94B2B}"/>
              </a:ext>
            </a:extLst>
          </p:cNvPr>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F5A4AB-D38E-51A7-AD1F-DFE47F2D03DF}"/>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FEB26CB9-3CAD-815D-3704-6DA1F44E9908}"/>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1DDC0E-87C8-A470-3B86-3FAC39F2ACEF}"/>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1B759F33-5F36-3929-30F5-7B203C6BBDDA}"/>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67F0EB-D112-9F1E-2499-39C03634FF98}"/>
              </a:ext>
            </a:extLst>
          </p:cNvPr>
          <p:cNvSpPr>
            <a:spLocks noGrp="1"/>
          </p:cNvSpPr>
          <p:nvPr>
            <p:ph type="dt" sz="half" idx="10"/>
          </p:nvPr>
        </p:nvSpPr>
        <p:spPr/>
        <p:txBody>
          <a:bodyPr/>
          <a:lstStyle/>
          <a:p>
            <a:fld id="{FB0A3F6B-3BF0-4DB5-8E1F-9E9D407A20DE}" type="datetime1">
              <a:rPr lang="en-US" smtClean="0"/>
              <a:t>7/7/2026</a:t>
            </a:fld>
            <a:endParaRPr lang="en-US"/>
          </a:p>
        </p:txBody>
      </p:sp>
      <p:sp>
        <p:nvSpPr>
          <p:cNvPr id="8" name="Footer Placeholder 7">
            <a:extLst>
              <a:ext uri="{FF2B5EF4-FFF2-40B4-BE49-F238E27FC236}">
                <a16:creationId xmlns:a16="http://schemas.microsoft.com/office/drawing/2014/main" id="{7E0EDBB7-3279-66D3-F45E-249396F4D7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042D27-3964-7772-4435-6E113A190A66}"/>
              </a:ext>
            </a:extLst>
          </p:cNvPr>
          <p:cNvSpPr>
            <a:spLocks noGrp="1"/>
          </p:cNvSpPr>
          <p:nvPr>
            <p:ph type="sldNum" sz="quarter" idx="12"/>
          </p:nvPr>
        </p:nvSpPr>
        <p:spPr/>
        <p:txBody>
          <a:bodyPr/>
          <a:lstStyle/>
          <a:p>
            <a:fld id="{7FF6B5DA-D357-4588-BF01-141D6E84A90B}" type="slidenum">
              <a:rPr lang="en-US" smtClean="0"/>
              <a:t>‹#›</a:t>
            </a:fld>
            <a:endParaRPr lang="en-US"/>
          </a:p>
        </p:txBody>
      </p:sp>
    </p:spTree>
    <p:extLst>
      <p:ext uri="{BB962C8B-B14F-4D97-AF65-F5344CB8AC3E}">
        <p14:creationId xmlns:p14="http://schemas.microsoft.com/office/powerpoint/2010/main" val="354633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2A520-57BC-5B60-04F1-8132E33B51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66E143-55D3-7FAB-B460-FA65750A81D2}"/>
              </a:ext>
            </a:extLst>
          </p:cNvPr>
          <p:cNvSpPr>
            <a:spLocks noGrp="1"/>
          </p:cNvSpPr>
          <p:nvPr>
            <p:ph type="dt" sz="half" idx="10"/>
          </p:nvPr>
        </p:nvSpPr>
        <p:spPr/>
        <p:txBody>
          <a:bodyPr/>
          <a:lstStyle/>
          <a:p>
            <a:fld id="{DDB4568C-57B9-42DC-9BC3-C9FB9269A361}" type="datetime1">
              <a:rPr lang="en-US" smtClean="0"/>
              <a:t>7/7/2026</a:t>
            </a:fld>
            <a:endParaRPr lang="en-US"/>
          </a:p>
        </p:txBody>
      </p:sp>
      <p:sp>
        <p:nvSpPr>
          <p:cNvPr id="4" name="Footer Placeholder 3">
            <a:extLst>
              <a:ext uri="{FF2B5EF4-FFF2-40B4-BE49-F238E27FC236}">
                <a16:creationId xmlns:a16="http://schemas.microsoft.com/office/drawing/2014/main" id="{E4C3AE74-FC50-39BB-A480-A9CAADA261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53903F-BA1E-FA71-158F-6BF63759FDD3}"/>
              </a:ext>
            </a:extLst>
          </p:cNvPr>
          <p:cNvSpPr>
            <a:spLocks noGrp="1"/>
          </p:cNvSpPr>
          <p:nvPr>
            <p:ph type="sldNum" sz="quarter" idx="12"/>
          </p:nvPr>
        </p:nvSpPr>
        <p:spPr/>
        <p:txBody>
          <a:bodyPr/>
          <a:lstStyle/>
          <a:p>
            <a:fld id="{7FF6B5DA-D357-4588-BF01-141D6E84A90B}" type="slidenum">
              <a:rPr lang="en-US" smtClean="0"/>
              <a:t>‹#›</a:t>
            </a:fld>
            <a:endParaRPr lang="en-US"/>
          </a:p>
        </p:txBody>
      </p:sp>
    </p:spTree>
    <p:extLst>
      <p:ext uri="{BB962C8B-B14F-4D97-AF65-F5344CB8AC3E}">
        <p14:creationId xmlns:p14="http://schemas.microsoft.com/office/powerpoint/2010/main" val="6721838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46D73C-9EFD-DF12-66BB-F4C495D90DE8}"/>
              </a:ext>
            </a:extLst>
          </p:cNvPr>
          <p:cNvSpPr>
            <a:spLocks noGrp="1"/>
          </p:cNvSpPr>
          <p:nvPr>
            <p:ph type="dt" sz="half" idx="10"/>
          </p:nvPr>
        </p:nvSpPr>
        <p:spPr/>
        <p:txBody>
          <a:bodyPr/>
          <a:lstStyle/>
          <a:p>
            <a:fld id="{9CF38FEC-063D-417F-83FE-6FC40A39FAAA}" type="datetime1">
              <a:rPr lang="en-US" smtClean="0"/>
              <a:t>7/7/2026</a:t>
            </a:fld>
            <a:endParaRPr lang="en-US"/>
          </a:p>
        </p:txBody>
      </p:sp>
      <p:sp>
        <p:nvSpPr>
          <p:cNvPr id="3" name="Footer Placeholder 2">
            <a:extLst>
              <a:ext uri="{FF2B5EF4-FFF2-40B4-BE49-F238E27FC236}">
                <a16:creationId xmlns:a16="http://schemas.microsoft.com/office/drawing/2014/main" id="{A2C2679C-38D5-A813-1040-3441FA54132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C305725-423C-D9DC-69A1-5E661CB1B600}"/>
              </a:ext>
            </a:extLst>
          </p:cNvPr>
          <p:cNvSpPr>
            <a:spLocks noGrp="1"/>
          </p:cNvSpPr>
          <p:nvPr>
            <p:ph type="sldNum" sz="quarter" idx="12"/>
          </p:nvPr>
        </p:nvSpPr>
        <p:spPr/>
        <p:txBody>
          <a:bodyPr/>
          <a:lstStyle/>
          <a:p>
            <a:fld id="{7FF6B5DA-D357-4588-BF01-141D6E84A90B}" type="slidenum">
              <a:rPr lang="en-US" smtClean="0"/>
              <a:t>‹#›</a:t>
            </a:fld>
            <a:endParaRPr lang="en-US"/>
          </a:p>
        </p:txBody>
      </p:sp>
    </p:spTree>
    <p:extLst>
      <p:ext uri="{BB962C8B-B14F-4D97-AF65-F5344CB8AC3E}">
        <p14:creationId xmlns:p14="http://schemas.microsoft.com/office/powerpoint/2010/main" val="14136048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17F89-70CB-87DE-64F3-EF08D08EE12F}"/>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Content Placeholder 2">
            <a:extLst>
              <a:ext uri="{FF2B5EF4-FFF2-40B4-BE49-F238E27FC236}">
                <a16:creationId xmlns:a16="http://schemas.microsoft.com/office/drawing/2014/main" id="{E79B0630-A2FC-34C9-4AFB-D3432F6033E0}"/>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863B78-2D22-C83F-8945-DDA49C6EFB40}"/>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36618133-4BD7-13F9-8315-0DAADFEA3595}"/>
              </a:ext>
            </a:extLst>
          </p:cNvPr>
          <p:cNvSpPr>
            <a:spLocks noGrp="1"/>
          </p:cNvSpPr>
          <p:nvPr>
            <p:ph type="dt" sz="half" idx="10"/>
          </p:nvPr>
        </p:nvSpPr>
        <p:spPr/>
        <p:txBody>
          <a:bodyPr/>
          <a:lstStyle/>
          <a:p>
            <a:fld id="{DAFC260F-6723-4CC3-8FF3-2ABAD9909C34}" type="datetime1">
              <a:rPr lang="en-US" smtClean="0"/>
              <a:t>7/7/2026</a:t>
            </a:fld>
            <a:endParaRPr lang="en-US"/>
          </a:p>
        </p:txBody>
      </p:sp>
      <p:sp>
        <p:nvSpPr>
          <p:cNvPr id="6" name="Footer Placeholder 5">
            <a:extLst>
              <a:ext uri="{FF2B5EF4-FFF2-40B4-BE49-F238E27FC236}">
                <a16:creationId xmlns:a16="http://schemas.microsoft.com/office/drawing/2014/main" id="{ACBA281C-75EA-5A31-9364-21D77590FE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364CB7-172D-A06A-D44F-F3231D365CA4}"/>
              </a:ext>
            </a:extLst>
          </p:cNvPr>
          <p:cNvSpPr>
            <a:spLocks noGrp="1"/>
          </p:cNvSpPr>
          <p:nvPr>
            <p:ph type="sldNum" sz="quarter" idx="12"/>
          </p:nvPr>
        </p:nvSpPr>
        <p:spPr/>
        <p:txBody>
          <a:bodyPr/>
          <a:lstStyle/>
          <a:p>
            <a:fld id="{7FF6B5DA-D357-4588-BF01-141D6E84A90B}" type="slidenum">
              <a:rPr lang="en-US" smtClean="0"/>
              <a:t>‹#›</a:t>
            </a:fld>
            <a:endParaRPr lang="en-US"/>
          </a:p>
        </p:txBody>
      </p:sp>
    </p:spTree>
    <p:extLst>
      <p:ext uri="{BB962C8B-B14F-4D97-AF65-F5344CB8AC3E}">
        <p14:creationId xmlns:p14="http://schemas.microsoft.com/office/powerpoint/2010/main" val="24985624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81D77-FC9D-2421-64A5-D50D8CCC3ADE}"/>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Picture Placeholder 2">
            <a:extLst>
              <a:ext uri="{FF2B5EF4-FFF2-40B4-BE49-F238E27FC236}">
                <a16:creationId xmlns:a16="http://schemas.microsoft.com/office/drawing/2014/main" id="{0E15C379-7A7E-F47A-12FD-4849F24A805E}"/>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a:extLst>
              <a:ext uri="{FF2B5EF4-FFF2-40B4-BE49-F238E27FC236}">
                <a16:creationId xmlns:a16="http://schemas.microsoft.com/office/drawing/2014/main" id="{64972556-715C-3205-DCE7-0522436780F5}"/>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8877C15D-D9B0-7C32-A758-D46BBD1BCBE6}"/>
              </a:ext>
            </a:extLst>
          </p:cNvPr>
          <p:cNvSpPr>
            <a:spLocks noGrp="1"/>
          </p:cNvSpPr>
          <p:nvPr>
            <p:ph type="dt" sz="half" idx="10"/>
          </p:nvPr>
        </p:nvSpPr>
        <p:spPr/>
        <p:txBody>
          <a:bodyPr/>
          <a:lstStyle/>
          <a:p>
            <a:fld id="{61BF0039-E5DE-46DE-BE3E-6330EECD656D}" type="datetime1">
              <a:rPr lang="en-US" smtClean="0"/>
              <a:t>7/7/2026</a:t>
            </a:fld>
            <a:endParaRPr lang="en-US"/>
          </a:p>
        </p:txBody>
      </p:sp>
      <p:sp>
        <p:nvSpPr>
          <p:cNvPr id="6" name="Footer Placeholder 5">
            <a:extLst>
              <a:ext uri="{FF2B5EF4-FFF2-40B4-BE49-F238E27FC236}">
                <a16:creationId xmlns:a16="http://schemas.microsoft.com/office/drawing/2014/main" id="{48350E6A-BCA0-AEBE-B606-B4B1F2F96B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D8E820-62B3-B596-D087-FCD9D91F0FAD}"/>
              </a:ext>
            </a:extLst>
          </p:cNvPr>
          <p:cNvSpPr>
            <a:spLocks noGrp="1"/>
          </p:cNvSpPr>
          <p:nvPr>
            <p:ph type="sldNum" sz="quarter" idx="12"/>
          </p:nvPr>
        </p:nvSpPr>
        <p:spPr/>
        <p:txBody>
          <a:bodyPr/>
          <a:lstStyle/>
          <a:p>
            <a:fld id="{7FF6B5DA-D357-4588-BF01-141D6E84A90B}" type="slidenum">
              <a:rPr lang="en-US" smtClean="0"/>
              <a:t>‹#›</a:t>
            </a:fld>
            <a:endParaRPr lang="en-US"/>
          </a:p>
        </p:txBody>
      </p:sp>
    </p:spTree>
    <p:extLst>
      <p:ext uri="{BB962C8B-B14F-4D97-AF65-F5344CB8AC3E}">
        <p14:creationId xmlns:p14="http://schemas.microsoft.com/office/powerpoint/2010/main" val="42558206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E19C5-DF3E-D31D-1952-1F938A5904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24C442-46E1-99E1-15DC-DE9B195F8F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4274AC-79D5-AACA-91F1-DDF79272FB92}"/>
              </a:ext>
            </a:extLst>
          </p:cNvPr>
          <p:cNvSpPr>
            <a:spLocks noGrp="1"/>
          </p:cNvSpPr>
          <p:nvPr>
            <p:ph type="dt" sz="half" idx="10"/>
          </p:nvPr>
        </p:nvSpPr>
        <p:spPr/>
        <p:txBody>
          <a:bodyPr/>
          <a:lstStyle/>
          <a:p>
            <a:fld id="{839BD39B-D161-4CE0-925A-13DA6319F204}" type="datetime1">
              <a:rPr lang="en-US" smtClean="0"/>
              <a:t>7/7/2026</a:t>
            </a:fld>
            <a:endParaRPr lang="en-US"/>
          </a:p>
        </p:txBody>
      </p:sp>
      <p:sp>
        <p:nvSpPr>
          <p:cNvPr id="5" name="Footer Placeholder 4">
            <a:extLst>
              <a:ext uri="{FF2B5EF4-FFF2-40B4-BE49-F238E27FC236}">
                <a16:creationId xmlns:a16="http://schemas.microsoft.com/office/drawing/2014/main" id="{6E6C22F9-0D8E-E124-BB74-40945E133A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EA7ECD-5500-1513-ED53-CB49919F4B60}"/>
              </a:ext>
            </a:extLst>
          </p:cNvPr>
          <p:cNvSpPr>
            <a:spLocks noGrp="1"/>
          </p:cNvSpPr>
          <p:nvPr>
            <p:ph type="sldNum" sz="quarter" idx="12"/>
          </p:nvPr>
        </p:nvSpPr>
        <p:spPr/>
        <p:txBody>
          <a:bodyPr/>
          <a:lstStyle/>
          <a:p>
            <a:fld id="{7FF6B5DA-D357-4588-BF01-141D6E84A90B}" type="slidenum">
              <a:rPr lang="en-US" smtClean="0"/>
              <a:t>‹#›</a:t>
            </a:fld>
            <a:endParaRPr lang="en-US"/>
          </a:p>
        </p:txBody>
      </p:sp>
    </p:spTree>
    <p:extLst>
      <p:ext uri="{BB962C8B-B14F-4D97-AF65-F5344CB8AC3E}">
        <p14:creationId xmlns:p14="http://schemas.microsoft.com/office/powerpoint/2010/main" val="17371177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F2FF1B-255D-8907-605D-374A072B2C95}"/>
              </a:ext>
            </a:extLst>
          </p:cNvPr>
          <p:cNvSpPr>
            <a:spLocks noGrp="1"/>
          </p:cNvSpPr>
          <p:nvPr>
            <p:ph type="title" orient="vert"/>
          </p:nvPr>
        </p:nvSpPr>
        <p:spPr>
          <a:xfrm>
            <a:off x="10469880" y="438150"/>
            <a:ext cx="3154680" cy="697420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D644EA-5D19-D9C4-4FD1-E714DE0C966E}"/>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65A922-75DF-A7E9-C5D8-B41751EEA00A}"/>
              </a:ext>
            </a:extLst>
          </p:cNvPr>
          <p:cNvSpPr>
            <a:spLocks noGrp="1"/>
          </p:cNvSpPr>
          <p:nvPr>
            <p:ph type="dt" sz="half" idx="10"/>
          </p:nvPr>
        </p:nvSpPr>
        <p:spPr/>
        <p:txBody>
          <a:bodyPr/>
          <a:lstStyle/>
          <a:p>
            <a:fld id="{FFEA36CF-E045-496A-B14A-049FB37513C6}" type="datetime1">
              <a:rPr lang="en-US" smtClean="0"/>
              <a:t>7/7/2026</a:t>
            </a:fld>
            <a:endParaRPr lang="en-US"/>
          </a:p>
        </p:txBody>
      </p:sp>
      <p:sp>
        <p:nvSpPr>
          <p:cNvPr id="5" name="Footer Placeholder 4">
            <a:extLst>
              <a:ext uri="{FF2B5EF4-FFF2-40B4-BE49-F238E27FC236}">
                <a16:creationId xmlns:a16="http://schemas.microsoft.com/office/drawing/2014/main" id="{8051AA61-E430-8742-B1FE-1521E6B5D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4F772E-D8ED-59D0-2B44-99AE458A9C61}"/>
              </a:ext>
            </a:extLst>
          </p:cNvPr>
          <p:cNvSpPr>
            <a:spLocks noGrp="1"/>
          </p:cNvSpPr>
          <p:nvPr>
            <p:ph type="sldNum" sz="quarter" idx="12"/>
          </p:nvPr>
        </p:nvSpPr>
        <p:spPr/>
        <p:txBody>
          <a:bodyPr/>
          <a:lstStyle/>
          <a:p>
            <a:fld id="{7FF6B5DA-D357-4588-BF01-141D6E84A90B}" type="slidenum">
              <a:rPr lang="en-US" smtClean="0"/>
              <a:t>‹#›</a:t>
            </a:fld>
            <a:endParaRPr lang="en-US"/>
          </a:p>
        </p:txBody>
      </p:sp>
    </p:spTree>
    <p:extLst>
      <p:ext uri="{BB962C8B-B14F-4D97-AF65-F5344CB8AC3E}">
        <p14:creationId xmlns:p14="http://schemas.microsoft.com/office/powerpoint/2010/main" val="3330399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DA5DC2-1852-23A8-2167-625E9729EB50}"/>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5542AE-7751-CCA2-5B00-CC6C855D84CB}"/>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92BFB9-6BA8-3461-A1F2-5B5D456DA9BC}"/>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fld id="{03698056-EE27-4A8A-9B80-48DCFC196940}" type="datetime1">
              <a:rPr lang="en-US" smtClean="0"/>
              <a:t>7/7/2026</a:t>
            </a:fld>
            <a:endParaRPr lang="en-US"/>
          </a:p>
        </p:txBody>
      </p:sp>
      <p:sp>
        <p:nvSpPr>
          <p:cNvPr id="5" name="Footer Placeholder 4">
            <a:extLst>
              <a:ext uri="{FF2B5EF4-FFF2-40B4-BE49-F238E27FC236}">
                <a16:creationId xmlns:a16="http://schemas.microsoft.com/office/drawing/2014/main" id="{2680DF42-D82E-318F-3644-E7C82EAEFC9D}"/>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7927B17-F709-E7B7-31B3-D79DB5A38A7D}"/>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7FF6B5DA-D357-4588-BF01-141D6E84A90B}" type="slidenum">
              <a:rPr lang="en-US" smtClean="0"/>
              <a:t>‹#›</a:t>
            </a:fld>
            <a:endParaRPr lang="en-US"/>
          </a:p>
        </p:txBody>
      </p:sp>
    </p:spTree>
    <p:extLst>
      <p:ext uri="{BB962C8B-B14F-4D97-AF65-F5344CB8AC3E}">
        <p14:creationId xmlns:p14="http://schemas.microsoft.com/office/powerpoint/2010/main" val="2154746812"/>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14.png"/><Relationship Id="rId4" Type="http://schemas.microsoft.com/office/2007/relationships/hdphoto" Target="../media/hdphoto1.wdp"/><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41A2C-7F36-CE3F-F177-64E2FA854EC5}"/>
              </a:ext>
            </a:extLst>
          </p:cNvPr>
          <p:cNvSpPr>
            <a:spLocks noGrp="1"/>
          </p:cNvSpPr>
          <p:nvPr>
            <p:ph type="ctrTitle"/>
          </p:nvPr>
        </p:nvSpPr>
        <p:spPr>
          <a:xfrm>
            <a:off x="353961" y="5397909"/>
            <a:ext cx="15042557" cy="2088188"/>
          </a:xfrm>
        </p:spPr>
        <p:txBody>
          <a:bodyPr>
            <a:noAutofit/>
          </a:bodyPr>
          <a:lstStyle/>
          <a:p>
            <a:pPr algn="l"/>
            <a:r>
              <a:rPr lang="en-US" sz="3900" dirty="0">
                <a:solidFill>
                  <a:srgbClr val="201B18"/>
                </a:solidFill>
                <a:latin typeface="Platypi Medium" pitchFamily="34" charset="0"/>
                <a:cs typeface="Platypi Medium" pitchFamily="34" charset="-120"/>
              </a:rPr>
              <a:t>Subject Name: Logistics and Supply Chain Management</a:t>
            </a:r>
            <a:br>
              <a:rPr lang="en-US" sz="3900" dirty="0">
                <a:solidFill>
                  <a:srgbClr val="201B18"/>
                </a:solidFill>
                <a:latin typeface="Platypi Medium" pitchFamily="34" charset="0"/>
                <a:cs typeface="Platypi Medium" pitchFamily="34" charset="-120"/>
              </a:rPr>
            </a:br>
            <a:r>
              <a:rPr lang="en-US" sz="3900" dirty="0">
                <a:solidFill>
                  <a:srgbClr val="201B18"/>
                </a:solidFill>
                <a:latin typeface="Platypi Medium" pitchFamily="34" charset="0"/>
                <a:cs typeface="Platypi Medium" pitchFamily="34" charset="-120"/>
              </a:rPr>
              <a:t>Session No: 01</a:t>
            </a:r>
            <a:br>
              <a:rPr lang="en-US" sz="3900" dirty="0">
                <a:solidFill>
                  <a:srgbClr val="201B18"/>
                </a:solidFill>
                <a:latin typeface="Platypi Medium" pitchFamily="34" charset="0"/>
                <a:cs typeface="Platypi Medium" pitchFamily="34" charset="-120"/>
              </a:rPr>
            </a:br>
            <a:r>
              <a:rPr lang="en-US" sz="3900" dirty="0">
                <a:solidFill>
                  <a:srgbClr val="201B18"/>
                </a:solidFill>
                <a:latin typeface="Platypi Medium" pitchFamily="34" charset="0"/>
                <a:cs typeface="Platypi Medium" pitchFamily="34" charset="-120"/>
              </a:rPr>
              <a:t>Faculty Name: Prof Ajit M Maurya</a:t>
            </a:r>
          </a:p>
        </p:txBody>
      </p:sp>
      <p:sp>
        <p:nvSpPr>
          <p:cNvPr id="4" name="Rectangle 3">
            <a:extLst>
              <a:ext uri="{FF2B5EF4-FFF2-40B4-BE49-F238E27FC236}">
                <a16:creationId xmlns:a16="http://schemas.microsoft.com/office/drawing/2014/main" id="{24296B3A-BD2F-EA29-FBAD-8064B02D3947}"/>
              </a:ext>
            </a:extLst>
          </p:cNvPr>
          <p:cNvSpPr/>
          <p:nvPr/>
        </p:nvSpPr>
        <p:spPr>
          <a:xfrm>
            <a:off x="0" y="1"/>
            <a:ext cx="14630400" cy="672527"/>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097280"/>
            <a:endParaRPr lang="en-US" sz="2160">
              <a:solidFill>
                <a:prstClr val="white"/>
              </a:solidFill>
              <a:latin typeface="Aptos" panose="02110004020202020204"/>
            </a:endParaRPr>
          </a:p>
        </p:txBody>
      </p:sp>
      <p:sp>
        <p:nvSpPr>
          <p:cNvPr id="5" name="Rectangle 4">
            <a:extLst>
              <a:ext uri="{FF2B5EF4-FFF2-40B4-BE49-F238E27FC236}">
                <a16:creationId xmlns:a16="http://schemas.microsoft.com/office/drawing/2014/main" id="{8E8CCC77-1165-5D0B-54C1-A6313A68DCF2}"/>
              </a:ext>
            </a:extLst>
          </p:cNvPr>
          <p:cNvSpPr/>
          <p:nvPr/>
        </p:nvSpPr>
        <p:spPr>
          <a:xfrm>
            <a:off x="0" y="7698658"/>
            <a:ext cx="14630400" cy="530942"/>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097280"/>
            <a:endParaRPr lang="en-US" sz="2160" dirty="0">
              <a:solidFill>
                <a:prstClr val="white"/>
              </a:solidFill>
              <a:latin typeface="Aptos" panose="02110004020202020204"/>
            </a:endParaRPr>
          </a:p>
        </p:txBody>
      </p:sp>
      <p:pic>
        <p:nvPicPr>
          <p:cNvPr id="6" name="Picture 5" descr="A purple and green logo&#10;&#10;AI-generated content may be incorrect.">
            <a:extLst>
              <a:ext uri="{FF2B5EF4-FFF2-40B4-BE49-F238E27FC236}">
                <a16:creationId xmlns:a16="http://schemas.microsoft.com/office/drawing/2014/main" id="{2AFC1DAF-887C-9C3F-7C38-01CE211F0AAB}"/>
              </a:ext>
            </a:extLst>
          </p:cNvPr>
          <p:cNvPicPr>
            <a:picLocks noChangeAspect="1"/>
          </p:cNvPicPr>
          <p:nvPr/>
        </p:nvPicPr>
        <p:blipFill>
          <a:blip r:embed="rId2"/>
          <a:stretch>
            <a:fillRect/>
          </a:stretch>
        </p:blipFill>
        <p:spPr>
          <a:xfrm>
            <a:off x="8853321" y="630342"/>
            <a:ext cx="5672340" cy="1603251"/>
          </a:xfrm>
          <a:prstGeom prst="rect">
            <a:avLst/>
          </a:prstGeom>
        </p:spPr>
      </p:pic>
    </p:spTree>
    <p:extLst>
      <p:ext uri="{BB962C8B-B14F-4D97-AF65-F5344CB8AC3E}">
        <p14:creationId xmlns:p14="http://schemas.microsoft.com/office/powerpoint/2010/main" val="261800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D9EC1-90B6-C1EF-E97F-345FD58DD16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63FC1B6-DE21-5E8D-6ECF-E03A9B0C66EC}"/>
              </a:ext>
            </a:extLst>
          </p:cNvPr>
          <p:cNvSpPr/>
          <p:nvPr/>
        </p:nvSpPr>
        <p:spPr>
          <a:xfrm>
            <a:off x="0" y="1"/>
            <a:ext cx="14630400" cy="672527"/>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097280"/>
            <a:endParaRPr lang="en-US" sz="2160">
              <a:solidFill>
                <a:prstClr val="white"/>
              </a:solidFill>
              <a:latin typeface="Aptos" panose="02110004020202020204"/>
            </a:endParaRPr>
          </a:p>
        </p:txBody>
      </p:sp>
      <p:sp>
        <p:nvSpPr>
          <p:cNvPr id="5" name="Rectangle 4">
            <a:extLst>
              <a:ext uri="{FF2B5EF4-FFF2-40B4-BE49-F238E27FC236}">
                <a16:creationId xmlns:a16="http://schemas.microsoft.com/office/drawing/2014/main" id="{67EF38CA-8DCA-9D8B-D8F5-BCDB6466F172}"/>
              </a:ext>
            </a:extLst>
          </p:cNvPr>
          <p:cNvSpPr/>
          <p:nvPr/>
        </p:nvSpPr>
        <p:spPr>
          <a:xfrm>
            <a:off x="0" y="7698658"/>
            <a:ext cx="14630400" cy="530942"/>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097280"/>
            <a:endParaRPr lang="en-US" sz="2160" dirty="0">
              <a:solidFill>
                <a:prstClr val="white"/>
              </a:solidFill>
              <a:latin typeface="Aptos" panose="02110004020202020204"/>
            </a:endParaRPr>
          </a:p>
        </p:txBody>
      </p:sp>
      <p:pic>
        <p:nvPicPr>
          <p:cNvPr id="6" name="Picture 5" descr="A purple and green logo&#10;&#10;AI-generated content may be incorrect.">
            <a:extLst>
              <a:ext uri="{FF2B5EF4-FFF2-40B4-BE49-F238E27FC236}">
                <a16:creationId xmlns:a16="http://schemas.microsoft.com/office/drawing/2014/main" id="{DBA8D007-BA03-BDC0-1118-360B68D87B6C}"/>
              </a:ext>
            </a:extLst>
          </p:cNvPr>
          <p:cNvPicPr>
            <a:picLocks noChangeAspect="1"/>
          </p:cNvPicPr>
          <p:nvPr/>
        </p:nvPicPr>
        <p:blipFill>
          <a:blip r:embed="rId2"/>
          <a:stretch>
            <a:fillRect/>
          </a:stretch>
        </p:blipFill>
        <p:spPr>
          <a:xfrm>
            <a:off x="8853321" y="630342"/>
            <a:ext cx="5672340" cy="1603251"/>
          </a:xfrm>
          <a:prstGeom prst="rect">
            <a:avLst/>
          </a:prstGeom>
        </p:spPr>
      </p:pic>
      <p:pic>
        <p:nvPicPr>
          <p:cNvPr id="3" name="Picture 2">
            <a:extLst>
              <a:ext uri="{FF2B5EF4-FFF2-40B4-BE49-F238E27FC236}">
                <a16:creationId xmlns:a16="http://schemas.microsoft.com/office/drawing/2014/main" id="{CD15F4BE-C7DD-436E-3A35-55DE2389A258}"/>
              </a:ext>
            </a:extLst>
          </p:cNvPr>
          <p:cNvPicPr>
            <a:picLocks noChangeAspect="1"/>
          </p:cNvPicPr>
          <p:nvPr/>
        </p:nvPicPr>
        <p:blipFill>
          <a:blip r:embed="rId3"/>
          <a:stretch>
            <a:fillRect/>
          </a:stretch>
        </p:blipFill>
        <p:spPr>
          <a:xfrm>
            <a:off x="0" y="2366835"/>
            <a:ext cx="13835954" cy="2338169"/>
          </a:xfrm>
          <a:prstGeom prst="rect">
            <a:avLst/>
          </a:prstGeom>
        </p:spPr>
      </p:pic>
      <p:pic>
        <p:nvPicPr>
          <p:cNvPr id="8" name="Picture 7">
            <a:extLst>
              <a:ext uri="{FF2B5EF4-FFF2-40B4-BE49-F238E27FC236}">
                <a16:creationId xmlns:a16="http://schemas.microsoft.com/office/drawing/2014/main" id="{1A8EEBE9-7FBB-7AC9-111E-4830EC2A862C}"/>
              </a:ext>
            </a:extLst>
          </p:cNvPr>
          <p:cNvPicPr>
            <a:picLocks noChangeAspect="1"/>
          </p:cNvPicPr>
          <p:nvPr/>
        </p:nvPicPr>
        <p:blipFill>
          <a:blip r:embed="rId4"/>
          <a:srcRect r="2322"/>
          <a:stretch>
            <a:fillRect/>
          </a:stretch>
        </p:blipFill>
        <p:spPr>
          <a:xfrm>
            <a:off x="1" y="4838246"/>
            <a:ext cx="13835954" cy="990600"/>
          </a:xfrm>
          <a:prstGeom prst="rect">
            <a:avLst/>
          </a:prstGeom>
        </p:spPr>
      </p:pic>
    </p:spTree>
    <p:extLst>
      <p:ext uri="{BB962C8B-B14F-4D97-AF65-F5344CB8AC3E}">
        <p14:creationId xmlns:p14="http://schemas.microsoft.com/office/powerpoint/2010/main" val="739494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67437-D09C-B561-2C8A-B65AC6A0F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A5C53-69DB-A924-6FFA-18CDB551075D}"/>
              </a:ext>
            </a:extLst>
          </p:cNvPr>
          <p:cNvSpPr>
            <a:spLocks noGrp="1"/>
          </p:cNvSpPr>
          <p:nvPr>
            <p:ph type="ctrTitle"/>
          </p:nvPr>
        </p:nvSpPr>
        <p:spPr>
          <a:xfrm>
            <a:off x="154455" y="2560320"/>
            <a:ext cx="15042557" cy="980902"/>
          </a:xfrm>
        </p:spPr>
        <p:txBody>
          <a:bodyPr>
            <a:noAutofit/>
          </a:bodyPr>
          <a:lstStyle/>
          <a:p>
            <a:pPr algn="l"/>
            <a:r>
              <a:rPr lang="en-US" sz="3900" dirty="0">
                <a:solidFill>
                  <a:srgbClr val="201B18"/>
                </a:solidFill>
                <a:latin typeface="Platypi Medium" pitchFamily="34" charset="0"/>
                <a:cs typeface="Platypi Medium" pitchFamily="34" charset="-120"/>
              </a:rPr>
              <a:t>Agenda</a:t>
            </a:r>
            <a:br>
              <a:rPr lang="en-US" sz="3900" dirty="0">
                <a:solidFill>
                  <a:srgbClr val="201B18"/>
                </a:solidFill>
                <a:latin typeface="Platypi Medium" pitchFamily="34" charset="0"/>
                <a:cs typeface="Platypi Medium" pitchFamily="34" charset="-120"/>
              </a:rPr>
            </a:br>
            <a:endParaRPr lang="en-US" sz="3900" dirty="0">
              <a:solidFill>
                <a:srgbClr val="201B18"/>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B8B52286-792A-38CD-FAA5-92385D6E0EE0}"/>
              </a:ext>
            </a:extLst>
          </p:cNvPr>
          <p:cNvSpPr/>
          <p:nvPr/>
        </p:nvSpPr>
        <p:spPr>
          <a:xfrm>
            <a:off x="0" y="1"/>
            <a:ext cx="14630400" cy="672527"/>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097280"/>
            <a:endParaRPr lang="en-US" sz="2160">
              <a:solidFill>
                <a:prstClr val="white"/>
              </a:solidFill>
              <a:latin typeface="Aptos" panose="02110004020202020204"/>
            </a:endParaRPr>
          </a:p>
        </p:txBody>
      </p:sp>
      <p:sp>
        <p:nvSpPr>
          <p:cNvPr id="5" name="Rectangle 4">
            <a:extLst>
              <a:ext uri="{FF2B5EF4-FFF2-40B4-BE49-F238E27FC236}">
                <a16:creationId xmlns:a16="http://schemas.microsoft.com/office/drawing/2014/main" id="{77C83A72-9D82-75AA-2F6C-575C274707AF}"/>
              </a:ext>
            </a:extLst>
          </p:cNvPr>
          <p:cNvSpPr/>
          <p:nvPr/>
        </p:nvSpPr>
        <p:spPr>
          <a:xfrm>
            <a:off x="0" y="7698658"/>
            <a:ext cx="14630400" cy="530942"/>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097280"/>
            <a:endParaRPr lang="en-US" sz="2160" dirty="0">
              <a:solidFill>
                <a:prstClr val="white"/>
              </a:solidFill>
              <a:latin typeface="Aptos" panose="02110004020202020204"/>
            </a:endParaRPr>
          </a:p>
        </p:txBody>
      </p:sp>
      <p:pic>
        <p:nvPicPr>
          <p:cNvPr id="6" name="Picture 5" descr="A purple and green logo&#10;&#10;AI-generated content may be incorrect.">
            <a:extLst>
              <a:ext uri="{FF2B5EF4-FFF2-40B4-BE49-F238E27FC236}">
                <a16:creationId xmlns:a16="http://schemas.microsoft.com/office/drawing/2014/main" id="{5B241D4F-ED13-0B28-B51B-3B31487CD186}"/>
              </a:ext>
            </a:extLst>
          </p:cNvPr>
          <p:cNvPicPr>
            <a:picLocks noChangeAspect="1"/>
          </p:cNvPicPr>
          <p:nvPr/>
        </p:nvPicPr>
        <p:blipFill>
          <a:blip r:embed="rId2"/>
          <a:stretch>
            <a:fillRect/>
          </a:stretch>
        </p:blipFill>
        <p:spPr>
          <a:xfrm>
            <a:off x="8853321" y="630342"/>
            <a:ext cx="5672340" cy="1603251"/>
          </a:xfrm>
          <a:prstGeom prst="rect">
            <a:avLst/>
          </a:prstGeom>
        </p:spPr>
      </p:pic>
      <p:sp>
        <p:nvSpPr>
          <p:cNvPr id="3" name="TextBox 2">
            <a:extLst>
              <a:ext uri="{FF2B5EF4-FFF2-40B4-BE49-F238E27FC236}">
                <a16:creationId xmlns:a16="http://schemas.microsoft.com/office/drawing/2014/main" id="{DA4BA65E-C508-0378-81D4-C63E56C6951E}"/>
              </a:ext>
            </a:extLst>
          </p:cNvPr>
          <p:cNvSpPr txBox="1"/>
          <p:nvPr/>
        </p:nvSpPr>
        <p:spPr>
          <a:xfrm>
            <a:off x="299258" y="3325091"/>
            <a:ext cx="12851477"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Introduction to supply chain analytics and it’s application; </a:t>
            </a:r>
          </a:p>
          <a:p>
            <a:pPr marL="285750" indent="-285750">
              <a:buFont typeface="Arial" panose="020B0604020202020204" pitchFamily="34" charset="0"/>
              <a:buChar char="•"/>
            </a:pPr>
            <a:r>
              <a:rPr lang="en-US" sz="2800" dirty="0"/>
              <a:t>Strategic importance of it &amp; computer simulation in supply chain management</a:t>
            </a:r>
          </a:p>
          <a:p>
            <a:pPr marL="285750" indent="-285750">
              <a:buFont typeface="Arial" panose="020B0604020202020204" pitchFamily="34" charset="0"/>
              <a:buChar char="•"/>
            </a:pPr>
            <a:r>
              <a:rPr lang="en-US" sz="2800" dirty="0"/>
              <a:t>Supply chain drivers and metrics</a:t>
            </a:r>
          </a:p>
          <a:p>
            <a:pPr marL="285750" indent="-285750">
              <a:buFont typeface="Arial" panose="020B0604020202020204" pitchFamily="34" charset="0"/>
              <a:buChar char="•"/>
            </a:pPr>
            <a:r>
              <a:rPr lang="en-US" sz="2800" dirty="0"/>
              <a:t>Supply chain become the value chain</a:t>
            </a:r>
          </a:p>
          <a:p>
            <a:pPr marL="285750" indent="-285750">
              <a:buFont typeface="Arial" panose="020B0604020202020204" pitchFamily="34" charset="0"/>
              <a:buChar char="•"/>
            </a:pPr>
            <a:r>
              <a:rPr lang="en-US" sz="2800" dirty="0"/>
              <a:t>Responsive supply chain.</a:t>
            </a:r>
          </a:p>
        </p:txBody>
      </p:sp>
    </p:spTree>
    <p:extLst>
      <p:ext uri="{BB962C8B-B14F-4D97-AF65-F5344CB8AC3E}">
        <p14:creationId xmlns:p14="http://schemas.microsoft.com/office/powerpoint/2010/main" val="193595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9459E-0198-D93C-0271-5654D1C4CD91}"/>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B1AAB320-FECC-B609-FEF9-6775AC4FA48B}"/>
              </a:ext>
            </a:extLst>
          </p:cNvPr>
          <p:cNvSpPr/>
          <p:nvPr/>
        </p:nvSpPr>
        <p:spPr>
          <a:xfrm>
            <a:off x="6280190" y="2241947"/>
            <a:ext cx="7556421" cy="1860233"/>
          </a:xfrm>
          <a:prstGeom prst="rect">
            <a:avLst/>
          </a:prstGeom>
          <a:noFill/>
          <a:ln/>
        </p:spPr>
        <p:txBody>
          <a:bodyPr wrap="square" lIns="0" tIns="0" rIns="0" bIns="0" rtlCol="0" anchor="t"/>
          <a:lstStyle/>
          <a:p>
            <a:pPr marL="0" indent="0" algn="l">
              <a:lnSpc>
                <a:spcPts val="4850"/>
              </a:lnSpc>
              <a:buNone/>
            </a:pPr>
            <a:r>
              <a:rPr lang="en-US" sz="3900" dirty="0">
                <a:solidFill>
                  <a:srgbClr val="201B18"/>
                </a:solidFill>
                <a:latin typeface="Platypi Medium" pitchFamily="34" charset="0"/>
                <a:ea typeface="Platypi Medium" pitchFamily="34" charset="-122"/>
                <a:cs typeface="Platypi Medium" pitchFamily="34" charset="-120"/>
              </a:rPr>
              <a:t>The Modern Supply Chain: From Foundational Process to Strategic Imperative</a:t>
            </a:r>
            <a:endParaRPr lang="en-US" sz="3900" dirty="0"/>
          </a:p>
        </p:txBody>
      </p:sp>
      <p:sp>
        <p:nvSpPr>
          <p:cNvPr id="4" name="Text 1">
            <a:extLst>
              <a:ext uri="{FF2B5EF4-FFF2-40B4-BE49-F238E27FC236}">
                <a16:creationId xmlns:a16="http://schemas.microsoft.com/office/drawing/2014/main" id="{EF5328F5-4FF8-7F3D-CC99-6C742CE0CB65}"/>
              </a:ext>
            </a:extLst>
          </p:cNvPr>
          <p:cNvSpPr/>
          <p:nvPr/>
        </p:nvSpPr>
        <p:spPr>
          <a:xfrm>
            <a:off x="6280190" y="4399836"/>
            <a:ext cx="7556421" cy="1587698"/>
          </a:xfrm>
          <a:prstGeom prst="rect">
            <a:avLst/>
          </a:prstGeom>
          <a:noFill/>
          <a:ln/>
        </p:spPr>
        <p:txBody>
          <a:bodyPr wrap="square" lIns="0" tIns="0" rIns="0" bIns="0" rtlCol="0" anchor="t"/>
          <a:lstStyle/>
          <a:p>
            <a:pPr marL="0" indent="0" algn="just">
              <a:lnSpc>
                <a:spcPts val="2500"/>
              </a:lnSpc>
              <a:buNone/>
            </a:pPr>
            <a:r>
              <a:rPr lang="en-US" sz="1600" dirty="0">
                <a:solidFill>
                  <a:srgbClr val="504C49"/>
                </a:solidFill>
                <a:latin typeface="Source Serif Pro" pitchFamily="34" charset="0"/>
                <a:ea typeface="Source Serif Pro" pitchFamily="34" charset="-122"/>
                <a:cs typeface="Source Serif Pro" pitchFamily="34" charset="-120"/>
              </a:rPr>
              <a:t>Supply Chain Management has evolved from a series of discrete operational tasks into a comprehensive and strategic management philosophy. This presentation explores how modern supply chains have become the critical engines driving commerce, ensuring products and services reach their destinations efficiently and effectively, while navigating an increasingly complex global landscape.</a:t>
            </a:r>
            <a:endParaRPr lang="en-US" sz="1600" dirty="0"/>
          </a:p>
        </p:txBody>
      </p:sp>
      <p:pic>
        <p:nvPicPr>
          <p:cNvPr id="13" name="Picture 12" descr="A diagram of a supply chain management&#10;&#10;AI-generated content may be incorrect.">
            <a:extLst>
              <a:ext uri="{FF2B5EF4-FFF2-40B4-BE49-F238E27FC236}">
                <a16:creationId xmlns:a16="http://schemas.microsoft.com/office/drawing/2014/main" id="{B23D54C6-2B3F-93E5-C3BD-DD2F58C8248C}"/>
              </a:ext>
            </a:extLst>
          </p:cNvPr>
          <p:cNvPicPr>
            <a:picLocks noChangeAspect="1"/>
          </p:cNvPicPr>
          <p:nvPr/>
        </p:nvPicPr>
        <p:blipFill>
          <a:blip r:embed="rId3"/>
          <a:stretch>
            <a:fillRect/>
          </a:stretch>
        </p:blipFill>
        <p:spPr>
          <a:xfrm>
            <a:off x="0" y="12621"/>
            <a:ext cx="6154911" cy="8229600"/>
          </a:xfrm>
          <a:prstGeom prst="rect">
            <a:avLst/>
          </a:prstGeom>
        </p:spPr>
      </p:pic>
    </p:spTree>
    <p:extLst>
      <p:ext uri="{BB962C8B-B14F-4D97-AF65-F5344CB8AC3E}">
        <p14:creationId xmlns:p14="http://schemas.microsoft.com/office/powerpoint/2010/main" val="502004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88990" y="336233"/>
            <a:ext cx="7819668" cy="381952"/>
          </a:xfrm>
          <a:prstGeom prst="rect">
            <a:avLst/>
          </a:prstGeom>
          <a:noFill/>
          <a:ln/>
        </p:spPr>
        <p:txBody>
          <a:bodyPr wrap="none" lIns="0" tIns="0" rIns="0" bIns="0" rtlCol="0" anchor="t"/>
          <a:lstStyle/>
          <a:p>
            <a:pPr marL="0" indent="0" algn="l">
              <a:lnSpc>
                <a:spcPts val="3000"/>
              </a:lnSpc>
              <a:buNone/>
            </a:pPr>
            <a:r>
              <a:rPr lang="en-US" sz="2400" dirty="0">
                <a:solidFill>
                  <a:srgbClr val="201B18"/>
                </a:solidFill>
                <a:latin typeface="Platypi Medium" pitchFamily="34" charset="0"/>
                <a:ea typeface="Platypi Medium" pitchFamily="34" charset="-122"/>
                <a:cs typeface="Platypi Medium" pitchFamily="34" charset="-120"/>
              </a:rPr>
              <a:t>Part I: The Architecture of the Modern Supply Chain</a:t>
            </a:r>
            <a:endParaRPr lang="en-US" sz="2400" dirty="0"/>
          </a:p>
        </p:txBody>
      </p:sp>
      <p:sp>
        <p:nvSpPr>
          <p:cNvPr id="3" name="Text 1"/>
          <p:cNvSpPr/>
          <p:nvPr/>
        </p:nvSpPr>
        <p:spPr>
          <a:xfrm>
            <a:off x="488990" y="901541"/>
            <a:ext cx="7577257" cy="305633"/>
          </a:xfrm>
          <a:prstGeom prst="rect">
            <a:avLst/>
          </a:prstGeom>
          <a:noFill/>
          <a:ln/>
        </p:spPr>
        <p:txBody>
          <a:bodyPr wrap="none" lIns="0" tIns="0" rIns="0" bIns="0" rtlCol="0" anchor="t"/>
          <a:lstStyle/>
          <a:p>
            <a:pPr marL="0" indent="0" algn="l">
              <a:lnSpc>
                <a:spcPts val="2400"/>
              </a:lnSpc>
              <a:buNone/>
            </a:pPr>
            <a:r>
              <a:rPr lang="en-US" sz="1900" dirty="0">
                <a:solidFill>
                  <a:srgbClr val="201B18"/>
                </a:solidFill>
                <a:latin typeface="Platypi Medium" pitchFamily="34" charset="0"/>
                <a:ea typeface="Platypi Medium" pitchFamily="34" charset="-122"/>
                <a:cs typeface="Platypi Medium" pitchFamily="34" charset="-120"/>
              </a:rPr>
              <a:t>Defining the Discipline: An Integrated Management Philosophy</a:t>
            </a:r>
            <a:endParaRPr lang="en-US" sz="1900" dirty="0"/>
          </a:p>
        </p:txBody>
      </p:sp>
      <p:sp>
        <p:nvSpPr>
          <p:cNvPr id="4" name="Shape 2"/>
          <p:cNvSpPr/>
          <p:nvPr/>
        </p:nvSpPr>
        <p:spPr>
          <a:xfrm>
            <a:off x="488990" y="1390531"/>
            <a:ext cx="275034" cy="275034"/>
          </a:xfrm>
          <a:prstGeom prst="roundRect">
            <a:avLst>
              <a:gd name="adj" fmla="val 6668"/>
            </a:avLst>
          </a:prstGeom>
          <a:solidFill>
            <a:srgbClr val="F9F7F7"/>
          </a:solidFill>
          <a:ln/>
        </p:spPr>
        <p:txBody>
          <a:bodyPr/>
          <a:lstStyle/>
          <a:p>
            <a:endParaRPr lang="en-IN"/>
          </a:p>
        </p:txBody>
      </p:sp>
      <p:sp>
        <p:nvSpPr>
          <p:cNvPr id="5" name="Text 3"/>
          <p:cNvSpPr/>
          <p:nvPr/>
        </p:nvSpPr>
        <p:spPr>
          <a:xfrm>
            <a:off x="886182" y="1432560"/>
            <a:ext cx="2805470" cy="191095"/>
          </a:xfrm>
          <a:prstGeom prst="rect">
            <a:avLst/>
          </a:prstGeom>
          <a:noFill/>
          <a:ln/>
        </p:spPr>
        <p:txBody>
          <a:bodyPr wrap="none" lIns="0" tIns="0" rIns="0" bIns="0" rtlCol="0" anchor="t"/>
          <a:lstStyle/>
          <a:p>
            <a:pPr marL="0" indent="0" algn="l">
              <a:lnSpc>
                <a:spcPts val="1500"/>
              </a:lnSpc>
              <a:buNone/>
            </a:pPr>
            <a:r>
              <a:rPr lang="en-US" sz="1400" dirty="0">
                <a:solidFill>
                  <a:srgbClr val="504C49"/>
                </a:solidFill>
                <a:latin typeface="Platypi Medium" pitchFamily="34" charset="0"/>
                <a:ea typeface="Platypi Medium" pitchFamily="34" charset="-122"/>
                <a:cs typeface="Platypi Medium" pitchFamily="34" charset="-120"/>
              </a:rPr>
              <a:t>A Comprehensive Strategic Discipline</a:t>
            </a:r>
            <a:endParaRPr lang="en-US" sz="1400" dirty="0"/>
          </a:p>
        </p:txBody>
      </p:sp>
      <p:sp>
        <p:nvSpPr>
          <p:cNvPr id="6" name="Text 4"/>
          <p:cNvSpPr/>
          <p:nvPr/>
        </p:nvSpPr>
        <p:spPr>
          <a:xfrm>
            <a:off x="886182" y="1696998"/>
            <a:ext cx="4051697" cy="586859"/>
          </a:xfrm>
          <a:prstGeom prst="rect">
            <a:avLst/>
          </a:prstGeom>
          <a:noFill/>
          <a:ln/>
        </p:spPr>
        <p:txBody>
          <a:bodyPr wrap="square" lIns="0" tIns="0" rIns="0" bIns="0" rtlCol="0" anchor="t"/>
          <a:lstStyle/>
          <a:p>
            <a:pPr marL="0" indent="0" algn="l">
              <a:lnSpc>
                <a:spcPts val="1500"/>
              </a:lnSpc>
              <a:buNone/>
            </a:pPr>
            <a:r>
              <a:rPr lang="en-US" sz="1400" dirty="0">
                <a:solidFill>
                  <a:srgbClr val="504C49"/>
                </a:solidFill>
                <a:latin typeface="Source Serif Pro" pitchFamily="34" charset="0"/>
                <a:ea typeface="Source Serif Pro" pitchFamily="34" charset="-122"/>
                <a:cs typeface="Source Serif Pro" pitchFamily="34" charset="-120"/>
              </a:rPr>
              <a:t>Supply Chain Management (SCM) has evolved from discrete operational tasks into a strategic discipline aimed at creating competitive advantage through the integrated management of product journeys.</a:t>
            </a:r>
            <a:endParaRPr lang="en-US" sz="1400" dirty="0"/>
          </a:p>
        </p:txBody>
      </p:sp>
      <p:sp>
        <p:nvSpPr>
          <p:cNvPr id="7" name="Shape 5"/>
          <p:cNvSpPr/>
          <p:nvPr/>
        </p:nvSpPr>
        <p:spPr>
          <a:xfrm>
            <a:off x="5090636" y="1390531"/>
            <a:ext cx="275034" cy="275034"/>
          </a:xfrm>
          <a:prstGeom prst="roundRect">
            <a:avLst>
              <a:gd name="adj" fmla="val 6668"/>
            </a:avLst>
          </a:prstGeom>
          <a:solidFill>
            <a:srgbClr val="F9F7F7"/>
          </a:solidFill>
          <a:ln/>
        </p:spPr>
        <p:txBody>
          <a:bodyPr/>
          <a:lstStyle/>
          <a:p>
            <a:endParaRPr lang="en-IN"/>
          </a:p>
        </p:txBody>
      </p:sp>
      <p:sp>
        <p:nvSpPr>
          <p:cNvPr id="8" name="Text 6"/>
          <p:cNvSpPr/>
          <p:nvPr/>
        </p:nvSpPr>
        <p:spPr>
          <a:xfrm>
            <a:off x="5487829" y="1432560"/>
            <a:ext cx="2301240" cy="191095"/>
          </a:xfrm>
          <a:prstGeom prst="rect">
            <a:avLst/>
          </a:prstGeom>
          <a:noFill/>
          <a:ln/>
        </p:spPr>
        <p:txBody>
          <a:bodyPr wrap="none" lIns="0" tIns="0" rIns="0" bIns="0" rtlCol="0" anchor="t"/>
          <a:lstStyle/>
          <a:p>
            <a:pPr marL="0" indent="0" algn="l">
              <a:lnSpc>
                <a:spcPts val="1500"/>
              </a:lnSpc>
              <a:buNone/>
            </a:pPr>
            <a:r>
              <a:rPr lang="en-US" sz="1400" dirty="0">
                <a:solidFill>
                  <a:srgbClr val="504C49"/>
                </a:solidFill>
                <a:latin typeface="Platypi Medium" pitchFamily="34" charset="0"/>
                <a:ea typeface="Platypi Medium" pitchFamily="34" charset="-122"/>
                <a:cs typeface="Platypi Medium" pitchFamily="34" charset="-120"/>
              </a:rPr>
              <a:t>Cross-Functional Coordination</a:t>
            </a:r>
            <a:endParaRPr lang="en-US" sz="1400" dirty="0"/>
          </a:p>
        </p:txBody>
      </p:sp>
      <p:sp>
        <p:nvSpPr>
          <p:cNvPr id="9" name="Text 7"/>
          <p:cNvSpPr/>
          <p:nvPr/>
        </p:nvSpPr>
        <p:spPr>
          <a:xfrm>
            <a:off x="5487829" y="1696998"/>
            <a:ext cx="4051816" cy="586859"/>
          </a:xfrm>
          <a:prstGeom prst="rect">
            <a:avLst/>
          </a:prstGeom>
          <a:noFill/>
          <a:ln/>
        </p:spPr>
        <p:txBody>
          <a:bodyPr wrap="square" lIns="0" tIns="0" rIns="0" bIns="0" rtlCol="0" anchor="t"/>
          <a:lstStyle/>
          <a:p>
            <a:pPr marL="0" indent="0" algn="l">
              <a:lnSpc>
                <a:spcPts val="1500"/>
              </a:lnSpc>
              <a:buNone/>
            </a:pPr>
            <a:r>
              <a:rPr lang="en-US" sz="1400" dirty="0">
                <a:solidFill>
                  <a:srgbClr val="504C49"/>
                </a:solidFill>
                <a:latin typeface="Source Serif Pro" pitchFamily="34" charset="0"/>
                <a:ea typeface="Source Serif Pro" pitchFamily="34" charset="-122"/>
                <a:cs typeface="Source Serif Pro" pitchFamily="34" charset="-120"/>
              </a:rPr>
              <a:t>SCM requires seamless coordination of major business functions—marketing, sales, product design, finance, and IT—within an organisation and across networks of external partners.</a:t>
            </a:r>
            <a:endParaRPr lang="en-US" sz="1400" dirty="0"/>
          </a:p>
        </p:txBody>
      </p:sp>
      <p:sp>
        <p:nvSpPr>
          <p:cNvPr id="10" name="Shape 8"/>
          <p:cNvSpPr/>
          <p:nvPr/>
        </p:nvSpPr>
        <p:spPr>
          <a:xfrm>
            <a:off x="9692402" y="1390531"/>
            <a:ext cx="275034" cy="275034"/>
          </a:xfrm>
          <a:prstGeom prst="roundRect">
            <a:avLst>
              <a:gd name="adj" fmla="val 6668"/>
            </a:avLst>
          </a:prstGeom>
          <a:solidFill>
            <a:srgbClr val="F9F7F7"/>
          </a:solidFill>
          <a:ln/>
        </p:spPr>
        <p:txBody>
          <a:bodyPr/>
          <a:lstStyle/>
          <a:p>
            <a:endParaRPr lang="en-IN"/>
          </a:p>
        </p:txBody>
      </p:sp>
      <p:sp>
        <p:nvSpPr>
          <p:cNvPr id="11" name="Text 9"/>
          <p:cNvSpPr/>
          <p:nvPr/>
        </p:nvSpPr>
        <p:spPr>
          <a:xfrm>
            <a:off x="10089594" y="1432560"/>
            <a:ext cx="1825466" cy="191095"/>
          </a:xfrm>
          <a:prstGeom prst="rect">
            <a:avLst/>
          </a:prstGeom>
          <a:noFill/>
          <a:ln/>
        </p:spPr>
        <p:txBody>
          <a:bodyPr wrap="none" lIns="0" tIns="0" rIns="0" bIns="0" rtlCol="0" anchor="t"/>
          <a:lstStyle/>
          <a:p>
            <a:pPr marL="0" indent="0" algn="l">
              <a:lnSpc>
                <a:spcPts val="1500"/>
              </a:lnSpc>
              <a:buNone/>
            </a:pPr>
            <a:r>
              <a:rPr lang="en-US" sz="1400" dirty="0">
                <a:solidFill>
                  <a:srgbClr val="504C49"/>
                </a:solidFill>
                <a:latin typeface="Platypi Medium" pitchFamily="34" charset="0"/>
                <a:ea typeface="Platypi Medium" pitchFamily="34" charset="-122"/>
                <a:cs typeface="Platypi Medium" pitchFamily="34" charset="-120"/>
              </a:rPr>
              <a:t>Extensive Process Scope</a:t>
            </a:r>
            <a:endParaRPr lang="en-US" sz="1400" dirty="0"/>
          </a:p>
        </p:txBody>
      </p:sp>
      <p:sp>
        <p:nvSpPr>
          <p:cNvPr id="12" name="Text 10"/>
          <p:cNvSpPr/>
          <p:nvPr/>
        </p:nvSpPr>
        <p:spPr>
          <a:xfrm>
            <a:off x="10089594" y="1696998"/>
            <a:ext cx="4051816" cy="586859"/>
          </a:xfrm>
          <a:prstGeom prst="rect">
            <a:avLst/>
          </a:prstGeom>
          <a:noFill/>
          <a:ln/>
        </p:spPr>
        <p:txBody>
          <a:bodyPr wrap="square" lIns="0" tIns="0" rIns="0" bIns="0" rtlCol="0" anchor="t"/>
          <a:lstStyle/>
          <a:p>
            <a:pPr marL="0" indent="0" algn="l">
              <a:lnSpc>
                <a:spcPts val="1500"/>
              </a:lnSpc>
              <a:buNone/>
            </a:pPr>
            <a:r>
              <a:rPr lang="en-US" sz="1400" dirty="0">
                <a:solidFill>
                  <a:srgbClr val="504C49"/>
                </a:solidFill>
                <a:latin typeface="Source Serif Pro" pitchFamily="34" charset="0"/>
                <a:ea typeface="Source Serif Pro" pitchFamily="34" charset="-122"/>
                <a:cs typeface="Source Serif Pro" pitchFamily="34" charset="-120"/>
              </a:rPr>
              <a:t>The scope encompasses forecasting, demand planning, procurement, supplier management, operations, manufacturing, inventory management, warehousing, and logistics.</a:t>
            </a:r>
            <a:endParaRPr lang="en-US" sz="1400" dirty="0"/>
          </a:p>
        </p:txBody>
      </p:sp>
      <p:sp>
        <p:nvSpPr>
          <p:cNvPr id="13" name="Text 11"/>
          <p:cNvSpPr/>
          <p:nvPr/>
        </p:nvSpPr>
        <p:spPr>
          <a:xfrm>
            <a:off x="488990" y="3251061"/>
            <a:ext cx="2733080" cy="229195"/>
          </a:xfrm>
          <a:prstGeom prst="rect">
            <a:avLst/>
          </a:prstGeom>
          <a:noFill/>
          <a:ln/>
        </p:spPr>
        <p:txBody>
          <a:bodyPr wrap="none" lIns="0" tIns="0" rIns="0" bIns="0" rtlCol="0" anchor="t"/>
          <a:lstStyle/>
          <a:p>
            <a:pPr marL="0" indent="0" algn="l">
              <a:lnSpc>
                <a:spcPts val="1800"/>
              </a:lnSpc>
              <a:buNone/>
            </a:pPr>
            <a:r>
              <a:rPr lang="en-US" sz="1600" dirty="0">
                <a:solidFill>
                  <a:srgbClr val="201B18"/>
                </a:solidFill>
                <a:latin typeface="Platypi Medium" pitchFamily="34" charset="0"/>
                <a:ea typeface="Platypi Medium" pitchFamily="34" charset="-122"/>
                <a:cs typeface="Platypi Medium" pitchFamily="34" charset="-120"/>
              </a:rPr>
              <a:t>The Three Fundamental Flows</a:t>
            </a:r>
            <a:endParaRPr lang="en-US" sz="1600" dirty="0"/>
          </a:p>
        </p:txBody>
      </p:sp>
      <p:sp>
        <p:nvSpPr>
          <p:cNvPr id="14" name="Text 12"/>
          <p:cNvSpPr/>
          <p:nvPr/>
        </p:nvSpPr>
        <p:spPr>
          <a:xfrm>
            <a:off x="2997637" y="4843224"/>
            <a:ext cx="1683901" cy="191095"/>
          </a:xfrm>
          <a:prstGeom prst="rect">
            <a:avLst/>
          </a:prstGeom>
          <a:noFill/>
          <a:ln/>
        </p:spPr>
        <p:txBody>
          <a:bodyPr wrap="none" lIns="0" tIns="0" rIns="0" bIns="0" rtlCol="0" anchor="t"/>
          <a:lstStyle/>
          <a:p>
            <a:pPr marL="0" indent="0" algn="r">
              <a:lnSpc>
                <a:spcPts val="1500"/>
              </a:lnSpc>
              <a:buNone/>
            </a:pPr>
            <a:r>
              <a:rPr lang="en-US" sz="1400" dirty="0">
                <a:solidFill>
                  <a:srgbClr val="504C49"/>
                </a:solidFill>
                <a:latin typeface="Platypi Medium" pitchFamily="34" charset="0"/>
                <a:ea typeface="Platypi Medium" pitchFamily="34" charset="-122"/>
                <a:cs typeface="Platypi Medium" pitchFamily="34" charset="-120"/>
              </a:rPr>
              <a:t>Material/Product Flow</a:t>
            </a:r>
            <a:endParaRPr lang="en-US" sz="1400" dirty="0"/>
          </a:p>
        </p:txBody>
      </p:sp>
      <p:sp>
        <p:nvSpPr>
          <p:cNvPr id="15" name="Text 13"/>
          <p:cNvSpPr/>
          <p:nvPr/>
        </p:nvSpPr>
        <p:spPr>
          <a:xfrm>
            <a:off x="488990" y="5107662"/>
            <a:ext cx="4192548" cy="586859"/>
          </a:xfrm>
          <a:prstGeom prst="rect">
            <a:avLst/>
          </a:prstGeom>
          <a:noFill/>
          <a:ln/>
        </p:spPr>
        <p:txBody>
          <a:bodyPr wrap="square" lIns="0" tIns="0" rIns="0" bIns="0" rtlCol="0" anchor="t"/>
          <a:lstStyle/>
          <a:p>
            <a:pPr marL="0" indent="0" algn="r">
              <a:lnSpc>
                <a:spcPts val="1500"/>
              </a:lnSpc>
              <a:buNone/>
            </a:pPr>
            <a:r>
              <a:rPr lang="en-US" sz="1400" dirty="0">
                <a:solidFill>
                  <a:srgbClr val="504C49"/>
                </a:solidFill>
                <a:latin typeface="Source Serif Pro" pitchFamily="34" charset="0"/>
                <a:ea typeface="Source Serif Pro" pitchFamily="34" charset="-122"/>
                <a:cs typeface="Source Serif Pro" pitchFamily="34" charset="-120"/>
              </a:rPr>
              <a:t>The tangible movement of goods through the network, typically moving downstream from suppliers to manufacturers to customers, with reverse logistics managing returns.</a:t>
            </a:r>
            <a:endParaRPr lang="en-US" sz="1400" dirty="0"/>
          </a:p>
        </p:txBody>
      </p:sp>
      <p:pic>
        <p:nvPicPr>
          <p:cNvPr id="16" name="Image 0" descr="preencoded.png"/>
          <p:cNvPicPr>
            <a:picLocks noChangeAspect="1"/>
          </p:cNvPicPr>
          <p:nvPr/>
        </p:nvPicPr>
        <p:blipFill>
          <a:blip r:embed="rId3"/>
          <a:stretch>
            <a:fillRect/>
          </a:stretch>
        </p:blipFill>
        <p:spPr>
          <a:xfrm>
            <a:off x="4925973" y="2879765"/>
            <a:ext cx="4778335" cy="4778335"/>
          </a:xfrm>
          <a:prstGeom prst="rect">
            <a:avLst/>
          </a:prstGeom>
        </p:spPr>
      </p:pic>
      <p:pic>
        <p:nvPicPr>
          <p:cNvPr id="17" name="Image 1" descr="preencoded.png"/>
          <p:cNvPicPr>
            <a:picLocks noChangeAspect="1"/>
          </p:cNvPicPr>
          <p:nvPr/>
        </p:nvPicPr>
        <p:blipFill>
          <a:blip r:embed="rId4"/>
          <a:stretch>
            <a:fillRect/>
          </a:stretch>
        </p:blipFill>
        <p:spPr>
          <a:xfrm>
            <a:off x="5551110" y="5154513"/>
            <a:ext cx="182880" cy="228600"/>
          </a:xfrm>
          <a:prstGeom prst="rect">
            <a:avLst/>
          </a:prstGeom>
        </p:spPr>
      </p:pic>
      <p:sp>
        <p:nvSpPr>
          <p:cNvPr id="18" name="Text 14"/>
          <p:cNvSpPr/>
          <p:nvPr/>
        </p:nvSpPr>
        <p:spPr>
          <a:xfrm>
            <a:off x="9887664" y="3602831"/>
            <a:ext cx="1528286" cy="191095"/>
          </a:xfrm>
          <a:prstGeom prst="rect">
            <a:avLst/>
          </a:prstGeom>
          <a:noFill/>
          <a:ln/>
        </p:spPr>
        <p:txBody>
          <a:bodyPr wrap="none" lIns="0" tIns="0" rIns="0" bIns="0" rtlCol="0" anchor="t"/>
          <a:lstStyle/>
          <a:p>
            <a:pPr marL="0" indent="0" algn="l">
              <a:lnSpc>
                <a:spcPts val="1500"/>
              </a:lnSpc>
              <a:buNone/>
            </a:pPr>
            <a:r>
              <a:rPr lang="en-US" sz="1400" dirty="0">
                <a:solidFill>
                  <a:srgbClr val="504C49"/>
                </a:solidFill>
                <a:latin typeface="Platypi Medium" pitchFamily="34" charset="0"/>
                <a:ea typeface="Platypi Medium" pitchFamily="34" charset="-122"/>
                <a:cs typeface="Platypi Medium" pitchFamily="34" charset="-120"/>
              </a:rPr>
              <a:t>Information Flow</a:t>
            </a:r>
            <a:endParaRPr lang="en-US" sz="1400" dirty="0"/>
          </a:p>
        </p:txBody>
      </p:sp>
      <p:sp>
        <p:nvSpPr>
          <p:cNvPr id="19" name="Text 15"/>
          <p:cNvSpPr/>
          <p:nvPr/>
        </p:nvSpPr>
        <p:spPr>
          <a:xfrm>
            <a:off x="9887664" y="3867269"/>
            <a:ext cx="4253746" cy="586859"/>
          </a:xfrm>
          <a:prstGeom prst="rect">
            <a:avLst/>
          </a:prstGeom>
          <a:noFill/>
          <a:ln/>
        </p:spPr>
        <p:txBody>
          <a:bodyPr wrap="square" lIns="0" tIns="0" rIns="0" bIns="0" rtlCol="0" anchor="t"/>
          <a:lstStyle/>
          <a:p>
            <a:pPr marL="0" indent="0" algn="l">
              <a:lnSpc>
                <a:spcPts val="1500"/>
              </a:lnSpc>
              <a:buNone/>
            </a:pPr>
            <a:r>
              <a:rPr lang="en-US" sz="1400" dirty="0">
                <a:solidFill>
                  <a:srgbClr val="504C49"/>
                </a:solidFill>
                <a:latin typeface="Source Serif Pro" pitchFamily="34" charset="0"/>
                <a:ea typeface="Source Serif Pro" pitchFamily="34" charset="-122"/>
                <a:cs typeface="Source Serif Pro" pitchFamily="34" charset="-120"/>
              </a:rPr>
              <a:t>The bidirectional exchange of data including forecasts, orders, schedules, inventory levels, and status updates enabling coordination and data-driven decisions.</a:t>
            </a:r>
            <a:endParaRPr lang="en-US" sz="1400" dirty="0"/>
          </a:p>
        </p:txBody>
      </p:sp>
      <p:pic>
        <p:nvPicPr>
          <p:cNvPr id="20" name="Image 2" descr="preencoded.png"/>
          <p:cNvPicPr>
            <a:picLocks noChangeAspect="1"/>
          </p:cNvPicPr>
          <p:nvPr/>
        </p:nvPicPr>
        <p:blipFill>
          <a:blip r:embed="rId5"/>
          <a:stretch>
            <a:fillRect/>
          </a:stretch>
        </p:blipFill>
        <p:spPr>
          <a:xfrm>
            <a:off x="4925973" y="2879765"/>
            <a:ext cx="4778335" cy="4778335"/>
          </a:xfrm>
          <a:prstGeom prst="rect">
            <a:avLst/>
          </a:prstGeom>
        </p:spPr>
      </p:pic>
      <p:pic>
        <p:nvPicPr>
          <p:cNvPr id="21" name="Image 3" descr="preencoded.png"/>
          <p:cNvPicPr>
            <a:picLocks noChangeAspect="1"/>
          </p:cNvPicPr>
          <p:nvPr/>
        </p:nvPicPr>
        <p:blipFill>
          <a:blip r:embed="rId6"/>
          <a:stretch>
            <a:fillRect/>
          </a:stretch>
        </p:blipFill>
        <p:spPr>
          <a:xfrm>
            <a:off x="8059757" y="3706118"/>
            <a:ext cx="182880" cy="228600"/>
          </a:xfrm>
          <a:prstGeom prst="rect">
            <a:avLst/>
          </a:prstGeom>
        </p:spPr>
      </p:pic>
      <p:sp>
        <p:nvSpPr>
          <p:cNvPr id="22" name="Text 16"/>
          <p:cNvSpPr/>
          <p:nvPr/>
        </p:nvSpPr>
        <p:spPr>
          <a:xfrm>
            <a:off x="9887664" y="6083618"/>
            <a:ext cx="1528286" cy="191095"/>
          </a:xfrm>
          <a:prstGeom prst="rect">
            <a:avLst/>
          </a:prstGeom>
          <a:noFill/>
          <a:ln/>
        </p:spPr>
        <p:txBody>
          <a:bodyPr wrap="none" lIns="0" tIns="0" rIns="0" bIns="0" rtlCol="0" anchor="t"/>
          <a:lstStyle/>
          <a:p>
            <a:pPr marL="0" indent="0" algn="l">
              <a:lnSpc>
                <a:spcPts val="1500"/>
              </a:lnSpc>
              <a:buNone/>
            </a:pPr>
            <a:r>
              <a:rPr lang="en-US" sz="1400" dirty="0">
                <a:solidFill>
                  <a:srgbClr val="504C49"/>
                </a:solidFill>
                <a:latin typeface="Platypi Medium" pitchFamily="34" charset="0"/>
                <a:ea typeface="Platypi Medium" pitchFamily="34" charset="-122"/>
                <a:cs typeface="Platypi Medium" pitchFamily="34" charset="-120"/>
              </a:rPr>
              <a:t>Financial Flow</a:t>
            </a:r>
            <a:endParaRPr lang="en-US" sz="1400" dirty="0"/>
          </a:p>
        </p:txBody>
      </p:sp>
      <p:sp>
        <p:nvSpPr>
          <p:cNvPr id="23" name="Text 17"/>
          <p:cNvSpPr/>
          <p:nvPr/>
        </p:nvSpPr>
        <p:spPr>
          <a:xfrm>
            <a:off x="9887664" y="6348055"/>
            <a:ext cx="4253746" cy="586859"/>
          </a:xfrm>
          <a:prstGeom prst="rect">
            <a:avLst/>
          </a:prstGeom>
          <a:noFill/>
          <a:ln/>
        </p:spPr>
        <p:txBody>
          <a:bodyPr wrap="square" lIns="0" tIns="0" rIns="0" bIns="0" rtlCol="0" anchor="t"/>
          <a:lstStyle/>
          <a:p>
            <a:pPr marL="0" indent="0" algn="l">
              <a:lnSpc>
                <a:spcPts val="1500"/>
              </a:lnSpc>
              <a:buNone/>
            </a:pPr>
            <a:r>
              <a:rPr lang="en-US" sz="1400" dirty="0">
                <a:solidFill>
                  <a:srgbClr val="504C49"/>
                </a:solidFill>
                <a:latin typeface="Source Serif Pro" pitchFamily="34" charset="0"/>
                <a:ea typeface="Source Serif Pro" pitchFamily="34" charset="-122"/>
                <a:cs typeface="Source Serif Pro" pitchFamily="34" charset="-120"/>
              </a:rPr>
              <a:t>The movement of money and credit throughout the chain, typically flowing upstream, encompassing payment terms, credit arrangements, and invoicing systems.</a:t>
            </a:r>
            <a:endParaRPr lang="en-US" sz="1400" dirty="0"/>
          </a:p>
        </p:txBody>
      </p:sp>
      <p:pic>
        <p:nvPicPr>
          <p:cNvPr id="24" name="Image 4" descr="preencoded.png"/>
          <p:cNvPicPr>
            <a:picLocks noChangeAspect="1"/>
          </p:cNvPicPr>
          <p:nvPr/>
        </p:nvPicPr>
        <p:blipFill>
          <a:blip r:embed="rId7"/>
          <a:stretch>
            <a:fillRect/>
          </a:stretch>
        </p:blipFill>
        <p:spPr>
          <a:xfrm>
            <a:off x="4925973" y="2879765"/>
            <a:ext cx="4778335" cy="4778335"/>
          </a:xfrm>
          <a:prstGeom prst="rect">
            <a:avLst/>
          </a:prstGeom>
        </p:spPr>
      </p:pic>
      <p:pic>
        <p:nvPicPr>
          <p:cNvPr id="25" name="Image 5" descr="preencoded.png"/>
          <p:cNvPicPr>
            <a:picLocks noChangeAspect="1"/>
          </p:cNvPicPr>
          <p:nvPr/>
        </p:nvPicPr>
        <p:blipFill>
          <a:blip r:embed="rId8"/>
          <a:stretch>
            <a:fillRect/>
          </a:stretch>
        </p:blipFill>
        <p:spPr>
          <a:xfrm>
            <a:off x="8059757" y="6602909"/>
            <a:ext cx="182880" cy="228600"/>
          </a:xfrm>
          <a:prstGeom prst="rect">
            <a:avLst/>
          </a:prstGeom>
        </p:spPr>
      </p:pic>
      <p:sp>
        <p:nvSpPr>
          <p:cNvPr id="26" name="Text 18"/>
          <p:cNvSpPr/>
          <p:nvPr/>
        </p:nvSpPr>
        <p:spPr>
          <a:xfrm>
            <a:off x="488990" y="7350979"/>
            <a:ext cx="4626412" cy="229195"/>
          </a:xfrm>
          <a:prstGeom prst="rect">
            <a:avLst/>
          </a:prstGeom>
          <a:noFill/>
          <a:ln/>
        </p:spPr>
        <p:txBody>
          <a:bodyPr wrap="none" lIns="0" tIns="0" rIns="0" bIns="0" rtlCol="0" anchor="t"/>
          <a:lstStyle/>
          <a:p>
            <a:pPr marL="0" indent="0" algn="l">
              <a:lnSpc>
                <a:spcPts val="1800"/>
              </a:lnSpc>
              <a:buNone/>
            </a:pPr>
            <a:r>
              <a:rPr lang="en-US" sz="1400" dirty="0">
                <a:solidFill>
                  <a:srgbClr val="201B18"/>
                </a:solidFill>
                <a:latin typeface="Platypi Medium" pitchFamily="34" charset="0"/>
                <a:ea typeface="Platypi Medium" pitchFamily="34" charset="-122"/>
                <a:cs typeface="Platypi Medium" pitchFamily="34" charset="-120"/>
              </a:rPr>
              <a:t>The SCOR Digital Standard: A Universal Framework</a:t>
            </a:r>
            <a:endParaRPr lang="en-US" sz="1400" dirty="0"/>
          </a:p>
        </p:txBody>
      </p:sp>
      <p:sp>
        <p:nvSpPr>
          <p:cNvPr id="27" name="Text 19"/>
          <p:cNvSpPr/>
          <p:nvPr/>
        </p:nvSpPr>
        <p:spPr>
          <a:xfrm>
            <a:off x="488929" y="7750254"/>
            <a:ext cx="13652421" cy="391239"/>
          </a:xfrm>
          <a:prstGeom prst="rect">
            <a:avLst/>
          </a:prstGeom>
          <a:noFill/>
          <a:ln/>
        </p:spPr>
        <p:txBody>
          <a:bodyPr wrap="square" lIns="0" tIns="0" rIns="0" bIns="0" rtlCol="0" anchor="t"/>
          <a:lstStyle/>
          <a:p>
            <a:pPr marL="0" indent="0" algn="l">
              <a:lnSpc>
                <a:spcPts val="1500"/>
              </a:lnSpc>
              <a:buNone/>
            </a:pPr>
            <a:r>
              <a:rPr lang="en-US" sz="1400" dirty="0">
                <a:solidFill>
                  <a:srgbClr val="504C49"/>
                </a:solidFill>
                <a:latin typeface="Source Serif Pro" pitchFamily="34" charset="0"/>
                <a:ea typeface="Source Serif Pro" pitchFamily="34" charset="-122"/>
                <a:cs typeface="Source Serif Pro" pitchFamily="34" charset="-120"/>
              </a:rPr>
              <a:t>The Supply Chain Operations Reference model provides a standardised methodology for describing, measuring, and evaluating supply chain performance. The latest SCOR Digital Standard (SCOR DS) represents a paradigm shift from a linear chain concept to a more synchronous and interconnected network model.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3890" y="538520"/>
            <a:ext cx="11741110" cy="503039"/>
          </a:xfrm>
          <a:prstGeom prst="rect">
            <a:avLst/>
          </a:prstGeom>
          <a:noFill/>
          <a:ln/>
        </p:spPr>
        <p:txBody>
          <a:bodyPr wrap="none" lIns="0" tIns="0" rIns="0" bIns="0" rtlCol="0" anchor="t"/>
          <a:lstStyle/>
          <a:p>
            <a:pPr marL="0" indent="0" algn="l">
              <a:lnSpc>
                <a:spcPts val="3950"/>
              </a:lnSpc>
              <a:buNone/>
            </a:pPr>
            <a:r>
              <a:rPr lang="en-US" sz="3150" dirty="0">
                <a:solidFill>
                  <a:srgbClr val="201B18"/>
                </a:solidFill>
                <a:latin typeface="Platypi Medium" pitchFamily="34" charset="0"/>
                <a:ea typeface="Platypi Medium" pitchFamily="34" charset="-122"/>
                <a:cs typeface="Platypi Medium" pitchFamily="34" charset="-120"/>
              </a:rPr>
              <a:t>The Strategic Objectives: Balancing Competing Imperatives</a:t>
            </a:r>
            <a:endParaRPr lang="en-US" sz="3150" dirty="0"/>
          </a:p>
        </p:txBody>
      </p:sp>
      <p:sp>
        <p:nvSpPr>
          <p:cNvPr id="3" name="Text 1"/>
          <p:cNvSpPr/>
          <p:nvPr/>
        </p:nvSpPr>
        <p:spPr>
          <a:xfrm>
            <a:off x="643890" y="1363504"/>
            <a:ext cx="13342620" cy="515064"/>
          </a:xfrm>
          <a:prstGeom prst="rect">
            <a:avLst/>
          </a:prstGeom>
          <a:noFill/>
          <a:ln/>
        </p:spPr>
        <p:txBody>
          <a:bodyPr wrap="square" lIns="0" tIns="0" rIns="0" bIns="0" rtlCol="0" anchor="t"/>
          <a:lstStyle/>
          <a:p>
            <a:pPr marL="0" indent="0" algn="l">
              <a:lnSpc>
                <a:spcPts val="2000"/>
              </a:lnSpc>
              <a:buNone/>
            </a:pPr>
            <a:r>
              <a:rPr lang="en-US" sz="1400" dirty="0">
                <a:solidFill>
                  <a:srgbClr val="504C49"/>
                </a:solidFill>
                <a:latin typeface="Source Serif Pro" pitchFamily="34" charset="0"/>
                <a:ea typeface="Source Serif Pro" pitchFamily="34" charset="-122"/>
                <a:cs typeface="Source Serif Pro" pitchFamily="34" charset="-120"/>
              </a:rPr>
              <a:t>Excellence in modern supply chain management is defined by an organisation's ability to strategically calibrate the balance between efficiency and cost reduction against resilience, agility, and customer value.</a:t>
            </a:r>
            <a:endParaRPr lang="en-US" sz="1400" dirty="0"/>
          </a:p>
        </p:txBody>
      </p:sp>
      <p:sp>
        <p:nvSpPr>
          <p:cNvPr id="4" name="Shape 2"/>
          <p:cNvSpPr/>
          <p:nvPr/>
        </p:nvSpPr>
        <p:spPr>
          <a:xfrm>
            <a:off x="643890" y="2059662"/>
            <a:ext cx="4340185" cy="3078242"/>
          </a:xfrm>
          <a:prstGeom prst="roundRect">
            <a:avLst>
              <a:gd name="adj" fmla="val 784"/>
            </a:avLst>
          </a:prstGeom>
          <a:solidFill>
            <a:srgbClr val="F9F7F7"/>
          </a:solidFill>
          <a:ln/>
        </p:spPr>
        <p:txBody>
          <a:bodyPr/>
          <a:lstStyle/>
          <a:p>
            <a:endParaRPr lang="en-IN"/>
          </a:p>
        </p:txBody>
      </p:sp>
      <p:sp>
        <p:nvSpPr>
          <p:cNvPr id="5" name="Text 3"/>
          <p:cNvSpPr/>
          <p:nvPr/>
        </p:nvSpPr>
        <p:spPr>
          <a:xfrm>
            <a:off x="804862" y="2220635"/>
            <a:ext cx="4018240" cy="502920"/>
          </a:xfrm>
          <a:prstGeom prst="rect">
            <a:avLst/>
          </a:prstGeom>
          <a:noFill/>
          <a:ln/>
        </p:spPr>
        <p:txBody>
          <a:bodyPr wrap="square" lIns="0" tIns="0" rIns="0" bIns="0" rtlCol="0" anchor="t"/>
          <a:lstStyle/>
          <a:p>
            <a:pPr marL="0" indent="0" algn="l">
              <a:lnSpc>
                <a:spcPts val="1950"/>
              </a:lnSpc>
              <a:buNone/>
            </a:pPr>
            <a:r>
              <a:rPr lang="en-US" sz="1550" dirty="0">
                <a:solidFill>
                  <a:srgbClr val="504C49"/>
                </a:solidFill>
                <a:latin typeface="Platypi Medium" pitchFamily="34" charset="0"/>
                <a:ea typeface="Platypi Medium" pitchFamily="34" charset="-122"/>
                <a:cs typeface="Platypi Medium" pitchFamily="34" charset="-120"/>
              </a:rPr>
              <a:t>The Classic Pillars: Efficiency and Cost Reduction</a:t>
            </a:r>
            <a:endParaRPr lang="en-US" sz="1550" dirty="0"/>
          </a:p>
        </p:txBody>
      </p:sp>
      <p:sp>
        <p:nvSpPr>
          <p:cNvPr id="6" name="Text 4"/>
          <p:cNvSpPr/>
          <p:nvPr/>
        </p:nvSpPr>
        <p:spPr>
          <a:xfrm>
            <a:off x="804862" y="2820114"/>
            <a:ext cx="4018240" cy="1030129"/>
          </a:xfrm>
          <a:prstGeom prst="rect">
            <a:avLst/>
          </a:prstGeom>
          <a:noFill/>
          <a:ln/>
        </p:spPr>
        <p:txBody>
          <a:bodyPr wrap="square" lIns="0" tIns="0" rIns="0" bIns="0" rtlCol="0" anchor="t"/>
          <a:lstStyle/>
          <a:p>
            <a:pPr marL="0" indent="0" algn="l">
              <a:lnSpc>
                <a:spcPts val="2000"/>
              </a:lnSpc>
              <a:buNone/>
            </a:pPr>
            <a:r>
              <a:rPr lang="en-US" sz="1400" dirty="0">
                <a:solidFill>
                  <a:srgbClr val="504C49"/>
                </a:solidFill>
                <a:latin typeface="Source Serif Pro" pitchFamily="34" charset="0"/>
                <a:ea typeface="Source Serif Pro" pitchFamily="34" charset="-122"/>
                <a:cs typeface="Source Serif Pro" pitchFamily="34" charset="-120"/>
              </a:rPr>
              <a:t>Historically focused on maximising efficiency and minimising costs through lean manufacturing, Just-in-Time (JIT) inventory, and sourcing from the lowest-cost global suppliers.</a:t>
            </a:r>
            <a:endParaRPr lang="en-US" sz="1400" dirty="0"/>
          </a:p>
        </p:txBody>
      </p:sp>
      <p:sp>
        <p:nvSpPr>
          <p:cNvPr id="7" name="Text 5"/>
          <p:cNvSpPr/>
          <p:nvPr/>
        </p:nvSpPr>
        <p:spPr>
          <a:xfrm>
            <a:off x="804862" y="3946803"/>
            <a:ext cx="4018240" cy="1030129"/>
          </a:xfrm>
          <a:prstGeom prst="rect">
            <a:avLst/>
          </a:prstGeom>
          <a:noFill/>
          <a:ln/>
        </p:spPr>
        <p:txBody>
          <a:bodyPr wrap="square" lIns="0" tIns="0" rIns="0" bIns="0" rtlCol="0" anchor="t"/>
          <a:lstStyle/>
          <a:p>
            <a:pPr marL="0" indent="0" algn="l">
              <a:lnSpc>
                <a:spcPts val="2000"/>
              </a:lnSpc>
              <a:buNone/>
            </a:pPr>
            <a:r>
              <a:rPr lang="en-US" sz="1400" dirty="0">
                <a:solidFill>
                  <a:srgbClr val="504C49"/>
                </a:solidFill>
                <a:latin typeface="Source Serif Pro" pitchFamily="34" charset="0"/>
                <a:ea typeface="Source Serif Pro" pitchFamily="34" charset="-122"/>
                <a:cs typeface="Source Serif Pro" pitchFamily="34" charset="-120"/>
              </a:rPr>
              <a:t>Example: Walmart's business model leverages logistical techniques such as cross-docking and scale to drive down supplier costs, supporting its "Everyday Low Prices" promise.</a:t>
            </a:r>
            <a:endParaRPr lang="en-US" sz="1400" dirty="0"/>
          </a:p>
        </p:txBody>
      </p:sp>
      <p:sp>
        <p:nvSpPr>
          <p:cNvPr id="8" name="Shape 6"/>
          <p:cNvSpPr/>
          <p:nvPr/>
        </p:nvSpPr>
        <p:spPr>
          <a:xfrm>
            <a:off x="5145048" y="2059662"/>
            <a:ext cx="4340185" cy="3078242"/>
          </a:xfrm>
          <a:prstGeom prst="roundRect">
            <a:avLst>
              <a:gd name="adj" fmla="val 784"/>
            </a:avLst>
          </a:prstGeom>
          <a:solidFill>
            <a:srgbClr val="F9F7F7"/>
          </a:solidFill>
          <a:ln/>
        </p:spPr>
        <p:txBody>
          <a:bodyPr/>
          <a:lstStyle/>
          <a:p>
            <a:endParaRPr lang="en-IN"/>
          </a:p>
        </p:txBody>
      </p:sp>
      <p:sp>
        <p:nvSpPr>
          <p:cNvPr id="9" name="Text 7"/>
          <p:cNvSpPr/>
          <p:nvPr/>
        </p:nvSpPr>
        <p:spPr>
          <a:xfrm>
            <a:off x="5306020" y="2220635"/>
            <a:ext cx="4018240" cy="502920"/>
          </a:xfrm>
          <a:prstGeom prst="rect">
            <a:avLst/>
          </a:prstGeom>
          <a:noFill/>
          <a:ln/>
        </p:spPr>
        <p:txBody>
          <a:bodyPr wrap="square" lIns="0" tIns="0" rIns="0" bIns="0" rtlCol="0" anchor="t"/>
          <a:lstStyle/>
          <a:p>
            <a:pPr marL="0" indent="0" algn="l">
              <a:lnSpc>
                <a:spcPts val="1950"/>
              </a:lnSpc>
              <a:buNone/>
            </a:pPr>
            <a:r>
              <a:rPr lang="en-US" sz="1550" dirty="0">
                <a:solidFill>
                  <a:srgbClr val="504C49"/>
                </a:solidFill>
                <a:latin typeface="Platypi Medium" pitchFamily="34" charset="0"/>
                <a:ea typeface="Platypi Medium" pitchFamily="34" charset="-122"/>
                <a:cs typeface="Platypi Medium" pitchFamily="34" charset="-120"/>
              </a:rPr>
              <a:t>The Modern Imperatives: Resilience and Agility</a:t>
            </a:r>
            <a:endParaRPr lang="en-US" sz="1550" dirty="0"/>
          </a:p>
        </p:txBody>
      </p:sp>
      <p:sp>
        <p:nvSpPr>
          <p:cNvPr id="10" name="Text 8"/>
          <p:cNvSpPr/>
          <p:nvPr/>
        </p:nvSpPr>
        <p:spPr>
          <a:xfrm>
            <a:off x="5306020" y="2820114"/>
            <a:ext cx="4018240" cy="772597"/>
          </a:xfrm>
          <a:prstGeom prst="rect">
            <a:avLst/>
          </a:prstGeom>
          <a:noFill/>
          <a:ln/>
        </p:spPr>
        <p:txBody>
          <a:bodyPr wrap="square" lIns="0" tIns="0" rIns="0" bIns="0" rtlCol="0" anchor="t"/>
          <a:lstStyle/>
          <a:p>
            <a:pPr marL="0" indent="0" algn="l">
              <a:lnSpc>
                <a:spcPts val="2000"/>
              </a:lnSpc>
              <a:buNone/>
            </a:pPr>
            <a:r>
              <a:rPr lang="en-US" sz="1400" b="1" dirty="0">
                <a:solidFill>
                  <a:srgbClr val="504C49"/>
                </a:solidFill>
                <a:latin typeface="Source Serif Pro" pitchFamily="34" charset="0"/>
                <a:ea typeface="Source Serif Pro" pitchFamily="34" charset="-122"/>
                <a:cs typeface="Source Serif Pro" pitchFamily="34" charset="-120"/>
              </a:rPr>
              <a:t>Resilience</a:t>
            </a:r>
            <a:r>
              <a:rPr lang="en-US" sz="1400" dirty="0">
                <a:solidFill>
                  <a:srgbClr val="504C49"/>
                </a:solidFill>
                <a:latin typeface="Source Serif Pro" pitchFamily="34" charset="0"/>
                <a:ea typeface="Source Serif Pro" pitchFamily="34" charset="-122"/>
                <a:cs typeface="Source Serif Pro" pitchFamily="34" charset="-120"/>
              </a:rPr>
              <a:t>: The ability to withstand, adapt to, and recover from disruptions through contingency planning and supplier diversification.</a:t>
            </a:r>
            <a:endParaRPr lang="en-US" sz="1400" dirty="0"/>
          </a:p>
        </p:txBody>
      </p:sp>
      <p:sp>
        <p:nvSpPr>
          <p:cNvPr id="11" name="Text 9"/>
          <p:cNvSpPr/>
          <p:nvPr/>
        </p:nvSpPr>
        <p:spPr>
          <a:xfrm>
            <a:off x="5306020" y="3689271"/>
            <a:ext cx="4018240" cy="1030129"/>
          </a:xfrm>
          <a:prstGeom prst="rect">
            <a:avLst/>
          </a:prstGeom>
          <a:noFill/>
          <a:ln/>
        </p:spPr>
        <p:txBody>
          <a:bodyPr wrap="square" lIns="0" tIns="0" rIns="0" bIns="0" rtlCol="0" anchor="t"/>
          <a:lstStyle/>
          <a:p>
            <a:pPr marL="0" indent="0" algn="l">
              <a:lnSpc>
                <a:spcPts val="2000"/>
              </a:lnSpc>
              <a:buNone/>
            </a:pPr>
            <a:r>
              <a:rPr lang="en-US" sz="1400" b="1" dirty="0">
                <a:solidFill>
                  <a:srgbClr val="504C49"/>
                </a:solidFill>
                <a:latin typeface="Source Serif Pro" pitchFamily="34" charset="0"/>
                <a:ea typeface="Source Serif Pro" pitchFamily="34" charset="-122"/>
                <a:cs typeface="Source Serif Pro" pitchFamily="34" charset="-120"/>
              </a:rPr>
              <a:t>Agility</a:t>
            </a:r>
            <a:r>
              <a:rPr lang="en-US" sz="1400" dirty="0">
                <a:solidFill>
                  <a:srgbClr val="504C49"/>
                </a:solidFill>
                <a:latin typeface="Source Serif Pro" pitchFamily="34" charset="0"/>
                <a:ea typeface="Source Serif Pro" pitchFamily="34" charset="-122"/>
                <a:cs typeface="Source Serif Pro" pitchFamily="34" charset="-120"/>
              </a:rPr>
              <a:t>: The capacity to respond quickly to unexpected changes in demand or supply, exemplified by Zara's fast-fashion model that can take designs from runway to retail stores in weeks.</a:t>
            </a:r>
            <a:endParaRPr lang="en-US" sz="1400" dirty="0"/>
          </a:p>
        </p:txBody>
      </p:sp>
      <p:sp>
        <p:nvSpPr>
          <p:cNvPr id="12" name="Shape 10"/>
          <p:cNvSpPr/>
          <p:nvPr/>
        </p:nvSpPr>
        <p:spPr>
          <a:xfrm>
            <a:off x="9646206" y="2059662"/>
            <a:ext cx="4340185" cy="3078242"/>
          </a:xfrm>
          <a:prstGeom prst="roundRect">
            <a:avLst>
              <a:gd name="adj" fmla="val 784"/>
            </a:avLst>
          </a:prstGeom>
          <a:solidFill>
            <a:srgbClr val="F9F7F7"/>
          </a:solidFill>
          <a:ln/>
        </p:spPr>
        <p:txBody>
          <a:bodyPr/>
          <a:lstStyle/>
          <a:p>
            <a:endParaRPr lang="en-IN"/>
          </a:p>
        </p:txBody>
      </p:sp>
      <p:sp>
        <p:nvSpPr>
          <p:cNvPr id="13" name="Text 11"/>
          <p:cNvSpPr/>
          <p:nvPr/>
        </p:nvSpPr>
        <p:spPr>
          <a:xfrm>
            <a:off x="9807178" y="2220635"/>
            <a:ext cx="4018240" cy="502920"/>
          </a:xfrm>
          <a:prstGeom prst="rect">
            <a:avLst/>
          </a:prstGeom>
          <a:noFill/>
          <a:ln/>
        </p:spPr>
        <p:txBody>
          <a:bodyPr wrap="square" lIns="0" tIns="0" rIns="0" bIns="0" rtlCol="0" anchor="t"/>
          <a:lstStyle/>
          <a:p>
            <a:pPr marL="0" indent="0" algn="l">
              <a:lnSpc>
                <a:spcPts val="1950"/>
              </a:lnSpc>
              <a:buNone/>
            </a:pPr>
            <a:r>
              <a:rPr lang="en-US" sz="1550" dirty="0">
                <a:solidFill>
                  <a:srgbClr val="504C49"/>
                </a:solidFill>
                <a:latin typeface="Platypi Medium" pitchFamily="34" charset="0"/>
                <a:ea typeface="Platypi Medium" pitchFamily="34" charset="-122"/>
                <a:cs typeface="Platypi Medium" pitchFamily="34" charset="-120"/>
              </a:rPr>
              <a:t>The Ultimate Arbiter: Customer Satisfaction</a:t>
            </a:r>
            <a:endParaRPr lang="en-US" sz="1550" dirty="0"/>
          </a:p>
        </p:txBody>
      </p:sp>
      <p:sp>
        <p:nvSpPr>
          <p:cNvPr id="14" name="Text 12"/>
          <p:cNvSpPr/>
          <p:nvPr/>
        </p:nvSpPr>
        <p:spPr>
          <a:xfrm>
            <a:off x="9807178" y="2820114"/>
            <a:ext cx="4018240" cy="1287661"/>
          </a:xfrm>
          <a:prstGeom prst="rect">
            <a:avLst/>
          </a:prstGeom>
          <a:noFill/>
          <a:ln/>
        </p:spPr>
        <p:txBody>
          <a:bodyPr wrap="square" lIns="0" tIns="0" rIns="0" bIns="0" rtlCol="0" anchor="t"/>
          <a:lstStyle/>
          <a:p>
            <a:pPr marL="0" indent="0" algn="l">
              <a:lnSpc>
                <a:spcPts val="2000"/>
              </a:lnSpc>
              <a:buNone/>
            </a:pPr>
            <a:r>
              <a:rPr lang="en-US" sz="1400" dirty="0">
                <a:solidFill>
                  <a:srgbClr val="504C49"/>
                </a:solidFill>
                <a:latin typeface="Source Serif Pro" pitchFamily="34" charset="0"/>
                <a:ea typeface="Source Serif Pro" pitchFamily="34" charset="-122"/>
                <a:cs typeface="Source Serif Pro" pitchFamily="34" charset="-120"/>
              </a:rPr>
              <a:t>Customers now demand low prices, speed, flexibility, and transparency. Supply chains that consistently deliver on promises by ensuring product availability, quality, and timely delivery build customer loyalty and brand reputation.</a:t>
            </a:r>
            <a:endParaRPr lang="en-US" sz="1400" dirty="0"/>
          </a:p>
        </p:txBody>
      </p:sp>
      <p:sp>
        <p:nvSpPr>
          <p:cNvPr id="15" name="Text 13"/>
          <p:cNvSpPr/>
          <p:nvPr/>
        </p:nvSpPr>
        <p:spPr>
          <a:xfrm>
            <a:off x="643890" y="5399484"/>
            <a:ext cx="4313396" cy="531138"/>
          </a:xfrm>
          <a:prstGeom prst="rect">
            <a:avLst/>
          </a:prstGeom>
          <a:noFill/>
          <a:ln/>
        </p:spPr>
        <p:txBody>
          <a:bodyPr wrap="none" lIns="0" tIns="0" rIns="0" bIns="0" rtlCol="0" anchor="t"/>
          <a:lstStyle/>
          <a:p>
            <a:pPr marL="0" indent="0" algn="ctr">
              <a:lnSpc>
                <a:spcPts val="4150"/>
              </a:lnSpc>
              <a:buNone/>
            </a:pPr>
            <a:r>
              <a:rPr lang="en-US" sz="4150" dirty="0">
                <a:solidFill>
                  <a:srgbClr val="504C49"/>
                </a:solidFill>
                <a:latin typeface="Platypi Medium" pitchFamily="34" charset="0"/>
                <a:ea typeface="Platypi Medium" pitchFamily="34" charset="-122"/>
                <a:cs typeface="Platypi Medium" pitchFamily="34" charset="-120"/>
              </a:rPr>
              <a:t>35%</a:t>
            </a:r>
            <a:endParaRPr lang="en-US" sz="4150" dirty="0"/>
          </a:p>
        </p:txBody>
      </p:sp>
      <p:sp>
        <p:nvSpPr>
          <p:cNvPr id="16" name="Text 14"/>
          <p:cNvSpPr/>
          <p:nvPr/>
        </p:nvSpPr>
        <p:spPr>
          <a:xfrm>
            <a:off x="1504117" y="6131838"/>
            <a:ext cx="2592943" cy="251460"/>
          </a:xfrm>
          <a:prstGeom prst="rect">
            <a:avLst/>
          </a:prstGeom>
          <a:noFill/>
          <a:ln/>
        </p:spPr>
        <p:txBody>
          <a:bodyPr wrap="none" lIns="0" tIns="0" rIns="0" bIns="0" rtlCol="0" anchor="t"/>
          <a:lstStyle/>
          <a:p>
            <a:pPr marL="0" indent="0" algn="ctr">
              <a:lnSpc>
                <a:spcPts val="1950"/>
              </a:lnSpc>
              <a:buNone/>
            </a:pPr>
            <a:r>
              <a:rPr lang="en-US" sz="1550" dirty="0">
                <a:solidFill>
                  <a:srgbClr val="504C49"/>
                </a:solidFill>
                <a:latin typeface="Platypi Medium" pitchFamily="34" charset="0"/>
                <a:ea typeface="Platypi Medium" pitchFamily="34" charset="-122"/>
                <a:cs typeface="Platypi Medium" pitchFamily="34" charset="-120"/>
              </a:rPr>
              <a:t>Efficient Chain Cost Focus</a:t>
            </a:r>
            <a:endParaRPr lang="en-US" sz="1550" dirty="0"/>
          </a:p>
        </p:txBody>
      </p:sp>
      <p:sp>
        <p:nvSpPr>
          <p:cNvPr id="17" name="Text 15"/>
          <p:cNvSpPr/>
          <p:nvPr/>
        </p:nvSpPr>
        <p:spPr>
          <a:xfrm>
            <a:off x="643890" y="6479858"/>
            <a:ext cx="4313396" cy="515064"/>
          </a:xfrm>
          <a:prstGeom prst="rect">
            <a:avLst/>
          </a:prstGeom>
          <a:noFill/>
          <a:ln/>
        </p:spPr>
        <p:txBody>
          <a:bodyPr wrap="square" lIns="0" tIns="0" rIns="0" bIns="0" rtlCol="0" anchor="t"/>
          <a:lstStyle/>
          <a:p>
            <a:pPr marL="0" indent="0" algn="ctr">
              <a:lnSpc>
                <a:spcPts val="2000"/>
              </a:lnSpc>
              <a:buNone/>
            </a:pPr>
            <a:r>
              <a:rPr lang="en-US" sz="1400" dirty="0">
                <a:solidFill>
                  <a:srgbClr val="504C49"/>
                </a:solidFill>
                <a:latin typeface="Source Serif Pro" pitchFamily="34" charset="0"/>
                <a:ea typeface="Source Serif Pro" pitchFamily="34" charset="-122"/>
                <a:cs typeface="Source Serif Pro" pitchFamily="34" charset="-120"/>
              </a:rPr>
              <a:t>Proportion of companies prioritising cost reduction over all other factors</a:t>
            </a:r>
            <a:endParaRPr lang="en-US" sz="1400" dirty="0"/>
          </a:p>
        </p:txBody>
      </p:sp>
      <p:sp>
        <p:nvSpPr>
          <p:cNvPr id="18" name="Text 16"/>
          <p:cNvSpPr/>
          <p:nvPr/>
        </p:nvSpPr>
        <p:spPr>
          <a:xfrm>
            <a:off x="5158502" y="5399484"/>
            <a:ext cx="4313396" cy="531138"/>
          </a:xfrm>
          <a:prstGeom prst="rect">
            <a:avLst/>
          </a:prstGeom>
          <a:noFill/>
          <a:ln/>
        </p:spPr>
        <p:txBody>
          <a:bodyPr wrap="none" lIns="0" tIns="0" rIns="0" bIns="0" rtlCol="0" anchor="t"/>
          <a:lstStyle/>
          <a:p>
            <a:pPr marL="0" indent="0" algn="ctr">
              <a:lnSpc>
                <a:spcPts val="4150"/>
              </a:lnSpc>
              <a:buNone/>
            </a:pPr>
            <a:r>
              <a:rPr lang="en-US" sz="4150" dirty="0">
                <a:solidFill>
                  <a:srgbClr val="504C49"/>
                </a:solidFill>
                <a:latin typeface="Platypi Medium" pitchFamily="34" charset="0"/>
                <a:ea typeface="Platypi Medium" pitchFamily="34" charset="-122"/>
                <a:cs typeface="Platypi Medium" pitchFamily="34" charset="-120"/>
              </a:rPr>
              <a:t>48%</a:t>
            </a:r>
            <a:endParaRPr lang="en-US" sz="4150" dirty="0"/>
          </a:p>
        </p:txBody>
      </p:sp>
      <p:sp>
        <p:nvSpPr>
          <p:cNvPr id="19" name="Text 17"/>
          <p:cNvSpPr/>
          <p:nvPr/>
        </p:nvSpPr>
        <p:spPr>
          <a:xfrm>
            <a:off x="6252091" y="6131838"/>
            <a:ext cx="2126218" cy="251460"/>
          </a:xfrm>
          <a:prstGeom prst="rect">
            <a:avLst/>
          </a:prstGeom>
          <a:noFill/>
          <a:ln/>
        </p:spPr>
        <p:txBody>
          <a:bodyPr wrap="none" lIns="0" tIns="0" rIns="0" bIns="0" rtlCol="0" anchor="t"/>
          <a:lstStyle/>
          <a:p>
            <a:pPr marL="0" indent="0" algn="ctr">
              <a:lnSpc>
                <a:spcPts val="1950"/>
              </a:lnSpc>
              <a:buNone/>
            </a:pPr>
            <a:r>
              <a:rPr lang="en-US" sz="1550" dirty="0">
                <a:solidFill>
                  <a:srgbClr val="504C49"/>
                </a:solidFill>
                <a:latin typeface="Platypi Medium" pitchFamily="34" charset="0"/>
                <a:ea typeface="Platypi Medium" pitchFamily="34" charset="-122"/>
                <a:cs typeface="Platypi Medium" pitchFamily="34" charset="-120"/>
              </a:rPr>
              <a:t>Agile Model Adopters</a:t>
            </a:r>
            <a:endParaRPr lang="en-US" sz="1550" dirty="0"/>
          </a:p>
        </p:txBody>
      </p:sp>
      <p:sp>
        <p:nvSpPr>
          <p:cNvPr id="20" name="Text 18"/>
          <p:cNvSpPr/>
          <p:nvPr/>
        </p:nvSpPr>
        <p:spPr>
          <a:xfrm>
            <a:off x="5158502" y="6479858"/>
            <a:ext cx="4313396" cy="515064"/>
          </a:xfrm>
          <a:prstGeom prst="rect">
            <a:avLst/>
          </a:prstGeom>
          <a:noFill/>
          <a:ln/>
        </p:spPr>
        <p:txBody>
          <a:bodyPr wrap="square" lIns="0" tIns="0" rIns="0" bIns="0" rtlCol="0" anchor="t"/>
          <a:lstStyle/>
          <a:p>
            <a:pPr marL="0" indent="0" algn="ctr">
              <a:lnSpc>
                <a:spcPts val="2000"/>
              </a:lnSpc>
              <a:buNone/>
            </a:pPr>
            <a:r>
              <a:rPr lang="en-US" sz="1400" dirty="0">
                <a:solidFill>
                  <a:srgbClr val="504C49"/>
                </a:solidFill>
                <a:latin typeface="Source Serif Pro" pitchFamily="34" charset="0"/>
                <a:ea typeface="Source Serif Pro" pitchFamily="34" charset="-122"/>
                <a:cs typeface="Source Serif Pro" pitchFamily="34" charset="-120"/>
              </a:rPr>
              <a:t>Organisations shifting to flexibility-focused supply chain models post-pandemic</a:t>
            </a:r>
            <a:endParaRPr lang="en-US" sz="1400" dirty="0"/>
          </a:p>
        </p:txBody>
      </p:sp>
      <p:sp>
        <p:nvSpPr>
          <p:cNvPr id="21" name="Text 19"/>
          <p:cNvSpPr/>
          <p:nvPr/>
        </p:nvSpPr>
        <p:spPr>
          <a:xfrm>
            <a:off x="9673114" y="5399484"/>
            <a:ext cx="4313396" cy="531138"/>
          </a:xfrm>
          <a:prstGeom prst="rect">
            <a:avLst/>
          </a:prstGeom>
          <a:noFill/>
          <a:ln/>
        </p:spPr>
        <p:txBody>
          <a:bodyPr wrap="none" lIns="0" tIns="0" rIns="0" bIns="0" rtlCol="0" anchor="t"/>
          <a:lstStyle/>
          <a:p>
            <a:pPr marL="0" indent="0" algn="ctr">
              <a:lnSpc>
                <a:spcPts val="4150"/>
              </a:lnSpc>
              <a:buNone/>
            </a:pPr>
            <a:r>
              <a:rPr lang="en-US" sz="4150" dirty="0">
                <a:solidFill>
                  <a:srgbClr val="504C49"/>
                </a:solidFill>
                <a:latin typeface="Platypi Medium" pitchFamily="34" charset="0"/>
                <a:ea typeface="Platypi Medium" pitchFamily="34" charset="-122"/>
                <a:cs typeface="Platypi Medium" pitchFamily="34" charset="-120"/>
              </a:rPr>
              <a:t>72%</a:t>
            </a:r>
            <a:endParaRPr lang="en-US" sz="4150" dirty="0"/>
          </a:p>
        </p:txBody>
      </p:sp>
      <p:sp>
        <p:nvSpPr>
          <p:cNvPr id="22" name="Text 20"/>
          <p:cNvSpPr/>
          <p:nvPr/>
        </p:nvSpPr>
        <p:spPr>
          <a:xfrm>
            <a:off x="10534650" y="6131838"/>
            <a:ext cx="2590205" cy="251460"/>
          </a:xfrm>
          <a:prstGeom prst="rect">
            <a:avLst/>
          </a:prstGeom>
          <a:noFill/>
          <a:ln/>
        </p:spPr>
        <p:txBody>
          <a:bodyPr wrap="none" lIns="0" tIns="0" rIns="0" bIns="0" rtlCol="0" anchor="t"/>
          <a:lstStyle/>
          <a:p>
            <a:pPr marL="0" indent="0" algn="ctr">
              <a:lnSpc>
                <a:spcPts val="1950"/>
              </a:lnSpc>
              <a:buNone/>
            </a:pPr>
            <a:r>
              <a:rPr lang="en-US" sz="1550" dirty="0">
                <a:solidFill>
                  <a:srgbClr val="504C49"/>
                </a:solidFill>
                <a:latin typeface="Platypi Medium" pitchFamily="34" charset="0"/>
                <a:ea typeface="Platypi Medium" pitchFamily="34" charset="-122"/>
                <a:cs typeface="Platypi Medium" pitchFamily="34" charset="-120"/>
              </a:rPr>
              <a:t>Customer-Driven Strategy</a:t>
            </a:r>
            <a:endParaRPr lang="en-US" sz="1550" dirty="0"/>
          </a:p>
        </p:txBody>
      </p:sp>
      <p:sp>
        <p:nvSpPr>
          <p:cNvPr id="23" name="Text 21"/>
          <p:cNvSpPr/>
          <p:nvPr/>
        </p:nvSpPr>
        <p:spPr>
          <a:xfrm>
            <a:off x="9673114" y="6479858"/>
            <a:ext cx="4313396" cy="515064"/>
          </a:xfrm>
          <a:prstGeom prst="rect">
            <a:avLst/>
          </a:prstGeom>
          <a:noFill/>
          <a:ln/>
        </p:spPr>
        <p:txBody>
          <a:bodyPr wrap="square" lIns="0" tIns="0" rIns="0" bIns="0" rtlCol="0" anchor="t"/>
          <a:lstStyle/>
          <a:p>
            <a:pPr marL="0" indent="0" algn="ctr">
              <a:lnSpc>
                <a:spcPts val="2000"/>
              </a:lnSpc>
              <a:buNone/>
            </a:pPr>
            <a:r>
              <a:rPr lang="en-US" sz="1400" dirty="0">
                <a:solidFill>
                  <a:srgbClr val="504C49"/>
                </a:solidFill>
                <a:latin typeface="Source Serif Pro" pitchFamily="34" charset="0"/>
                <a:ea typeface="Source Serif Pro" pitchFamily="34" charset="-122"/>
                <a:cs typeface="Source Serif Pro" pitchFamily="34" charset="-120"/>
              </a:rPr>
              <a:t>Companies citing customer expectations as the primary driver of supply chain transformation</a:t>
            </a:r>
            <a:endParaRPr lang="en-US" sz="1400" dirty="0"/>
          </a:p>
        </p:txBody>
      </p:sp>
      <p:sp>
        <p:nvSpPr>
          <p:cNvPr id="24" name="Text 22"/>
          <p:cNvSpPr/>
          <p:nvPr/>
        </p:nvSpPr>
        <p:spPr>
          <a:xfrm>
            <a:off x="643890" y="7176016"/>
            <a:ext cx="13342620" cy="515064"/>
          </a:xfrm>
          <a:prstGeom prst="rect">
            <a:avLst/>
          </a:prstGeom>
          <a:noFill/>
          <a:ln/>
        </p:spPr>
        <p:txBody>
          <a:bodyPr wrap="square" lIns="0" tIns="0" rIns="0" bIns="0" rtlCol="0" anchor="t"/>
          <a:lstStyle/>
          <a:p>
            <a:pPr marL="0" indent="0" algn="l">
              <a:lnSpc>
                <a:spcPts val="2000"/>
              </a:lnSpc>
              <a:buNone/>
            </a:pPr>
            <a:r>
              <a:rPr lang="en-US" sz="1400" dirty="0">
                <a:solidFill>
                  <a:srgbClr val="504C49"/>
                </a:solidFill>
                <a:latin typeface="Source Serif Pro" pitchFamily="34" charset="0"/>
                <a:ea typeface="Source Serif Pro" pitchFamily="34" charset="-122"/>
                <a:cs typeface="Source Serif Pro" pitchFamily="34" charset="-120"/>
              </a:rPr>
              <a:t>The strategic tension in modern supply chain management lies in balancing competing objectives. The aggressive pursuit of maximum cost efficiency directly undermines resilience, as demonstrated during the COVID-19 pandemic when hyper-efficient supply chains were the first to break.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1158" y="556141"/>
            <a:ext cx="13248084" cy="1079897"/>
          </a:xfrm>
          <a:prstGeom prst="rect">
            <a:avLst/>
          </a:prstGeom>
          <a:noFill/>
          <a:ln/>
        </p:spPr>
        <p:txBody>
          <a:bodyPr wrap="square" lIns="0" tIns="0" rIns="0" bIns="0" rtlCol="0" anchor="t"/>
          <a:lstStyle/>
          <a:p>
            <a:pPr marL="0" indent="0" algn="l">
              <a:lnSpc>
                <a:spcPts val="4250"/>
              </a:lnSpc>
              <a:buNone/>
            </a:pPr>
            <a:r>
              <a:rPr lang="en-US" sz="3400" dirty="0">
                <a:solidFill>
                  <a:srgbClr val="201B18"/>
                </a:solidFill>
                <a:latin typeface="Platypi Medium" pitchFamily="34" charset="0"/>
                <a:ea typeface="Platypi Medium" pitchFamily="34" charset="-122"/>
                <a:cs typeface="Platypi Medium" pitchFamily="34" charset="-120"/>
              </a:rPr>
              <a:t>Part II: The Evolution and Environment of Global Supply Chains</a:t>
            </a:r>
            <a:endParaRPr lang="en-US" sz="3400" dirty="0"/>
          </a:p>
        </p:txBody>
      </p:sp>
      <p:sp>
        <p:nvSpPr>
          <p:cNvPr id="3" name="Text 1"/>
          <p:cNvSpPr/>
          <p:nvPr/>
        </p:nvSpPr>
        <p:spPr>
          <a:xfrm>
            <a:off x="691158" y="1895237"/>
            <a:ext cx="10674191" cy="431959"/>
          </a:xfrm>
          <a:prstGeom prst="rect">
            <a:avLst/>
          </a:prstGeom>
          <a:noFill/>
          <a:ln/>
        </p:spPr>
        <p:txBody>
          <a:bodyPr wrap="none" lIns="0" tIns="0" rIns="0" bIns="0" rtlCol="0" anchor="t"/>
          <a:lstStyle/>
          <a:p>
            <a:pPr marL="0" indent="0" algn="l">
              <a:lnSpc>
                <a:spcPts val="3400"/>
              </a:lnSpc>
              <a:buNone/>
            </a:pPr>
            <a:r>
              <a:rPr lang="en-US" sz="2700" dirty="0">
                <a:solidFill>
                  <a:srgbClr val="201B18"/>
                </a:solidFill>
                <a:latin typeface="Platypi Medium" pitchFamily="34" charset="0"/>
                <a:ea typeface="Platypi Medium" pitchFamily="34" charset="-122"/>
                <a:cs typeface="Platypi Medium" pitchFamily="34" charset="-120"/>
              </a:rPr>
              <a:t>A Strategic Evolution: From Logistics to Boardroom Imperative</a:t>
            </a:r>
            <a:endParaRPr lang="en-US" sz="2700" dirty="0"/>
          </a:p>
        </p:txBody>
      </p:sp>
      <p:sp>
        <p:nvSpPr>
          <p:cNvPr id="4" name="Shape 2"/>
          <p:cNvSpPr/>
          <p:nvPr/>
        </p:nvSpPr>
        <p:spPr>
          <a:xfrm>
            <a:off x="691158" y="4756428"/>
            <a:ext cx="13248084" cy="22860"/>
          </a:xfrm>
          <a:prstGeom prst="roundRect">
            <a:avLst>
              <a:gd name="adj" fmla="val 113386"/>
            </a:avLst>
          </a:prstGeom>
          <a:solidFill>
            <a:srgbClr val="D8D4D4"/>
          </a:solidFill>
          <a:ln/>
        </p:spPr>
        <p:txBody>
          <a:bodyPr/>
          <a:lstStyle/>
          <a:p>
            <a:endParaRPr lang="en-IN"/>
          </a:p>
        </p:txBody>
      </p:sp>
      <p:sp>
        <p:nvSpPr>
          <p:cNvPr id="5" name="Shape 3"/>
          <p:cNvSpPr/>
          <p:nvPr/>
        </p:nvSpPr>
        <p:spPr>
          <a:xfrm>
            <a:off x="3264337" y="4238089"/>
            <a:ext cx="22860" cy="518398"/>
          </a:xfrm>
          <a:prstGeom prst="roundRect">
            <a:avLst>
              <a:gd name="adj" fmla="val 113386"/>
            </a:avLst>
          </a:prstGeom>
          <a:solidFill>
            <a:srgbClr val="D8D4D4"/>
          </a:solidFill>
          <a:ln/>
        </p:spPr>
        <p:txBody>
          <a:bodyPr/>
          <a:lstStyle/>
          <a:p>
            <a:endParaRPr lang="en-IN"/>
          </a:p>
        </p:txBody>
      </p:sp>
      <p:sp>
        <p:nvSpPr>
          <p:cNvPr id="6" name="Shape 4"/>
          <p:cNvSpPr/>
          <p:nvPr/>
        </p:nvSpPr>
        <p:spPr>
          <a:xfrm>
            <a:off x="3081457" y="4562058"/>
            <a:ext cx="388739" cy="388739"/>
          </a:xfrm>
          <a:prstGeom prst="roundRect">
            <a:avLst>
              <a:gd name="adj" fmla="val 6668"/>
            </a:avLst>
          </a:prstGeom>
          <a:solidFill>
            <a:srgbClr val="F9F7F7"/>
          </a:solidFill>
          <a:ln/>
        </p:spPr>
        <p:txBody>
          <a:bodyPr/>
          <a:lstStyle/>
          <a:p>
            <a:endParaRPr lang="en-IN"/>
          </a:p>
        </p:txBody>
      </p:sp>
      <p:sp>
        <p:nvSpPr>
          <p:cNvPr id="7" name="Text 5"/>
          <p:cNvSpPr/>
          <p:nvPr/>
        </p:nvSpPr>
        <p:spPr>
          <a:xfrm>
            <a:off x="3146167" y="4594384"/>
            <a:ext cx="259199" cy="323969"/>
          </a:xfrm>
          <a:prstGeom prst="rect">
            <a:avLst/>
          </a:prstGeom>
          <a:noFill/>
          <a:ln/>
        </p:spPr>
        <p:txBody>
          <a:bodyPr wrap="none" lIns="0" tIns="0" rIns="0" bIns="0" rtlCol="0" anchor="t"/>
          <a:lstStyle/>
          <a:p>
            <a:pPr marL="0" indent="0" algn="ctr">
              <a:lnSpc>
                <a:spcPts val="2000"/>
              </a:lnSpc>
              <a:buNone/>
            </a:pPr>
            <a:r>
              <a:rPr lang="en-US" sz="2000" dirty="0">
                <a:solidFill>
                  <a:srgbClr val="504C49"/>
                </a:solidFill>
                <a:latin typeface="Platypi Medium" pitchFamily="34" charset="0"/>
                <a:ea typeface="Platypi Medium" pitchFamily="34" charset="-122"/>
                <a:cs typeface="Platypi Medium" pitchFamily="34" charset="-120"/>
              </a:rPr>
              <a:t>1</a:t>
            </a:r>
            <a:endParaRPr lang="en-US" sz="2000" dirty="0"/>
          </a:p>
        </p:txBody>
      </p:sp>
      <p:sp>
        <p:nvSpPr>
          <p:cNvPr id="8" name="Text 6"/>
          <p:cNvSpPr/>
          <p:nvPr/>
        </p:nvSpPr>
        <p:spPr>
          <a:xfrm>
            <a:off x="1611987" y="2862739"/>
            <a:ext cx="3327916" cy="269915"/>
          </a:xfrm>
          <a:prstGeom prst="rect">
            <a:avLst/>
          </a:prstGeom>
          <a:noFill/>
          <a:ln/>
        </p:spPr>
        <p:txBody>
          <a:bodyPr wrap="none" lIns="0" tIns="0" rIns="0" bIns="0" rtlCol="0" anchor="t"/>
          <a:lstStyle/>
          <a:p>
            <a:pPr marL="0" indent="0" algn="ctr">
              <a:lnSpc>
                <a:spcPts val="2100"/>
              </a:lnSpc>
              <a:buNone/>
            </a:pPr>
            <a:r>
              <a:rPr lang="en-US" sz="1700" dirty="0">
                <a:solidFill>
                  <a:srgbClr val="504C49"/>
                </a:solidFill>
                <a:latin typeface="Platypi Medium" pitchFamily="34" charset="0"/>
                <a:ea typeface="Platypi Medium" pitchFamily="34" charset="-122"/>
                <a:cs typeface="Platypi Medium" pitchFamily="34" charset="-120"/>
              </a:rPr>
              <a:t>Pre-1960s: The Fragmented Era</a:t>
            </a:r>
            <a:endParaRPr lang="en-US" sz="1700" dirty="0"/>
          </a:p>
        </p:txBody>
      </p:sp>
      <p:sp>
        <p:nvSpPr>
          <p:cNvPr id="9" name="Text 7"/>
          <p:cNvSpPr/>
          <p:nvPr/>
        </p:nvSpPr>
        <p:spPr>
          <a:xfrm>
            <a:off x="863918" y="3236238"/>
            <a:ext cx="4824055" cy="829032"/>
          </a:xfrm>
          <a:prstGeom prst="rect">
            <a:avLst/>
          </a:prstGeom>
          <a:noFill/>
          <a:ln/>
        </p:spPr>
        <p:txBody>
          <a:bodyPr wrap="square" lIns="0" tIns="0" rIns="0" bIns="0" rtlCol="0" anchor="t"/>
          <a:lstStyle/>
          <a:p>
            <a:pPr marL="0" indent="0" algn="ctr">
              <a:lnSpc>
                <a:spcPts val="2150"/>
              </a:lnSpc>
              <a:buNone/>
            </a:pPr>
            <a:r>
              <a:rPr lang="en-US" sz="1400" dirty="0">
                <a:solidFill>
                  <a:srgbClr val="504C49"/>
                </a:solidFill>
                <a:latin typeface="Source Serif Pro" pitchFamily="34" charset="0"/>
                <a:ea typeface="Source Serif Pro" pitchFamily="34" charset="-122"/>
                <a:cs typeface="Source Serif Pro" pitchFamily="34" charset="-120"/>
              </a:rPr>
              <a:t>Operations were highly localised with discrete functions like transportation and warehousing managed separately with little strategic integration.</a:t>
            </a:r>
            <a:endParaRPr lang="en-US" sz="1400" dirty="0"/>
          </a:p>
        </p:txBody>
      </p:sp>
      <p:sp>
        <p:nvSpPr>
          <p:cNvPr id="10" name="Shape 8"/>
          <p:cNvSpPr/>
          <p:nvPr/>
        </p:nvSpPr>
        <p:spPr>
          <a:xfrm>
            <a:off x="5957173" y="4756368"/>
            <a:ext cx="22860" cy="518398"/>
          </a:xfrm>
          <a:prstGeom prst="roundRect">
            <a:avLst>
              <a:gd name="adj" fmla="val 113386"/>
            </a:avLst>
          </a:prstGeom>
          <a:solidFill>
            <a:srgbClr val="D8D4D4"/>
          </a:solidFill>
          <a:ln/>
        </p:spPr>
        <p:txBody>
          <a:bodyPr/>
          <a:lstStyle/>
          <a:p>
            <a:endParaRPr lang="en-IN"/>
          </a:p>
        </p:txBody>
      </p:sp>
      <p:sp>
        <p:nvSpPr>
          <p:cNvPr id="11" name="Shape 9"/>
          <p:cNvSpPr/>
          <p:nvPr/>
        </p:nvSpPr>
        <p:spPr>
          <a:xfrm>
            <a:off x="5774293" y="4562058"/>
            <a:ext cx="388739" cy="388739"/>
          </a:xfrm>
          <a:prstGeom prst="roundRect">
            <a:avLst>
              <a:gd name="adj" fmla="val 6668"/>
            </a:avLst>
          </a:prstGeom>
          <a:solidFill>
            <a:srgbClr val="F9F7F7"/>
          </a:solidFill>
          <a:ln/>
        </p:spPr>
        <p:txBody>
          <a:bodyPr/>
          <a:lstStyle/>
          <a:p>
            <a:endParaRPr lang="en-IN"/>
          </a:p>
        </p:txBody>
      </p:sp>
      <p:sp>
        <p:nvSpPr>
          <p:cNvPr id="12" name="Text 10"/>
          <p:cNvSpPr/>
          <p:nvPr/>
        </p:nvSpPr>
        <p:spPr>
          <a:xfrm>
            <a:off x="5839004" y="4594384"/>
            <a:ext cx="259199" cy="323969"/>
          </a:xfrm>
          <a:prstGeom prst="rect">
            <a:avLst/>
          </a:prstGeom>
          <a:noFill/>
          <a:ln/>
        </p:spPr>
        <p:txBody>
          <a:bodyPr wrap="none" lIns="0" tIns="0" rIns="0" bIns="0" rtlCol="0" anchor="t"/>
          <a:lstStyle/>
          <a:p>
            <a:pPr marL="0" indent="0" algn="ctr">
              <a:lnSpc>
                <a:spcPts val="2000"/>
              </a:lnSpc>
              <a:buNone/>
            </a:pPr>
            <a:r>
              <a:rPr lang="en-US" sz="2000" dirty="0">
                <a:solidFill>
                  <a:srgbClr val="504C49"/>
                </a:solidFill>
                <a:latin typeface="Platypi Medium" pitchFamily="34" charset="0"/>
                <a:ea typeface="Platypi Medium" pitchFamily="34" charset="-122"/>
                <a:cs typeface="Platypi Medium" pitchFamily="34" charset="-120"/>
              </a:rPr>
              <a:t>2</a:t>
            </a:r>
            <a:endParaRPr lang="en-US" sz="2000" dirty="0"/>
          </a:p>
        </p:txBody>
      </p:sp>
      <p:sp>
        <p:nvSpPr>
          <p:cNvPr id="13" name="Text 11"/>
          <p:cNvSpPr/>
          <p:nvPr/>
        </p:nvSpPr>
        <p:spPr>
          <a:xfrm>
            <a:off x="4108728" y="5447586"/>
            <a:ext cx="3719989" cy="269915"/>
          </a:xfrm>
          <a:prstGeom prst="rect">
            <a:avLst/>
          </a:prstGeom>
          <a:noFill/>
          <a:ln/>
        </p:spPr>
        <p:txBody>
          <a:bodyPr wrap="none" lIns="0" tIns="0" rIns="0" bIns="0" rtlCol="0" anchor="t"/>
          <a:lstStyle/>
          <a:p>
            <a:pPr marL="0" indent="0" algn="ctr">
              <a:lnSpc>
                <a:spcPts val="2100"/>
              </a:lnSpc>
              <a:buNone/>
            </a:pPr>
            <a:r>
              <a:rPr lang="en-US" sz="1700" dirty="0">
                <a:solidFill>
                  <a:srgbClr val="504C49"/>
                </a:solidFill>
                <a:latin typeface="Platypi Medium" pitchFamily="34" charset="0"/>
                <a:ea typeface="Platypi Medium" pitchFamily="34" charset="-122"/>
                <a:cs typeface="Platypi Medium" pitchFamily="34" charset="-120"/>
              </a:rPr>
              <a:t>1960s–1980s: The Rise of Logistics</a:t>
            </a:r>
            <a:endParaRPr lang="en-US" sz="1700" dirty="0"/>
          </a:p>
        </p:txBody>
      </p:sp>
      <p:sp>
        <p:nvSpPr>
          <p:cNvPr id="14" name="Text 12"/>
          <p:cNvSpPr/>
          <p:nvPr/>
        </p:nvSpPr>
        <p:spPr>
          <a:xfrm>
            <a:off x="3556635" y="5821085"/>
            <a:ext cx="4824174" cy="1105376"/>
          </a:xfrm>
          <a:prstGeom prst="rect">
            <a:avLst/>
          </a:prstGeom>
          <a:noFill/>
          <a:ln/>
        </p:spPr>
        <p:txBody>
          <a:bodyPr wrap="square" lIns="0" tIns="0" rIns="0" bIns="0" rtlCol="0" anchor="t"/>
          <a:lstStyle/>
          <a:p>
            <a:pPr marL="0" indent="0" algn="ctr">
              <a:lnSpc>
                <a:spcPts val="2150"/>
              </a:lnSpc>
              <a:buNone/>
            </a:pPr>
            <a:r>
              <a:rPr lang="en-US" sz="1400" dirty="0">
                <a:solidFill>
                  <a:srgbClr val="504C49"/>
                </a:solidFill>
                <a:latin typeface="Source Serif Pro" pitchFamily="34" charset="0"/>
                <a:ea typeface="Source Serif Pro" pitchFamily="34" charset="-122"/>
                <a:cs typeface="Source Serif Pro" pitchFamily="34" charset="-120"/>
              </a:rPr>
              <a:t>Physical distribution emerged as a unified function. IBM developed the first computerised inventory management in 1963, and JCPenney implemented the first real-time Warehouse Management System in 1975.</a:t>
            </a:r>
            <a:endParaRPr lang="en-US" sz="1400" dirty="0"/>
          </a:p>
        </p:txBody>
      </p:sp>
      <p:sp>
        <p:nvSpPr>
          <p:cNvPr id="15" name="Shape 13"/>
          <p:cNvSpPr/>
          <p:nvPr/>
        </p:nvSpPr>
        <p:spPr>
          <a:xfrm>
            <a:off x="8650010" y="4238089"/>
            <a:ext cx="22860" cy="518398"/>
          </a:xfrm>
          <a:prstGeom prst="roundRect">
            <a:avLst>
              <a:gd name="adj" fmla="val 113386"/>
            </a:avLst>
          </a:prstGeom>
          <a:solidFill>
            <a:srgbClr val="D8D4D4"/>
          </a:solidFill>
          <a:ln/>
        </p:spPr>
        <p:txBody>
          <a:bodyPr/>
          <a:lstStyle/>
          <a:p>
            <a:endParaRPr lang="en-IN"/>
          </a:p>
        </p:txBody>
      </p:sp>
      <p:sp>
        <p:nvSpPr>
          <p:cNvPr id="16" name="Shape 14"/>
          <p:cNvSpPr/>
          <p:nvPr/>
        </p:nvSpPr>
        <p:spPr>
          <a:xfrm>
            <a:off x="8467130" y="4562058"/>
            <a:ext cx="388739" cy="388739"/>
          </a:xfrm>
          <a:prstGeom prst="roundRect">
            <a:avLst>
              <a:gd name="adj" fmla="val 6668"/>
            </a:avLst>
          </a:prstGeom>
          <a:solidFill>
            <a:srgbClr val="F9F7F7"/>
          </a:solidFill>
          <a:ln/>
        </p:spPr>
        <p:txBody>
          <a:bodyPr/>
          <a:lstStyle/>
          <a:p>
            <a:endParaRPr lang="en-IN"/>
          </a:p>
        </p:txBody>
      </p:sp>
      <p:sp>
        <p:nvSpPr>
          <p:cNvPr id="17" name="Text 15"/>
          <p:cNvSpPr/>
          <p:nvPr/>
        </p:nvSpPr>
        <p:spPr>
          <a:xfrm>
            <a:off x="8531840" y="4594384"/>
            <a:ext cx="259199" cy="323969"/>
          </a:xfrm>
          <a:prstGeom prst="rect">
            <a:avLst/>
          </a:prstGeom>
          <a:noFill/>
          <a:ln/>
        </p:spPr>
        <p:txBody>
          <a:bodyPr wrap="none" lIns="0" tIns="0" rIns="0" bIns="0" rtlCol="0" anchor="t"/>
          <a:lstStyle/>
          <a:p>
            <a:pPr marL="0" indent="0" algn="ctr">
              <a:lnSpc>
                <a:spcPts val="2000"/>
              </a:lnSpc>
              <a:buNone/>
            </a:pPr>
            <a:r>
              <a:rPr lang="en-US" sz="2000" dirty="0">
                <a:solidFill>
                  <a:srgbClr val="504C49"/>
                </a:solidFill>
                <a:latin typeface="Platypi Medium" pitchFamily="34" charset="0"/>
                <a:ea typeface="Platypi Medium" pitchFamily="34" charset="-122"/>
                <a:cs typeface="Platypi Medium" pitchFamily="34" charset="-120"/>
              </a:rPr>
              <a:t>3</a:t>
            </a:r>
            <a:endParaRPr lang="en-US" sz="2000" dirty="0"/>
          </a:p>
        </p:txBody>
      </p:sp>
      <p:sp>
        <p:nvSpPr>
          <p:cNvPr id="18" name="Text 16"/>
          <p:cNvSpPr/>
          <p:nvPr/>
        </p:nvSpPr>
        <p:spPr>
          <a:xfrm>
            <a:off x="6304598" y="2586395"/>
            <a:ext cx="4713803" cy="269915"/>
          </a:xfrm>
          <a:prstGeom prst="rect">
            <a:avLst/>
          </a:prstGeom>
          <a:noFill/>
          <a:ln/>
        </p:spPr>
        <p:txBody>
          <a:bodyPr wrap="none" lIns="0" tIns="0" rIns="0" bIns="0" rtlCol="0" anchor="t"/>
          <a:lstStyle/>
          <a:p>
            <a:pPr marL="0" indent="0" algn="ctr">
              <a:lnSpc>
                <a:spcPts val="2100"/>
              </a:lnSpc>
              <a:buNone/>
            </a:pPr>
            <a:r>
              <a:rPr lang="en-US" sz="1700" dirty="0">
                <a:solidFill>
                  <a:srgbClr val="504C49"/>
                </a:solidFill>
                <a:latin typeface="Platypi Medium" pitchFamily="34" charset="0"/>
                <a:ea typeface="Platypi Medium" pitchFamily="34" charset="-122"/>
                <a:cs typeface="Platypi Medium" pitchFamily="34" charset="-120"/>
              </a:rPr>
              <a:t>1990s–2000s: Integration and Globalisation</a:t>
            </a:r>
            <a:endParaRPr lang="en-US" sz="1700" dirty="0"/>
          </a:p>
        </p:txBody>
      </p:sp>
      <p:sp>
        <p:nvSpPr>
          <p:cNvPr id="19" name="Text 17"/>
          <p:cNvSpPr/>
          <p:nvPr/>
        </p:nvSpPr>
        <p:spPr>
          <a:xfrm>
            <a:off x="6249472" y="2959894"/>
            <a:ext cx="4824174" cy="1105376"/>
          </a:xfrm>
          <a:prstGeom prst="rect">
            <a:avLst/>
          </a:prstGeom>
          <a:noFill/>
          <a:ln/>
        </p:spPr>
        <p:txBody>
          <a:bodyPr wrap="square" lIns="0" tIns="0" rIns="0" bIns="0" rtlCol="0" anchor="t"/>
          <a:lstStyle/>
          <a:p>
            <a:pPr marL="0" indent="0" algn="ctr">
              <a:lnSpc>
                <a:spcPts val="2150"/>
              </a:lnSpc>
              <a:buNone/>
            </a:pPr>
            <a:r>
              <a:rPr lang="en-US" sz="1400" dirty="0">
                <a:solidFill>
                  <a:srgbClr val="504C49"/>
                </a:solidFill>
                <a:latin typeface="Source Serif Pro" pitchFamily="34" charset="0"/>
                <a:ea typeface="Source Serif Pro" pitchFamily="34" charset="-122"/>
                <a:cs typeface="Source Serif Pro" pitchFamily="34" charset="-120"/>
              </a:rPr>
              <a:t>The birth of formal SCM driven by ERP systems, global outsourcing, and e-commerce. Amazon's 1995 launch was a watershed moment, fundamentally changing customer expectations.</a:t>
            </a:r>
            <a:endParaRPr lang="en-US" sz="1400" dirty="0"/>
          </a:p>
        </p:txBody>
      </p:sp>
      <p:sp>
        <p:nvSpPr>
          <p:cNvPr id="20" name="Shape 18"/>
          <p:cNvSpPr/>
          <p:nvPr/>
        </p:nvSpPr>
        <p:spPr>
          <a:xfrm>
            <a:off x="11342846" y="4756368"/>
            <a:ext cx="22860" cy="518398"/>
          </a:xfrm>
          <a:prstGeom prst="roundRect">
            <a:avLst>
              <a:gd name="adj" fmla="val 113386"/>
            </a:avLst>
          </a:prstGeom>
          <a:solidFill>
            <a:srgbClr val="D8D4D4"/>
          </a:solidFill>
          <a:ln/>
        </p:spPr>
        <p:txBody>
          <a:bodyPr/>
          <a:lstStyle/>
          <a:p>
            <a:endParaRPr lang="en-IN"/>
          </a:p>
        </p:txBody>
      </p:sp>
      <p:sp>
        <p:nvSpPr>
          <p:cNvPr id="21" name="Shape 19"/>
          <p:cNvSpPr/>
          <p:nvPr/>
        </p:nvSpPr>
        <p:spPr>
          <a:xfrm>
            <a:off x="11159966" y="4562058"/>
            <a:ext cx="388739" cy="388739"/>
          </a:xfrm>
          <a:prstGeom prst="roundRect">
            <a:avLst>
              <a:gd name="adj" fmla="val 6668"/>
            </a:avLst>
          </a:prstGeom>
          <a:solidFill>
            <a:srgbClr val="F9F7F7"/>
          </a:solidFill>
          <a:ln/>
        </p:spPr>
        <p:txBody>
          <a:bodyPr/>
          <a:lstStyle/>
          <a:p>
            <a:endParaRPr lang="en-IN"/>
          </a:p>
        </p:txBody>
      </p:sp>
      <p:sp>
        <p:nvSpPr>
          <p:cNvPr id="22" name="Text 20"/>
          <p:cNvSpPr/>
          <p:nvPr/>
        </p:nvSpPr>
        <p:spPr>
          <a:xfrm>
            <a:off x="11224677" y="4594384"/>
            <a:ext cx="259199" cy="323969"/>
          </a:xfrm>
          <a:prstGeom prst="rect">
            <a:avLst/>
          </a:prstGeom>
          <a:noFill/>
          <a:ln/>
        </p:spPr>
        <p:txBody>
          <a:bodyPr wrap="none" lIns="0" tIns="0" rIns="0" bIns="0" rtlCol="0" anchor="t"/>
          <a:lstStyle/>
          <a:p>
            <a:pPr marL="0" indent="0" algn="ctr">
              <a:lnSpc>
                <a:spcPts val="2000"/>
              </a:lnSpc>
              <a:buNone/>
            </a:pPr>
            <a:r>
              <a:rPr lang="en-US" sz="2000" dirty="0">
                <a:solidFill>
                  <a:srgbClr val="504C49"/>
                </a:solidFill>
                <a:latin typeface="Platypi Medium" pitchFamily="34" charset="0"/>
                <a:ea typeface="Platypi Medium" pitchFamily="34" charset="-122"/>
                <a:cs typeface="Platypi Medium" pitchFamily="34" charset="-120"/>
              </a:rPr>
              <a:t>4</a:t>
            </a:r>
            <a:endParaRPr lang="en-US" sz="2000" dirty="0"/>
          </a:p>
        </p:txBody>
      </p:sp>
      <p:sp>
        <p:nvSpPr>
          <p:cNvPr id="23" name="Text 21"/>
          <p:cNvSpPr/>
          <p:nvPr/>
        </p:nvSpPr>
        <p:spPr>
          <a:xfrm>
            <a:off x="9013150" y="5447586"/>
            <a:ext cx="4682490" cy="269915"/>
          </a:xfrm>
          <a:prstGeom prst="rect">
            <a:avLst/>
          </a:prstGeom>
          <a:noFill/>
          <a:ln/>
        </p:spPr>
        <p:txBody>
          <a:bodyPr wrap="none" lIns="0" tIns="0" rIns="0" bIns="0" rtlCol="0" anchor="t"/>
          <a:lstStyle/>
          <a:p>
            <a:pPr marL="0" indent="0" algn="ctr">
              <a:lnSpc>
                <a:spcPts val="2100"/>
              </a:lnSpc>
              <a:buNone/>
            </a:pPr>
            <a:r>
              <a:rPr lang="en-US" sz="1700" dirty="0">
                <a:solidFill>
                  <a:srgbClr val="504C49"/>
                </a:solidFill>
                <a:latin typeface="Platypi Medium" pitchFamily="34" charset="0"/>
                <a:ea typeface="Platypi Medium" pitchFamily="34" charset="-122"/>
                <a:cs typeface="Platypi Medium" pitchFamily="34" charset="-120"/>
              </a:rPr>
              <a:t>2010s–Present: Digitalization and Resilience</a:t>
            </a:r>
            <a:endParaRPr lang="en-US" sz="1700" dirty="0"/>
          </a:p>
        </p:txBody>
      </p:sp>
      <p:sp>
        <p:nvSpPr>
          <p:cNvPr id="24" name="Text 22"/>
          <p:cNvSpPr/>
          <p:nvPr/>
        </p:nvSpPr>
        <p:spPr>
          <a:xfrm>
            <a:off x="8942308" y="5821085"/>
            <a:ext cx="4824174" cy="829032"/>
          </a:xfrm>
          <a:prstGeom prst="rect">
            <a:avLst/>
          </a:prstGeom>
          <a:noFill/>
          <a:ln/>
        </p:spPr>
        <p:txBody>
          <a:bodyPr wrap="square" lIns="0" tIns="0" rIns="0" bIns="0" rtlCol="0" anchor="t"/>
          <a:lstStyle/>
          <a:p>
            <a:pPr marL="0" indent="0" algn="ctr">
              <a:lnSpc>
                <a:spcPts val="2150"/>
              </a:lnSpc>
              <a:buNone/>
            </a:pPr>
            <a:r>
              <a:rPr lang="en-US" sz="1400" dirty="0">
                <a:solidFill>
                  <a:srgbClr val="504C49"/>
                </a:solidFill>
                <a:latin typeface="Source Serif Pro" pitchFamily="34" charset="0"/>
                <a:ea typeface="Source Serif Pro" pitchFamily="34" charset="-122"/>
                <a:cs typeface="Source Serif Pro" pitchFamily="34" charset="-120"/>
              </a:rPr>
              <a:t>Industry 4.0 technologies including AI, IoT, and robotics enabling new levels of optimisation, while global shocks like COVID-19 exposed vulnerabilities in lean supply chains.</a:t>
            </a:r>
            <a:endParaRPr lang="en-US" sz="1400" dirty="0"/>
          </a:p>
        </p:txBody>
      </p:sp>
      <p:sp>
        <p:nvSpPr>
          <p:cNvPr id="25" name="Text 23"/>
          <p:cNvSpPr/>
          <p:nvPr/>
        </p:nvSpPr>
        <p:spPr>
          <a:xfrm>
            <a:off x="691158" y="7120771"/>
            <a:ext cx="13248084" cy="552688"/>
          </a:xfrm>
          <a:prstGeom prst="rect">
            <a:avLst/>
          </a:prstGeom>
          <a:noFill/>
          <a:ln/>
        </p:spPr>
        <p:txBody>
          <a:bodyPr wrap="square" lIns="0" tIns="0" rIns="0" bIns="0" rtlCol="0" anchor="t"/>
          <a:lstStyle/>
          <a:p>
            <a:pPr marL="0" indent="0" algn="l">
              <a:lnSpc>
                <a:spcPts val="2150"/>
              </a:lnSpc>
              <a:buNone/>
            </a:pPr>
            <a:r>
              <a:rPr lang="en-US" sz="1400" dirty="0">
                <a:solidFill>
                  <a:srgbClr val="504C49"/>
                </a:solidFill>
                <a:latin typeface="Source Serif Pro" pitchFamily="34" charset="0"/>
                <a:ea typeface="Source Serif Pro" pitchFamily="34" charset="-122"/>
                <a:cs typeface="Source Serif Pro" pitchFamily="34" charset="-120"/>
              </a:rPr>
              <a:t>Supply chain management's evolution follows a trajectory of increasing integration and abstraction, enabled by technological leaps. Each advancement expanded the scope of what could be controlled and optimised, transforming SCM from a tactical function into a source of strategic advantage.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7711" y="507087"/>
            <a:ext cx="8853249" cy="576382"/>
          </a:xfrm>
          <a:prstGeom prst="rect">
            <a:avLst/>
          </a:prstGeom>
          <a:noFill/>
          <a:ln/>
        </p:spPr>
        <p:txBody>
          <a:bodyPr wrap="none" lIns="0" tIns="0" rIns="0" bIns="0" rtlCol="0" anchor="t"/>
          <a:lstStyle/>
          <a:p>
            <a:pPr marL="0" indent="0" algn="l">
              <a:lnSpc>
                <a:spcPts val="4500"/>
              </a:lnSpc>
              <a:buNone/>
            </a:pPr>
            <a:r>
              <a:rPr lang="en-US" sz="3600" dirty="0">
                <a:solidFill>
                  <a:srgbClr val="201B18"/>
                </a:solidFill>
                <a:latin typeface="Platypi Medium" pitchFamily="34" charset="0"/>
                <a:ea typeface="Platypi Medium" pitchFamily="34" charset="-122"/>
                <a:cs typeface="Platypi Medium" pitchFamily="34" charset="-120"/>
              </a:rPr>
              <a:t>Navigating the Modern Risk Landscape</a:t>
            </a:r>
            <a:endParaRPr lang="en-US" sz="3600" dirty="0"/>
          </a:p>
        </p:txBody>
      </p:sp>
      <p:sp>
        <p:nvSpPr>
          <p:cNvPr id="3" name="Text 1"/>
          <p:cNvSpPr/>
          <p:nvPr/>
        </p:nvSpPr>
        <p:spPr>
          <a:xfrm>
            <a:off x="737711" y="1526024"/>
            <a:ext cx="6352580" cy="1180148"/>
          </a:xfrm>
          <a:prstGeom prst="rect">
            <a:avLst/>
          </a:prstGeom>
          <a:noFill/>
          <a:ln/>
        </p:spPr>
        <p:txBody>
          <a:bodyPr wrap="square" lIns="0" tIns="0" rIns="0" bIns="0" rtlCol="0" anchor="t"/>
          <a:lstStyle/>
          <a:p>
            <a:pPr marL="0" indent="0" algn="l">
              <a:lnSpc>
                <a:spcPts val="2300"/>
              </a:lnSpc>
              <a:buNone/>
            </a:pPr>
            <a:r>
              <a:rPr lang="en-US" sz="1450" dirty="0">
                <a:solidFill>
                  <a:srgbClr val="504C49"/>
                </a:solidFill>
                <a:latin typeface="Source Serif Pro" pitchFamily="34" charset="0"/>
                <a:ea typeface="Source Serif Pro" pitchFamily="34" charset="-122"/>
                <a:cs typeface="Source Serif Pro" pitchFamily="34" charset="-120"/>
              </a:rPr>
              <a:t>The contemporary supply chain operates in an environment of unprecedented volatility and complexity. Risk management is no longer a secondary compliance function but a primary driver of supply chain design and strategy.</a:t>
            </a:r>
            <a:endParaRPr lang="en-US" sz="1450" dirty="0"/>
          </a:p>
        </p:txBody>
      </p:sp>
      <p:pic>
        <p:nvPicPr>
          <p:cNvPr id="4" name="Image 0" descr="preencoded.png"/>
          <p:cNvPicPr>
            <a:picLocks noChangeAspect="1"/>
          </p:cNvPicPr>
          <p:nvPr/>
        </p:nvPicPr>
        <p:blipFill>
          <a:blip r:embed="rId3"/>
          <a:stretch>
            <a:fillRect/>
          </a:stretch>
        </p:blipFill>
        <p:spPr>
          <a:xfrm>
            <a:off x="737711" y="2913578"/>
            <a:ext cx="3060978" cy="1891784"/>
          </a:xfrm>
          <a:prstGeom prst="rect">
            <a:avLst/>
          </a:prstGeom>
        </p:spPr>
      </p:pic>
      <p:sp>
        <p:nvSpPr>
          <p:cNvPr id="5" name="Text 2"/>
          <p:cNvSpPr/>
          <p:nvPr/>
        </p:nvSpPr>
        <p:spPr>
          <a:xfrm>
            <a:off x="737711" y="4989790"/>
            <a:ext cx="3060978" cy="576263"/>
          </a:xfrm>
          <a:prstGeom prst="rect">
            <a:avLst/>
          </a:prstGeom>
          <a:noFill/>
          <a:ln/>
        </p:spPr>
        <p:txBody>
          <a:bodyPr wrap="square" lIns="0" tIns="0" rIns="0" bIns="0" rtlCol="0" anchor="t"/>
          <a:lstStyle/>
          <a:p>
            <a:pPr marL="0" indent="0" algn="l">
              <a:lnSpc>
                <a:spcPts val="2250"/>
              </a:lnSpc>
              <a:buNone/>
            </a:pPr>
            <a:r>
              <a:rPr lang="en-US" sz="1800" dirty="0">
                <a:solidFill>
                  <a:srgbClr val="504C49"/>
                </a:solidFill>
                <a:latin typeface="Platypi Medium" pitchFamily="34" charset="0"/>
                <a:ea typeface="Platypi Medium" pitchFamily="34" charset="-122"/>
                <a:cs typeface="Platypi Medium" pitchFamily="34" charset="-120"/>
              </a:rPr>
              <a:t>Red Sea Shipping Crisis 2024</a:t>
            </a:r>
            <a:endParaRPr lang="en-US" sz="1800" dirty="0"/>
          </a:p>
        </p:txBody>
      </p:sp>
      <p:sp>
        <p:nvSpPr>
          <p:cNvPr id="6" name="Text 3"/>
          <p:cNvSpPr/>
          <p:nvPr/>
        </p:nvSpPr>
        <p:spPr>
          <a:xfrm>
            <a:off x="737711" y="5750481"/>
            <a:ext cx="3060978" cy="1770221"/>
          </a:xfrm>
          <a:prstGeom prst="rect">
            <a:avLst/>
          </a:prstGeom>
          <a:noFill/>
          <a:ln/>
        </p:spPr>
        <p:txBody>
          <a:bodyPr wrap="square" lIns="0" tIns="0" rIns="0" bIns="0" rtlCol="0" anchor="t"/>
          <a:lstStyle/>
          <a:p>
            <a:pPr marL="0" indent="0" algn="l">
              <a:lnSpc>
                <a:spcPts val="2300"/>
              </a:lnSpc>
              <a:buNone/>
            </a:pPr>
            <a:r>
              <a:rPr lang="en-US" sz="1450" dirty="0">
                <a:solidFill>
                  <a:srgbClr val="504C49"/>
                </a:solidFill>
                <a:latin typeface="Source Serif Pro" pitchFamily="34" charset="0"/>
                <a:ea typeface="Source Serif Pro" pitchFamily="34" charset="-122"/>
                <a:cs typeface="Source Serif Pro" pitchFamily="34" charset="-120"/>
              </a:rPr>
              <a:t>Attacks on vessels forced rerouting around Africa, adding 10 days and 4,000 miles to Asia-Europe voyages. Freight costs surged by 350%, contributing up to 0.7 percentage points to global inflation.</a:t>
            </a:r>
            <a:endParaRPr lang="en-US" sz="1450" dirty="0"/>
          </a:p>
        </p:txBody>
      </p:sp>
      <p:pic>
        <p:nvPicPr>
          <p:cNvPr id="7" name="Image 1" descr="preencoded.png"/>
          <p:cNvPicPr>
            <a:picLocks noChangeAspect="1"/>
          </p:cNvPicPr>
          <p:nvPr/>
        </p:nvPicPr>
        <p:blipFill>
          <a:blip r:embed="rId4"/>
          <a:stretch>
            <a:fillRect/>
          </a:stretch>
        </p:blipFill>
        <p:spPr>
          <a:xfrm>
            <a:off x="4029194" y="2913578"/>
            <a:ext cx="3061097" cy="1891784"/>
          </a:xfrm>
          <a:prstGeom prst="rect">
            <a:avLst/>
          </a:prstGeom>
        </p:spPr>
      </p:pic>
      <p:sp>
        <p:nvSpPr>
          <p:cNvPr id="8" name="Text 4"/>
          <p:cNvSpPr/>
          <p:nvPr/>
        </p:nvSpPr>
        <p:spPr>
          <a:xfrm>
            <a:off x="4029194" y="4989790"/>
            <a:ext cx="2960013" cy="288131"/>
          </a:xfrm>
          <a:prstGeom prst="rect">
            <a:avLst/>
          </a:prstGeom>
          <a:noFill/>
          <a:ln/>
        </p:spPr>
        <p:txBody>
          <a:bodyPr wrap="none" lIns="0" tIns="0" rIns="0" bIns="0" rtlCol="0" anchor="t"/>
          <a:lstStyle/>
          <a:p>
            <a:pPr marL="0" indent="0" algn="l">
              <a:lnSpc>
                <a:spcPts val="2250"/>
              </a:lnSpc>
              <a:buNone/>
            </a:pPr>
            <a:r>
              <a:rPr lang="en-US" sz="1800" dirty="0">
                <a:solidFill>
                  <a:srgbClr val="504C49"/>
                </a:solidFill>
                <a:latin typeface="Platypi Medium" pitchFamily="34" charset="0"/>
                <a:ea typeface="Platypi Medium" pitchFamily="34" charset="-122"/>
                <a:cs typeface="Platypi Medium" pitchFamily="34" charset="-120"/>
              </a:rPr>
              <a:t>Pandemic-Induced Shocks</a:t>
            </a:r>
            <a:endParaRPr lang="en-US" sz="1800" dirty="0"/>
          </a:p>
        </p:txBody>
      </p:sp>
      <p:sp>
        <p:nvSpPr>
          <p:cNvPr id="9" name="Text 5"/>
          <p:cNvSpPr/>
          <p:nvPr/>
        </p:nvSpPr>
        <p:spPr>
          <a:xfrm>
            <a:off x="4029194" y="5462349"/>
            <a:ext cx="3061097" cy="1770221"/>
          </a:xfrm>
          <a:prstGeom prst="rect">
            <a:avLst/>
          </a:prstGeom>
          <a:noFill/>
          <a:ln/>
        </p:spPr>
        <p:txBody>
          <a:bodyPr wrap="square" lIns="0" tIns="0" rIns="0" bIns="0" rtlCol="0" anchor="t"/>
          <a:lstStyle/>
          <a:p>
            <a:pPr marL="0" indent="0" algn="l">
              <a:lnSpc>
                <a:spcPts val="2300"/>
              </a:lnSpc>
              <a:buNone/>
            </a:pPr>
            <a:r>
              <a:rPr lang="en-US" sz="1450" dirty="0">
                <a:solidFill>
                  <a:srgbClr val="504C49"/>
                </a:solidFill>
                <a:latin typeface="Source Serif Pro" pitchFamily="34" charset="0"/>
                <a:ea typeface="Source Serif Pro" pitchFamily="34" charset="-122"/>
                <a:cs typeface="Source Serif Pro" pitchFamily="34" charset="-120"/>
              </a:rPr>
              <a:t>COVID-19 created simultaneous disruption to supply and demand globally. 72% of companies reported negative effects on their supply chains, with only 2% feeling fully prepared.</a:t>
            </a:r>
            <a:endParaRPr lang="en-US" sz="1450" dirty="0"/>
          </a:p>
        </p:txBody>
      </p:sp>
      <p:sp>
        <p:nvSpPr>
          <p:cNvPr id="10" name="Text 6"/>
          <p:cNvSpPr/>
          <p:nvPr/>
        </p:nvSpPr>
        <p:spPr>
          <a:xfrm>
            <a:off x="7547729" y="1544479"/>
            <a:ext cx="5390078" cy="345877"/>
          </a:xfrm>
          <a:prstGeom prst="rect">
            <a:avLst/>
          </a:prstGeom>
          <a:noFill/>
          <a:ln/>
        </p:spPr>
        <p:txBody>
          <a:bodyPr wrap="none" lIns="0" tIns="0" rIns="0" bIns="0" rtlCol="0" anchor="t"/>
          <a:lstStyle/>
          <a:p>
            <a:pPr marL="0" indent="0" algn="l">
              <a:lnSpc>
                <a:spcPts val="2700"/>
              </a:lnSpc>
              <a:buNone/>
            </a:pPr>
            <a:r>
              <a:rPr lang="en-US" sz="2150" dirty="0">
                <a:solidFill>
                  <a:srgbClr val="201B18"/>
                </a:solidFill>
                <a:latin typeface="Platypi Medium" pitchFamily="34" charset="0"/>
                <a:ea typeface="Platypi Medium" pitchFamily="34" charset="-122"/>
                <a:cs typeface="Platypi Medium" pitchFamily="34" charset="-120"/>
              </a:rPr>
              <a:t>Systemic Risk in Hyper-Efficient Chains</a:t>
            </a:r>
            <a:endParaRPr lang="en-US" sz="2150" dirty="0"/>
          </a:p>
        </p:txBody>
      </p:sp>
      <p:sp>
        <p:nvSpPr>
          <p:cNvPr id="11" name="Text 7"/>
          <p:cNvSpPr/>
          <p:nvPr/>
        </p:nvSpPr>
        <p:spPr>
          <a:xfrm>
            <a:off x="7547729" y="2074783"/>
            <a:ext cx="6352580" cy="1180148"/>
          </a:xfrm>
          <a:prstGeom prst="rect">
            <a:avLst/>
          </a:prstGeom>
          <a:noFill/>
          <a:ln/>
        </p:spPr>
        <p:txBody>
          <a:bodyPr wrap="square" lIns="0" tIns="0" rIns="0" bIns="0" rtlCol="0" anchor="t"/>
          <a:lstStyle/>
          <a:p>
            <a:pPr marL="0" indent="0" algn="l">
              <a:lnSpc>
                <a:spcPts val="2300"/>
              </a:lnSpc>
              <a:buNone/>
            </a:pPr>
            <a:r>
              <a:rPr lang="en-US" sz="1450" dirty="0">
                <a:solidFill>
                  <a:srgbClr val="504C49"/>
                </a:solidFill>
                <a:latin typeface="Source Serif Pro" pitchFamily="34" charset="0"/>
                <a:ea typeface="Source Serif Pro" pitchFamily="34" charset="-122"/>
                <a:cs typeface="Source Serif Pro" pitchFamily="34" charset="-120"/>
              </a:rPr>
              <a:t>The relentless pursuit of efficiency has created complex, interconnected networks with minimal buffers. Practices like lean manufacturing, JIT inventory, and single-sourcing have systematically stripped out redundancy in the name of cost reduction.</a:t>
            </a:r>
            <a:endParaRPr lang="en-US" sz="1450" dirty="0"/>
          </a:p>
        </p:txBody>
      </p:sp>
      <p:sp>
        <p:nvSpPr>
          <p:cNvPr id="12" name="Text 8"/>
          <p:cNvSpPr/>
          <p:nvPr/>
        </p:nvSpPr>
        <p:spPr>
          <a:xfrm>
            <a:off x="7547729" y="3420904"/>
            <a:ext cx="6352580" cy="1180148"/>
          </a:xfrm>
          <a:prstGeom prst="rect">
            <a:avLst/>
          </a:prstGeom>
          <a:noFill/>
          <a:ln/>
        </p:spPr>
        <p:txBody>
          <a:bodyPr wrap="square" lIns="0" tIns="0" rIns="0" bIns="0" rtlCol="0" anchor="t"/>
          <a:lstStyle/>
          <a:p>
            <a:pPr marL="0" indent="0" algn="l">
              <a:lnSpc>
                <a:spcPts val="2300"/>
              </a:lnSpc>
              <a:buNone/>
            </a:pPr>
            <a:r>
              <a:rPr lang="en-US" sz="1450" dirty="0">
                <a:solidFill>
                  <a:srgbClr val="504C49"/>
                </a:solidFill>
                <a:latin typeface="Source Serif Pro" pitchFamily="34" charset="0"/>
                <a:ea typeface="Source Serif Pro" pitchFamily="34" charset="-122"/>
                <a:cs typeface="Source Serif Pro" pitchFamily="34" charset="-120"/>
              </a:rPr>
              <a:t>This creates </a:t>
            </a:r>
            <a:r>
              <a:rPr lang="en-US" sz="1450" b="1" dirty="0">
                <a:solidFill>
                  <a:srgbClr val="504C49"/>
                </a:solidFill>
                <a:latin typeface="Source Serif Pro" pitchFamily="34" charset="0"/>
                <a:ea typeface="Source Serif Pro" pitchFamily="34" charset="-122"/>
                <a:cs typeface="Source Serif Pro" pitchFamily="34" charset="-120"/>
              </a:rPr>
              <a:t>systemic risk</a:t>
            </a:r>
            <a:r>
              <a:rPr lang="en-US" sz="1450" dirty="0">
                <a:solidFill>
                  <a:srgbClr val="504C49"/>
                </a:solidFill>
                <a:latin typeface="Source Serif Pro" pitchFamily="34" charset="0"/>
                <a:ea typeface="Source Serif Pro" pitchFamily="34" charset="-122"/>
                <a:cs typeface="Source Serif Pro" pitchFamily="34" charset="-120"/>
              </a:rPr>
              <a:t>: the danger that a localised disruption can trigger cascading failures across the entire network. The 2021-2022 semiconductor shortage exemplifies how disruptions at key foundries caused massive economic losses across multiple industries.</a:t>
            </a:r>
            <a:endParaRPr lang="en-US" sz="1450" dirty="0"/>
          </a:p>
        </p:txBody>
      </p:sp>
      <p:sp>
        <p:nvSpPr>
          <p:cNvPr id="13" name="Text 9"/>
          <p:cNvSpPr/>
          <p:nvPr/>
        </p:nvSpPr>
        <p:spPr>
          <a:xfrm>
            <a:off x="7547729" y="4785479"/>
            <a:ext cx="4116705" cy="345877"/>
          </a:xfrm>
          <a:prstGeom prst="rect">
            <a:avLst/>
          </a:prstGeom>
          <a:noFill/>
          <a:ln/>
        </p:spPr>
        <p:txBody>
          <a:bodyPr wrap="none" lIns="0" tIns="0" rIns="0" bIns="0" rtlCol="0" anchor="t"/>
          <a:lstStyle/>
          <a:p>
            <a:pPr marL="0" indent="0" algn="l">
              <a:lnSpc>
                <a:spcPts val="2700"/>
              </a:lnSpc>
              <a:buNone/>
            </a:pPr>
            <a:r>
              <a:rPr lang="en-US" sz="2150" dirty="0">
                <a:solidFill>
                  <a:srgbClr val="201B18"/>
                </a:solidFill>
                <a:latin typeface="Platypi Medium" pitchFamily="34" charset="0"/>
                <a:ea typeface="Platypi Medium" pitchFamily="34" charset="-122"/>
                <a:cs typeface="Platypi Medium" pitchFamily="34" charset="-120"/>
              </a:rPr>
              <a:t>Rising Customer Expectations</a:t>
            </a:r>
            <a:endParaRPr lang="en-US" sz="2150" dirty="0"/>
          </a:p>
        </p:txBody>
      </p:sp>
      <p:sp>
        <p:nvSpPr>
          <p:cNvPr id="14" name="Text 10"/>
          <p:cNvSpPr/>
          <p:nvPr/>
        </p:nvSpPr>
        <p:spPr>
          <a:xfrm>
            <a:off x="7547729" y="5315783"/>
            <a:ext cx="6352580" cy="1180148"/>
          </a:xfrm>
          <a:prstGeom prst="rect">
            <a:avLst/>
          </a:prstGeom>
          <a:noFill/>
          <a:ln/>
        </p:spPr>
        <p:txBody>
          <a:bodyPr wrap="square" lIns="0" tIns="0" rIns="0" bIns="0" rtlCol="0" anchor="t"/>
          <a:lstStyle/>
          <a:p>
            <a:pPr marL="0" indent="0" algn="l">
              <a:lnSpc>
                <a:spcPts val="2300"/>
              </a:lnSpc>
              <a:buNone/>
            </a:pPr>
            <a:r>
              <a:rPr lang="en-US" sz="1450" dirty="0">
                <a:solidFill>
                  <a:srgbClr val="504C49"/>
                </a:solidFill>
                <a:latin typeface="Source Serif Pro" pitchFamily="34" charset="0"/>
                <a:ea typeface="Source Serif Pro" pitchFamily="34" charset="-122"/>
                <a:cs typeface="Source Serif Pro" pitchFamily="34" charset="-120"/>
              </a:rPr>
              <a:t>The "Amazon Effect" has permanently shifted customer expectations toward unprecedented speed, transparency, and low-cost delivery. High performance is no longer a differentiator but the minimum requirement for competing, with brand loyalty becoming increasingly fragile.</a:t>
            </a:r>
            <a:endParaRPr lang="en-US" sz="1450" dirty="0"/>
          </a:p>
        </p:txBody>
      </p:sp>
      <p:sp>
        <p:nvSpPr>
          <p:cNvPr id="15" name="Text 11"/>
          <p:cNvSpPr/>
          <p:nvPr/>
        </p:nvSpPr>
        <p:spPr>
          <a:xfrm>
            <a:off x="7547729" y="6661904"/>
            <a:ext cx="6352580" cy="885111"/>
          </a:xfrm>
          <a:prstGeom prst="rect">
            <a:avLst/>
          </a:prstGeom>
          <a:noFill/>
          <a:ln/>
        </p:spPr>
        <p:txBody>
          <a:bodyPr wrap="square" lIns="0" tIns="0" rIns="0" bIns="0" rtlCol="0" anchor="t"/>
          <a:lstStyle/>
          <a:p>
            <a:pPr marL="0" indent="0" algn="l">
              <a:lnSpc>
                <a:spcPts val="2300"/>
              </a:lnSpc>
              <a:buNone/>
            </a:pPr>
            <a:r>
              <a:rPr lang="en-US" sz="1450" dirty="0">
                <a:solidFill>
                  <a:srgbClr val="504C49"/>
                </a:solidFill>
                <a:latin typeface="Source Serif Pro" pitchFamily="34" charset="0"/>
                <a:ea typeface="Source Serif Pro" pitchFamily="34" charset="-122"/>
                <a:cs typeface="Source Serif Pro" pitchFamily="34" charset="-120"/>
              </a:rPr>
              <a:t>This challenging environment forces a strategic re-evaluation, shifting focus from optimising stable systems to building resilient networks capable of navigating constant disruption.</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64939" y="319564"/>
            <a:ext cx="8736687" cy="363260"/>
          </a:xfrm>
          <a:prstGeom prst="rect">
            <a:avLst/>
          </a:prstGeom>
          <a:noFill/>
          <a:ln/>
        </p:spPr>
        <p:txBody>
          <a:bodyPr wrap="none" lIns="0" tIns="0" rIns="0" bIns="0" rtlCol="0" anchor="t"/>
          <a:lstStyle/>
          <a:p>
            <a:pPr marL="0" indent="0" algn="l">
              <a:lnSpc>
                <a:spcPts val="2850"/>
              </a:lnSpc>
              <a:buNone/>
            </a:pPr>
            <a:r>
              <a:rPr lang="en-US" sz="2250" dirty="0">
                <a:solidFill>
                  <a:srgbClr val="201B18"/>
                </a:solidFill>
                <a:latin typeface="Platypi Medium" pitchFamily="34" charset="0"/>
                <a:ea typeface="Platypi Medium" pitchFamily="34" charset="-122"/>
                <a:cs typeface="Platypi Medium" pitchFamily="34" charset="-120"/>
              </a:rPr>
              <a:t>The Sustainability Imperative: ESG and the Circular Economy</a:t>
            </a:r>
            <a:endParaRPr lang="en-US" sz="2250" dirty="0"/>
          </a:p>
        </p:txBody>
      </p:sp>
      <p:sp>
        <p:nvSpPr>
          <p:cNvPr id="3" name="Text 1"/>
          <p:cNvSpPr/>
          <p:nvPr/>
        </p:nvSpPr>
        <p:spPr>
          <a:xfrm>
            <a:off x="464937" y="680325"/>
            <a:ext cx="14659733" cy="464939"/>
          </a:xfrm>
          <a:prstGeom prst="rect">
            <a:avLst/>
          </a:prstGeom>
          <a:noFill/>
          <a:ln/>
        </p:spPr>
        <p:txBody>
          <a:bodyPr wrap="none" lIns="0" tIns="0" rIns="0" bIns="0" rtlCol="0" anchor="t"/>
          <a:lstStyle/>
          <a:p>
            <a:pPr marL="0" indent="0" algn="l">
              <a:lnSpc>
                <a:spcPts val="1450"/>
              </a:lnSpc>
              <a:buNone/>
            </a:pPr>
            <a:r>
              <a:rPr lang="en-US" sz="1400" dirty="0">
                <a:solidFill>
                  <a:srgbClr val="504C49"/>
                </a:solidFill>
                <a:latin typeface="Source Serif Pro" pitchFamily="34" charset="0"/>
                <a:ea typeface="Source Serif Pro" pitchFamily="34" charset="-122"/>
                <a:cs typeface="Source Serif Pro" pitchFamily="34" charset="-120"/>
              </a:rPr>
              <a:t>Supply chains are increasingly judged on their environmental, social, and governance (ESG) performance. </a:t>
            </a:r>
            <a:br>
              <a:rPr lang="en-US" sz="1400" dirty="0">
                <a:solidFill>
                  <a:srgbClr val="504C49"/>
                </a:solidFill>
                <a:latin typeface="Source Serif Pro" pitchFamily="34" charset="0"/>
                <a:ea typeface="Source Serif Pro" pitchFamily="34" charset="-122"/>
                <a:cs typeface="Source Serif Pro" pitchFamily="34" charset="-120"/>
              </a:rPr>
            </a:br>
            <a:r>
              <a:rPr lang="en-US" sz="1400" dirty="0">
                <a:solidFill>
                  <a:srgbClr val="504C49"/>
                </a:solidFill>
                <a:latin typeface="Source Serif Pro" pitchFamily="34" charset="0"/>
                <a:ea typeface="Source Serif Pro" pitchFamily="34" charset="-122"/>
                <a:cs typeface="Source Serif Pro" pitchFamily="34" charset="-120"/>
              </a:rPr>
              <a:t>This sustainability imperative is a core strategic issue with profound financial, operational, and reputational implications.</a:t>
            </a:r>
            <a:endParaRPr lang="en-US" sz="1400" dirty="0"/>
          </a:p>
        </p:txBody>
      </p:sp>
      <p:sp>
        <p:nvSpPr>
          <p:cNvPr id="4" name="Text 2"/>
          <p:cNvSpPr/>
          <p:nvPr/>
        </p:nvSpPr>
        <p:spPr>
          <a:xfrm>
            <a:off x="3290411" y="1731526"/>
            <a:ext cx="1452920" cy="181570"/>
          </a:xfrm>
          <a:prstGeom prst="rect">
            <a:avLst/>
          </a:prstGeom>
          <a:noFill/>
          <a:ln/>
        </p:spPr>
        <p:txBody>
          <a:bodyPr wrap="none" lIns="0" tIns="0" rIns="0" bIns="0" rtlCol="0" anchor="t"/>
          <a:lstStyle/>
          <a:p>
            <a:pPr marL="0" indent="0" algn="r">
              <a:lnSpc>
                <a:spcPts val="1400"/>
              </a:lnSpc>
              <a:buNone/>
            </a:pPr>
            <a:r>
              <a:rPr lang="en-US" sz="1600" dirty="0">
                <a:solidFill>
                  <a:srgbClr val="504C49"/>
                </a:solidFill>
                <a:latin typeface="Platypi Medium" pitchFamily="34" charset="0"/>
                <a:ea typeface="Platypi Medium" pitchFamily="34" charset="-122"/>
                <a:cs typeface="Platypi Medium" pitchFamily="34" charset="-120"/>
              </a:rPr>
              <a:t>Regulatory Pressure</a:t>
            </a:r>
            <a:endParaRPr lang="en-US" sz="1600" dirty="0"/>
          </a:p>
        </p:txBody>
      </p:sp>
      <p:sp>
        <p:nvSpPr>
          <p:cNvPr id="5" name="Text 3"/>
          <p:cNvSpPr/>
          <p:nvPr/>
        </p:nvSpPr>
        <p:spPr>
          <a:xfrm>
            <a:off x="475595" y="1961885"/>
            <a:ext cx="4037707" cy="1394814"/>
          </a:xfrm>
          <a:prstGeom prst="rect">
            <a:avLst/>
          </a:prstGeom>
          <a:noFill/>
          <a:ln/>
        </p:spPr>
        <p:txBody>
          <a:bodyPr wrap="square" lIns="0" tIns="0" rIns="0" bIns="0" rtlCol="0" anchor="t"/>
          <a:lstStyle/>
          <a:p>
            <a:pPr marL="0" indent="0" algn="r">
              <a:lnSpc>
                <a:spcPts val="1450"/>
              </a:lnSpc>
              <a:buNone/>
            </a:pPr>
            <a:r>
              <a:rPr lang="en-US" sz="1400" dirty="0">
                <a:solidFill>
                  <a:srgbClr val="504C49"/>
                </a:solidFill>
                <a:latin typeface="Source Serif Pro" pitchFamily="34" charset="0"/>
                <a:ea typeface="Source Serif Pro" pitchFamily="34" charset="-122"/>
                <a:cs typeface="Source Serif Pro" pitchFamily="34" charset="-120"/>
              </a:rPr>
              <a:t>Governments worldwide implementing stringent regulations on supply chain impacts, including ESG reporting, deforestation-free products, and human rights due diligence.</a:t>
            </a:r>
            <a:endParaRPr lang="en-US" sz="1400" dirty="0"/>
          </a:p>
        </p:txBody>
      </p:sp>
      <p:sp>
        <p:nvSpPr>
          <p:cNvPr id="8" name="Text 4"/>
          <p:cNvSpPr/>
          <p:nvPr/>
        </p:nvSpPr>
        <p:spPr>
          <a:xfrm>
            <a:off x="9879269" y="1780315"/>
            <a:ext cx="1452920" cy="181570"/>
          </a:xfrm>
          <a:prstGeom prst="rect">
            <a:avLst/>
          </a:prstGeom>
          <a:noFill/>
          <a:ln/>
        </p:spPr>
        <p:txBody>
          <a:bodyPr wrap="none" lIns="0" tIns="0" rIns="0" bIns="0" rtlCol="0" anchor="t"/>
          <a:lstStyle/>
          <a:p>
            <a:pPr marL="0" indent="0" algn="l">
              <a:lnSpc>
                <a:spcPts val="1400"/>
              </a:lnSpc>
              <a:buNone/>
            </a:pPr>
            <a:r>
              <a:rPr lang="en-US" sz="1600" dirty="0">
                <a:solidFill>
                  <a:srgbClr val="504C49"/>
                </a:solidFill>
                <a:latin typeface="Platypi Medium" pitchFamily="34" charset="0"/>
                <a:ea typeface="Platypi Medium" pitchFamily="34" charset="-122"/>
                <a:cs typeface="Platypi Medium" pitchFamily="34" charset="-120"/>
              </a:rPr>
              <a:t>Investor Pressure</a:t>
            </a:r>
            <a:endParaRPr lang="en-US" sz="1600" dirty="0"/>
          </a:p>
        </p:txBody>
      </p:sp>
      <p:sp>
        <p:nvSpPr>
          <p:cNvPr id="9" name="Text 5"/>
          <p:cNvSpPr/>
          <p:nvPr/>
        </p:nvSpPr>
        <p:spPr>
          <a:xfrm>
            <a:off x="9879269" y="2008031"/>
            <a:ext cx="4037707" cy="929875"/>
          </a:xfrm>
          <a:prstGeom prst="rect">
            <a:avLst/>
          </a:prstGeom>
          <a:noFill/>
          <a:ln/>
        </p:spPr>
        <p:txBody>
          <a:bodyPr wrap="square" lIns="0" tIns="0" rIns="0" bIns="0" rtlCol="0" anchor="t"/>
          <a:lstStyle/>
          <a:p>
            <a:pPr marL="0" indent="0" algn="l">
              <a:lnSpc>
                <a:spcPts val="1450"/>
              </a:lnSpc>
              <a:buNone/>
            </a:pPr>
            <a:r>
              <a:rPr lang="en-US" sz="1400" dirty="0">
                <a:solidFill>
                  <a:srgbClr val="504C49"/>
                </a:solidFill>
                <a:latin typeface="Source Serif Pro" pitchFamily="34" charset="0"/>
                <a:ea typeface="Source Serif Pro" pitchFamily="34" charset="-122"/>
                <a:cs typeface="Source Serif Pro" pitchFamily="34" charset="-120"/>
              </a:rPr>
              <a:t>More than 90% of S&amp;P 500 companies publish ESG reports as investment communities embrace these criteria for evaluating performance and risk.</a:t>
            </a:r>
            <a:endParaRPr lang="en-US" sz="1400" dirty="0"/>
          </a:p>
        </p:txBody>
      </p:sp>
      <p:sp>
        <p:nvSpPr>
          <p:cNvPr id="12" name="Text 6"/>
          <p:cNvSpPr/>
          <p:nvPr/>
        </p:nvSpPr>
        <p:spPr>
          <a:xfrm>
            <a:off x="9879269" y="4127087"/>
            <a:ext cx="1452920" cy="181570"/>
          </a:xfrm>
          <a:prstGeom prst="rect">
            <a:avLst/>
          </a:prstGeom>
          <a:noFill/>
          <a:ln/>
        </p:spPr>
        <p:txBody>
          <a:bodyPr wrap="none" lIns="0" tIns="0" rIns="0" bIns="0" rtlCol="0" anchor="t"/>
          <a:lstStyle/>
          <a:p>
            <a:pPr marL="0" indent="0" algn="l">
              <a:lnSpc>
                <a:spcPts val="1400"/>
              </a:lnSpc>
              <a:buNone/>
            </a:pPr>
            <a:r>
              <a:rPr lang="en-US" sz="1600" dirty="0">
                <a:solidFill>
                  <a:srgbClr val="504C49"/>
                </a:solidFill>
                <a:latin typeface="Platypi Medium" pitchFamily="34" charset="0"/>
                <a:ea typeface="Platypi Medium" pitchFamily="34" charset="-122"/>
                <a:cs typeface="Platypi Medium" pitchFamily="34" charset="-120"/>
              </a:rPr>
              <a:t>Consumer Demand</a:t>
            </a:r>
            <a:endParaRPr lang="en-US" sz="1600" dirty="0"/>
          </a:p>
        </p:txBody>
      </p:sp>
      <p:sp>
        <p:nvSpPr>
          <p:cNvPr id="13" name="Text 7"/>
          <p:cNvSpPr/>
          <p:nvPr/>
        </p:nvSpPr>
        <p:spPr>
          <a:xfrm>
            <a:off x="9863166" y="4400211"/>
            <a:ext cx="4037707" cy="1394814"/>
          </a:xfrm>
          <a:prstGeom prst="rect">
            <a:avLst/>
          </a:prstGeom>
          <a:noFill/>
          <a:ln/>
        </p:spPr>
        <p:txBody>
          <a:bodyPr wrap="square" lIns="0" tIns="0" rIns="0" bIns="0" rtlCol="0" anchor="t"/>
          <a:lstStyle/>
          <a:p>
            <a:pPr marL="0" indent="0" algn="l">
              <a:lnSpc>
                <a:spcPts val="1450"/>
              </a:lnSpc>
              <a:buNone/>
            </a:pPr>
            <a:r>
              <a:rPr lang="en-US" sz="1400" dirty="0">
                <a:solidFill>
                  <a:srgbClr val="504C49"/>
                </a:solidFill>
                <a:latin typeface="Source Serif Pro" pitchFamily="34" charset="0"/>
                <a:ea typeface="Source Serif Pro" pitchFamily="34" charset="-122"/>
                <a:cs typeface="Source Serif Pro" pitchFamily="34" charset="-120"/>
              </a:rPr>
              <a:t>An estimated 44% of consumers are "purpose-driven," choosing brands whose values align with their own and demanding transparency in sourcing and production.</a:t>
            </a:r>
            <a:endParaRPr lang="en-US" sz="1400" dirty="0"/>
          </a:p>
        </p:txBody>
      </p:sp>
      <p:sp>
        <p:nvSpPr>
          <p:cNvPr id="16" name="Text 8"/>
          <p:cNvSpPr/>
          <p:nvPr/>
        </p:nvSpPr>
        <p:spPr>
          <a:xfrm>
            <a:off x="3290411" y="4192787"/>
            <a:ext cx="1452920" cy="181570"/>
          </a:xfrm>
          <a:prstGeom prst="rect">
            <a:avLst/>
          </a:prstGeom>
          <a:noFill/>
          <a:ln/>
        </p:spPr>
        <p:txBody>
          <a:bodyPr wrap="none" lIns="0" tIns="0" rIns="0" bIns="0" rtlCol="0" anchor="t"/>
          <a:lstStyle/>
          <a:p>
            <a:pPr marL="0" indent="0" algn="r">
              <a:lnSpc>
                <a:spcPts val="1400"/>
              </a:lnSpc>
              <a:buNone/>
            </a:pPr>
            <a:r>
              <a:rPr lang="en-US" sz="1600" dirty="0">
                <a:solidFill>
                  <a:srgbClr val="504C49"/>
                </a:solidFill>
                <a:latin typeface="Platypi Medium" pitchFamily="34" charset="0"/>
                <a:ea typeface="Platypi Medium" pitchFamily="34" charset="-122"/>
                <a:cs typeface="Platypi Medium" pitchFamily="34" charset="-120"/>
              </a:rPr>
              <a:t>Talent Acquisition</a:t>
            </a:r>
            <a:endParaRPr lang="en-US" sz="1600" dirty="0"/>
          </a:p>
        </p:txBody>
      </p:sp>
      <p:sp>
        <p:nvSpPr>
          <p:cNvPr id="17" name="Text 9"/>
          <p:cNvSpPr/>
          <p:nvPr/>
        </p:nvSpPr>
        <p:spPr>
          <a:xfrm>
            <a:off x="464937" y="4427731"/>
            <a:ext cx="4037707" cy="929875"/>
          </a:xfrm>
          <a:prstGeom prst="rect">
            <a:avLst/>
          </a:prstGeom>
          <a:noFill/>
          <a:ln/>
        </p:spPr>
        <p:txBody>
          <a:bodyPr wrap="square" lIns="0" tIns="0" rIns="0" bIns="0" rtlCol="0" anchor="t"/>
          <a:lstStyle/>
          <a:p>
            <a:pPr marL="0" indent="0" algn="r">
              <a:lnSpc>
                <a:spcPts val="1450"/>
              </a:lnSpc>
              <a:buNone/>
            </a:pPr>
            <a:r>
              <a:rPr lang="en-US" sz="1400" dirty="0">
                <a:solidFill>
                  <a:srgbClr val="504C49"/>
                </a:solidFill>
                <a:latin typeface="Source Serif Pro" pitchFamily="34" charset="0"/>
                <a:ea typeface="Source Serif Pro" pitchFamily="34" charset="-122"/>
                <a:cs typeface="Source Serif Pro" pitchFamily="34" charset="-120"/>
              </a:rPr>
              <a:t>The majority of employees, especially younger generations, prefer to work for environmentally and socially responsible companies.</a:t>
            </a:r>
            <a:endParaRPr lang="en-US" sz="1400" dirty="0"/>
          </a:p>
        </p:txBody>
      </p:sp>
      <p:sp>
        <p:nvSpPr>
          <p:cNvPr id="20" name="Text 10"/>
          <p:cNvSpPr/>
          <p:nvPr/>
        </p:nvSpPr>
        <p:spPr>
          <a:xfrm>
            <a:off x="475595" y="5336699"/>
            <a:ext cx="4048363" cy="217884"/>
          </a:xfrm>
          <a:prstGeom prst="rect">
            <a:avLst/>
          </a:prstGeom>
          <a:noFill/>
          <a:ln/>
        </p:spPr>
        <p:txBody>
          <a:bodyPr wrap="none" lIns="0" tIns="0" rIns="0" bIns="0" rtlCol="0" anchor="t"/>
          <a:lstStyle/>
          <a:p>
            <a:pPr marL="0" indent="0" algn="l">
              <a:lnSpc>
                <a:spcPts val="1700"/>
              </a:lnSpc>
              <a:buNone/>
            </a:pPr>
            <a:r>
              <a:rPr lang="en-US" sz="1350" dirty="0">
                <a:solidFill>
                  <a:srgbClr val="201B18"/>
                </a:solidFill>
                <a:latin typeface="Platypi Medium" pitchFamily="34" charset="0"/>
                <a:ea typeface="Platypi Medium" pitchFamily="34" charset="-122"/>
                <a:cs typeface="Platypi Medium" pitchFamily="34" charset="-120"/>
              </a:rPr>
              <a:t>The Three Pillars of a Sustainable Supply Chain</a:t>
            </a:r>
            <a:endParaRPr lang="en-US" sz="1350" dirty="0"/>
          </a:p>
        </p:txBody>
      </p:sp>
      <p:pic>
        <p:nvPicPr>
          <p:cNvPr id="21" name="Image 8" descr="preencoded.png"/>
          <p:cNvPicPr>
            <a:picLocks noChangeAspect="1"/>
          </p:cNvPicPr>
          <p:nvPr/>
        </p:nvPicPr>
        <p:blipFill>
          <a:blip r:embed="rId3">
            <a:extLst>
              <a:ext uri="{BEBA8EAE-BF5A-486C-A8C5-ECC9F3942E4B}">
                <a14:imgProps xmlns:a14="http://schemas.microsoft.com/office/drawing/2010/main">
                  <a14:imgLayer r:embed="rId4">
                    <a14:imgEffect>
                      <a14:artisticChalkSketch/>
                    </a14:imgEffect>
                    <a14:imgEffect>
                      <a14:brightnessContrast bright="-20000"/>
                    </a14:imgEffect>
                  </a14:imgLayer>
                </a14:imgProps>
              </a:ext>
            </a:extLst>
          </a:blip>
          <a:stretch>
            <a:fillRect/>
          </a:stretch>
        </p:blipFill>
        <p:spPr>
          <a:xfrm>
            <a:off x="464937" y="5653559"/>
            <a:ext cx="4566761" cy="464939"/>
          </a:xfrm>
          <a:prstGeom prst="rect">
            <a:avLst/>
          </a:prstGeom>
        </p:spPr>
      </p:pic>
      <p:sp>
        <p:nvSpPr>
          <p:cNvPr id="22" name="Text 11"/>
          <p:cNvSpPr/>
          <p:nvPr/>
        </p:nvSpPr>
        <p:spPr>
          <a:xfrm>
            <a:off x="581143" y="6187080"/>
            <a:ext cx="1713905" cy="181570"/>
          </a:xfrm>
          <a:prstGeom prst="rect">
            <a:avLst/>
          </a:prstGeom>
          <a:noFill/>
          <a:ln/>
        </p:spPr>
        <p:txBody>
          <a:bodyPr wrap="none" lIns="0" tIns="0" rIns="0" bIns="0" rtlCol="0" anchor="t"/>
          <a:lstStyle/>
          <a:p>
            <a:pPr marL="0" indent="0" algn="l">
              <a:lnSpc>
                <a:spcPts val="1400"/>
              </a:lnSpc>
              <a:buNone/>
            </a:pPr>
            <a:r>
              <a:rPr lang="en-US" sz="1600" dirty="0">
                <a:solidFill>
                  <a:srgbClr val="504C49"/>
                </a:solidFill>
                <a:latin typeface="Platypi Medium" pitchFamily="34" charset="0"/>
                <a:ea typeface="Platypi Medium" pitchFamily="34" charset="-122"/>
                <a:cs typeface="Platypi Medium" pitchFamily="34" charset="-120"/>
              </a:rPr>
              <a:t>The Green Supply Chain</a:t>
            </a:r>
            <a:endParaRPr lang="en-US" sz="1600" dirty="0"/>
          </a:p>
        </p:txBody>
      </p:sp>
      <p:sp>
        <p:nvSpPr>
          <p:cNvPr id="23" name="Text 12"/>
          <p:cNvSpPr/>
          <p:nvPr/>
        </p:nvSpPr>
        <p:spPr>
          <a:xfrm>
            <a:off x="581144" y="6481291"/>
            <a:ext cx="4090518" cy="1394814"/>
          </a:xfrm>
          <a:prstGeom prst="rect">
            <a:avLst/>
          </a:prstGeom>
          <a:noFill/>
          <a:ln/>
        </p:spPr>
        <p:txBody>
          <a:bodyPr wrap="square" lIns="0" tIns="0" rIns="0" bIns="0" rtlCol="0" anchor="t"/>
          <a:lstStyle/>
          <a:p>
            <a:pPr marL="0" indent="0" algn="l">
              <a:lnSpc>
                <a:spcPts val="1450"/>
              </a:lnSpc>
              <a:buNone/>
            </a:pPr>
            <a:r>
              <a:rPr lang="en-US" sz="1400" dirty="0">
                <a:solidFill>
                  <a:srgbClr val="504C49"/>
                </a:solidFill>
                <a:latin typeface="Source Serif Pro" pitchFamily="34" charset="0"/>
                <a:ea typeface="Source Serif Pro" pitchFamily="34" charset="-122"/>
                <a:cs typeface="Source Serif Pro" pitchFamily="34" charset="-120"/>
              </a:rPr>
              <a:t>Minimising environmental impact through reduced emissions, resource conservation, and eco-friendly transportation. Must address the rebound effect where efficiency gains lead to increased consumption.</a:t>
            </a:r>
            <a:endParaRPr lang="en-US" sz="1400" dirty="0"/>
          </a:p>
        </p:txBody>
      </p:sp>
      <p:pic>
        <p:nvPicPr>
          <p:cNvPr id="24" name="Image 9" descr="preencoded.png"/>
          <p:cNvPicPr>
            <a:picLocks noChangeAspect="1"/>
          </p:cNvPicPr>
          <p:nvPr/>
        </p:nvPicPr>
        <p:blipFill>
          <a:blip r:embed="rId5">
            <a:extLst>
              <a:ext uri="{BEBA8EAE-BF5A-486C-A8C5-ECC9F3942E4B}">
                <a14:imgProps xmlns:a14="http://schemas.microsoft.com/office/drawing/2010/main">
                  <a14:imgLayer r:embed="rId6">
                    <a14:imgEffect>
                      <a14:artisticChalkSketch/>
                    </a14:imgEffect>
                  </a14:imgLayer>
                </a14:imgProps>
              </a:ext>
            </a:extLst>
          </a:blip>
          <a:stretch>
            <a:fillRect/>
          </a:stretch>
        </p:blipFill>
        <p:spPr>
          <a:xfrm>
            <a:off x="5031698" y="5653559"/>
            <a:ext cx="4566880" cy="464939"/>
          </a:xfrm>
          <a:prstGeom prst="rect">
            <a:avLst/>
          </a:prstGeom>
          <a:ln>
            <a:solidFill>
              <a:schemeClr val="accent4">
                <a:lumMod val="60000"/>
                <a:lumOff val="40000"/>
              </a:schemeClr>
            </a:solidFill>
          </a:ln>
        </p:spPr>
      </p:pic>
      <p:sp>
        <p:nvSpPr>
          <p:cNvPr id="25" name="Text 13"/>
          <p:cNvSpPr/>
          <p:nvPr/>
        </p:nvSpPr>
        <p:spPr>
          <a:xfrm>
            <a:off x="5103078" y="6197359"/>
            <a:ext cx="1851779" cy="181570"/>
          </a:xfrm>
          <a:prstGeom prst="rect">
            <a:avLst/>
          </a:prstGeom>
          <a:noFill/>
          <a:ln/>
        </p:spPr>
        <p:txBody>
          <a:bodyPr wrap="none" lIns="0" tIns="0" rIns="0" bIns="0" rtlCol="0" anchor="t"/>
          <a:lstStyle/>
          <a:p>
            <a:pPr marL="0" indent="0" algn="l">
              <a:lnSpc>
                <a:spcPts val="1400"/>
              </a:lnSpc>
              <a:buNone/>
            </a:pPr>
            <a:r>
              <a:rPr lang="en-US" sz="1600" dirty="0">
                <a:solidFill>
                  <a:srgbClr val="504C49"/>
                </a:solidFill>
                <a:latin typeface="Platypi Medium" pitchFamily="34" charset="0"/>
                <a:ea typeface="Platypi Medium" pitchFamily="34" charset="-122"/>
                <a:cs typeface="Platypi Medium" pitchFamily="34" charset="-120"/>
              </a:rPr>
              <a:t>The Circular Supply Chain</a:t>
            </a:r>
            <a:endParaRPr lang="en-US" sz="1600" dirty="0"/>
          </a:p>
        </p:txBody>
      </p:sp>
      <p:sp>
        <p:nvSpPr>
          <p:cNvPr id="26" name="Text 14"/>
          <p:cNvSpPr/>
          <p:nvPr/>
        </p:nvSpPr>
        <p:spPr>
          <a:xfrm>
            <a:off x="5147904" y="6481291"/>
            <a:ext cx="4090630" cy="1394814"/>
          </a:xfrm>
          <a:prstGeom prst="rect">
            <a:avLst/>
          </a:prstGeom>
          <a:noFill/>
          <a:ln/>
        </p:spPr>
        <p:txBody>
          <a:bodyPr wrap="square" lIns="0" tIns="0" rIns="0" bIns="0" rtlCol="0" anchor="t"/>
          <a:lstStyle/>
          <a:p>
            <a:pPr marL="0" indent="0" algn="l">
              <a:lnSpc>
                <a:spcPts val="1450"/>
              </a:lnSpc>
              <a:buNone/>
            </a:pPr>
            <a:r>
              <a:rPr lang="en-US" sz="1400" dirty="0">
                <a:solidFill>
                  <a:srgbClr val="504C49"/>
                </a:solidFill>
                <a:latin typeface="Source Serif Pro" pitchFamily="34" charset="0"/>
                <a:ea typeface="Source Serif Pro" pitchFamily="34" charset="-122"/>
                <a:cs typeface="Source Serif Pro" pitchFamily="34" charset="-120"/>
              </a:rPr>
              <a:t>Shifting from "take-make-dispose" to closed-loop systems through design for circularity, reuse programmes, recycling, and technology enablement like IoT for monitoring product condition.</a:t>
            </a:r>
            <a:endParaRPr lang="en-US" sz="1400" dirty="0"/>
          </a:p>
        </p:txBody>
      </p:sp>
      <p:pic>
        <p:nvPicPr>
          <p:cNvPr id="27" name="Image 10" descr="preencoded.png"/>
          <p:cNvPicPr>
            <a:picLocks noChangeAspect="1"/>
          </p:cNvPicPr>
          <p:nvPr/>
        </p:nvPicPr>
        <p:blipFill>
          <a:blip r:embed="rId7">
            <a:extLst>
              <a:ext uri="{BEBA8EAE-BF5A-486C-A8C5-ECC9F3942E4B}">
                <a14:imgProps xmlns:a14="http://schemas.microsoft.com/office/drawing/2010/main">
                  <a14:imgLayer r:embed="rId8">
                    <a14:imgEffect>
                      <a14:artisticChalkSketch/>
                    </a14:imgEffect>
                  </a14:imgLayer>
                </a14:imgProps>
              </a:ext>
            </a:extLst>
          </a:blip>
          <a:stretch>
            <a:fillRect/>
          </a:stretch>
        </p:blipFill>
        <p:spPr>
          <a:xfrm>
            <a:off x="9598579" y="5653559"/>
            <a:ext cx="4566880" cy="464939"/>
          </a:xfrm>
          <a:prstGeom prst="rect">
            <a:avLst/>
          </a:prstGeom>
        </p:spPr>
      </p:pic>
      <p:sp>
        <p:nvSpPr>
          <p:cNvPr id="28" name="Text 15"/>
          <p:cNvSpPr/>
          <p:nvPr/>
        </p:nvSpPr>
        <p:spPr>
          <a:xfrm>
            <a:off x="9714785" y="6187080"/>
            <a:ext cx="1781889" cy="181570"/>
          </a:xfrm>
          <a:prstGeom prst="rect">
            <a:avLst/>
          </a:prstGeom>
          <a:noFill/>
          <a:ln/>
        </p:spPr>
        <p:txBody>
          <a:bodyPr wrap="none" lIns="0" tIns="0" rIns="0" bIns="0" rtlCol="0" anchor="t"/>
          <a:lstStyle/>
          <a:p>
            <a:pPr marL="0" indent="0" algn="l">
              <a:lnSpc>
                <a:spcPts val="1400"/>
              </a:lnSpc>
              <a:buNone/>
            </a:pPr>
            <a:r>
              <a:rPr lang="en-US" sz="1600" dirty="0">
                <a:solidFill>
                  <a:srgbClr val="504C49"/>
                </a:solidFill>
                <a:latin typeface="Platypi Medium" pitchFamily="34" charset="0"/>
                <a:ea typeface="Platypi Medium" pitchFamily="34" charset="-122"/>
                <a:cs typeface="Platypi Medium" pitchFamily="34" charset="-120"/>
              </a:rPr>
              <a:t>The Ethical Supply Chain</a:t>
            </a:r>
            <a:endParaRPr lang="en-US" sz="1600" dirty="0"/>
          </a:p>
        </p:txBody>
      </p:sp>
      <p:sp>
        <p:nvSpPr>
          <p:cNvPr id="29" name="Text 16"/>
          <p:cNvSpPr/>
          <p:nvPr/>
        </p:nvSpPr>
        <p:spPr>
          <a:xfrm>
            <a:off x="9714785" y="6481291"/>
            <a:ext cx="4090630" cy="1394814"/>
          </a:xfrm>
          <a:prstGeom prst="rect">
            <a:avLst/>
          </a:prstGeom>
          <a:noFill/>
          <a:ln/>
        </p:spPr>
        <p:txBody>
          <a:bodyPr wrap="square" lIns="0" tIns="0" rIns="0" bIns="0" rtlCol="0" anchor="t"/>
          <a:lstStyle/>
          <a:p>
            <a:pPr marL="0" indent="0" algn="l">
              <a:lnSpc>
                <a:spcPts val="1450"/>
              </a:lnSpc>
              <a:buNone/>
            </a:pPr>
            <a:r>
              <a:rPr lang="en-US" sz="1400" dirty="0">
                <a:solidFill>
                  <a:srgbClr val="504C49"/>
                </a:solidFill>
                <a:latin typeface="Source Serif Pro" pitchFamily="34" charset="0"/>
                <a:ea typeface="Source Serif Pro" pitchFamily="34" charset="-122"/>
                <a:cs typeface="Source Serif Pro" pitchFamily="34" charset="-120"/>
              </a:rPr>
              <a:t>Ensuring fair labour practices, human rights, worker safety, and positive community impact. Addressing the "dark side of lean" where cost pressures incentivise cutting corners on welfare.</a:t>
            </a:r>
            <a:endParaRPr lang="en-US" sz="1400" dirty="0"/>
          </a:p>
        </p:txBody>
      </p:sp>
      <p:sp>
        <p:nvSpPr>
          <p:cNvPr id="30" name="Text 17"/>
          <p:cNvSpPr/>
          <p:nvPr/>
        </p:nvSpPr>
        <p:spPr>
          <a:xfrm>
            <a:off x="581143" y="7628215"/>
            <a:ext cx="12929785" cy="929875"/>
          </a:xfrm>
          <a:prstGeom prst="rect">
            <a:avLst/>
          </a:prstGeom>
          <a:noFill/>
          <a:ln/>
        </p:spPr>
        <p:txBody>
          <a:bodyPr wrap="square" lIns="0" tIns="0" rIns="0" bIns="0" rtlCol="0" anchor="t"/>
          <a:lstStyle/>
          <a:p>
            <a:pPr marL="0" indent="0" algn="l">
              <a:lnSpc>
                <a:spcPts val="1450"/>
              </a:lnSpc>
              <a:buNone/>
            </a:pPr>
            <a:r>
              <a:rPr lang="en-US" sz="1400" dirty="0">
                <a:solidFill>
                  <a:srgbClr val="504C49"/>
                </a:solidFill>
                <a:latin typeface="Source Serif Pro" pitchFamily="34" charset="0"/>
                <a:ea typeface="Source Serif Pro" pitchFamily="34" charset="-122"/>
                <a:cs typeface="Source Serif Pro" pitchFamily="34" charset="-120"/>
              </a:rPr>
              <a:t>The sustainability imperative is deeply intertwined with core strategic objectives. Poor ESG performance is a direct source of financial, operational, and reputational risk. A sustainable and ethical supply chain enjoys stronger brand reputation, attracts superior talent, and is more favourably viewed by investors and consumers.</a:t>
            </a:r>
            <a:endParaRPr lang="en-US" sz="1400" dirty="0"/>
          </a:p>
        </p:txBody>
      </p:sp>
      <p:pic>
        <p:nvPicPr>
          <p:cNvPr id="37" name="Picture 36">
            <a:extLst>
              <a:ext uri="{FF2B5EF4-FFF2-40B4-BE49-F238E27FC236}">
                <a16:creationId xmlns:a16="http://schemas.microsoft.com/office/drawing/2014/main" id="{233ECFFD-E8EC-FA75-2B9F-03790B098C25}"/>
              </a:ext>
            </a:extLst>
          </p:cNvPr>
          <p:cNvPicPr>
            <a:picLocks noChangeAspect="1"/>
          </p:cNvPicPr>
          <p:nvPr/>
        </p:nvPicPr>
        <p:blipFill>
          <a:blip r:embed="rId9"/>
          <a:stretch>
            <a:fillRect/>
          </a:stretch>
        </p:blipFill>
        <p:spPr>
          <a:xfrm>
            <a:off x="5031698" y="1434988"/>
            <a:ext cx="3786743" cy="396287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18636" y="356473"/>
            <a:ext cx="6530102" cy="405170"/>
          </a:xfrm>
          <a:prstGeom prst="rect">
            <a:avLst/>
          </a:prstGeom>
          <a:noFill/>
          <a:ln/>
        </p:spPr>
        <p:txBody>
          <a:bodyPr wrap="none" lIns="0" tIns="0" rIns="0" bIns="0" rtlCol="0" anchor="t"/>
          <a:lstStyle/>
          <a:p>
            <a:pPr marL="0" indent="0" algn="l">
              <a:lnSpc>
                <a:spcPts val="3150"/>
              </a:lnSpc>
              <a:buNone/>
            </a:pPr>
            <a:r>
              <a:rPr lang="en-US" sz="2550" dirty="0">
                <a:solidFill>
                  <a:srgbClr val="201B18"/>
                </a:solidFill>
                <a:latin typeface="Platypi Medium" pitchFamily="34" charset="0"/>
                <a:ea typeface="Platypi Medium" pitchFamily="34" charset="-122"/>
                <a:cs typeface="Platypi Medium" pitchFamily="34" charset="-120"/>
              </a:rPr>
              <a:t>Part III: Levers of Competitive Advantage</a:t>
            </a:r>
            <a:endParaRPr lang="en-US" sz="2550" dirty="0"/>
          </a:p>
        </p:txBody>
      </p:sp>
      <p:sp>
        <p:nvSpPr>
          <p:cNvPr id="3" name="Text 1"/>
          <p:cNvSpPr/>
          <p:nvPr/>
        </p:nvSpPr>
        <p:spPr>
          <a:xfrm>
            <a:off x="518636" y="956072"/>
            <a:ext cx="5503307" cy="324088"/>
          </a:xfrm>
          <a:prstGeom prst="rect">
            <a:avLst/>
          </a:prstGeom>
          <a:noFill/>
          <a:ln/>
        </p:spPr>
        <p:txBody>
          <a:bodyPr wrap="none" lIns="0" tIns="0" rIns="0" bIns="0" rtlCol="0" anchor="t"/>
          <a:lstStyle/>
          <a:p>
            <a:pPr marL="0" indent="0" algn="l">
              <a:lnSpc>
                <a:spcPts val="2550"/>
              </a:lnSpc>
              <a:buNone/>
            </a:pPr>
            <a:r>
              <a:rPr lang="en-US" sz="2000" dirty="0">
                <a:solidFill>
                  <a:srgbClr val="201B18"/>
                </a:solidFill>
                <a:latin typeface="Platypi Medium" pitchFamily="34" charset="0"/>
                <a:ea typeface="Platypi Medium" pitchFamily="34" charset="-122"/>
                <a:cs typeface="Platypi Medium" pitchFamily="34" charset="-120"/>
              </a:rPr>
              <a:t>Strategic Frameworks for a Complex World</a:t>
            </a:r>
            <a:endParaRPr lang="en-US" sz="2000" dirty="0"/>
          </a:p>
        </p:txBody>
      </p:sp>
      <p:sp>
        <p:nvSpPr>
          <p:cNvPr id="4" name="Text 2"/>
          <p:cNvSpPr/>
          <p:nvPr/>
        </p:nvSpPr>
        <p:spPr>
          <a:xfrm>
            <a:off x="518636" y="1474589"/>
            <a:ext cx="13593128" cy="207407"/>
          </a:xfrm>
          <a:prstGeom prst="rect">
            <a:avLst/>
          </a:prstGeom>
          <a:noFill/>
          <a:ln/>
        </p:spPr>
        <p:txBody>
          <a:bodyPr wrap="none" lIns="0" tIns="0" rIns="0" bIns="0" rtlCol="0" anchor="t"/>
          <a:lstStyle/>
          <a:p>
            <a:pPr marL="0" indent="0" algn="l">
              <a:lnSpc>
                <a:spcPts val="1600"/>
              </a:lnSpc>
              <a:buNone/>
            </a:pPr>
            <a:r>
              <a:rPr lang="en-US" sz="1400" dirty="0">
                <a:solidFill>
                  <a:srgbClr val="504C49"/>
                </a:solidFill>
                <a:latin typeface="Source Serif Pro" pitchFamily="34" charset="0"/>
                <a:ea typeface="Source Serif Pro" pitchFamily="34" charset="-122"/>
                <a:cs typeface="Source Serif Pro" pitchFamily="34" charset="-120"/>
              </a:rPr>
              <a:t>Effective supply chain management in a volatile environment requires structured, analytical approaches to decision-making. </a:t>
            </a:r>
            <a:br>
              <a:rPr lang="en-US" sz="1400" dirty="0">
                <a:solidFill>
                  <a:srgbClr val="504C49"/>
                </a:solidFill>
                <a:latin typeface="Source Serif Pro" pitchFamily="34" charset="0"/>
                <a:ea typeface="Source Serif Pro" pitchFamily="34" charset="-122"/>
                <a:cs typeface="Source Serif Pro" pitchFamily="34" charset="-120"/>
              </a:rPr>
            </a:br>
            <a:r>
              <a:rPr lang="en-US" sz="1400" dirty="0">
                <a:solidFill>
                  <a:srgbClr val="504C49"/>
                </a:solidFill>
                <a:latin typeface="Source Serif Pro" pitchFamily="34" charset="0"/>
                <a:ea typeface="Source Serif Pro" pitchFamily="34" charset="-122"/>
                <a:cs typeface="Source Serif Pro" pitchFamily="34" charset="-120"/>
              </a:rPr>
              <a:t>Several key frameworks have become indispensable tools for strategists.</a:t>
            </a:r>
            <a:endParaRPr lang="en-US" sz="1400" dirty="0"/>
          </a:p>
        </p:txBody>
      </p:sp>
      <p:pic>
        <p:nvPicPr>
          <p:cNvPr id="5" name="Image 0" descr="preencoded.png"/>
          <p:cNvPicPr>
            <a:picLocks noChangeAspect="1"/>
          </p:cNvPicPr>
          <p:nvPr/>
        </p:nvPicPr>
        <p:blipFill>
          <a:blip r:embed="rId3"/>
          <a:stretch>
            <a:fillRect/>
          </a:stretch>
        </p:blipFill>
        <p:spPr>
          <a:xfrm>
            <a:off x="493871" y="1929766"/>
            <a:ext cx="324088" cy="324088"/>
          </a:xfrm>
          <a:prstGeom prst="rect">
            <a:avLst/>
          </a:prstGeom>
        </p:spPr>
      </p:pic>
      <p:sp>
        <p:nvSpPr>
          <p:cNvPr id="6" name="Text 3"/>
          <p:cNvSpPr/>
          <p:nvPr/>
        </p:nvSpPr>
        <p:spPr>
          <a:xfrm>
            <a:off x="518636" y="2313980"/>
            <a:ext cx="1620798" cy="202525"/>
          </a:xfrm>
          <a:prstGeom prst="rect">
            <a:avLst/>
          </a:prstGeom>
          <a:noFill/>
          <a:ln/>
        </p:spPr>
        <p:txBody>
          <a:bodyPr wrap="none" lIns="0" tIns="0" rIns="0" bIns="0" rtlCol="0" anchor="t"/>
          <a:lstStyle/>
          <a:p>
            <a:pPr marL="0" indent="0" algn="l">
              <a:lnSpc>
                <a:spcPts val="1550"/>
              </a:lnSpc>
              <a:buNone/>
            </a:pPr>
            <a:r>
              <a:rPr lang="en-US" sz="1400" dirty="0">
                <a:solidFill>
                  <a:srgbClr val="504C49"/>
                </a:solidFill>
                <a:latin typeface="Platypi Medium" pitchFamily="34" charset="0"/>
                <a:ea typeface="Platypi Medium" pitchFamily="34" charset="-122"/>
                <a:cs typeface="Platypi Medium" pitchFamily="34" charset="-120"/>
              </a:rPr>
              <a:t>SCOR Framework</a:t>
            </a:r>
            <a:endParaRPr lang="en-US" sz="1400" dirty="0"/>
          </a:p>
        </p:txBody>
      </p:sp>
      <p:sp>
        <p:nvSpPr>
          <p:cNvPr id="7" name="Text 4"/>
          <p:cNvSpPr/>
          <p:nvPr/>
        </p:nvSpPr>
        <p:spPr>
          <a:xfrm>
            <a:off x="518636" y="2594253"/>
            <a:ext cx="4422934" cy="829628"/>
          </a:xfrm>
          <a:prstGeom prst="rect">
            <a:avLst/>
          </a:prstGeom>
          <a:noFill/>
          <a:ln/>
        </p:spPr>
        <p:txBody>
          <a:bodyPr wrap="square" lIns="0" tIns="0" rIns="0" bIns="0" rtlCol="0" anchor="t"/>
          <a:lstStyle/>
          <a:p>
            <a:pPr marL="0" indent="0" algn="l">
              <a:lnSpc>
                <a:spcPts val="1600"/>
              </a:lnSpc>
              <a:buNone/>
            </a:pPr>
            <a:r>
              <a:rPr lang="en-US" sz="1400" dirty="0">
                <a:solidFill>
                  <a:srgbClr val="504C49"/>
                </a:solidFill>
                <a:latin typeface="Source Serif Pro" pitchFamily="34" charset="0"/>
                <a:ea typeface="Source Serif Pro" pitchFamily="34" charset="-122"/>
                <a:cs typeface="Source Serif Pro" pitchFamily="34" charset="-120"/>
              </a:rPr>
              <a:t>Translates strategic goals into measurable operational metrics across five attributes: Reliability, Responsiveness, Agility, Costs, and Asset Management. Enables data-driven assessment and benchmarking against industry standards.</a:t>
            </a:r>
            <a:endParaRPr lang="en-US" sz="1400" dirty="0"/>
          </a:p>
        </p:txBody>
      </p:sp>
      <p:pic>
        <p:nvPicPr>
          <p:cNvPr id="8" name="Image 1" descr="preencoded.png"/>
          <p:cNvPicPr>
            <a:picLocks noChangeAspect="1"/>
          </p:cNvPicPr>
          <p:nvPr/>
        </p:nvPicPr>
        <p:blipFill>
          <a:blip r:embed="rId4"/>
          <a:stretch>
            <a:fillRect/>
          </a:stretch>
        </p:blipFill>
        <p:spPr>
          <a:xfrm>
            <a:off x="5091291" y="1959742"/>
            <a:ext cx="324088" cy="324088"/>
          </a:xfrm>
          <a:prstGeom prst="rect">
            <a:avLst/>
          </a:prstGeom>
        </p:spPr>
      </p:pic>
      <p:sp>
        <p:nvSpPr>
          <p:cNvPr id="9" name="Text 5"/>
          <p:cNvSpPr/>
          <p:nvPr/>
        </p:nvSpPr>
        <p:spPr>
          <a:xfrm>
            <a:off x="5103614" y="2313980"/>
            <a:ext cx="1942981" cy="202525"/>
          </a:xfrm>
          <a:prstGeom prst="rect">
            <a:avLst/>
          </a:prstGeom>
          <a:noFill/>
          <a:ln/>
        </p:spPr>
        <p:txBody>
          <a:bodyPr wrap="none" lIns="0" tIns="0" rIns="0" bIns="0" rtlCol="0" anchor="t"/>
          <a:lstStyle/>
          <a:p>
            <a:pPr marL="0" indent="0" algn="l">
              <a:lnSpc>
                <a:spcPts val="1550"/>
              </a:lnSpc>
              <a:buNone/>
            </a:pPr>
            <a:r>
              <a:rPr lang="en-US" sz="1400" dirty="0">
                <a:solidFill>
                  <a:srgbClr val="504C49"/>
                </a:solidFill>
                <a:latin typeface="Platypi Medium" pitchFamily="34" charset="0"/>
                <a:ea typeface="Platypi Medium" pitchFamily="34" charset="-122"/>
                <a:cs typeface="Platypi Medium" pitchFamily="34" charset="-120"/>
              </a:rPr>
              <a:t>Total Cost of Ownership</a:t>
            </a:r>
            <a:endParaRPr lang="en-US" sz="1400" dirty="0"/>
          </a:p>
        </p:txBody>
      </p:sp>
      <p:sp>
        <p:nvSpPr>
          <p:cNvPr id="10" name="Text 6"/>
          <p:cNvSpPr/>
          <p:nvPr/>
        </p:nvSpPr>
        <p:spPr>
          <a:xfrm>
            <a:off x="5103614" y="2594253"/>
            <a:ext cx="4423053" cy="829628"/>
          </a:xfrm>
          <a:prstGeom prst="rect">
            <a:avLst/>
          </a:prstGeom>
          <a:noFill/>
          <a:ln/>
        </p:spPr>
        <p:txBody>
          <a:bodyPr wrap="square" lIns="0" tIns="0" rIns="0" bIns="0" rtlCol="0" anchor="t"/>
          <a:lstStyle/>
          <a:p>
            <a:pPr marL="0" indent="0" algn="l">
              <a:lnSpc>
                <a:spcPts val="1600"/>
              </a:lnSpc>
              <a:buNone/>
            </a:pPr>
            <a:r>
              <a:rPr lang="en-US" sz="1400" dirty="0">
                <a:solidFill>
                  <a:srgbClr val="504C49"/>
                </a:solidFill>
                <a:latin typeface="Source Serif Pro" pitchFamily="34" charset="0"/>
                <a:ea typeface="Source Serif Pro" pitchFamily="34" charset="-122"/>
                <a:cs typeface="Source Serif Pro" pitchFamily="34" charset="-120"/>
              </a:rPr>
              <a:t>Shifts focus from purchase price to total lifecycle costs, including acquisition, operation, and end-of-life expenses. Advanced models incorporate risk-adjusted costs for factors like geopolitical instability and IP theft exposure.</a:t>
            </a:r>
            <a:endParaRPr lang="en-US" sz="1400" dirty="0"/>
          </a:p>
        </p:txBody>
      </p:sp>
      <p:pic>
        <p:nvPicPr>
          <p:cNvPr id="11" name="Image 2" descr="preencoded.png"/>
          <p:cNvPicPr>
            <a:picLocks noChangeAspect="1"/>
          </p:cNvPicPr>
          <p:nvPr/>
        </p:nvPicPr>
        <p:blipFill>
          <a:blip r:embed="rId5"/>
          <a:stretch>
            <a:fillRect/>
          </a:stretch>
        </p:blipFill>
        <p:spPr>
          <a:xfrm>
            <a:off x="9688711" y="1827848"/>
            <a:ext cx="324088" cy="324088"/>
          </a:xfrm>
          <a:prstGeom prst="rect">
            <a:avLst/>
          </a:prstGeom>
        </p:spPr>
      </p:pic>
      <p:sp>
        <p:nvSpPr>
          <p:cNvPr id="12" name="Text 7"/>
          <p:cNvSpPr/>
          <p:nvPr/>
        </p:nvSpPr>
        <p:spPr>
          <a:xfrm>
            <a:off x="9688711" y="2313980"/>
            <a:ext cx="1620798" cy="202525"/>
          </a:xfrm>
          <a:prstGeom prst="rect">
            <a:avLst/>
          </a:prstGeom>
          <a:noFill/>
          <a:ln/>
        </p:spPr>
        <p:txBody>
          <a:bodyPr wrap="none" lIns="0" tIns="0" rIns="0" bIns="0" rtlCol="0" anchor="t"/>
          <a:lstStyle/>
          <a:p>
            <a:pPr marL="0" indent="0" algn="l">
              <a:lnSpc>
                <a:spcPts val="1550"/>
              </a:lnSpc>
              <a:buNone/>
            </a:pPr>
            <a:r>
              <a:rPr lang="en-US" sz="1400" dirty="0">
                <a:solidFill>
                  <a:srgbClr val="504C49"/>
                </a:solidFill>
                <a:latin typeface="Platypi Medium" pitchFamily="34" charset="0"/>
                <a:ea typeface="Platypi Medium" pitchFamily="34" charset="-122"/>
                <a:cs typeface="Platypi Medium" pitchFamily="34" charset="-120"/>
              </a:rPr>
              <a:t>Network Design</a:t>
            </a:r>
            <a:endParaRPr lang="en-US" sz="1400" dirty="0"/>
          </a:p>
        </p:txBody>
      </p:sp>
      <p:sp>
        <p:nvSpPr>
          <p:cNvPr id="13" name="Text 8"/>
          <p:cNvSpPr/>
          <p:nvPr/>
        </p:nvSpPr>
        <p:spPr>
          <a:xfrm>
            <a:off x="9688711" y="2594253"/>
            <a:ext cx="4423053" cy="829628"/>
          </a:xfrm>
          <a:prstGeom prst="rect">
            <a:avLst/>
          </a:prstGeom>
          <a:noFill/>
          <a:ln/>
        </p:spPr>
        <p:txBody>
          <a:bodyPr wrap="square" lIns="0" tIns="0" rIns="0" bIns="0" rtlCol="0" anchor="t"/>
          <a:lstStyle/>
          <a:p>
            <a:pPr marL="0" indent="0" algn="l">
              <a:lnSpc>
                <a:spcPts val="1600"/>
              </a:lnSpc>
              <a:buNone/>
            </a:pPr>
            <a:r>
              <a:rPr lang="en-US" sz="1400" dirty="0">
                <a:solidFill>
                  <a:srgbClr val="504C49"/>
                </a:solidFill>
                <a:latin typeface="Source Serif Pro" pitchFamily="34" charset="0"/>
                <a:ea typeface="Source Serif Pro" pitchFamily="34" charset="-122"/>
                <a:cs typeface="Source Serif Pro" pitchFamily="34" charset="-120"/>
              </a:rPr>
              <a:t>Focuses on creating agile, resilient supply chains through decentralisation. The "China Plus One" strategy exemplifies this approach, diversifying manufacturing and sourcing beyond China to countries like Vietnam, India, and Mexico.</a:t>
            </a:r>
            <a:endParaRPr lang="en-US" sz="1400" dirty="0"/>
          </a:p>
        </p:txBody>
      </p:sp>
      <p:sp>
        <p:nvSpPr>
          <p:cNvPr id="14" name="Text 9"/>
          <p:cNvSpPr/>
          <p:nvPr/>
        </p:nvSpPr>
        <p:spPr>
          <a:xfrm>
            <a:off x="518636" y="3699391"/>
            <a:ext cx="3583900" cy="243126"/>
          </a:xfrm>
          <a:prstGeom prst="rect">
            <a:avLst/>
          </a:prstGeom>
          <a:noFill/>
          <a:ln/>
        </p:spPr>
        <p:txBody>
          <a:bodyPr wrap="none" lIns="0" tIns="0" rIns="0" bIns="0" rtlCol="0" anchor="t"/>
          <a:lstStyle/>
          <a:p>
            <a:pPr marL="0" indent="0" algn="l">
              <a:lnSpc>
                <a:spcPts val="1900"/>
              </a:lnSpc>
              <a:buNone/>
            </a:pPr>
            <a:r>
              <a:rPr lang="en-US" sz="1500" dirty="0">
                <a:solidFill>
                  <a:srgbClr val="201B18"/>
                </a:solidFill>
                <a:latin typeface="Platypi Medium" pitchFamily="34" charset="0"/>
                <a:ea typeface="Platypi Medium" pitchFamily="34" charset="-122"/>
                <a:cs typeface="Platypi Medium" pitchFamily="34" charset="-120"/>
              </a:rPr>
              <a:t>Agility vs Resilience: Key Distinctions</a:t>
            </a:r>
            <a:endParaRPr lang="en-US" sz="1500" dirty="0"/>
          </a:p>
        </p:txBody>
      </p:sp>
      <p:sp>
        <p:nvSpPr>
          <p:cNvPr id="15" name="Shape 10"/>
          <p:cNvSpPr/>
          <p:nvPr/>
        </p:nvSpPr>
        <p:spPr>
          <a:xfrm>
            <a:off x="518636" y="4088368"/>
            <a:ext cx="6638449" cy="1601153"/>
          </a:xfrm>
          <a:prstGeom prst="roundRect">
            <a:avLst>
              <a:gd name="adj" fmla="val 1215"/>
            </a:avLst>
          </a:prstGeom>
          <a:noFill/>
          <a:ln w="7620">
            <a:solidFill>
              <a:srgbClr val="000000">
                <a:alpha val="8000"/>
              </a:srgbClr>
            </a:solidFill>
            <a:prstDash val="solid"/>
          </a:ln>
        </p:spPr>
        <p:txBody>
          <a:bodyPr/>
          <a:lstStyle/>
          <a:p>
            <a:endParaRPr lang="en-IN"/>
          </a:p>
        </p:txBody>
      </p:sp>
      <p:sp>
        <p:nvSpPr>
          <p:cNvPr id="16" name="Shape 11"/>
          <p:cNvSpPr/>
          <p:nvPr/>
        </p:nvSpPr>
        <p:spPr>
          <a:xfrm>
            <a:off x="526256" y="4095988"/>
            <a:ext cx="6623209" cy="792956"/>
          </a:xfrm>
          <a:prstGeom prst="rect">
            <a:avLst/>
          </a:prstGeom>
          <a:solidFill>
            <a:srgbClr val="FFFFFF">
              <a:alpha val="4000"/>
            </a:srgbClr>
          </a:solidFill>
          <a:ln/>
        </p:spPr>
        <p:txBody>
          <a:bodyPr/>
          <a:lstStyle/>
          <a:p>
            <a:endParaRPr lang="en-IN" sz="1400"/>
          </a:p>
        </p:txBody>
      </p:sp>
      <p:sp>
        <p:nvSpPr>
          <p:cNvPr id="17" name="Text 12"/>
          <p:cNvSpPr/>
          <p:nvPr/>
        </p:nvSpPr>
        <p:spPr>
          <a:xfrm>
            <a:off x="655915" y="4181356"/>
            <a:ext cx="3048476" cy="207407"/>
          </a:xfrm>
          <a:prstGeom prst="rect">
            <a:avLst/>
          </a:prstGeom>
          <a:noFill/>
          <a:ln/>
        </p:spPr>
        <p:txBody>
          <a:bodyPr wrap="none" lIns="0" tIns="0" rIns="0" bIns="0" rtlCol="0" anchor="t"/>
          <a:lstStyle/>
          <a:p>
            <a:pPr marL="0" indent="0" algn="l">
              <a:lnSpc>
                <a:spcPts val="1600"/>
              </a:lnSpc>
              <a:buNone/>
            </a:pPr>
            <a:r>
              <a:rPr lang="en-US" sz="1400" b="1" dirty="0">
                <a:solidFill>
                  <a:srgbClr val="504C49"/>
                </a:solidFill>
                <a:latin typeface="Source Serif Pro" pitchFamily="34" charset="0"/>
                <a:ea typeface="Source Serif Pro" pitchFamily="34" charset="-122"/>
                <a:cs typeface="Source Serif Pro" pitchFamily="34" charset="-120"/>
              </a:rPr>
              <a:t>Resilience</a:t>
            </a:r>
            <a:endParaRPr lang="en-US" sz="1400" dirty="0"/>
          </a:p>
        </p:txBody>
      </p:sp>
      <p:sp>
        <p:nvSpPr>
          <p:cNvPr id="18" name="Text 13"/>
          <p:cNvSpPr/>
          <p:nvPr/>
        </p:nvSpPr>
        <p:spPr>
          <a:xfrm>
            <a:off x="2903838" y="4181356"/>
            <a:ext cx="4115968" cy="622221"/>
          </a:xfrm>
          <a:prstGeom prst="rect">
            <a:avLst/>
          </a:prstGeom>
          <a:noFill/>
          <a:ln/>
        </p:spPr>
        <p:txBody>
          <a:bodyPr wrap="square" lIns="0" tIns="0" rIns="0" bIns="0" rtlCol="0" anchor="t"/>
          <a:lstStyle/>
          <a:p>
            <a:pPr marL="0" indent="0" algn="l">
              <a:lnSpc>
                <a:spcPts val="1600"/>
              </a:lnSpc>
              <a:buNone/>
            </a:pPr>
            <a:r>
              <a:rPr lang="en-US" sz="1400" dirty="0">
                <a:solidFill>
                  <a:srgbClr val="504C49"/>
                </a:solidFill>
                <a:latin typeface="Source Serif Pro" pitchFamily="34" charset="0"/>
                <a:ea typeface="Source Serif Pro" pitchFamily="34" charset="-122"/>
                <a:cs typeface="Source Serif Pro" pitchFamily="34" charset="-120"/>
              </a:rPr>
              <a:t>A state of readiness achieved through proactive risk planning and diversification, enabling systems to withstand disruptions</a:t>
            </a:r>
            <a:endParaRPr lang="en-US" sz="1400" dirty="0"/>
          </a:p>
        </p:txBody>
      </p:sp>
      <p:sp>
        <p:nvSpPr>
          <p:cNvPr id="19" name="Shape 14"/>
          <p:cNvSpPr/>
          <p:nvPr/>
        </p:nvSpPr>
        <p:spPr>
          <a:xfrm>
            <a:off x="526256" y="4888944"/>
            <a:ext cx="6623209" cy="792956"/>
          </a:xfrm>
          <a:prstGeom prst="rect">
            <a:avLst/>
          </a:prstGeom>
          <a:solidFill>
            <a:srgbClr val="000000">
              <a:alpha val="4000"/>
            </a:srgbClr>
          </a:solidFill>
          <a:ln/>
        </p:spPr>
        <p:txBody>
          <a:bodyPr/>
          <a:lstStyle/>
          <a:p>
            <a:endParaRPr lang="en-IN" sz="1400"/>
          </a:p>
        </p:txBody>
      </p:sp>
      <p:sp>
        <p:nvSpPr>
          <p:cNvPr id="20" name="Text 15"/>
          <p:cNvSpPr/>
          <p:nvPr/>
        </p:nvSpPr>
        <p:spPr>
          <a:xfrm>
            <a:off x="655915" y="4974312"/>
            <a:ext cx="3048476" cy="207407"/>
          </a:xfrm>
          <a:prstGeom prst="rect">
            <a:avLst/>
          </a:prstGeom>
          <a:noFill/>
          <a:ln/>
        </p:spPr>
        <p:txBody>
          <a:bodyPr wrap="none" lIns="0" tIns="0" rIns="0" bIns="0" rtlCol="0" anchor="t"/>
          <a:lstStyle/>
          <a:p>
            <a:pPr marL="0" indent="0" algn="l">
              <a:lnSpc>
                <a:spcPts val="1600"/>
              </a:lnSpc>
              <a:buNone/>
            </a:pPr>
            <a:r>
              <a:rPr lang="en-US" sz="1400" b="1" dirty="0">
                <a:solidFill>
                  <a:srgbClr val="504C49"/>
                </a:solidFill>
                <a:latin typeface="Source Serif Pro" pitchFamily="34" charset="0"/>
                <a:ea typeface="Source Serif Pro" pitchFamily="34" charset="-122"/>
                <a:cs typeface="Source Serif Pro" pitchFamily="34" charset="-120"/>
              </a:rPr>
              <a:t>Agility</a:t>
            </a:r>
            <a:endParaRPr lang="en-US" sz="1400" dirty="0"/>
          </a:p>
        </p:txBody>
      </p:sp>
      <p:sp>
        <p:nvSpPr>
          <p:cNvPr id="21" name="Text 16"/>
          <p:cNvSpPr/>
          <p:nvPr/>
        </p:nvSpPr>
        <p:spPr>
          <a:xfrm>
            <a:off x="2903838" y="4974312"/>
            <a:ext cx="4115968" cy="622221"/>
          </a:xfrm>
          <a:prstGeom prst="rect">
            <a:avLst/>
          </a:prstGeom>
          <a:noFill/>
          <a:ln/>
        </p:spPr>
        <p:txBody>
          <a:bodyPr wrap="square" lIns="0" tIns="0" rIns="0" bIns="0" rtlCol="0" anchor="t"/>
          <a:lstStyle/>
          <a:p>
            <a:pPr marL="0" indent="0" algn="l">
              <a:lnSpc>
                <a:spcPts val="1600"/>
              </a:lnSpc>
              <a:buNone/>
            </a:pPr>
            <a:r>
              <a:rPr lang="en-US" sz="1400" dirty="0">
                <a:solidFill>
                  <a:srgbClr val="504C49"/>
                </a:solidFill>
                <a:latin typeface="Source Serif Pro" pitchFamily="34" charset="0"/>
                <a:ea typeface="Source Serif Pro" pitchFamily="34" charset="-122"/>
                <a:cs typeface="Source Serif Pro" pitchFamily="34" charset="-120"/>
              </a:rPr>
              <a:t>A capability enabling rapid response to change, such as flexible manufacturing systems that can quickly switch between products</a:t>
            </a:r>
            <a:endParaRPr lang="en-US" sz="1400" dirty="0"/>
          </a:p>
        </p:txBody>
      </p:sp>
      <p:pic>
        <p:nvPicPr>
          <p:cNvPr id="22" name="Image 3" descr="preencoded.png"/>
          <p:cNvPicPr>
            <a:picLocks noChangeAspect="1"/>
          </p:cNvPicPr>
          <p:nvPr/>
        </p:nvPicPr>
        <p:blipFill>
          <a:blip r:embed="rId6"/>
          <a:stretch>
            <a:fillRect/>
          </a:stretch>
        </p:blipFill>
        <p:spPr>
          <a:xfrm>
            <a:off x="7480935" y="3715583"/>
            <a:ext cx="6638449" cy="3630786"/>
          </a:xfrm>
          <a:prstGeom prst="rect">
            <a:avLst/>
          </a:prstGeom>
        </p:spPr>
      </p:pic>
      <p:sp>
        <p:nvSpPr>
          <p:cNvPr id="23" name="Text 17"/>
          <p:cNvSpPr/>
          <p:nvPr/>
        </p:nvSpPr>
        <p:spPr>
          <a:xfrm>
            <a:off x="7480935" y="7430664"/>
            <a:ext cx="6638449" cy="414814"/>
          </a:xfrm>
          <a:prstGeom prst="rect">
            <a:avLst/>
          </a:prstGeom>
          <a:noFill/>
          <a:ln/>
        </p:spPr>
        <p:txBody>
          <a:bodyPr wrap="square" lIns="0" tIns="0" rIns="0" bIns="0" rtlCol="0" anchor="t"/>
          <a:lstStyle/>
          <a:p>
            <a:pPr marL="0" indent="0" algn="l">
              <a:lnSpc>
                <a:spcPts val="1600"/>
              </a:lnSpc>
              <a:buNone/>
            </a:pPr>
            <a:r>
              <a:rPr lang="en-US" sz="1400" dirty="0">
                <a:solidFill>
                  <a:srgbClr val="504C49"/>
                </a:solidFill>
                <a:latin typeface="Source Serif Pro" pitchFamily="34" charset="0"/>
                <a:ea typeface="Source Serif Pro" pitchFamily="34" charset="-122"/>
                <a:cs typeface="Source Serif Pro" pitchFamily="34" charset="-120"/>
              </a:rPr>
              <a:t>Decentralised manufacturing reduces transportation costs and lead times, improves local market responsiveness, and increases resilience by eliminating single points of failure</a:t>
            </a:r>
            <a:r>
              <a:rPr lang="en-US" sz="1000" dirty="0">
                <a:solidFill>
                  <a:srgbClr val="504C49"/>
                </a:solidFill>
                <a:latin typeface="Source Serif Pro" pitchFamily="34" charset="0"/>
                <a:ea typeface="Source Serif Pro" pitchFamily="34" charset="-122"/>
                <a:cs typeface="Source Serif Pro" pitchFamily="34" charset="-120"/>
              </a:rPr>
              <a: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96835" y="272891"/>
            <a:ext cx="5810131" cy="310158"/>
          </a:xfrm>
          <a:prstGeom prst="rect">
            <a:avLst/>
          </a:prstGeom>
          <a:noFill/>
          <a:ln/>
        </p:spPr>
        <p:txBody>
          <a:bodyPr wrap="none" lIns="0" tIns="0" rIns="0" bIns="0" rtlCol="0" anchor="t"/>
          <a:lstStyle/>
          <a:p>
            <a:pPr marL="0" indent="0" algn="l">
              <a:lnSpc>
                <a:spcPts val="2400"/>
              </a:lnSpc>
              <a:buNone/>
            </a:pPr>
            <a:r>
              <a:rPr lang="en-US" sz="1950" dirty="0">
                <a:solidFill>
                  <a:srgbClr val="201B18"/>
                </a:solidFill>
                <a:latin typeface="Platypi Medium" pitchFamily="34" charset="0"/>
                <a:ea typeface="Platypi Medium" pitchFamily="34" charset="-122"/>
                <a:cs typeface="Platypi Medium" pitchFamily="34" charset="-120"/>
              </a:rPr>
              <a:t>The Digital Transformation of the Supply Chain</a:t>
            </a:r>
            <a:endParaRPr lang="en-US" sz="1950" dirty="0"/>
          </a:p>
        </p:txBody>
      </p:sp>
      <p:sp>
        <p:nvSpPr>
          <p:cNvPr id="3" name="Text 1"/>
          <p:cNvSpPr/>
          <p:nvPr/>
        </p:nvSpPr>
        <p:spPr>
          <a:xfrm>
            <a:off x="396835" y="781407"/>
            <a:ext cx="13836729" cy="158591"/>
          </a:xfrm>
          <a:prstGeom prst="rect">
            <a:avLst/>
          </a:prstGeom>
          <a:noFill/>
          <a:ln/>
        </p:spPr>
        <p:txBody>
          <a:bodyPr wrap="none" lIns="0" tIns="0" rIns="0" bIns="0" rtlCol="0" anchor="t"/>
          <a:lstStyle/>
          <a:p>
            <a:pPr marL="0" indent="0" algn="l">
              <a:lnSpc>
                <a:spcPts val="1250"/>
              </a:lnSpc>
              <a:buNone/>
            </a:pPr>
            <a:r>
              <a:rPr lang="en-US" sz="1400" dirty="0">
                <a:solidFill>
                  <a:srgbClr val="504C49"/>
                </a:solidFill>
                <a:latin typeface="Source Serif Pro" pitchFamily="34" charset="0"/>
                <a:ea typeface="Source Serif Pro" pitchFamily="34" charset="-122"/>
                <a:cs typeface="Source Serif Pro" pitchFamily="34" charset="-120"/>
              </a:rPr>
              <a:t>The modern supply chain is being fundamentally reshaped by digital technologies that enable a shift from reactive management to predictive and autonomous operations.</a:t>
            </a:r>
            <a:endParaRPr lang="en-US" sz="1400" dirty="0"/>
          </a:p>
        </p:txBody>
      </p:sp>
      <p:pic>
        <p:nvPicPr>
          <p:cNvPr id="4" name="Image 0" descr="preencoded.png"/>
          <p:cNvPicPr>
            <a:picLocks noChangeAspect="1"/>
          </p:cNvPicPr>
          <p:nvPr/>
        </p:nvPicPr>
        <p:blipFill>
          <a:blip r:embed="rId3"/>
          <a:stretch>
            <a:fillRect/>
          </a:stretch>
        </p:blipFill>
        <p:spPr>
          <a:xfrm>
            <a:off x="2263743" y="1100911"/>
            <a:ext cx="1585764" cy="571500"/>
          </a:xfrm>
          <a:prstGeom prst="rect">
            <a:avLst/>
          </a:prstGeom>
        </p:spPr>
      </p:pic>
      <p:sp>
        <p:nvSpPr>
          <p:cNvPr id="5" name="Text 2"/>
          <p:cNvSpPr/>
          <p:nvPr/>
        </p:nvSpPr>
        <p:spPr>
          <a:xfrm>
            <a:off x="3009012" y="1324570"/>
            <a:ext cx="139541" cy="174427"/>
          </a:xfrm>
          <a:prstGeom prst="rect">
            <a:avLst/>
          </a:prstGeom>
          <a:noFill/>
          <a:ln/>
        </p:spPr>
        <p:txBody>
          <a:bodyPr wrap="none" lIns="0" tIns="0" rIns="0" bIns="0" rtlCol="0" anchor="t"/>
          <a:lstStyle/>
          <a:p>
            <a:pPr marL="0" indent="0" algn="ctr">
              <a:lnSpc>
                <a:spcPts val="1750"/>
              </a:lnSpc>
              <a:buNone/>
            </a:pPr>
            <a:r>
              <a:rPr lang="en-US" sz="1050" dirty="0">
                <a:solidFill>
                  <a:srgbClr val="000000"/>
                </a:solidFill>
                <a:latin typeface="Platypi Medium" pitchFamily="34" charset="0"/>
                <a:ea typeface="Platypi Medium" pitchFamily="34" charset="-122"/>
                <a:cs typeface="Platypi Medium" pitchFamily="34" charset="-120"/>
              </a:rPr>
              <a:t>1</a:t>
            </a:r>
            <a:endParaRPr lang="en-US" sz="1050" dirty="0"/>
          </a:p>
        </p:txBody>
      </p:sp>
      <p:sp>
        <p:nvSpPr>
          <p:cNvPr id="6" name="Text 3"/>
          <p:cNvSpPr/>
          <p:nvPr/>
        </p:nvSpPr>
        <p:spPr>
          <a:xfrm>
            <a:off x="4693800" y="1175623"/>
            <a:ext cx="2534960" cy="155019"/>
          </a:xfrm>
          <a:prstGeom prst="rect">
            <a:avLst/>
          </a:prstGeom>
          <a:noFill/>
          <a:ln/>
        </p:spPr>
        <p:txBody>
          <a:bodyPr wrap="none" lIns="0" tIns="0" rIns="0" bIns="0" rtlCol="0" anchor="t"/>
          <a:lstStyle/>
          <a:p>
            <a:pPr marL="0" indent="0" algn="l">
              <a:lnSpc>
                <a:spcPts val="1200"/>
              </a:lnSpc>
              <a:buNone/>
            </a:pPr>
            <a:r>
              <a:rPr lang="en-US" sz="1400" dirty="0">
                <a:solidFill>
                  <a:srgbClr val="504C49"/>
                </a:solidFill>
                <a:latin typeface="Platypi Medium" pitchFamily="34" charset="0"/>
                <a:ea typeface="Platypi Medium" pitchFamily="34" charset="-122"/>
                <a:cs typeface="Platypi Medium" pitchFamily="34" charset="-120"/>
              </a:rPr>
              <a:t>Artificial Intelligence &amp; Machine Learning</a:t>
            </a:r>
            <a:endParaRPr lang="en-US" sz="1400" dirty="0"/>
          </a:p>
        </p:txBody>
      </p:sp>
      <p:sp>
        <p:nvSpPr>
          <p:cNvPr id="7" name="Text 4"/>
          <p:cNvSpPr/>
          <p:nvPr/>
        </p:nvSpPr>
        <p:spPr>
          <a:xfrm>
            <a:off x="4688547" y="1351926"/>
            <a:ext cx="5448300" cy="158591"/>
          </a:xfrm>
          <a:prstGeom prst="rect">
            <a:avLst/>
          </a:prstGeom>
          <a:noFill/>
          <a:ln/>
        </p:spPr>
        <p:txBody>
          <a:bodyPr wrap="none" lIns="0" tIns="0" rIns="0" bIns="0" rtlCol="0" anchor="t"/>
          <a:lstStyle/>
          <a:p>
            <a:pPr marL="0" indent="0" algn="l">
              <a:lnSpc>
                <a:spcPts val="1250"/>
              </a:lnSpc>
              <a:buNone/>
            </a:pPr>
            <a:r>
              <a:rPr lang="en-US" sz="1400" dirty="0">
                <a:solidFill>
                  <a:srgbClr val="504C49"/>
                </a:solidFill>
                <a:latin typeface="Source Serif Pro" pitchFamily="34" charset="0"/>
                <a:ea typeface="Source Serif Pro" pitchFamily="34" charset="-122"/>
                <a:cs typeface="Source Serif Pro" pitchFamily="34" charset="-120"/>
              </a:rPr>
              <a:t>The intelligent engine powering advanced applications in demand forecasting, logistics optimisation, and risk management</a:t>
            </a:r>
            <a:endParaRPr lang="en-US" sz="1400" dirty="0"/>
          </a:p>
        </p:txBody>
      </p:sp>
      <p:sp>
        <p:nvSpPr>
          <p:cNvPr id="8" name="Shape 5"/>
          <p:cNvSpPr/>
          <p:nvPr/>
        </p:nvSpPr>
        <p:spPr>
          <a:xfrm>
            <a:off x="4045992" y="1668601"/>
            <a:ext cx="9186624" cy="7620"/>
          </a:xfrm>
          <a:prstGeom prst="roundRect">
            <a:avLst>
              <a:gd name="adj" fmla="val 195349"/>
            </a:avLst>
          </a:prstGeom>
          <a:solidFill>
            <a:srgbClr val="F3E3D8"/>
          </a:solidFill>
          <a:ln/>
        </p:spPr>
        <p:txBody>
          <a:bodyPr/>
          <a:lstStyle/>
          <a:p>
            <a:endParaRPr lang="en-IN"/>
          </a:p>
        </p:txBody>
      </p:sp>
      <p:pic>
        <p:nvPicPr>
          <p:cNvPr id="9" name="Image 1" descr="preencoded.png"/>
          <p:cNvPicPr>
            <a:picLocks noChangeAspect="1"/>
          </p:cNvPicPr>
          <p:nvPr/>
        </p:nvPicPr>
        <p:blipFill>
          <a:blip r:embed="rId4"/>
          <a:stretch>
            <a:fillRect/>
          </a:stretch>
        </p:blipFill>
        <p:spPr>
          <a:xfrm>
            <a:off x="1385307" y="1685211"/>
            <a:ext cx="3308493" cy="571500"/>
          </a:xfrm>
          <a:prstGeom prst="rect">
            <a:avLst/>
          </a:prstGeom>
        </p:spPr>
      </p:pic>
      <p:sp>
        <p:nvSpPr>
          <p:cNvPr id="10" name="Text 6"/>
          <p:cNvSpPr/>
          <p:nvPr/>
        </p:nvSpPr>
        <p:spPr>
          <a:xfrm>
            <a:off x="2986854" y="1815047"/>
            <a:ext cx="139541" cy="174427"/>
          </a:xfrm>
          <a:prstGeom prst="rect">
            <a:avLst/>
          </a:prstGeom>
          <a:noFill/>
          <a:ln/>
        </p:spPr>
        <p:txBody>
          <a:bodyPr wrap="none" lIns="0" tIns="0" rIns="0" bIns="0" rtlCol="0" anchor="t"/>
          <a:lstStyle/>
          <a:p>
            <a:pPr marL="0" indent="0" algn="ctr">
              <a:lnSpc>
                <a:spcPts val="1750"/>
              </a:lnSpc>
              <a:buNone/>
            </a:pPr>
            <a:r>
              <a:rPr lang="en-US" sz="1050" dirty="0">
                <a:solidFill>
                  <a:srgbClr val="000000"/>
                </a:solidFill>
                <a:latin typeface="Platypi Medium" pitchFamily="34" charset="0"/>
                <a:ea typeface="Platypi Medium" pitchFamily="34" charset="-122"/>
                <a:cs typeface="Platypi Medium" pitchFamily="34" charset="-120"/>
              </a:rPr>
              <a:t>2</a:t>
            </a:r>
            <a:endParaRPr lang="en-US" sz="1050" dirty="0"/>
          </a:p>
        </p:txBody>
      </p:sp>
      <p:sp>
        <p:nvSpPr>
          <p:cNvPr id="11" name="Text 7"/>
          <p:cNvSpPr/>
          <p:nvPr/>
        </p:nvSpPr>
        <p:spPr>
          <a:xfrm>
            <a:off x="4636396" y="1747241"/>
            <a:ext cx="1417558" cy="155019"/>
          </a:xfrm>
          <a:prstGeom prst="rect">
            <a:avLst/>
          </a:prstGeom>
          <a:noFill/>
          <a:ln/>
        </p:spPr>
        <p:txBody>
          <a:bodyPr wrap="none" lIns="0" tIns="0" rIns="0" bIns="0" rtlCol="0" anchor="t"/>
          <a:lstStyle/>
          <a:p>
            <a:pPr marL="0" indent="0" algn="l">
              <a:lnSpc>
                <a:spcPts val="1200"/>
              </a:lnSpc>
              <a:buNone/>
            </a:pPr>
            <a:r>
              <a:rPr lang="en-US" sz="1400" dirty="0">
                <a:solidFill>
                  <a:srgbClr val="504C49"/>
                </a:solidFill>
                <a:latin typeface="Platypi Medium" pitchFamily="34" charset="0"/>
                <a:ea typeface="Platypi Medium" pitchFamily="34" charset="-122"/>
                <a:cs typeface="Platypi Medium" pitchFamily="34" charset="-120"/>
              </a:rPr>
              <a:t>Internet of Things (IoT)</a:t>
            </a:r>
            <a:endParaRPr lang="en-US" sz="1400" dirty="0"/>
          </a:p>
        </p:txBody>
      </p:sp>
      <p:sp>
        <p:nvSpPr>
          <p:cNvPr id="12" name="Text 8"/>
          <p:cNvSpPr/>
          <p:nvPr/>
        </p:nvSpPr>
        <p:spPr>
          <a:xfrm>
            <a:off x="4636396" y="1913334"/>
            <a:ext cx="5991463" cy="158591"/>
          </a:xfrm>
          <a:prstGeom prst="rect">
            <a:avLst/>
          </a:prstGeom>
          <a:noFill/>
          <a:ln/>
        </p:spPr>
        <p:txBody>
          <a:bodyPr wrap="none" lIns="0" tIns="0" rIns="0" bIns="0" rtlCol="0" anchor="t"/>
          <a:lstStyle/>
          <a:p>
            <a:pPr marL="0" indent="0" algn="l">
              <a:lnSpc>
                <a:spcPts val="1250"/>
              </a:lnSpc>
              <a:buNone/>
            </a:pPr>
            <a:r>
              <a:rPr lang="en-US" sz="1400" dirty="0">
                <a:solidFill>
                  <a:srgbClr val="504C49"/>
                </a:solidFill>
                <a:latin typeface="Source Serif Pro" pitchFamily="34" charset="0"/>
                <a:ea typeface="Source Serif Pro" pitchFamily="34" charset="-122"/>
                <a:cs typeface="Source Serif Pro" pitchFamily="34" charset="-120"/>
              </a:rPr>
              <a:t>The digital nervous system connecting physical and digital worlds through sensors that provide real-time data on </a:t>
            </a:r>
            <a:br>
              <a:rPr lang="en-US" sz="1400" dirty="0">
                <a:solidFill>
                  <a:srgbClr val="504C49"/>
                </a:solidFill>
                <a:latin typeface="Source Serif Pro" pitchFamily="34" charset="0"/>
                <a:ea typeface="Source Serif Pro" pitchFamily="34" charset="-122"/>
                <a:cs typeface="Source Serif Pro" pitchFamily="34" charset="-120"/>
              </a:rPr>
            </a:br>
            <a:r>
              <a:rPr lang="en-US" sz="1400" dirty="0">
                <a:solidFill>
                  <a:srgbClr val="504C49"/>
                </a:solidFill>
                <a:latin typeface="Source Serif Pro" pitchFamily="34" charset="0"/>
                <a:ea typeface="Source Serif Pro" pitchFamily="34" charset="-122"/>
                <a:cs typeface="Source Serif Pro" pitchFamily="34" charset="-120"/>
              </a:rPr>
              <a:t>location and condition</a:t>
            </a:r>
            <a:endParaRPr lang="en-US" sz="1400" dirty="0"/>
          </a:p>
        </p:txBody>
      </p:sp>
      <p:sp>
        <p:nvSpPr>
          <p:cNvPr id="13" name="Shape 9"/>
          <p:cNvSpPr/>
          <p:nvPr/>
        </p:nvSpPr>
        <p:spPr>
          <a:xfrm>
            <a:off x="4856950" y="2265236"/>
            <a:ext cx="8045053" cy="7620"/>
          </a:xfrm>
          <a:prstGeom prst="roundRect">
            <a:avLst>
              <a:gd name="adj" fmla="val 195349"/>
            </a:avLst>
          </a:prstGeom>
          <a:solidFill>
            <a:srgbClr val="FFD1A7"/>
          </a:solidFill>
          <a:ln/>
        </p:spPr>
        <p:txBody>
          <a:bodyPr/>
          <a:lstStyle/>
          <a:p>
            <a:endParaRPr lang="en-IN"/>
          </a:p>
        </p:txBody>
      </p:sp>
      <p:pic>
        <p:nvPicPr>
          <p:cNvPr id="14" name="Image 2" descr="preencoded.png"/>
          <p:cNvPicPr>
            <a:picLocks noChangeAspect="1"/>
          </p:cNvPicPr>
          <p:nvPr/>
        </p:nvPicPr>
        <p:blipFill>
          <a:blip r:embed="rId5"/>
          <a:stretch>
            <a:fillRect/>
          </a:stretch>
        </p:blipFill>
        <p:spPr>
          <a:xfrm>
            <a:off x="599191" y="2244090"/>
            <a:ext cx="4911923" cy="571500"/>
          </a:xfrm>
          <a:prstGeom prst="rect">
            <a:avLst/>
          </a:prstGeom>
        </p:spPr>
      </p:pic>
      <p:sp>
        <p:nvSpPr>
          <p:cNvPr id="15" name="Text 10"/>
          <p:cNvSpPr/>
          <p:nvPr/>
        </p:nvSpPr>
        <p:spPr>
          <a:xfrm>
            <a:off x="2986853" y="2389543"/>
            <a:ext cx="139541" cy="174427"/>
          </a:xfrm>
          <a:prstGeom prst="rect">
            <a:avLst/>
          </a:prstGeom>
          <a:noFill/>
          <a:ln/>
        </p:spPr>
        <p:txBody>
          <a:bodyPr wrap="none" lIns="0" tIns="0" rIns="0" bIns="0" rtlCol="0" anchor="t"/>
          <a:lstStyle/>
          <a:p>
            <a:pPr marL="0" indent="0" algn="ctr">
              <a:lnSpc>
                <a:spcPts val="1750"/>
              </a:lnSpc>
              <a:buNone/>
            </a:pPr>
            <a:r>
              <a:rPr lang="en-US" sz="1050" dirty="0">
                <a:solidFill>
                  <a:srgbClr val="000000"/>
                </a:solidFill>
                <a:latin typeface="Platypi Medium" pitchFamily="34" charset="0"/>
                <a:ea typeface="Platypi Medium" pitchFamily="34" charset="-122"/>
                <a:cs typeface="Platypi Medium" pitchFamily="34" charset="-120"/>
              </a:rPr>
              <a:t>3</a:t>
            </a:r>
            <a:endParaRPr lang="en-US" sz="1050" dirty="0"/>
          </a:p>
        </p:txBody>
      </p:sp>
      <p:sp>
        <p:nvSpPr>
          <p:cNvPr id="16" name="Text 11"/>
          <p:cNvSpPr/>
          <p:nvPr/>
        </p:nvSpPr>
        <p:spPr>
          <a:xfrm>
            <a:off x="5267146" y="2367323"/>
            <a:ext cx="1879640" cy="155019"/>
          </a:xfrm>
          <a:prstGeom prst="rect">
            <a:avLst/>
          </a:prstGeom>
          <a:noFill/>
          <a:ln/>
        </p:spPr>
        <p:txBody>
          <a:bodyPr wrap="none" lIns="0" tIns="0" rIns="0" bIns="0" rtlCol="0" anchor="t"/>
          <a:lstStyle/>
          <a:p>
            <a:pPr marL="0" indent="0" algn="l">
              <a:lnSpc>
                <a:spcPts val="1200"/>
              </a:lnSpc>
              <a:buNone/>
            </a:pPr>
            <a:r>
              <a:rPr lang="en-US" sz="1400" dirty="0">
                <a:solidFill>
                  <a:srgbClr val="504C49"/>
                </a:solidFill>
                <a:latin typeface="Platypi Medium" pitchFamily="34" charset="0"/>
                <a:ea typeface="Platypi Medium" pitchFamily="34" charset="-122"/>
                <a:cs typeface="Platypi Medium" pitchFamily="34" charset="-120"/>
              </a:rPr>
              <a:t>Big Data &amp; Advanced Analytics</a:t>
            </a:r>
            <a:endParaRPr lang="en-US" sz="1400" dirty="0"/>
          </a:p>
        </p:txBody>
      </p:sp>
      <p:sp>
        <p:nvSpPr>
          <p:cNvPr id="17" name="Text 12"/>
          <p:cNvSpPr/>
          <p:nvPr/>
        </p:nvSpPr>
        <p:spPr>
          <a:xfrm>
            <a:off x="5381557" y="2595027"/>
            <a:ext cx="4911923" cy="158591"/>
          </a:xfrm>
          <a:prstGeom prst="rect">
            <a:avLst/>
          </a:prstGeom>
          <a:noFill/>
          <a:ln/>
        </p:spPr>
        <p:txBody>
          <a:bodyPr wrap="none" lIns="0" tIns="0" rIns="0" bIns="0" rtlCol="0" anchor="t"/>
          <a:lstStyle/>
          <a:p>
            <a:pPr marL="0" indent="0" algn="l">
              <a:lnSpc>
                <a:spcPts val="1250"/>
              </a:lnSpc>
              <a:buNone/>
            </a:pPr>
            <a:r>
              <a:rPr lang="en-US" sz="1400" dirty="0">
                <a:solidFill>
                  <a:srgbClr val="504C49"/>
                </a:solidFill>
                <a:latin typeface="Source Serif Pro" pitchFamily="34" charset="0"/>
                <a:ea typeface="Source Serif Pro" pitchFamily="34" charset="-122"/>
                <a:cs typeface="Source Serif Pro" pitchFamily="34" charset="-120"/>
              </a:rPr>
              <a:t>The foundation that turns vast information into actionable insights for efficiency, cost reduction, and resilience</a:t>
            </a:r>
            <a:endParaRPr lang="en-US" sz="1400" dirty="0"/>
          </a:p>
        </p:txBody>
      </p:sp>
      <p:sp>
        <p:nvSpPr>
          <p:cNvPr id="18" name="Text 13"/>
          <p:cNvSpPr/>
          <p:nvPr/>
        </p:nvSpPr>
        <p:spPr>
          <a:xfrm>
            <a:off x="396835" y="3026331"/>
            <a:ext cx="2612946" cy="185976"/>
          </a:xfrm>
          <a:prstGeom prst="rect">
            <a:avLst/>
          </a:prstGeom>
          <a:noFill/>
          <a:ln/>
        </p:spPr>
        <p:txBody>
          <a:bodyPr wrap="none" lIns="0" tIns="0" rIns="0" bIns="0" rtlCol="0" anchor="t"/>
          <a:lstStyle/>
          <a:p>
            <a:pPr marL="0" indent="0" algn="l">
              <a:lnSpc>
                <a:spcPts val="1450"/>
              </a:lnSpc>
              <a:buNone/>
            </a:pPr>
            <a:r>
              <a:rPr lang="en-US" sz="1400" dirty="0">
                <a:solidFill>
                  <a:srgbClr val="201B18"/>
                </a:solidFill>
                <a:latin typeface="Platypi Medium" pitchFamily="34" charset="0"/>
                <a:ea typeface="Platypi Medium" pitchFamily="34" charset="-122"/>
                <a:cs typeface="Platypi Medium" pitchFamily="34" charset="-120"/>
              </a:rPr>
              <a:t>Key AI Applications in Supply Chain</a:t>
            </a:r>
            <a:endParaRPr lang="en-US" sz="1400" dirty="0"/>
          </a:p>
        </p:txBody>
      </p:sp>
      <p:sp>
        <p:nvSpPr>
          <p:cNvPr id="19" name="Text 14"/>
          <p:cNvSpPr/>
          <p:nvPr/>
        </p:nvSpPr>
        <p:spPr>
          <a:xfrm>
            <a:off x="396835" y="3311485"/>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1400" dirty="0">
                <a:solidFill>
                  <a:srgbClr val="504C49"/>
                </a:solidFill>
                <a:latin typeface="Source Serif Pro" pitchFamily="34" charset="0"/>
                <a:ea typeface="Source Serif Pro" pitchFamily="34" charset="-122"/>
                <a:cs typeface="Source Serif Pro" pitchFamily="34" charset="-120"/>
              </a:rPr>
              <a:t>Demand Forecasting using XGBoost, Random Forest, and hybrid neural networks to analyze historical sales, market trends, and external factors</a:t>
            </a:r>
            <a:endParaRPr lang="en-US" sz="1400" dirty="0"/>
          </a:p>
        </p:txBody>
      </p:sp>
      <p:sp>
        <p:nvSpPr>
          <p:cNvPr id="20" name="Text 15"/>
          <p:cNvSpPr/>
          <p:nvPr/>
        </p:nvSpPr>
        <p:spPr>
          <a:xfrm>
            <a:off x="396835" y="3504724"/>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1400" dirty="0">
                <a:solidFill>
                  <a:srgbClr val="504C49"/>
                </a:solidFill>
                <a:latin typeface="Source Serif Pro" pitchFamily="34" charset="0"/>
                <a:ea typeface="Source Serif Pro" pitchFamily="34" charset="-122"/>
                <a:cs typeface="Source Serif Pro" pitchFamily="34" charset="-120"/>
              </a:rPr>
              <a:t>Logistics Optimization through Reinforcement Learning for dynamic routing problems, learning optimal policies through trial and error</a:t>
            </a:r>
            <a:endParaRPr lang="en-US" sz="1400" dirty="0"/>
          </a:p>
        </p:txBody>
      </p:sp>
      <p:sp>
        <p:nvSpPr>
          <p:cNvPr id="21" name="Text 16"/>
          <p:cNvSpPr/>
          <p:nvPr/>
        </p:nvSpPr>
        <p:spPr>
          <a:xfrm>
            <a:off x="396835" y="3697962"/>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1400" dirty="0">
                <a:solidFill>
                  <a:srgbClr val="504C49"/>
                </a:solidFill>
                <a:latin typeface="Source Serif Pro" pitchFamily="34" charset="0"/>
                <a:ea typeface="Source Serif Pro" pitchFamily="34" charset="-122"/>
                <a:cs typeface="Source Serif Pro" pitchFamily="34" charset="-120"/>
              </a:rPr>
              <a:t>Risk Management using Natural Language Processing to scan unstructured text for early warning signals of disruptions</a:t>
            </a:r>
            <a:endParaRPr lang="en-US" sz="1400" dirty="0"/>
          </a:p>
        </p:txBody>
      </p:sp>
      <p:sp>
        <p:nvSpPr>
          <p:cNvPr id="22" name="Text 17"/>
          <p:cNvSpPr/>
          <p:nvPr/>
        </p:nvSpPr>
        <p:spPr>
          <a:xfrm>
            <a:off x="396835" y="3955732"/>
            <a:ext cx="2232541" cy="185976"/>
          </a:xfrm>
          <a:prstGeom prst="rect">
            <a:avLst/>
          </a:prstGeom>
          <a:noFill/>
          <a:ln/>
        </p:spPr>
        <p:txBody>
          <a:bodyPr wrap="none" lIns="0" tIns="0" rIns="0" bIns="0" rtlCol="0" anchor="t"/>
          <a:lstStyle/>
          <a:p>
            <a:pPr marL="0" indent="0" algn="l">
              <a:lnSpc>
                <a:spcPts val="1450"/>
              </a:lnSpc>
              <a:buNone/>
            </a:pPr>
            <a:r>
              <a:rPr lang="en-US" sz="1400" dirty="0">
                <a:solidFill>
                  <a:srgbClr val="201B18"/>
                </a:solidFill>
                <a:latin typeface="Platypi Medium" pitchFamily="34" charset="0"/>
                <a:ea typeface="Platypi Medium" pitchFamily="34" charset="-122"/>
                <a:cs typeface="Platypi Medium" pitchFamily="34" charset="-120"/>
              </a:rPr>
              <a:t>Blockchain: The Layer of Trust</a:t>
            </a:r>
            <a:endParaRPr lang="en-US" sz="1400" dirty="0"/>
          </a:p>
        </p:txBody>
      </p:sp>
      <p:sp>
        <p:nvSpPr>
          <p:cNvPr id="23" name="Text 18"/>
          <p:cNvSpPr/>
          <p:nvPr/>
        </p:nvSpPr>
        <p:spPr>
          <a:xfrm>
            <a:off x="396835" y="4240887"/>
            <a:ext cx="6797397" cy="317183"/>
          </a:xfrm>
          <a:prstGeom prst="rect">
            <a:avLst/>
          </a:prstGeom>
          <a:noFill/>
          <a:ln/>
        </p:spPr>
        <p:txBody>
          <a:bodyPr wrap="square" lIns="0" tIns="0" rIns="0" bIns="0" rtlCol="0" anchor="t"/>
          <a:lstStyle/>
          <a:p>
            <a:pPr marL="0" indent="0" algn="l">
              <a:lnSpc>
                <a:spcPts val="1250"/>
              </a:lnSpc>
              <a:buNone/>
            </a:pPr>
            <a:r>
              <a:rPr lang="en-US" sz="1400" dirty="0">
                <a:solidFill>
                  <a:srgbClr val="504C49"/>
                </a:solidFill>
                <a:latin typeface="Source Serif Pro" pitchFamily="34" charset="0"/>
                <a:ea typeface="Source Serif Pro" pitchFamily="34" charset="-122"/>
                <a:cs typeface="Source Serif Pro" pitchFamily="34" charset="-120"/>
              </a:rPr>
              <a:t>Blockchain provides a distributed, immutable ledger that enhances traceability and transparency. Walmart's implementation reduced the time to trace a package of mangoes from seven days to 2.2 seconds, enabling rapid, precise recalls during safety issues.</a:t>
            </a:r>
            <a:endParaRPr lang="en-US" sz="1400" dirty="0"/>
          </a:p>
        </p:txBody>
      </p:sp>
      <p:sp>
        <p:nvSpPr>
          <p:cNvPr id="24" name="Text 19"/>
          <p:cNvSpPr/>
          <p:nvPr/>
        </p:nvSpPr>
        <p:spPr>
          <a:xfrm>
            <a:off x="8464379" y="3992582"/>
            <a:ext cx="3937754" cy="185976"/>
          </a:xfrm>
          <a:prstGeom prst="rect">
            <a:avLst/>
          </a:prstGeom>
          <a:noFill/>
          <a:ln/>
        </p:spPr>
        <p:txBody>
          <a:bodyPr wrap="none" lIns="0" tIns="0" rIns="0" bIns="0" rtlCol="0" anchor="t"/>
          <a:lstStyle/>
          <a:p>
            <a:pPr marL="0" indent="0" algn="l">
              <a:lnSpc>
                <a:spcPts val="1450"/>
              </a:lnSpc>
              <a:buNone/>
            </a:pPr>
            <a:r>
              <a:rPr lang="en-US" sz="1400" dirty="0">
                <a:solidFill>
                  <a:srgbClr val="201B18"/>
                </a:solidFill>
                <a:latin typeface="Platypi Medium" pitchFamily="34" charset="0"/>
                <a:ea typeface="Platypi Medium" pitchFamily="34" charset="-122"/>
                <a:cs typeface="Platypi Medium" pitchFamily="34" charset="-120"/>
              </a:rPr>
              <a:t>Integrated Systems: Digital Twins and Control Towers</a:t>
            </a:r>
            <a:endParaRPr lang="en-US" sz="1400" dirty="0"/>
          </a:p>
        </p:txBody>
      </p:sp>
      <p:pic>
        <p:nvPicPr>
          <p:cNvPr id="25" name="Image 3" descr="preencoded.png"/>
          <p:cNvPicPr>
            <a:picLocks noChangeAspect="1"/>
          </p:cNvPicPr>
          <p:nvPr/>
        </p:nvPicPr>
        <p:blipFill>
          <a:blip r:embed="rId6"/>
          <a:stretch>
            <a:fillRect/>
          </a:stretch>
        </p:blipFill>
        <p:spPr>
          <a:xfrm>
            <a:off x="8464379" y="4216919"/>
            <a:ext cx="5308950" cy="3185315"/>
          </a:xfrm>
          <a:prstGeom prst="rect">
            <a:avLst/>
          </a:prstGeom>
        </p:spPr>
      </p:pic>
      <p:sp>
        <p:nvSpPr>
          <p:cNvPr id="26" name="Text 20"/>
          <p:cNvSpPr/>
          <p:nvPr/>
        </p:nvSpPr>
        <p:spPr>
          <a:xfrm>
            <a:off x="431363" y="6482596"/>
            <a:ext cx="1240393" cy="155019"/>
          </a:xfrm>
          <a:prstGeom prst="rect">
            <a:avLst/>
          </a:prstGeom>
          <a:noFill/>
          <a:ln/>
        </p:spPr>
        <p:txBody>
          <a:bodyPr wrap="none" lIns="0" tIns="0" rIns="0" bIns="0" rtlCol="0" anchor="t"/>
          <a:lstStyle/>
          <a:p>
            <a:pPr marL="0" indent="0" algn="l">
              <a:lnSpc>
                <a:spcPts val="1200"/>
              </a:lnSpc>
              <a:buNone/>
            </a:pPr>
            <a:r>
              <a:rPr lang="en-US" sz="1400" dirty="0">
                <a:solidFill>
                  <a:srgbClr val="201B18"/>
                </a:solidFill>
                <a:latin typeface="Platypi Medium" pitchFamily="34" charset="0"/>
                <a:ea typeface="Platypi Medium" pitchFamily="34" charset="-122"/>
                <a:cs typeface="Platypi Medium" pitchFamily="34" charset="-120"/>
              </a:rPr>
              <a:t>Digital Twin</a:t>
            </a:r>
            <a:endParaRPr lang="en-US" sz="1400" dirty="0"/>
          </a:p>
        </p:txBody>
      </p:sp>
      <p:sp>
        <p:nvSpPr>
          <p:cNvPr id="27" name="Text 21"/>
          <p:cNvSpPr/>
          <p:nvPr/>
        </p:nvSpPr>
        <p:spPr>
          <a:xfrm>
            <a:off x="431363" y="6736795"/>
            <a:ext cx="6797397" cy="158591"/>
          </a:xfrm>
          <a:prstGeom prst="rect">
            <a:avLst/>
          </a:prstGeom>
          <a:noFill/>
          <a:ln/>
        </p:spPr>
        <p:txBody>
          <a:bodyPr wrap="none" lIns="0" tIns="0" rIns="0" bIns="0" rtlCol="0" anchor="t"/>
          <a:lstStyle/>
          <a:p>
            <a:pPr marL="0" indent="0" algn="l">
              <a:lnSpc>
                <a:spcPts val="1250"/>
              </a:lnSpc>
              <a:buNone/>
            </a:pPr>
            <a:r>
              <a:rPr lang="en-US" sz="1400" dirty="0">
                <a:solidFill>
                  <a:srgbClr val="504C49"/>
                </a:solidFill>
                <a:latin typeface="Source Serif Pro" pitchFamily="34" charset="0"/>
                <a:ea typeface="Source Serif Pro" pitchFamily="34" charset="-122"/>
                <a:cs typeface="Source Serif Pro" pitchFamily="34" charset="-120"/>
              </a:rPr>
              <a:t>A virtual replica of physical assets or processes continuously updated with real-time data, enabling safe "what-if" simulations without real-world risk.</a:t>
            </a:r>
            <a:endParaRPr lang="en-US" sz="1400" dirty="0"/>
          </a:p>
        </p:txBody>
      </p:sp>
      <p:sp>
        <p:nvSpPr>
          <p:cNvPr id="28" name="Text 22"/>
          <p:cNvSpPr/>
          <p:nvPr/>
        </p:nvSpPr>
        <p:spPr>
          <a:xfrm>
            <a:off x="431363" y="6994565"/>
            <a:ext cx="1702237" cy="155019"/>
          </a:xfrm>
          <a:prstGeom prst="rect">
            <a:avLst/>
          </a:prstGeom>
          <a:noFill/>
          <a:ln/>
        </p:spPr>
        <p:txBody>
          <a:bodyPr wrap="none" lIns="0" tIns="0" rIns="0" bIns="0" rtlCol="0" anchor="t"/>
          <a:lstStyle/>
          <a:p>
            <a:pPr marL="0" indent="0" algn="l">
              <a:lnSpc>
                <a:spcPts val="1200"/>
              </a:lnSpc>
              <a:buNone/>
            </a:pPr>
            <a:r>
              <a:rPr lang="en-US" sz="1400" dirty="0">
                <a:solidFill>
                  <a:srgbClr val="201B18"/>
                </a:solidFill>
                <a:latin typeface="Platypi Medium" pitchFamily="34" charset="0"/>
                <a:ea typeface="Platypi Medium" pitchFamily="34" charset="-122"/>
                <a:cs typeface="Platypi Medium" pitchFamily="34" charset="-120"/>
              </a:rPr>
              <a:t>Supply Chain Control Tower</a:t>
            </a:r>
            <a:endParaRPr lang="en-US" sz="1400" dirty="0"/>
          </a:p>
        </p:txBody>
      </p:sp>
      <p:sp>
        <p:nvSpPr>
          <p:cNvPr id="29" name="Text 23"/>
          <p:cNvSpPr/>
          <p:nvPr/>
        </p:nvSpPr>
        <p:spPr>
          <a:xfrm>
            <a:off x="431363" y="7248763"/>
            <a:ext cx="6797397" cy="317183"/>
          </a:xfrm>
          <a:prstGeom prst="rect">
            <a:avLst/>
          </a:prstGeom>
          <a:noFill/>
          <a:ln/>
        </p:spPr>
        <p:txBody>
          <a:bodyPr wrap="square" lIns="0" tIns="0" rIns="0" bIns="0" rtlCol="0" anchor="t"/>
          <a:lstStyle/>
          <a:p>
            <a:pPr marL="0" indent="0" algn="l">
              <a:lnSpc>
                <a:spcPts val="1250"/>
              </a:lnSpc>
              <a:buNone/>
            </a:pPr>
            <a:r>
              <a:rPr lang="en-US" sz="1400" dirty="0">
                <a:solidFill>
                  <a:srgbClr val="504C49"/>
                </a:solidFill>
                <a:latin typeface="Source Serif Pro" pitchFamily="34" charset="0"/>
                <a:ea typeface="Source Serif Pro" pitchFamily="34" charset="-122"/>
                <a:cs typeface="Source Serif Pro" pitchFamily="34" charset="-120"/>
              </a:rPr>
              <a:t>A centralized hub combining people, processes, data, and technology to provide end-to-end visibility and enable collaborative, data-driven decision-making.</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96835" y="272891"/>
            <a:ext cx="4303752" cy="310158"/>
          </a:xfrm>
          <a:prstGeom prst="rect">
            <a:avLst/>
          </a:prstGeom>
          <a:noFill/>
          <a:ln/>
        </p:spPr>
        <p:txBody>
          <a:bodyPr wrap="none" lIns="0" tIns="0" rIns="0" bIns="0" rtlCol="0" anchor="t"/>
          <a:lstStyle/>
          <a:p>
            <a:pPr marL="0" indent="0" algn="l">
              <a:lnSpc>
                <a:spcPts val="2400"/>
              </a:lnSpc>
              <a:buNone/>
            </a:pPr>
            <a:r>
              <a:rPr lang="en-US" sz="1950" dirty="0">
                <a:solidFill>
                  <a:srgbClr val="201B18"/>
                </a:solidFill>
                <a:latin typeface="Platypi Medium" pitchFamily="34" charset="0"/>
                <a:ea typeface="Platypi Medium" pitchFamily="34" charset="-122"/>
                <a:cs typeface="Platypi Medium" pitchFamily="34" charset="-120"/>
              </a:rPr>
              <a:t>Case Studies in Strategic Execution</a:t>
            </a:r>
            <a:endParaRPr lang="en-US" sz="1950" dirty="0"/>
          </a:p>
        </p:txBody>
      </p:sp>
      <p:sp>
        <p:nvSpPr>
          <p:cNvPr id="3" name="Text 1"/>
          <p:cNvSpPr/>
          <p:nvPr/>
        </p:nvSpPr>
        <p:spPr>
          <a:xfrm>
            <a:off x="396835" y="646801"/>
            <a:ext cx="13836729" cy="158591"/>
          </a:xfrm>
          <a:prstGeom prst="rect">
            <a:avLst/>
          </a:prstGeom>
          <a:noFill/>
          <a:ln/>
        </p:spPr>
        <p:txBody>
          <a:bodyPr wrap="none" lIns="0" tIns="0" rIns="0" bIns="0" rtlCol="0" anchor="t"/>
          <a:lstStyle/>
          <a:p>
            <a:pPr marL="0" indent="0" algn="l">
              <a:lnSpc>
                <a:spcPts val="1250"/>
              </a:lnSpc>
              <a:buNone/>
            </a:pPr>
            <a:r>
              <a:rPr lang="en-US" sz="1400" dirty="0">
                <a:solidFill>
                  <a:srgbClr val="504C49"/>
                </a:solidFill>
                <a:latin typeface="Source Serif Pro" pitchFamily="34" charset="0"/>
                <a:ea typeface="Source Serif Pro" pitchFamily="34" charset="-122"/>
                <a:cs typeface="Source Serif Pro" pitchFamily="34" charset="-120"/>
              </a:rPr>
              <a:t>World-class supply chains are meticulously designed to support specific corporate strategies. Four industry titans demonstrate how different strategic objectives are realized</a:t>
            </a:r>
            <a:br>
              <a:rPr lang="en-US" sz="1400" dirty="0">
                <a:solidFill>
                  <a:srgbClr val="504C49"/>
                </a:solidFill>
                <a:latin typeface="Source Serif Pro" pitchFamily="34" charset="0"/>
                <a:ea typeface="Source Serif Pro" pitchFamily="34" charset="-122"/>
                <a:cs typeface="Source Serif Pro" pitchFamily="34" charset="-120"/>
              </a:rPr>
            </a:br>
            <a:r>
              <a:rPr lang="en-US" sz="1400" dirty="0">
                <a:solidFill>
                  <a:srgbClr val="504C49"/>
                </a:solidFill>
                <a:latin typeface="Source Serif Pro" pitchFamily="34" charset="0"/>
                <a:ea typeface="Source Serif Pro" pitchFamily="34" charset="-122"/>
                <a:cs typeface="Source Serif Pro" pitchFamily="34" charset="-120"/>
              </a:rPr>
              <a:t> through unique combinations of operational tactics and technology.</a:t>
            </a:r>
            <a:endParaRPr lang="en-US" sz="1400" dirty="0"/>
          </a:p>
        </p:txBody>
      </p:sp>
      <p:sp>
        <p:nvSpPr>
          <p:cNvPr id="4" name="Shape 2"/>
          <p:cNvSpPr/>
          <p:nvPr/>
        </p:nvSpPr>
        <p:spPr>
          <a:xfrm>
            <a:off x="0" y="999529"/>
            <a:ext cx="6868716" cy="1007745"/>
          </a:xfrm>
          <a:prstGeom prst="roundRect">
            <a:avLst>
              <a:gd name="adj" fmla="val 1477"/>
            </a:avLst>
          </a:prstGeom>
          <a:solidFill>
            <a:srgbClr val="F9F7F7"/>
          </a:solidFill>
          <a:ln/>
        </p:spPr>
        <p:txBody>
          <a:bodyPr/>
          <a:lstStyle/>
          <a:p>
            <a:endParaRPr lang="en-IN" sz="1400"/>
          </a:p>
        </p:txBody>
      </p:sp>
      <p:sp>
        <p:nvSpPr>
          <p:cNvPr id="5" name="Text 3"/>
          <p:cNvSpPr/>
          <p:nvPr/>
        </p:nvSpPr>
        <p:spPr>
          <a:xfrm>
            <a:off x="99179" y="1098708"/>
            <a:ext cx="2171938" cy="155019"/>
          </a:xfrm>
          <a:prstGeom prst="rect">
            <a:avLst/>
          </a:prstGeom>
          <a:noFill/>
          <a:ln/>
        </p:spPr>
        <p:txBody>
          <a:bodyPr wrap="none" lIns="0" tIns="0" rIns="0" bIns="0" rtlCol="0" anchor="t"/>
          <a:lstStyle/>
          <a:p>
            <a:pPr marL="0" indent="0" algn="l">
              <a:lnSpc>
                <a:spcPts val="1200"/>
              </a:lnSpc>
              <a:buNone/>
            </a:pPr>
            <a:r>
              <a:rPr lang="en-US" sz="1400" dirty="0">
                <a:solidFill>
                  <a:srgbClr val="504C49"/>
                </a:solidFill>
                <a:latin typeface="Platypi Medium" pitchFamily="34" charset="0"/>
                <a:ea typeface="Platypi Medium" pitchFamily="34" charset="-122"/>
                <a:cs typeface="Platypi Medium" pitchFamily="34" charset="-120"/>
              </a:rPr>
              <a:t>Walmart: Relentless Cost Efficiency</a:t>
            </a:r>
            <a:endParaRPr lang="en-US" sz="1400" dirty="0"/>
          </a:p>
        </p:txBody>
      </p:sp>
      <p:sp>
        <p:nvSpPr>
          <p:cNvPr id="6" name="Text 4"/>
          <p:cNvSpPr/>
          <p:nvPr/>
        </p:nvSpPr>
        <p:spPr>
          <a:xfrm>
            <a:off x="99179" y="1313259"/>
            <a:ext cx="6670357" cy="158591"/>
          </a:xfrm>
          <a:prstGeom prst="rect">
            <a:avLst/>
          </a:prstGeom>
          <a:noFill/>
          <a:ln/>
        </p:spPr>
        <p:txBody>
          <a:bodyPr wrap="none" lIns="0" tIns="0" rIns="0" bIns="0" rtlCol="0" anchor="t"/>
          <a:lstStyle/>
          <a:p>
            <a:pPr marL="0" indent="0" algn="l">
              <a:lnSpc>
                <a:spcPts val="1250"/>
              </a:lnSpc>
              <a:buNone/>
            </a:pPr>
            <a:r>
              <a:rPr lang="en-US" sz="1400" b="1" dirty="0">
                <a:solidFill>
                  <a:srgbClr val="504C49"/>
                </a:solidFill>
                <a:latin typeface="Source Serif Pro" pitchFamily="34" charset="0"/>
                <a:ea typeface="Source Serif Pro" pitchFamily="34" charset="-122"/>
                <a:cs typeface="Source Serif Pro" pitchFamily="34" charset="-120"/>
              </a:rPr>
              <a:t>Core Strategy:</a:t>
            </a:r>
            <a:r>
              <a:rPr lang="en-US" sz="1400" dirty="0">
                <a:solidFill>
                  <a:srgbClr val="504C49"/>
                </a:solidFill>
                <a:latin typeface="Source Serif Pro" pitchFamily="34" charset="0"/>
                <a:ea typeface="Source Serif Pro" pitchFamily="34" charset="-122"/>
                <a:cs typeface="Source Serif Pro" pitchFamily="34" charset="-120"/>
              </a:rPr>
              <a:t> Cost leadership enabling "Everyday Low Prices"</a:t>
            </a:r>
            <a:endParaRPr lang="en-US" sz="1400" dirty="0"/>
          </a:p>
        </p:txBody>
      </p:sp>
      <p:sp>
        <p:nvSpPr>
          <p:cNvPr id="7" name="Text 5"/>
          <p:cNvSpPr/>
          <p:nvPr/>
        </p:nvSpPr>
        <p:spPr>
          <a:xfrm>
            <a:off x="99179" y="1531381"/>
            <a:ext cx="6670357" cy="158591"/>
          </a:xfrm>
          <a:prstGeom prst="rect">
            <a:avLst/>
          </a:prstGeom>
          <a:noFill/>
          <a:ln/>
        </p:spPr>
        <p:txBody>
          <a:bodyPr wrap="none" lIns="0" tIns="0" rIns="0" bIns="0" rtlCol="0" anchor="t"/>
          <a:lstStyle/>
          <a:p>
            <a:pPr marL="0" indent="0" algn="l">
              <a:lnSpc>
                <a:spcPts val="1250"/>
              </a:lnSpc>
              <a:buNone/>
            </a:pPr>
            <a:r>
              <a:rPr lang="en-US" sz="1400" b="1" dirty="0">
                <a:solidFill>
                  <a:srgbClr val="504C49"/>
                </a:solidFill>
                <a:latin typeface="Source Serif Pro" pitchFamily="34" charset="0"/>
                <a:ea typeface="Source Serif Pro" pitchFamily="34" charset="-122"/>
                <a:cs typeface="Source Serif Pro" pitchFamily="34" charset="-120"/>
              </a:rPr>
              <a:t>Key Tactics:</a:t>
            </a:r>
            <a:r>
              <a:rPr lang="en-US" sz="1400" dirty="0">
                <a:solidFill>
                  <a:srgbClr val="504C49"/>
                </a:solidFill>
                <a:latin typeface="Source Serif Pro" pitchFamily="34" charset="0"/>
                <a:ea typeface="Source Serif Pro" pitchFamily="34" charset="-122"/>
                <a:cs typeface="Source Serif Pro" pitchFamily="34" charset="-120"/>
              </a:rPr>
              <a:t> Cross-docking, private truck fleet, Vendor-Managed Inventory, and continuous technology adoption</a:t>
            </a:r>
            <a:endParaRPr lang="en-US" sz="1400" dirty="0"/>
          </a:p>
        </p:txBody>
      </p:sp>
      <p:sp>
        <p:nvSpPr>
          <p:cNvPr id="8" name="Text 6"/>
          <p:cNvSpPr/>
          <p:nvPr/>
        </p:nvSpPr>
        <p:spPr>
          <a:xfrm>
            <a:off x="99179" y="1749504"/>
            <a:ext cx="6670357" cy="158591"/>
          </a:xfrm>
          <a:prstGeom prst="rect">
            <a:avLst/>
          </a:prstGeom>
          <a:noFill/>
          <a:ln/>
        </p:spPr>
        <p:txBody>
          <a:bodyPr wrap="none" lIns="0" tIns="0" rIns="0" bIns="0" rtlCol="0" anchor="t"/>
          <a:lstStyle/>
          <a:p>
            <a:pPr marL="0" indent="0" algn="l">
              <a:lnSpc>
                <a:spcPts val="1250"/>
              </a:lnSpc>
              <a:buNone/>
            </a:pPr>
            <a:r>
              <a:rPr lang="en-US" sz="1400" b="1" dirty="0">
                <a:solidFill>
                  <a:srgbClr val="504C49"/>
                </a:solidFill>
                <a:latin typeface="Source Serif Pro" pitchFamily="34" charset="0"/>
                <a:ea typeface="Source Serif Pro" pitchFamily="34" charset="-122"/>
                <a:cs typeface="Source Serif Pro" pitchFamily="34" charset="-120"/>
              </a:rPr>
              <a:t>Outcome:</a:t>
            </a:r>
            <a:r>
              <a:rPr lang="en-US" sz="1400" dirty="0">
                <a:solidFill>
                  <a:srgbClr val="504C49"/>
                </a:solidFill>
                <a:latin typeface="Source Serif Pro" pitchFamily="34" charset="0"/>
                <a:ea typeface="Source Serif Pro" pitchFamily="34" charset="-122"/>
                <a:cs typeface="Source Serif Pro" pitchFamily="34" charset="-120"/>
              </a:rPr>
              <a:t> Hyper-efficient, low-cost supply chain enabling market saturation with 90% of Americans living within 15 minutes of a store</a:t>
            </a:r>
            <a:endParaRPr lang="en-US" sz="1400" dirty="0"/>
          </a:p>
        </p:txBody>
      </p:sp>
      <p:sp>
        <p:nvSpPr>
          <p:cNvPr id="9" name="Shape 7"/>
          <p:cNvSpPr/>
          <p:nvPr/>
        </p:nvSpPr>
        <p:spPr>
          <a:xfrm>
            <a:off x="7989451" y="3780213"/>
            <a:ext cx="6640950" cy="1310406"/>
          </a:xfrm>
          <a:prstGeom prst="roundRect">
            <a:avLst>
              <a:gd name="adj" fmla="val 1477"/>
            </a:avLst>
          </a:prstGeom>
          <a:solidFill>
            <a:srgbClr val="F9F7F7"/>
          </a:solidFill>
          <a:ln/>
        </p:spPr>
        <p:txBody>
          <a:bodyPr/>
          <a:lstStyle/>
          <a:p>
            <a:endParaRPr lang="en-IN" sz="1400"/>
          </a:p>
        </p:txBody>
      </p:sp>
      <p:sp>
        <p:nvSpPr>
          <p:cNvPr id="10" name="Text 8"/>
          <p:cNvSpPr/>
          <p:nvPr/>
        </p:nvSpPr>
        <p:spPr>
          <a:xfrm>
            <a:off x="8088629" y="3879392"/>
            <a:ext cx="1558647" cy="155019"/>
          </a:xfrm>
          <a:prstGeom prst="rect">
            <a:avLst/>
          </a:prstGeom>
          <a:noFill/>
          <a:ln/>
        </p:spPr>
        <p:txBody>
          <a:bodyPr wrap="none" lIns="0" tIns="0" rIns="0" bIns="0" rtlCol="0" anchor="t"/>
          <a:lstStyle/>
          <a:p>
            <a:pPr marL="0" indent="0" algn="l">
              <a:lnSpc>
                <a:spcPts val="1200"/>
              </a:lnSpc>
              <a:buNone/>
            </a:pPr>
            <a:r>
              <a:rPr lang="en-US" sz="1400" dirty="0">
                <a:solidFill>
                  <a:srgbClr val="504C49"/>
                </a:solidFill>
                <a:latin typeface="Platypi Medium" pitchFamily="34" charset="0"/>
                <a:ea typeface="Platypi Medium" pitchFamily="34" charset="-122"/>
                <a:cs typeface="Platypi Medium" pitchFamily="34" charset="-120"/>
              </a:rPr>
              <a:t>Zara: Fast-Fashion Agility</a:t>
            </a:r>
            <a:endParaRPr lang="en-US" sz="1400" dirty="0"/>
          </a:p>
        </p:txBody>
      </p:sp>
      <p:sp>
        <p:nvSpPr>
          <p:cNvPr id="11" name="Text 9"/>
          <p:cNvSpPr/>
          <p:nvPr/>
        </p:nvSpPr>
        <p:spPr>
          <a:xfrm>
            <a:off x="8088629" y="4093943"/>
            <a:ext cx="6670477" cy="158591"/>
          </a:xfrm>
          <a:prstGeom prst="rect">
            <a:avLst/>
          </a:prstGeom>
          <a:noFill/>
          <a:ln/>
        </p:spPr>
        <p:txBody>
          <a:bodyPr wrap="none" lIns="0" tIns="0" rIns="0" bIns="0" rtlCol="0" anchor="t"/>
          <a:lstStyle/>
          <a:p>
            <a:pPr marL="0" indent="0" algn="l">
              <a:lnSpc>
                <a:spcPts val="1250"/>
              </a:lnSpc>
              <a:buNone/>
            </a:pPr>
            <a:r>
              <a:rPr lang="en-US" sz="1400" b="1" dirty="0">
                <a:solidFill>
                  <a:srgbClr val="504C49"/>
                </a:solidFill>
                <a:latin typeface="Source Serif Pro" pitchFamily="34" charset="0"/>
                <a:ea typeface="Source Serif Pro" pitchFamily="34" charset="-122"/>
                <a:cs typeface="Source Serif Pro" pitchFamily="34" charset="-120"/>
              </a:rPr>
              <a:t>Core Strategy:</a:t>
            </a:r>
            <a:r>
              <a:rPr lang="en-US" sz="1400" dirty="0">
                <a:solidFill>
                  <a:srgbClr val="504C49"/>
                </a:solidFill>
                <a:latin typeface="Source Serif Pro" pitchFamily="34" charset="0"/>
                <a:ea typeface="Source Serif Pro" pitchFamily="34" charset="-122"/>
                <a:cs typeface="Source Serif Pro" pitchFamily="34" charset="-120"/>
              </a:rPr>
              <a:t> Speed and responsiveness to fast-changing fashion trends</a:t>
            </a:r>
            <a:endParaRPr lang="en-US" sz="1400" dirty="0"/>
          </a:p>
        </p:txBody>
      </p:sp>
      <p:sp>
        <p:nvSpPr>
          <p:cNvPr id="12" name="Text 10"/>
          <p:cNvSpPr/>
          <p:nvPr/>
        </p:nvSpPr>
        <p:spPr>
          <a:xfrm>
            <a:off x="8088629" y="4312065"/>
            <a:ext cx="6670477" cy="158591"/>
          </a:xfrm>
          <a:prstGeom prst="rect">
            <a:avLst/>
          </a:prstGeom>
          <a:noFill/>
          <a:ln/>
        </p:spPr>
        <p:txBody>
          <a:bodyPr wrap="none" lIns="0" tIns="0" rIns="0" bIns="0" rtlCol="0" anchor="t"/>
          <a:lstStyle/>
          <a:p>
            <a:pPr marL="0" indent="0" algn="l">
              <a:lnSpc>
                <a:spcPts val="1250"/>
              </a:lnSpc>
              <a:buNone/>
            </a:pPr>
            <a:r>
              <a:rPr lang="en-US" sz="1400" b="1" dirty="0">
                <a:solidFill>
                  <a:srgbClr val="504C49"/>
                </a:solidFill>
                <a:latin typeface="Source Serif Pro" pitchFamily="34" charset="0"/>
                <a:ea typeface="Source Serif Pro" pitchFamily="34" charset="-122"/>
                <a:cs typeface="Source Serif Pro" pitchFamily="34" charset="-120"/>
              </a:rPr>
              <a:t>Key Tactics:</a:t>
            </a:r>
            <a:r>
              <a:rPr lang="en-US" sz="1400" dirty="0">
                <a:solidFill>
                  <a:srgbClr val="504C49"/>
                </a:solidFill>
                <a:latin typeface="Source Serif Pro" pitchFamily="34" charset="0"/>
                <a:ea typeface="Source Serif Pro" pitchFamily="34" charset="-122"/>
                <a:cs typeface="Source Serif Pro" pitchFamily="34" charset="-120"/>
              </a:rPr>
              <a:t> 15-day design-to-retail cycle, vertical integration, near-sourcing, and </a:t>
            </a:r>
            <a:br>
              <a:rPr lang="en-US" sz="1400" dirty="0">
                <a:solidFill>
                  <a:srgbClr val="504C49"/>
                </a:solidFill>
                <a:latin typeface="Source Serif Pro" pitchFamily="34" charset="0"/>
                <a:ea typeface="Source Serif Pro" pitchFamily="34" charset="-122"/>
                <a:cs typeface="Source Serif Pro" pitchFamily="34" charset="-120"/>
              </a:rPr>
            </a:br>
            <a:r>
              <a:rPr lang="en-US" sz="1400" dirty="0">
                <a:solidFill>
                  <a:srgbClr val="504C49"/>
                </a:solidFill>
                <a:latin typeface="Source Serif Pro" pitchFamily="34" charset="0"/>
                <a:ea typeface="Source Serif Pro" pitchFamily="34" charset="-122"/>
                <a:cs typeface="Source Serif Pro" pitchFamily="34" charset="-120"/>
              </a:rPr>
              <a:t>small-batch production</a:t>
            </a:r>
            <a:endParaRPr lang="en-US" sz="1400" dirty="0"/>
          </a:p>
        </p:txBody>
      </p:sp>
      <p:sp>
        <p:nvSpPr>
          <p:cNvPr id="13" name="Text 11"/>
          <p:cNvSpPr/>
          <p:nvPr/>
        </p:nvSpPr>
        <p:spPr>
          <a:xfrm>
            <a:off x="8088630" y="4644309"/>
            <a:ext cx="6670477" cy="158591"/>
          </a:xfrm>
          <a:prstGeom prst="rect">
            <a:avLst/>
          </a:prstGeom>
          <a:noFill/>
          <a:ln/>
        </p:spPr>
        <p:txBody>
          <a:bodyPr wrap="none" lIns="0" tIns="0" rIns="0" bIns="0" rtlCol="0" anchor="t"/>
          <a:lstStyle/>
          <a:p>
            <a:pPr marL="0" indent="0" algn="l">
              <a:lnSpc>
                <a:spcPts val="1250"/>
              </a:lnSpc>
              <a:buNone/>
            </a:pPr>
            <a:r>
              <a:rPr lang="en-US" sz="1400" b="1" dirty="0">
                <a:solidFill>
                  <a:srgbClr val="504C49"/>
                </a:solidFill>
                <a:latin typeface="Source Serif Pro" pitchFamily="34" charset="0"/>
                <a:ea typeface="Source Serif Pro" pitchFamily="34" charset="-122"/>
                <a:cs typeface="Source Serif Pro" pitchFamily="34" charset="-120"/>
              </a:rPr>
              <a:t>Outcome:</a:t>
            </a:r>
            <a:r>
              <a:rPr lang="en-US" sz="1400" dirty="0">
                <a:solidFill>
                  <a:srgbClr val="504C49"/>
                </a:solidFill>
                <a:latin typeface="Source Serif Pro" pitchFamily="34" charset="0"/>
                <a:ea typeface="Source Serif Pro" pitchFamily="34" charset="-122"/>
                <a:cs typeface="Source Serif Pro" pitchFamily="34" charset="-120"/>
              </a:rPr>
              <a:t> 12x inventory turnover (vs. industry average of 3-4) and 85% of items </a:t>
            </a:r>
            <a:br>
              <a:rPr lang="en-US" sz="1400" dirty="0">
                <a:solidFill>
                  <a:srgbClr val="504C49"/>
                </a:solidFill>
                <a:latin typeface="Source Serif Pro" pitchFamily="34" charset="0"/>
                <a:ea typeface="Source Serif Pro" pitchFamily="34" charset="-122"/>
                <a:cs typeface="Source Serif Pro" pitchFamily="34" charset="-120"/>
              </a:rPr>
            </a:br>
            <a:r>
              <a:rPr lang="en-US" sz="1400" dirty="0">
                <a:solidFill>
                  <a:srgbClr val="504C49"/>
                </a:solidFill>
                <a:latin typeface="Source Serif Pro" pitchFamily="34" charset="0"/>
                <a:ea typeface="Source Serif Pro" pitchFamily="34" charset="-122"/>
                <a:cs typeface="Source Serif Pro" pitchFamily="34" charset="-120"/>
              </a:rPr>
              <a:t>sold at full price (vs. industry average of 60%)</a:t>
            </a:r>
            <a:endParaRPr lang="en-US" sz="1400" dirty="0"/>
          </a:p>
        </p:txBody>
      </p:sp>
      <p:sp>
        <p:nvSpPr>
          <p:cNvPr id="14" name="Shape 12"/>
          <p:cNvSpPr/>
          <p:nvPr/>
        </p:nvSpPr>
        <p:spPr>
          <a:xfrm>
            <a:off x="0" y="2711256"/>
            <a:ext cx="6868716" cy="1007745"/>
          </a:xfrm>
          <a:prstGeom prst="roundRect">
            <a:avLst>
              <a:gd name="adj" fmla="val 1477"/>
            </a:avLst>
          </a:prstGeom>
          <a:solidFill>
            <a:srgbClr val="F9F7F7"/>
          </a:solidFill>
          <a:ln/>
        </p:spPr>
        <p:txBody>
          <a:bodyPr/>
          <a:lstStyle/>
          <a:p>
            <a:endParaRPr lang="en-IN" sz="1400"/>
          </a:p>
        </p:txBody>
      </p:sp>
      <p:sp>
        <p:nvSpPr>
          <p:cNvPr id="15" name="Text 13"/>
          <p:cNvSpPr/>
          <p:nvPr/>
        </p:nvSpPr>
        <p:spPr>
          <a:xfrm>
            <a:off x="99180" y="2776077"/>
            <a:ext cx="2372082" cy="155019"/>
          </a:xfrm>
          <a:prstGeom prst="rect">
            <a:avLst/>
          </a:prstGeom>
          <a:noFill/>
          <a:ln/>
        </p:spPr>
        <p:txBody>
          <a:bodyPr wrap="none" lIns="0" tIns="0" rIns="0" bIns="0" rtlCol="0" anchor="t"/>
          <a:lstStyle/>
          <a:p>
            <a:pPr marL="0" indent="0" algn="l">
              <a:lnSpc>
                <a:spcPts val="1200"/>
              </a:lnSpc>
              <a:buNone/>
            </a:pPr>
            <a:r>
              <a:rPr lang="en-US" sz="1400" dirty="0">
                <a:solidFill>
                  <a:srgbClr val="504C49"/>
                </a:solidFill>
                <a:latin typeface="Platypi Medium" pitchFamily="34" charset="0"/>
                <a:ea typeface="Platypi Medium" pitchFamily="34" charset="-122"/>
                <a:cs typeface="Platypi Medium" pitchFamily="34" charset="-120"/>
              </a:rPr>
              <a:t>Apple: Global Complexity Management</a:t>
            </a:r>
            <a:endParaRPr lang="en-US" sz="1400" dirty="0"/>
          </a:p>
        </p:txBody>
      </p:sp>
      <p:sp>
        <p:nvSpPr>
          <p:cNvPr id="16" name="Text 14"/>
          <p:cNvSpPr/>
          <p:nvPr/>
        </p:nvSpPr>
        <p:spPr>
          <a:xfrm>
            <a:off x="99180" y="2990627"/>
            <a:ext cx="6670357" cy="158591"/>
          </a:xfrm>
          <a:prstGeom prst="rect">
            <a:avLst/>
          </a:prstGeom>
          <a:noFill/>
          <a:ln/>
        </p:spPr>
        <p:txBody>
          <a:bodyPr wrap="none" lIns="0" tIns="0" rIns="0" bIns="0" rtlCol="0" anchor="t"/>
          <a:lstStyle/>
          <a:p>
            <a:pPr marL="0" indent="0" algn="l">
              <a:lnSpc>
                <a:spcPts val="1250"/>
              </a:lnSpc>
              <a:buNone/>
            </a:pPr>
            <a:r>
              <a:rPr lang="en-US" sz="1400" b="1" dirty="0">
                <a:solidFill>
                  <a:srgbClr val="504C49"/>
                </a:solidFill>
                <a:latin typeface="Source Serif Pro" pitchFamily="34" charset="0"/>
                <a:ea typeface="Source Serif Pro" pitchFamily="34" charset="-122"/>
                <a:cs typeface="Source Serif Pro" pitchFamily="34" charset="-120"/>
              </a:rPr>
              <a:t>Core Strategy:</a:t>
            </a:r>
            <a:r>
              <a:rPr lang="en-US" sz="1400" dirty="0">
                <a:solidFill>
                  <a:srgbClr val="504C49"/>
                </a:solidFill>
                <a:latin typeface="Source Serif Pro" pitchFamily="34" charset="0"/>
                <a:ea typeface="Source Serif Pro" pitchFamily="34" charset="-122"/>
                <a:cs typeface="Source Serif Pro" pitchFamily="34" charset="-120"/>
              </a:rPr>
              <a:t> Product innovation, premium quality, and seamless customer experience</a:t>
            </a:r>
            <a:endParaRPr lang="en-US" sz="1400" dirty="0"/>
          </a:p>
        </p:txBody>
      </p:sp>
      <p:sp>
        <p:nvSpPr>
          <p:cNvPr id="17" name="Text 15"/>
          <p:cNvSpPr/>
          <p:nvPr/>
        </p:nvSpPr>
        <p:spPr>
          <a:xfrm>
            <a:off x="99180" y="3208750"/>
            <a:ext cx="6670357" cy="158591"/>
          </a:xfrm>
          <a:prstGeom prst="rect">
            <a:avLst/>
          </a:prstGeom>
          <a:noFill/>
          <a:ln/>
        </p:spPr>
        <p:txBody>
          <a:bodyPr wrap="none" lIns="0" tIns="0" rIns="0" bIns="0" rtlCol="0" anchor="t"/>
          <a:lstStyle/>
          <a:p>
            <a:pPr marL="0" indent="0" algn="l">
              <a:lnSpc>
                <a:spcPts val="1250"/>
              </a:lnSpc>
              <a:buNone/>
            </a:pPr>
            <a:r>
              <a:rPr lang="en-US" sz="1400" b="1" dirty="0">
                <a:solidFill>
                  <a:srgbClr val="504C49"/>
                </a:solidFill>
                <a:latin typeface="Source Serif Pro" pitchFamily="34" charset="0"/>
                <a:ea typeface="Source Serif Pro" pitchFamily="34" charset="-122"/>
                <a:cs typeface="Source Serif Pro" pitchFamily="34" charset="-120"/>
              </a:rPr>
              <a:t>Key Tactics:</a:t>
            </a:r>
            <a:r>
              <a:rPr lang="en-US" sz="1400" dirty="0">
                <a:solidFill>
                  <a:srgbClr val="504C49"/>
                </a:solidFill>
                <a:latin typeface="Source Serif Pro" pitchFamily="34" charset="0"/>
                <a:ea typeface="Source Serif Pro" pitchFamily="34" charset="-122"/>
                <a:cs typeface="Source Serif Pro" pitchFamily="34" charset="-120"/>
              </a:rPr>
              <a:t> Strategic sourcing, multi-supplier resilience, vertical integration of core technology, and JIT manufacturing</a:t>
            </a:r>
            <a:endParaRPr lang="en-US" sz="1400" dirty="0"/>
          </a:p>
        </p:txBody>
      </p:sp>
      <p:sp>
        <p:nvSpPr>
          <p:cNvPr id="18" name="Text 16"/>
          <p:cNvSpPr/>
          <p:nvPr/>
        </p:nvSpPr>
        <p:spPr>
          <a:xfrm>
            <a:off x="99180" y="3426872"/>
            <a:ext cx="6670357" cy="158591"/>
          </a:xfrm>
          <a:prstGeom prst="rect">
            <a:avLst/>
          </a:prstGeom>
          <a:noFill/>
          <a:ln/>
        </p:spPr>
        <p:txBody>
          <a:bodyPr wrap="none" lIns="0" tIns="0" rIns="0" bIns="0" rtlCol="0" anchor="t"/>
          <a:lstStyle/>
          <a:p>
            <a:pPr marL="0" indent="0" algn="l">
              <a:lnSpc>
                <a:spcPts val="1250"/>
              </a:lnSpc>
              <a:buNone/>
            </a:pPr>
            <a:r>
              <a:rPr lang="en-US" sz="1400" b="1" dirty="0">
                <a:solidFill>
                  <a:srgbClr val="504C49"/>
                </a:solidFill>
                <a:latin typeface="Source Serif Pro" pitchFamily="34" charset="0"/>
                <a:ea typeface="Source Serif Pro" pitchFamily="34" charset="-122"/>
                <a:cs typeface="Source Serif Pro" pitchFamily="34" charset="-120"/>
              </a:rPr>
              <a:t>Outcome:</a:t>
            </a:r>
            <a:r>
              <a:rPr lang="en-US" sz="1400" dirty="0">
                <a:solidFill>
                  <a:srgbClr val="504C49"/>
                </a:solidFill>
                <a:latin typeface="Source Serif Pro" pitchFamily="34" charset="0"/>
                <a:ea typeface="Source Serif Pro" pitchFamily="34" charset="-122"/>
                <a:cs typeface="Source Serif Pro" pitchFamily="34" charset="-120"/>
              </a:rPr>
              <a:t> Negative cash conversion cycle (averaging -64 days) and low inventory levels (9-12 days) contributing to enormous profitability</a:t>
            </a:r>
            <a:endParaRPr lang="en-US" sz="1400" dirty="0"/>
          </a:p>
        </p:txBody>
      </p:sp>
      <p:sp>
        <p:nvSpPr>
          <p:cNvPr id="19" name="Shape 17"/>
          <p:cNvSpPr/>
          <p:nvPr/>
        </p:nvSpPr>
        <p:spPr>
          <a:xfrm>
            <a:off x="8088630" y="6052958"/>
            <a:ext cx="6414770" cy="1310406"/>
          </a:xfrm>
          <a:prstGeom prst="roundRect">
            <a:avLst>
              <a:gd name="adj" fmla="val 1477"/>
            </a:avLst>
          </a:prstGeom>
          <a:solidFill>
            <a:srgbClr val="F9F7F7"/>
          </a:solidFill>
          <a:ln/>
        </p:spPr>
        <p:txBody>
          <a:bodyPr/>
          <a:lstStyle/>
          <a:p>
            <a:endParaRPr lang="en-IN" sz="1400"/>
          </a:p>
        </p:txBody>
      </p:sp>
      <p:sp>
        <p:nvSpPr>
          <p:cNvPr id="20" name="Text 18"/>
          <p:cNvSpPr/>
          <p:nvPr/>
        </p:nvSpPr>
        <p:spPr>
          <a:xfrm>
            <a:off x="8187808" y="6152137"/>
            <a:ext cx="2416612" cy="155019"/>
          </a:xfrm>
          <a:prstGeom prst="rect">
            <a:avLst/>
          </a:prstGeom>
          <a:noFill/>
          <a:ln/>
        </p:spPr>
        <p:txBody>
          <a:bodyPr wrap="none" lIns="0" tIns="0" rIns="0" bIns="0" rtlCol="0" anchor="t"/>
          <a:lstStyle/>
          <a:p>
            <a:pPr marL="0" indent="0" algn="l">
              <a:lnSpc>
                <a:spcPts val="1200"/>
              </a:lnSpc>
              <a:buNone/>
            </a:pPr>
            <a:r>
              <a:rPr lang="en-US" sz="1400" dirty="0">
                <a:solidFill>
                  <a:srgbClr val="504C49"/>
                </a:solidFill>
                <a:latin typeface="Platypi Medium" pitchFamily="34" charset="0"/>
                <a:ea typeface="Platypi Medium" pitchFamily="34" charset="-122"/>
                <a:cs typeface="Platypi Medium" pitchFamily="34" charset="-120"/>
              </a:rPr>
              <a:t>Amazon: Technology-Driven Fulfillment</a:t>
            </a:r>
            <a:endParaRPr lang="en-US" sz="1400" dirty="0"/>
          </a:p>
        </p:txBody>
      </p:sp>
      <p:sp>
        <p:nvSpPr>
          <p:cNvPr id="21" name="Text 19"/>
          <p:cNvSpPr/>
          <p:nvPr/>
        </p:nvSpPr>
        <p:spPr>
          <a:xfrm>
            <a:off x="8187808" y="6366687"/>
            <a:ext cx="6670477" cy="158591"/>
          </a:xfrm>
          <a:prstGeom prst="rect">
            <a:avLst/>
          </a:prstGeom>
          <a:noFill/>
          <a:ln/>
        </p:spPr>
        <p:txBody>
          <a:bodyPr wrap="none" lIns="0" tIns="0" rIns="0" bIns="0" rtlCol="0" anchor="t"/>
          <a:lstStyle/>
          <a:p>
            <a:pPr marL="0" indent="0" algn="l">
              <a:lnSpc>
                <a:spcPts val="1250"/>
              </a:lnSpc>
              <a:buNone/>
            </a:pPr>
            <a:r>
              <a:rPr lang="en-US" sz="1400" b="1" dirty="0">
                <a:solidFill>
                  <a:srgbClr val="504C49"/>
                </a:solidFill>
                <a:latin typeface="Source Serif Pro" pitchFamily="34" charset="0"/>
                <a:ea typeface="Source Serif Pro" pitchFamily="34" charset="-122"/>
                <a:cs typeface="Source Serif Pro" pitchFamily="34" charset="-120"/>
              </a:rPr>
              <a:t>Core Strategy:</a:t>
            </a:r>
            <a:r>
              <a:rPr lang="en-US" sz="1400" dirty="0">
                <a:solidFill>
                  <a:srgbClr val="504C49"/>
                </a:solidFill>
                <a:latin typeface="Source Serif Pro" pitchFamily="34" charset="0"/>
                <a:ea typeface="Source Serif Pro" pitchFamily="34" charset="-122"/>
                <a:cs typeface="Source Serif Pro" pitchFamily="34" charset="-120"/>
              </a:rPr>
              <a:t> Obsessive customer centricity delivered through speed</a:t>
            </a:r>
            <a:endParaRPr lang="en-US" sz="1400" dirty="0"/>
          </a:p>
        </p:txBody>
      </p:sp>
      <p:sp>
        <p:nvSpPr>
          <p:cNvPr id="22" name="Text 20"/>
          <p:cNvSpPr/>
          <p:nvPr/>
        </p:nvSpPr>
        <p:spPr>
          <a:xfrm>
            <a:off x="8187808" y="6584810"/>
            <a:ext cx="6670477" cy="158591"/>
          </a:xfrm>
          <a:prstGeom prst="rect">
            <a:avLst/>
          </a:prstGeom>
          <a:noFill/>
          <a:ln/>
        </p:spPr>
        <p:txBody>
          <a:bodyPr wrap="none" lIns="0" tIns="0" rIns="0" bIns="0" rtlCol="0" anchor="t"/>
          <a:lstStyle/>
          <a:p>
            <a:pPr marL="0" indent="0" algn="l">
              <a:lnSpc>
                <a:spcPts val="1250"/>
              </a:lnSpc>
              <a:buNone/>
            </a:pPr>
            <a:r>
              <a:rPr lang="en-US" sz="1400" b="1" dirty="0">
                <a:solidFill>
                  <a:srgbClr val="504C49"/>
                </a:solidFill>
                <a:latin typeface="Source Serif Pro" pitchFamily="34" charset="0"/>
                <a:ea typeface="Source Serif Pro" pitchFamily="34" charset="-122"/>
                <a:cs typeface="Source Serif Pro" pitchFamily="34" charset="-120"/>
              </a:rPr>
              <a:t>Key Tactics:</a:t>
            </a:r>
            <a:r>
              <a:rPr lang="en-US" sz="1400" dirty="0">
                <a:solidFill>
                  <a:srgbClr val="504C49"/>
                </a:solidFill>
                <a:latin typeface="Source Serif Pro" pitchFamily="34" charset="0"/>
                <a:ea typeface="Source Serif Pro" pitchFamily="34" charset="-122"/>
                <a:cs typeface="Source Serif Pro" pitchFamily="34" charset="-120"/>
              </a:rPr>
              <a:t> Distributed fulfillment network, pioneering robotics, AI-driven </a:t>
            </a:r>
            <a:br>
              <a:rPr lang="en-US" sz="1400" dirty="0">
                <a:solidFill>
                  <a:srgbClr val="504C49"/>
                </a:solidFill>
                <a:latin typeface="Source Serif Pro" pitchFamily="34" charset="0"/>
                <a:ea typeface="Source Serif Pro" pitchFamily="34" charset="-122"/>
                <a:cs typeface="Source Serif Pro" pitchFamily="34" charset="-120"/>
              </a:rPr>
            </a:br>
            <a:r>
              <a:rPr lang="en-US" sz="1400" dirty="0">
                <a:solidFill>
                  <a:srgbClr val="504C49"/>
                </a:solidFill>
                <a:latin typeface="Source Serif Pro" pitchFamily="34" charset="0"/>
                <a:ea typeface="Source Serif Pro" pitchFamily="34" charset="-122"/>
                <a:cs typeface="Source Serif Pro" pitchFamily="34" charset="-120"/>
              </a:rPr>
              <a:t>logistics, and Supply Chain as a Service</a:t>
            </a:r>
            <a:endParaRPr lang="en-US" sz="1400" dirty="0"/>
          </a:p>
        </p:txBody>
      </p:sp>
      <p:sp>
        <p:nvSpPr>
          <p:cNvPr id="23" name="Text 21"/>
          <p:cNvSpPr/>
          <p:nvPr/>
        </p:nvSpPr>
        <p:spPr>
          <a:xfrm>
            <a:off x="8187808" y="6931877"/>
            <a:ext cx="6670477" cy="158591"/>
          </a:xfrm>
          <a:prstGeom prst="rect">
            <a:avLst/>
          </a:prstGeom>
          <a:noFill/>
          <a:ln/>
        </p:spPr>
        <p:txBody>
          <a:bodyPr wrap="none" lIns="0" tIns="0" rIns="0" bIns="0" rtlCol="0" anchor="t"/>
          <a:lstStyle/>
          <a:p>
            <a:pPr marL="0" indent="0" algn="l">
              <a:lnSpc>
                <a:spcPts val="1250"/>
              </a:lnSpc>
              <a:buNone/>
            </a:pPr>
            <a:r>
              <a:rPr lang="en-US" sz="1400" b="1" dirty="0">
                <a:solidFill>
                  <a:srgbClr val="504C49"/>
                </a:solidFill>
                <a:latin typeface="Source Serif Pro" pitchFamily="34" charset="0"/>
                <a:ea typeface="Source Serif Pro" pitchFamily="34" charset="-122"/>
                <a:cs typeface="Source Serif Pro" pitchFamily="34" charset="-120"/>
              </a:rPr>
              <a:t>Outcome:</a:t>
            </a:r>
            <a:r>
              <a:rPr lang="en-US" sz="1400" dirty="0">
                <a:solidFill>
                  <a:srgbClr val="504C49"/>
                </a:solidFill>
                <a:latin typeface="Source Serif Pro" pitchFamily="34" charset="0"/>
                <a:ea typeface="Source Serif Pro" pitchFamily="34" charset="-122"/>
                <a:cs typeface="Source Serif Pro" pitchFamily="34" charset="-120"/>
              </a:rPr>
              <a:t> Click-to-delivery speed reduced by over 50% and increased </a:t>
            </a:r>
            <a:br>
              <a:rPr lang="en-US" sz="1400" dirty="0">
                <a:solidFill>
                  <a:srgbClr val="504C49"/>
                </a:solidFill>
                <a:latin typeface="Source Serif Pro" pitchFamily="34" charset="0"/>
                <a:ea typeface="Source Serif Pro" pitchFamily="34" charset="-122"/>
                <a:cs typeface="Source Serif Pro" pitchFamily="34" charset="-120"/>
              </a:rPr>
            </a:br>
            <a:r>
              <a:rPr lang="en-US" sz="1400" dirty="0">
                <a:solidFill>
                  <a:srgbClr val="504C49"/>
                </a:solidFill>
                <a:latin typeface="Source Serif Pro" pitchFamily="34" charset="0"/>
                <a:ea typeface="Source Serif Pro" pitchFamily="34" charset="-122"/>
                <a:cs typeface="Source Serif Pro" pitchFamily="34" charset="-120"/>
              </a:rPr>
              <a:t>e-commerce conversion through reliable fast-delivery estimates</a:t>
            </a:r>
            <a:endParaRPr lang="en-US" sz="1400" dirty="0"/>
          </a:p>
        </p:txBody>
      </p:sp>
      <p:pic>
        <p:nvPicPr>
          <p:cNvPr id="24" name="Image 0" descr="preencoded.png"/>
          <p:cNvPicPr>
            <a:picLocks noChangeAspect="1"/>
          </p:cNvPicPr>
          <p:nvPr/>
        </p:nvPicPr>
        <p:blipFill>
          <a:blip r:embed="rId3"/>
          <a:stretch>
            <a:fillRect/>
          </a:stretch>
        </p:blipFill>
        <p:spPr>
          <a:xfrm>
            <a:off x="496014" y="3782753"/>
            <a:ext cx="7299364" cy="3930504"/>
          </a:xfrm>
          <a:prstGeom prst="rect">
            <a:avLst/>
          </a:prstGeom>
        </p:spPr>
      </p:pic>
      <p:sp>
        <p:nvSpPr>
          <p:cNvPr id="25" name="Shape 22"/>
          <p:cNvSpPr/>
          <p:nvPr/>
        </p:nvSpPr>
        <p:spPr>
          <a:xfrm>
            <a:off x="8708389" y="8028509"/>
            <a:ext cx="99179" cy="99179"/>
          </a:xfrm>
          <a:prstGeom prst="roundRect">
            <a:avLst>
              <a:gd name="adj" fmla="val 18439"/>
            </a:avLst>
          </a:prstGeom>
          <a:solidFill>
            <a:srgbClr val="3B2312"/>
          </a:solidFill>
          <a:ln/>
        </p:spPr>
        <p:txBody>
          <a:bodyPr/>
          <a:lstStyle/>
          <a:p>
            <a:endParaRPr lang="en-IN" sz="1200"/>
          </a:p>
        </p:txBody>
      </p:sp>
      <p:sp>
        <p:nvSpPr>
          <p:cNvPr id="26" name="Text 23"/>
          <p:cNvSpPr/>
          <p:nvPr/>
        </p:nvSpPr>
        <p:spPr>
          <a:xfrm>
            <a:off x="8868528" y="8028509"/>
            <a:ext cx="866537" cy="99179"/>
          </a:xfrm>
          <a:prstGeom prst="rect">
            <a:avLst/>
          </a:prstGeom>
          <a:noFill/>
          <a:ln/>
        </p:spPr>
        <p:txBody>
          <a:bodyPr wrap="none" lIns="0" tIns="0" rIns="0" bIns="0" rtlCol="0" anchor="t"/>
          <a:lstStyle/>
          <a:p>
            <a:pPr marL="0" indent="0" algn="l">
              <a:lnSpc>
                <a:spcPts val="750"/>
              </a:lnSpc>
              <a:buNone/>
            </a:pPr>
            <a:r>
              <a:rPr lang="en-US" sz="1200" dirty="0">
                <a:solidFill>
                  <a:srgbClr val="504C49"/>
                </a:solidFill>
                <a:latin typeface="Source Serif Pro" pitchFamily="34" charset="0"/>
                <a:ea typeface="Source Serif Pro" pitchFamily="34" charset="-122"/>
                <a:cs typeface="Source Serif Pro" pitchFamily="34" charset="-120"/>
              </a:rPr>
              <a:t>Inventory Turnover</a:t>
            </a:r>
            <a:endParaRPr lang="en-US" sz="1200" dirty="0"/>
          </a:p>
        </p:txBody>
      </p:sp>
      <p:sp>
        <p:nvSpPr>
          <p:cNvPr id="27" name="Shape 24"/>
          <p:cNvSpPr/>
          <p:nvPr/>
        </p:nvSpPr>
        <p:spPr>
          <a:xfrm>
            <a:off x="10331508" y="7978919"/>
            <a:ext cx="99179" cy="99179"/>
          </a:xfrm>
          <a:prstGeom prst="roundRect">
            <a:avLst>
              <a:gd name="adj" fmla="val 18439"/>
            </a:avLst>
          </a:prstGeom>
          <a:solidFill>
            <a:srgbClr val="8B532A"/>
          </a:solidFill>
          <a:ln/>
        </p:spPr>
        <p:txBody>
          <a:bodyPr/>
          <a:lstStyle/>
          <a:p>
            <a:endParaRPr lang="en-IN" sz="1200"/>
          </a:p>
        </p:txBody>
      </p:sp>
      <p:sp>
        <p:nvSpPr>
          <p:cNvPr id="28" name="Text 25"/>
          <p:cNvSpPr/>
          <p:nvPr/>
        </p:nvSpPr>
        <p:spPr>
          <a:xfrm>
            <a:off x="10491647" y="7978919"/>
            <a:ext cx="888087" cy="99179"/>
          </a:xfrm>
          <a:prstGeom prst="rect">
            <a:avLst/>
          </a:prstGeom>
          <a:noFill/>
          <a:ln/>
        </p:spPr>
        <p:txBody>
          <a:bodyPr wrap="none" lIns="0" tIns="0" rIns="0" bIns="0" rtlCol="0" anchor="t"/>
          <a:lstStyle/>
          <a:p>
            <a:pPr marL="0" indent="0" algn="l">
              <a:lnSpc>
                <a:spcPts val="750"/>
              </a:lnSpc>
              <a:buNone/>
            </a:pPr>
            <a:r>
              <a:rPr lang="en-US" sz="1200" dirty="0">
                <a:solidFill>
                  <a:srgbClr val="504C49"/>
                </a:solidFill>
                <a:latin typeface="Source Serif Pro" pitchFamily="34" charset="0"/>
                <a:ea typeface="Source Serif Pro" pitchFamily="34" charset="-122"/>
                <a:cs typeface="Source Serif Pro" pitchFamily="34" charset="-120"/>
              </a:rPr>
              <a:t>On-Time Delivery %</a:t>
            </a:r>
            <a:endParaRPr lang="en-US" sz="1200" dirty="0"/>
          </a:p>
        </p:txBody>
      </p:sp>
      <p:sp>
        <p:nvSpPr>
          <p:cNvPr id="29" name="Text 26"/>
          <p:cNvSpPr/>
          <p:nvPr/>
        </p:nvSpPr>
        <p:spPr>
          <a:xfrm>
            <a:off x="666671" y="7850033"/>
            <a:ext cx="13836729" cy="158591"/>
          </a:xfrm>
          <a:prstGeom prst="rect">
            <a:avLst/>
          </a:prstGeom>
          <a:noFill/>
          <a:ln/>
        </p:spPr>
        <p:txBody>
          <a:bodyPr wrap="none" lIns="0" tIns="0" rIns="0" bIns="0" rtlCol="0" anchor="t"/>
          <a:lstStyle/>
          <a:p>
            <a:pPr marL="0" indent="0" algn="l">
              <a:lnSpc>
                <a:spcPts val="1250"/>
              </a:lnSpc>
              <a:buNone/>
            </a:pPr>
            <a:r>
              <a:rPr lang="en-US" sz="1400" dirty="0">
                <a:solidFill>
                  <a:srgbClr val="504C49"/>
                </a:solidFill>
                <a:latin typeface="Source Serif Pro" pitchFamily="34" charset="0"/>
                <a:ea typeface="Source Serif Pro" pitchFamily="34" charset="-122"/>
                <a:cs typeface="Source Serif Pro" pitchFamily="34" charset="-120"/>
              </a:rPr>
              <a:t>Each supply chain is uniquely configured to deliver a specific competitive advantage: </a:t>
            </a:r>
            <a:br>
              <a:rPr lang="en-US" sz="1400" dirty="0">
                <a:solidFill>
                  <a:srgbClr val="504C49"/>
                </a:solidFill>
                <a:latin typeface="Source Serif Pro" pitchFamily="34" charset="0"/>
                <a:ea typeface="Source Serif Pro" pitchFamily="34" charset="-122"/>
                <a:cs typeface="Source Serif Pro" pitchFamily="34" charset="-120"/>
              </a:rPr>
            </a:br>
            <a:r>
              <a:rPr lang="en-US" sz="1400" dirty="0">
                <a:solidFill>
                  <a:srgbClr val="504C49"/>
                </a:solidFill>
                <a:latin typeface="Source Serif Pro" pitchFamily="34" charset="0"/>
                <a:ea typeface="Source Serif Pro" pitchFamily="34" charset="-122"/>
                <a:cs typeface="Source Serif Pro" pitchFamily="34" charset="-120"/>
              </a:rPr>
              <a:t>Walmart on cost, Zara on speed, Apple on quality, and Amazon on customer fulfillment.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72691" y="393740"/>
            <a:ext cx="8595003" cy="447437"/>
          </a:xfrm>
          <a:prstGeom prst="rect">
            <a:avLst/>
          </a:prstGeom>
          <a:noFill/>
          <a:ln/>
        </p:spPr>
        <p:txBody>
          <a:bodyPr wrap="none" lIns="0" tIns="0" rIns="0" bIns="0" rtlCol="0" anchor="t"/>
          <a:lstStyle/>
          <a:p>
            <a:pPr marL="0" indent="0" algn="l">
              <a:lnSpc>
                <a:spcPts val="3500"/>
              </a:lnSpc>
              <a:buNone/>
            </a:pPr>
            <a:r>
              <a:rPr lang="en-US" sz="2800" dirty="0">
                <a:solidFill>
                  <a:srgbClr val="201B18"/>
                </a:solidFill>
                <a:latin typeface="Platypi Medium" pitchFamily="34" charset="0"/>
                <a:ea typeface="Platypi Medium" pitchFamily="34" charset="-122"/>
                <a:cs typeface="Platypi Medium" pitchFamily="34" charset="-120"/>
              </a:rPr>
              <a:t>Part IV: The Future of Supply Chain Management</a:t>
            </a:r>
            <a:endParaRPr lang="en-US" sz="2800" dirty="0"/>
          </a:p>
        </p:txBody>
      </p:sp>
      <p:sp>
        <p:nvSpPr>
          <p:cNvPr id="3" name="Text 1"/>
          <p:cNvSpPr/>
          <p:nvPr/>
        </p:nvSpPr>
        <p:spPr>
          <a:xfrm>
            <a:off x="572691" y="1055846"/>
            <a:ext cx="7894915" cy="357902"/>
          </a:xfrm>
          <a:prstGeom prst="rect">
            <a:avLst/>
          </a:prstGeom>
          <a:noFill/>
          <a:ln/>
        </p:spPr>
        <p:txBody>
          <a:bodyPr wrap="none" lIns="0" tIns="0" rIns="0" bIns="0" rtlCol="0" anchor="t"/>
          <a:lstStyle/>
          <a:p>
            <a:pPr marL="0" indent="0" algn="l">
              <a:lnSpc>
                <a:spcPts val="2800"/>
              </a:lnSpc>
              <a:buNone/>
            </a:pPr>
            <a:r>
              <a:rPr lang="en-US" sz="2250" dirty="0">
                <a:solidFill>
                  <a:srgbClr val="201B18"/>
                </a:solidFill>
                <a:latin typeface="Platypi Medium" pitchFamily="34" charset="0"/>
                <a:ea typeface="Platypi Medium" pitchFamily="34" charset="-122"/>
                <a:cs typeface="Platypi Medium" pitchFamily="34" charset="-120"/>
              </a:rPr>
              <a:t>The Next Frontier: Emerging Concepts and Technologies</a:t>
            </a:r>
            <a:endParaRPr lang="en-US" sz="2250" dirty="0"/>
          </a:p>
        </p:txBody>
      </p:sp>
      <p:sp>
        <p:nvSpPr>
          <p:cNvPr id="4" name="Text 2"/>
          <p:cNvSpPr/>
          <p:nvPr/>
        </p:nvSpPr>
        <p:spPr>
          <a:xfrm>
            <a:off x="572691" y="1628418"/>
            <a:ext cx="5825490" cy="268486"/>
          </a:xfrm>
          <a:prstGeom prst="rect">
            <a:avLst/>
          </a:prstGeom>
          <a:noFill/>
          <a:ln/>
        </p:spPr>
        <p:txBody>
          <a:bodyPr wrap="none" lIns="0" tIns="0" rIns="0" bIns="0" rtlCol="0" anchor="t"/>
          <a:lstStyle/>
          <a:p>
            <a:pPr marL="0" indent="0" algn="l">
              <a:lnSpc>
                <a:spcPts val="2100"/>
              </a:lnSpc>
              <a:buNone/>
            </a:pPr>
            <a:r>
              <a:rPr lang="en-US" sz="1650" dirty="0">
                <a:solidFill>
                  <a:srgbClr val="201B18"/>
                </a:solidFill>
                <a:latin typeface="Platypi Medium" pitchFamily="34" charset="0"/>
                <a:ea typeface="Platypi Medium" pitchFamily="34" charset="-122"/>
                <a:cs typeface="Platypi Medium" pitchFamily="34" charset="-120"/>
              </a:rPr>
              <a:t>The Physical Internet (PI): Reimagining Global Logistics</a:t>
            </a:r>
            <a:endParaRPr lang="en-US" sz="1650" dirty="0"/>
          </a:p>
        </p:txBody>
      </p:sp>
      <p:sp>
        <p:nvSpPr>
          <p:cNvPr id="5" name="Text 3"/>
          <p:cNvSpPr/>
          <p:nvPr/>
        </p:nvSpPr>
        <p:spPr>
          <a:xfrm>
            <a:off x="572691" y="2111573"/>
            <a:ext cx="13485019" cy="458153"/>
          </a:xfrm>
          <a:prstGeom prst="rect">
            <a:avLst/>
          </a:prstGeom>
          <a:noFill/>
          <a:ln/>
        </p:spPr>
        <p:txBody>
          <a:bodyPr wrap="square" lIns="0" tIns="0" rIns="0" bIns="0" rtlCol="0" anchor="t"/>
          <a:lstStyle/>
          <a:p>
            <a:pPr marL="0" indent="0" algn="l">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The Physical Internet envisions an open, global logistics system functioning analogously to the digital internet. Physical goods in standardized, smart containers would move seamlessly across a shared network of logistics hubs, dramatically improving efficiency and sustainability.</a:t>
            </a:r>
            <a:endParaRPr lang="en-US" sz="1400" dirty="0"/>
          </a:p>
        </p:txBody>
      </p:sp>
      <p:sp>
        <p:nvSpPr>
          <p:cNvPr id="6" name="Shape 4"/>
          <p:cNvSpPr/>
          <p:nvPr/>
        </p:nvSpPr>
        <p:spPr>
          <a:xfrm>
            <a:off x="7307580" y="2730698"/>
            <a:ext cx="15240" cy="2794278"/>
          </a:xfrm>
          <a:prstGeom prst="roundRect">
            <a:avLst>
              <a:gd name="adj" fmla="val 140933"/>
            </a:avLst>
          </a:prstGeom>
          <a:solidFill>
            <a:srgbClr val="D8D4D4"/>
          </a:solidFill>
          <a:ln/>
        </p:spPr>
        <p:txBody>
          <a:bodyPr/>
          <a:lstStyle/>
          <a:p>
            <a:endParaRPr lang="en-IN"/>
          </a:p>
        </p:txBody>
      </p:sp>
      <p:sp>
        <p:nvSpPr>
          <p:cNvPr id="7" name="Shape 5"/>
          <p:cNvSpPr/>
          <p:nvPr/>
        </p:nvSpPr>
        <p:spPr>
          <a:xfrm>
            <a:off x="6739950" y="2884051"/>
            <a:ext cx="429458" cy="15240"/>
          </a:xfrm>
          <a:prstGeom prst="roundRect">
            <a:avLst>
              <a:gd name="adj" fmla="val 140933"/>
            </a:avLst>
          </a:prstGeom>
          <a:solidFill>
            <a:srgbClr val="D8D4D4"/>
          </a:solidFill>
          <a:ln/>
        </p:spPr>
        <p:txBody>
          <a:bodyPr/>
          <a:lstStyle/>
          <a:p>
            <a:endParaRPr lang="en-IN"/>
          </a:p>
        </p:txBody>
      </p:sp>
      <p:sp>
        <p:nvSpPr>
          <p:cNvPr id="8" name="Shape 6"/>
          <p:cNvSpPr/>
          <p:nvPr/>
        </p:nvSpPr>
        <p:spPr>
          <a:xfrm>
            <a:off x="7154168" y="2730698"/>
            <a:ext cx="322064" cy="322064"/>
          </a:xfrm>
          <a:prstGeom prst="roundRect">
            <a:avLst>
              <a:gd name="adj" fmla="val 6669"/>
            </a:avLst>
          </a:prstGeom>
          <a:solidFill>
            <a:srgbClr val="F9F7F7"/>
          </a:solidFill>
          <a:ln/>
        </p:spPr>
        <p:txBody>
          <a:bodyPr/>
          <a:lstStyle/>
          <a:p>
            <a:endParaRPr lang="en-IN"/>
          </a:p>
        </p:txBody>
      </p:sp>
      <p:sp>
        <p:nvSpPr>
          <p:cNvPr id="9" name="Text 7"/>
          <p:cNvSpPr/>
          <p:nvPr/>
        </p:nvSpPr>
        <p:spPr>
          <a:xfrm>
            <a:off x="7207806" y="2757488"/>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504C49"/>
                </a:solidFill>
                <a:latin typeface="Platypi Medium" pitchFamily="34" charset="0"/>
                <a:ea typeface="Platypi Medium" pitchFamily="34" charset="-122"/>
                <a:cs typeface="Platypi Medium" pitchFamily="34" charset="-120"/>
              </a:rPr>
              <a:t>1</a:t>
            </a:r>
            <a:endParaRPr lang="en-US" sz="1650" dirty="0"/>
          </a:p>
        </p:txBody>
      </p:sp>
      <p:sp>
        <p:nvSpPr>
          <p:cNvPr id="10" name="Text 8"/>
          <p:cNvSpPr/>
          <p:nvPr/>
        </p:nvSpPr>
        <p:spPr>
          <a:xfrm>
            <a:off x="4809530" y="2779871"/>
            <a:ext cx="1789748" cy="223599"/>
          </a:xfrm>
          <a:prstGeom prst="rect">
            <a:avLst/>
          </a:prstGeom>
          <a:noFill/>
          <a:ln/>
        </p:spPr>
        <p:txBody>
          <a:bodyPr wrap="none" lIns="0" tIns="0" rIns="0" bIns="0" rtlCol="0" anchor="t"/>
          <a:lstStyle/>
          <a:p>
            <a:pPr marL="0" indent="0" algn="r">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2025</a:t>
            </a:r>
            <a:endParaRPr lang="en-US" sz="1400" dirty="0"/>
          </a:p>
        </p:txBody>
      </p:sp>
      <p:sp>
        <p:nvSpPr>
          <p:cNvPr id="11" name="Text 9"/>
          <p:cNvSpPr/>
          <p:nvPr/>
        </p:nvSpPr>
        <p:spPr>
          <a:xfrm>
            <a:off x="572691" y="3089315"/>
            <a:ext cx="6026587" cy="458153"/>
          </a:xfrm>
          <a:prstGeom prst="rect">
            <a:avLst/>
          </a:prstGeom>
          <a:noFill/>
          <a:ln/>
        </p:spPr>
        <p:txBody>
          <a:bodyPr wrap="square" lIns="0" tIns="0" rIns="0" bIns="0" rtlCol="0" anchor="t"/>
          <a:lstStyle/>
          <a:p>
            <a:pPr marL="0" indent="0" algn="r">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Standardized smart containers and initial protocol development for interoperability between logistics networks</a:t>
            </a:r>
            <a:endParaRPr lang="en-US" sz="1400" dirty="0"/>
          </a:p>
        </p:txBody>
      </p:sp>
      <p:sp>
        <p:nvSpPr>
          <p:cNvPr id="12" name="Shape 10"/>
          <p:cNvSpPr/>
          <p:nvPr/>
        </p:nvSpPr>
        <p:spPr>
          <a:xfrm>
            <a:off x="7460992" y="3743087"/>
            <a:ext cx="429458" cy="15240"/>
          </a:xfrm>
          <a:prstGeom prst="roundRect">
            <a:avLst>
              <a:gd name="adj" fmla="val 140933"/>
            </a:avLst>
          </a:prstGeom>
          <a:solidFill>
            <a:srgbClr val="D8D4D4"/>
          </a:solidFill>
          <a:ln/>
        </p:spPr>
        <p:txBody>
          <a:bodyPr/>
          <a:lstStyle/>
          <a:p>
            <a:endParaRPr lang="en-IN"/>
          </a:p>
        </p:txBody>
      </p:sp>
      <p:sp>
        <p:nvSpPr>
          <p:cNvPr id="13" name="Shape 11"/>
          <p:cNvSpPr/>
          <p:nvPr/>
        </p:nvSpPr>
        <p:spPr>
          <a:xfrm>
            <a:off x="7154168" y="3589734"/>
            <a:ext cx="322064" cy="322064"/>
          </a:xfrm>
          <a:prstGeom prst="roundRect">
            <a:avLst>
              <a:gd name="adj" fmla="val 6669"/>
            </a:avLst>
          </a:prstGeom>
          <a:solidFill>
            <a:srgbClr val="F9F7F7"/>
          </a:solidFill>
          <a:ln/>
        </p:spPr>
        <p:txBody>
          <a:bodyPr/>
          <a:lstStyle/>
          <a:p>
            <a:endParaRPr lang="en-IN"/>
          </a:p>
        </p:txBody>
      </p:sp>
      <p:sp>
        <p:nvSpPr>
          <p:cNvPr id="14" name="Text 12"/>
          <p:cNvSpPr/>
          <p:nvPr/>
        </p:nvSpPr>
        <p:spPr>
          <a:xfrm>
            <a:off x="7207806" y="3616523"/>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504C49"/>
                </a:solidFill>
                <a:latin typeface="Platypi Medium" pitchFamily="34" charset="0"/>
                <a:ea typeface="Platypi Medium" pitchFamily="34" charset="-122"/>
                <a:cs typeface="Platypi Medium" pitchFamily="34" charset="-120"/>
              </a:rPr>
              <a:t>2</a:t>
            </a:r>
            <a:endParaRPr lang="en-US" sz="1650" dirty="0"/>
          </a:p>
        </p:txBody>
      </p:sp>
      <p:sp>
        <p:nvSpPr>
          <p:cNvPr id="15" name="Text 13"/>
          <p:cNvSpPr/>
          <p:nvPr/>
        </p:nvSpPr>
        <p:spPr>
          <a:xfrm>
            <a:off x="8031123" y="3638907"/>
            <a:ext cx="1789748" cy="223599"/>
          </a:xfrm>
          <a:prstGeom prst="rect">
            <a:avLst/>
          </a:prstGeom>
          <a:noFill/>
          <a:ln/>
        </p:spPr>
        <p:txBody>
          <a:bodyPr wrap="none" lIns="0" tIns="0" rIns="0" bIns="0" rtlCol="0" anchor="t"/>
          <a:lstStyle/>
          <a:p>
            <a:pPr marL="0" indent="0" algn="l">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2030</a:t>
            </a:r>
            <a:endParaRPr lang="en-US" sz="1400" dirty="0"/>
          </a:p>
        </p:txBody>
      </p:sp>
      <p:sp>
        <p:nvSpPr>
          <p:cNvPr id="16" name="Text 14"/>
          <p:cNvSpPr/>
          <p:nvPr/>
        </p:nvSpPr>
        <p:spPr>
          <a:xfrm>
            <a:off x="8031123" y="3948351"/>
            <a:ext cx="6026587" cy="458153"/>
          </a:xfrm>
          <a:prstGeom prst="rect">
            <a:avLst/>
          </a:prstGeom>
          <a:noFill/>
          <a:ln/>
        </p:spPr>
        <p:txBody>
          <a:bodyPr wrap="square" lIns="0" tIns="0" rIns="0" bIns="0" rtlCol="0" anchor="t"/>
          <a:lstStyle/>
          <a:p>
            <a:pPr marL="0" indent="0" algn="l">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Widespread network interconnectivity with shared logistics assets and collaborative transportation systems</a:t>
            </a:r>
            <a:endParaRPr lang="en-US" sz="1400" dirty="0"/>
          </a:p>
        </p:txBody>
      </p:sp>
      <p:sp>
        <p:nvSpPr>
          <p:cNvPr id="17" name="Shape 15"/>
          <p:cNvSpPr/>
          <p:nvPr/>
        </p:nvSpPr>
        <p:spPr>
          <a:xfrm>
            <a:off x="6739950" y="4483537"/>
            <a:ext cx="429458" cy="15240"/>
          </a:xfrm>
          <a:prstGeom prst="roundRect">
            <a:avLst>
              <a:gd name="adj" fmla="val 140933"/>
            </a:avLst>
          </a:prstGeom>
          <a:solidFill>
            <a:srgbClr val="D8D4D4"/>
          </a:solidFill>
          <a:ln/>
        </p:spPr>
        <p:txBody>
          <a:bodyPr/>
          <a:lstStyle/>
          <a:p>
            <a:endParaRPr lang="en-IN"/>
          </a:p>
        </p:txBody>
      </p:sp>
      <p:sp>
        <p:nvSpPr>
          <p:cNvPr id="18" name="Shape 16"/>
          <p:cNvSpPr/>
          <p:nvPr/>
        </p:nvSpPr>
        <p:spPr>
          <a:xfrm>
            <a:off x="7154168" y="4330184"/>
            <a:ext cx="322064" cy="322064"/>
          </a:xfrm>
          <a:prstGeom prst="roundRect">
            <a:avLst>
              <a:gd name="adj" fmla="val 6669"/>
            </a:avLst>
          </a:prstGeom>
          <a:solidFill>
            <a:srgbClr val="F9F7F7"/>
          </a:solidFill>
          <a:ln/>
        </p:spPr>
        <p:txBody>
          <a:bodyPr/>
          <a:lstStyle/>
          <a:p>
            <a:endParaRPr lang="en-IN"/>
          </a:p>
        </p:txBody>
      </p:sp>
      <p:sp>
        <p:nvSpPr>
          <p:cNvPr id="19" name="Text 17"/>
          <p:cNvSpPr/>
          <p:nvPr/>
        </p:nvSpPr>
        <p:spPr>
          <a:xfrm>
            <a:off x="7207806" y="4356973"/>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504C49"/>
                </a:solidFill>
                <a:latin typeface="Platypi Medium" pitchFamily="34" charset="0"/>
                <a:ea typeface="Platypi Medium" pitchFamily="34" charset="-122"/>
                <a:cs typeface="Platypi Medium" pitchFamily="34" charset="-120"/>
              </a:rPr>
              <a:t>3</a:t>
            </a:r>
            <a:endParaRPr lang="en-US" sz="1650" dirty="0"/>
          </a:p>
        </p:txBody>
      </p:sp>
      <p:sp>
        <p:nvSpPr>
          <p:cNvPr id="20" name="Text 18"/>
          <p:cNvSpPr/>
          <p:nvPr/>
        </p:nvSpPr>
        <p:spPr>
          <a:xfrm>
            <a:off x="4809530" y="4379357"/>
            <a:ext cx="1789748" cy="223599"/>
          </a:xfrm>
          <a:prstGeom prst="rect">
            <a:avLst/>
          </a:prstGeom>
          <a:noFill/>
          <a:ln/>
        </p:spPr>
        <p:txBody>
          <a:bodyPr wrap="none" lIns="0" tIns="0" rIns="0" bIns="0" rtlCol="0" anchor="t"/>
          <a:lstStyle/>
          <a:p>
            <a:pPr marL="0" indent="0" algn="r">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2040</a:t>
            </a:r>
            <a:endParaRPr lang="en-US" sz="1400" dirty="0"/>
          </a:p>
        </p:txBody>
      </p:sp>
      <p:sp>
        <p:nvSpPr>
          <p:cNvPr id="21" name="Text 19"/>
          <p:cNvSpPr/>
          <p:nvPr/>
        </p:nvSpPr>
        <p:spPr>
          <a:xfrm>
            <a:off x="572691" y="4688800"/>
            <a:ext cx="6026587" cy="458153"/>
          </a:xfrm>
          <a:prstGeom prst="rect">
            <a:avLst/>
          </a:prstGeom>
          <a:noFill/>
          <a:ln/>
        </p:spPr>
        <p:txBody>
          <a:bodyPr wrap="square" lIns="0" tIns="0" rIns="0" bIns="0" rtlCol="0" anchor="t"/>
          <a:lstStyle/>
          <a:p>
            <a:pPr marL="0" indent="0" algn="r">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Fully autonomous Physical Internet with self-organizing logistics networks optimized for efficiency and sustainability</a:t>
            </a:r>
            <a:endParaRPr lang="en-US" sz="1400" dirty="0"/>
          </a:p>
        </p:txBody>
      </p:sp>
      <p:sp>
        <p:nvSpPr>
          <p:cNvPr id="22" name="Text 20"/>
          <p:cNvSpPr/>
          <p:nvPr/>
        </p:nvSpPr>
        <p:spPr>
          <a:xfrm>
            <a:off x="572691" y="5739646"/>
            <a:ext cx="4154924" cy="268486"/>
          </a:xfrm>
          <a:prstGeom prst="rect">
            <a:avLst/>
          </a:prstGeom>
          <a:noFill/>
          <a:ln/>
        </p:spPr>
        <p:txBody>
          <a:bodyPr wrap="none" lIns="0" tIns="0" rIns="0" bIns="0" rtlCol="0" anchor="t"/>
          <a:lstStyle/>
          <a:p>
            <a:pPr marL="0" indent="0" algn="l">
              <a:lnSpc>
                <a:spcPts val="2100"/>
              </a:lnSpc>
              <a:buNone/>
            </a:pPr>
            <a:r>
              <a:rPr lang="en-US" sz="1650" dirty="0">
                <a:solidFill>
                  <a:srgbClr val="201B18"/>
                </a:solidFill>
                <a:latin typeface="Platypi Medium" pitchFamily="34" charset="0"/>
                <a:ea typeface="Platypi Medium" pitchFamily="34" charset="-122"/>
                <a:cs typeface="Platypi Medium" pitchFamily="34" charset="-120"/>
              </a:rPr>
              <a:t>The Rise of Autonomous Supply Chains</a:t>
            </a:r>
            <a:endParaRPr lang="en-US" sz="1650" dirty="0"/>
          </a:p>
        </p:txBody>
      </p:sp>
      <p:sp>
        <p:nvSpPr>
          <p:cNvPr id="23" name="Text 21"/>
          <p:cNvSpPr/>
          <p:nvPr/>
        </p:nvSpPr>
        <p:spPr>
          <a:xfrm>
            <a:off x="572691" y="6222802"/>
            <a:ext cx="13485019" cy="458153"/>
          </a:xfrm>
          <a:prstGeom prst="rect">
            <a:avLst/>
          </a:prstGeom>
          <a:noFill/>
          <a:ln/>
        </p:spPr>
        <p:txBody>
          <a:bodyPr wrap="square" lIns="0" tIns="0" rIns="0" bIns="0" rtlCol="0" anchor="t"/>
          <a:lstStyle/>
          <a:p>
            <a:pPr marL="0" indent="0" algn="l">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The convergence of AI, IoT, and robotics is paving the way for autonomous supply chains that can plan, execute, and optimize with minimal human intervention, encompassing AI-driven planning, automated procurement, "lights-out" warehouses, and autonomous delivery.</a:t>
            </a:r>
            <a:endParaRPr lang="en-US" sz="1400" dirty="0"/>
          </a:p>
        </p:txBody>
      </p:sp>
      <p:sp>
        <p:nvSpPr>
          <p:cNvPr id="24" name="Text 22"/>
          <p:cNvSpPr/>
          <p:nvPr/>
        </p:nvSpPr>
        <p:spPr>
          <a:xfrm>
            <a:off x="572691" y="6895624"/>
            <a:ext cx="2694742" cy="268486"/>
          </a:xfrm>
          <a:prstGeom prst="rect">
            <a:avLst/>
          </a:prstGeom>
          <a:noFill/>
          <a:ln/>
        </p:spPr>
        <p:txBody>
          <a:bodyPr wrap="none" lIns="0" tIns="0" rIns="0" bIns="0" rtlCol="0" anchor="t"/>
          <a:lstStyle/>
          <a:p>
            <a:pPr marL="0" indent="0" algn="l">
              <a:lnSpc>
                <a:spcPts val="2100"/>
              </a:lnSpc>
              <a:buNone/>
            </a:pPr>
            <a:r>
              <a:rPr lang="en-US" sz="1650" dirty="0">
                <a:solidFill>
                  <a:srgbClr val="201B18"/>
                </a:solidFill>
                <a:latin typeface="Platypi Medium" pitchFamily="34" charset="0"/>
                <a:ea typeface="Platypi Medium" pitchFamily="34" charset="-122"/>
                <a:cs typeface="Platypi Medium" pitchFamily="34" charset="-120"/>
              </a:rPr>
              <a:t>Advanced AI Applications</a:t>
            </a:r>
            <a:endParaRPr lang="en-US" sz="1650" dirty="0"/>
          </a:p>
        </p:txBody>
      </p:sp>
      <p:sp>
        <p:nvSpPr>
          <p:cNvPr id="25" name="Text 23"/>
          <p:cNvSpPr/>
          <p:nvPr/>
        </p:nvSpPr>
        <p:spPr>
          <a:xfrm>
            <a:off x="572691" y="7378779"/>
            <a:ext cx="13485019" cy="458153"/>
          </a:xfrm>
          <a:prstGeom prst="rect">
            <a:avLst/>
          </a:prstGeom>
          <a:noFill/>
          <a:ln/>
        </p:spPr>
        <p:txBody>
          <a:bodyPr wrap="square" lIns="0" tIns="0" rIns="0" bIns="0" rtlCol="0" anchor="t"/>
          <a:lstStyle/>
          <a:p>
            <a:pPr marL="0" indent="0" algn="l">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Beyond predictive AI, we're moving toward generative and agentic AI that can create novel solutions and take autonomous actions to achieve high-level goals, such as optimizing logistics costs while maintaining service levels.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42436" y="304086"/>
            <a:ext cx="4738687" cy="345638"/>
          </a:xfrm>
          <a:prstGeom prst="rect">
            <a:avLst/>
          </a:prstGeom>
          <a:noFill/>
          <a:ln/>
        </p:spPr>
        <p:txBody>
          <a:bodyPr wrap="none" lIns="0" tIns="0" rIns="0" bIns="0" rtlCol="0" anchor="t"/>
          <a:lstStyle/>
          <a:p>
            <a:pPr marL="0" indent="0" algn="l">
              <a:lnSpc>
                <a:spcPts val="2700"/>
              </a:lnSpc>
              <a:buNone/>
            </a:pPr>
            <a:r>
              <a:rPr lang="en-US" sz="2150" dirty="0">
                <a:solidFill>
                  <a:srgbClr val="201B18"/>
                </a:solidFill>
                <a:latin typeface="Platypi Medium" pitchFamily="34" charset="0"/>
                <a:ea typeface="Platypi Medium" pitchFamily="34" charset="-122"/>
                <a:cs typeface="Platypi Medium" pitchFamily="34" charset="-120"/>
              </a:rPr>
              <a:t>The Indispensable Human Element</a:t>
            </a:r>
            <a:endParaRPr lang="en-US" sz="2150" dirty="0"/>
          </a:p>
        </p:txBody>
      </p:sp>
      <p:sp>
        <p:nvSpPr>
          <p:cNvPr id="3" name="Text 1"/>
          <p:cNvSpPr/>
          <p:nvPr/>
        </p:nvSpPr>
        <p:spPr>
          <a:xfrm>
            <a:off x="442436" y="815578"/>
            <a:ext cx="3538061" cy="276463"/>
          </a:xfrm>
          <a:prstGeom prst="rect">
            <a:avLst/>
          </a:prstGeom>
          <a:noFill/>
          <a:ln/>
        </p:spPr>
        <p:txBody>
          <a:bodyPr wrap="none" lIns="0" tIns="0" rIns="0" bIns="0" rtlCol="0" anchor="t"/>
          <a:lstStyle/>
          <a:p>
            <a:pPr marL="0" indent="0" algn="l">
              <a:lnSpc>
                <a:spcPts val="2150"/>
              </a:lnSpc>
              <a:buNone/>
            </a:pPr>
            <a:r>
              <a:rPr lang="en-US" sz="1700" dirty="0">
                <a:solidFill>
                  <a:srgbClr val="201B18"/>
                </a:solidFill>
                <a:latin typeface="Platypi Medium" pitchFamily="34" charset="0"/>
                <a:ea typeface="Platypi Medium" pitchFamily="34" charset="-122"/>
                <a:cs typeface="Platypi Medium" pitchFamily="34" charset="-120"/>
              </a:rPr>
              <a:t>The Future of SCM Professionals</a:t>
            </a:r>
            <a:endParaRPr lang="en-US" sz="1700" dirty="0"/>
          </a:p>
        </p:txBody>
      </p:sp>
      <p:sp>
        <p:nvSpPr>
          <p:cNvPr id="4" name="Text 2"/>
          <p:cNvSpPr/>
          <p:nvPr/>
        </p:nvSpPr>
        <p:spPr>
          <a:xfrm>
            <a:off x="442436" y="1257895"/>
            <a:ext cx="13745528" cy="176927"/>
          </a:xfrm>
          <a:prstGeom prst="rect">
            <a:avLst/>
          </a:prstGeom>
          <a:noFill/>
          <a:ln/>
        </p:spPr>
        <p:txBody>
          <a:bodyPr wrap="none" lIns="0" tIns="0" rIns="0" bIns="0" rtlCol="0" anchor="t"/>
          <a:lstStyle/>
          <a:p>
            <a:pPr marL="0" indent="0" algn="l">
              <a:lnSpc>
                <a:spcPts val="1350"/>
              </a:lnSpc>
              <a:buNone/>
            </a:pPr>
            <a:r>
              <a:rPr lang="en-US" sz="1400" dirty="0">
                <a:solidFill>
                  <a:srgbClr val="504C49"/>
                </a:solidFill>
                <a:latin typeface="Source Serif Pro" pitchFamily="34" charset="0"/>
                <a:ea typeface="Source Serif Pro" pitchFamily="34" charset="-122"/>
                <a:cs typeface="Source Serif Pro" pitchFamily="34" charset="-120"/>
              </a:rPr>
              <a:t>Technology isn't making human expertise obsolete but elevating it toward higher-level strategic, creative, and ethical responsibilities that are more critical than ever.</a:t>
            </a:r>
            <a:endParaRPr lang="en-US" sz="1400" dirty="0"/>
          </a:p>
        </p:txBody>
      </p:sp>
      <p:sp>
        <p:nvSpPr>
          <p:cNvPr id="5" name="Text 3"/>
          <p:cNvSpPr/>
          <p:nvPr/>
        </p:nvSpPr>
        <p:spPr>
          <a:xfrm>
            <a:off x="442436" y="1669852"/>
            <a:ext cx="3459599" cy="207407"/>
          </a:xfrm>
          <a:prstGeom prst="rect">
            <a:avLst/>
          </a:prstGeom>
          <a:noFill/>
          <a:ln/>
        </p:spPr>
        <p:txBody>
          <a:bodyPr wrap="none" lIns="0" tIns="0" rIns="0" bIns="0" rtlCol="0" anchor="t"/>
          <a:lstStyle/>
          <a:p>
            <a:pPr marL="0" indent="0" algn="l">
              <a:lnSpc>
                <a:spcPts val="1600"/>
              </a:lnSpc>
              <a:buNone/>
            </a:pPr>
            <a:r>
              <a:rPr lang="en-US" sz="1400" dirty="0">
                <a:solidFill>
                  <a:srgbClr val="201B18"/>
                </a:solidFill>
                <a:latin typeface="Platypi Medium" pitchFamily="34" charset="0"/>
                <a:ea typeface="Platypi Medium" pitchFamily="34" charset="-122"/>
                <a:cs typeface="Platypi Medium" pitchFamily="34" charset="-120"/>
              </a:rPr>
              <a:t>The Great Shift: From Tactical to Strategic</a:t>
            </a:r>
            <a:endParaRPr lang="en-US" sz="1400" dirty="0"/>
          </a:p>
        </p:txBody>
      </p:sp>
      <p:sp>
        <p:nvSpPr>
          <p:cNvPr id="6" name="Text 4"/>
          <p:cNvSpPr/>
          <p:nvPr/>
        </p:nvSpPr>
        <p:spPr>
          <a:xfrm>
            <a:off x="442436" y="1987868"/>
            <a:ext cx="6737866" cy="353854"/>
          </a:xfrm>
          <a:prstGeom prst="rect">
            <a:avLst/>
          </a:prstGeom>
          <a:noFill/>
          <a:ln/>
        </p:spPr>
        <p:txBody>
          <a:bodyPr wrap="square" lIns="0" tIns="0" rIns="0" bIns="0" rtlCol="0" anchor="t"/>
          <a:lstStyle/>
          <a:p>
            <a:pPr marL="0" indent="0" algn="l">
              <a:lnSpc>
                <a:spcPts val="1350"/>
              </a:lnSpc>
              <a:buNone/>
            </a:pPr>
            <a:r>
              <a:rPr lang="en-US" sz="1400" dirty="0">
                <a:solidFill>
                  <a:srgbClr val="504C49"/>
                </a:solidFill>
                <a:latin typeface="Source Serif Pro" pitchFamily="34" charset="0"/>
                <a:ea typeface="Source Serif Pro" pitchFamily="34" charset="-122"/>
                <a:cs typeface="Source Serif Pro" pitchFamily="34" charset="-120"/>
              </a:rPr>
              <a:t>AI and automation are offloading repetitive, data-intensive, and transactional work, liberating human professionals to focus on high-value activities machines cannot perform well.</a:t>
            </a:r>
            <a:endParaRPr lang="en-US" sz="1400" dirty="0"/>
          </a:p>
        </p:txBody>
      </p:sp>
      <p:pic>
        <p:nvPicPr>
          <p:cNvPr id="7" name="Image 0" descr="preencoded.png"/>
          <p:cNvPicPr>
            <a:picLocks noChangeAspect="1"/>
          </p:cNvPicPr>
          <p:nvPr/>
        </p:nvPicPr>
        <p:blipFill>
          <a:blip r:embed="rId3"/>
          <a:stretch>
            <a:fillRect/>
          </a:stretch>
        </p:blipFill>
        <p:spPr>
          <a:xfrm>
            <a:off x="442436" y="2466142"/>
            <a:ext cx="553045" cy="858441"/>
          </a:xfrm>
          <a:prstGeom prst="rect">
            <a:avLst/>
          </a:prstGeom>
        </p:spPr>
      </p:pic>
      <p:sp>
        <p:nvSpPr>
          <p:cNvPr id="8" name="Text 5"/>
          <p:cNvSpPr/>
          <p:nvPr/>
        </p:nvSpPr>
        <p:spPr>
          <a:xfrm>
            <a:off x="1106091" y="2576751"/>
            <a:ext cx="1797844" cy="172760"/>
          </a:xfrm>
          <a:prstGeom prst="rect">
            <a:avLst/>
          </a:prstGeom>
          <a:noFill/>
          <a:ln/>
        </p:spPr>
        <p:txBody>
          <a:bodyPr wrap="none" lIns="0" tIns="0" rIns="0" bIns="0" rtlCol="0" anchor="t"/>
          <a:lstStyle/>
          <a:p>
            <a:pPr marL="0" indent="0" algn="l">
              <a:lnSpc>
                <a:spcPts val="1350"/>
              </a:lnSpc>
              <a:buNone/>
            </a:pPr>
            <a:r>
              <a:rPr lang="en-US" sz="1400" dirty="0">
                <a:solidFill>
                  <a:srgbClr val="504C49"/>
                </a:solidFill>
                <a:latin typeface="Platypi Medium" pitchFamily="34" charset="0"/>
                <a:ea typeface="Platypi Medium" pitchFamily="34" charset="-122"/>
                <a:cs typeface="Platypi Medium" pitchFamily="34" charset="-120"/>
              </a:rPr>
              <a:t>Strategic Decision-Making</a:t>
            </a:r>
            <a:endParaRPr lang="en-US" sz="1400" dirty="0"/>
          </a:p>
        </p:txBody>
      </p:sp>
      <p:sp>
        <p:nvSpPr>
          <p:cNvPr id="9" name="Text 6"/>
          <p:cNvSpPr/>
          <p:nvPr/>
        </p:nvSpPr>
        <p:spPr>
          <a:xfrm>
            <a:off x="1106091" y="2860119"/>
            <a:ext cx="6074212" cy="353854"/>
          </a:xfrm>
          <a:prstGeom prst="rect">
            <a:avLst/>
          </a:prstGeom>
          <a:noFill/>
          <a:ln/>
        </p:spPr>
        <p:txBody>
          <a:bodyPr wrap="square" lIns="0" tIns="0" rIns="0" bIns="0" rtlCol="0" anchor="t"/>
          <a:lstStyle/>
          <a:p>
            <a:pPr marL="0" indent="0" algn="l">
              <a:lnSpc>
                <a:spcPts val="1350"/>
              </a:lnSpc>
              <a:buNone/>
            </a:pPr>
            <a:r>
              <a:rPr lang="en-US" sz="1400" dirty="0">
                <a:solidFill>
                  <a:srgbClr val="504C49"/>
                </a:solidFill>
                <a:latin typeface="Source Serif Pro" pitchFamily="34" charset="0"/>
                <a:ea typeface="Source Serif Pro" pitchFamily="34" charset="-122"/>
                <a:cs typeface="Source Serif Pro" pitchFamily="34" charset="-120"/>
              </a:rPr>
              <a:t>Setting objectives and aligning supply chain strategy with broader corporate goals based on contextual understanding and long-term vision</a:t>
            </a:r>
            <a:endParaRPr lang="en-US" sz="1400" dirty="0"/>
          </a:p>
        </p:txBody>
      </p:sp>
      <p:pic>
        <p:nvPicPr>
          <p:cNvPr id="10" name="Image 1" descr="preencoded.png"/>
          <p:cNvPicPr>
            <a:picLocks noChangeAspect="1"/>
          </p:cNvPicPr>
          <p:nvPr/>
        </p:nvPicPr>
        <p:blipFill>
          <a:blip r:embed="rId4"/>
          <a:stretch>
            <a:fillRect/>
          </a:stretch>
        </p:blipFill>
        <p:spPr>
          <a:xfrm>
            <a:off x="442436" y="3324582"/>
            <a:ext cx="553045" cy="858441"/>
          </a:xfrm>
          <a:prstGeom prst="rect">
            <a:avLst/>
          </a:prstGeom>
        </p:spPr>
      </p:pic>
      <p:sp>
        <p:nvSpPr>
          <p:cNvPr id="11" name="Text 7"/>
          <p:cNvSpPr/>
          <p:nvPr/>
        </p:nvSpPr>
        <p:spPr>
          <a:xfrm>
            <a:off x="1106091" y="3435191"/>
            <a:ext cx="1382673" cy="172760"/>
          </a:xfrm>
          <a:prstGeom prst="rect">
            <a:avLst/>
          </a:prstGeom>
          <a:noFill/>
          <a:ln/>
        </p:spPr>
        <p:txBody>
          <a:bodyPr wrap="none" lIns="0" tIns="0" rIns="0" bIns="0" rtlCol="0" anchor="t"/>
          <a:lstStyle/>
          <a:p>
            <a:pPr marL="0" indent="0" algn="l">
              <a:lnSpc>
                <a:spcPts val="1350"/>
              </a:lnSpc>
              <a:buNone/>
            </a:pPr>
            <a:r>
              <a:rPr lang="en-US" sz="1400" dirty="0">
                <a:solidFill>
                  <a:srgbClr val="504C49"/>
                </a:solidFill>
                <a:latin typeface="Platypi Medium" pitchFamily="34" charset="0"/>
                <a:ea typeface="Platypi Medium" pitchFamily="34" charset="-122"/>
                <a:cs typeface="Platypi Medium" pitchFamily="34" charset="-120"/>
              </a:rPr>
              <a:t>Ethical Oversight</a:t>
            </a:r>
            <a:endParaRPr lang="en-US" sz="1400" dirty="0"/>
          </a:p>
        </p:txBody>
      </p:sp>
      <p:sp>
        <p:nvSpPr>
          <p:cNvPr id="12" name="Text 8"/>
          <p:cNvSpPr/>
          <p:nvPr/>
        </p:nvSpPr>
        <p:spPr>
          <a:xfrm>
            <a:off x="1106091" y="3718560"/>
            <a:ext cx="6074212" cy="353854"/>
          </a:xfrm>
          <a:prstGeom prst="rect">
            <a:avLst/>
          </a:prstGeom>
          <a:noFill/>
          <a:ln/>
        </p:spPr>
        <p:txBody>
          <a:bodyPr wrap="square" lIns="0" tIns="0" rIns="0" bIns="0" rtlCol="0" anchor="t"/>
          <a:lstStyle/>
          <a:p>
            <a:pPr marL="0" indent="0" algn="l">
              <a:lnSpc>
                <a:spcPts val="1350"/>
              </a:lnSpc>
              <a:buNone/>
            </a:pPr>
            <a:r>
              <a:rPr lang="en-US" sz="1400" dirty="0">
                <a:solidFill>
                  <a:srgbClr val="504C49"/>
                </a:solidFill>
                <a:latin typeface="Source Serif Pro" pitchFamily="34" charset="0"/>
                <a:ea typeface="Source Serif Pro" pitchFamily="34" charset="-122"/>
                <a:cs typeface="Source Serif Pro" pitchFamily="34" charset="-120"/>
              </a:rPr>
              <a:t>Designing ethical frameworks, auditing AI systems for fairness and bias, and ensuring accountability for automated decisions</a:t>
            </a:r>
            <a:endParaRPr lang="en-US" sz="1400" dirty="0"/>
          </a:p>
        </p:txBody>
      </p:sp>
      <p:pic>
        <p:nvPicPr>
          <p:cNvPr id="13" name="Image 2" descr="preencoded.png"/>
          <p:cNvPicPr>
            <a:picLocks noChangeAspect="1"/>
          </p:cNvPicPr>
          <p:nvPr/>
        </p:nvPicPr>
        <p:blipFill>
          <a:blip r:embed="rId5"/>
          <a:stretch>
            <a:fillRect/>
          </a:stretch>
        </p:blipFill>
        <p:spPr>
          <a:xfrm>
            <a:off x="442436" y="4183023"/>
            <a:ext cx="553045" cy="681514"/>
          </a:xfrm>
          <a:prstGeom prst="rect">
            <a:avLst/>
          </a:prstGeom>
        </p:spPr>
      </p:pic>
      <p:sp>
        <p:nvSpPr>
          <p:cNvPr id="14" name="Text 9"/>
          <p:cNvSpPr/>
          <p:nvPr/>
        </p:nvSpPr>
        <p:spPr>
          <a:xfrm>
            <a:off x="1106091" y="4293632"/>
            <a:ext cx="1743313" cy="172760"/>
          </a:xfrm>
          <a:prstGeom prst="rect">
            <a:avLst/>
          </a:prstGeom>
          <a:noFill/>
          <a:ln/>
        </p:spPr>
        <p:txBody>
          <a:bodyPr wrap="none" lIns="0" tIns="0" rIns="0" bIns="0" rtlCol="0" anchor="t"/>
          <a:lstStyle/>
          <a:p>
            <a:pPr marL="0" indent="0" algn="l">
              <a:lnSpc>
                <a:spcPts val="1350"/>
              </a:lnSpc>
              <a:buNone/>
            </a:pPr>
            <a:r>
              <a:rPr lang="en-US" sz="1400" dirty="0">
                <a:solidFill>
                  <a:srgbClr val="504C49"/>
                </a:solidFill>
                <a:latin typeface="Platypi Medium" pitchFamily="34" charset="0"/>
                <a:ea typeface="Platypi Medium" pitchFamily="34" charset="-122"/>
                <a:cs typeface="Platypi Medium" pitchFamily="34" charset="-120"/>
              </a:rPr>
              <a:t>Complex Problem-Solving</a:t>
            </a:r>
            <a:endParaRPr lang="en-US" sz="1400" dirty="0"/>
          </a:p>
        </p:txBody>
      </p:sp>
      <p:sp>
        <p:nvSpPr>
          <p:cNvPr id="15" name="Text 10"/>
          <p:cNvSpPr/>
          <p:nvPr/>
        </p:nvSpPr>
        <p:spPr>
          <a:xfrm>
            <a:off x="1106091" y="4577001"/>
            <a:ext cx="6074212" cy="176927"/>
          </a:xfrm>
          <a:prstGeom prst="rect">
            <a:avLst/>
          </a:prstGeom>
          <a:noFill/>
          <a:ln/>
        </p:spPr>
        <p:txBody>
          <a:bodyPr wrap="none" lIns="0" tIns="0" rIns="0" bIns="0" rtlCol="0" anchor="t"/>
          <a:lstStyle/>
          <a:p>
            <a:pPr marL="0" indent="0" algn="l">
              <a:lnSpc>
                <a:spcPts val="1350"/>
              </a:lnSpc>
              <a:buNone/>
            </a:pPr>
            <a:r>
              <a:rPr lang="en-US" sz="1400" dirty="0">
                <a:solidFill>
                  <a:srgbClr val="504C49"/>
                </a:solidFill>
                <a:latin typeface="Source Serif Pro" pitchFamily="34" charset="0"/>
                <a:ea typeface="Source Serif Pro" pitchFamily="34" charset="-122"/>
                <a:cs typeface="Source Serif Pro" pitchFamily="34" charset="-120"/>
              </a:rPr>
              <a:t>Navigating novel, unprecedented disruptions requiring creativity, adaptability, intuition, and </a:t>
            </a:r>
            <a:br>
              <a:rPr lang="en-US" sz="1400" dirty="0">
                <a:solidFill>
                  <a:srgbClr val="504C49"/>
                </a:solidFill>
                <a:latin typeface="Source Serif Pro" pitchFamily="34" charset="0"/>
                <a:ea typeface="Source Serif Pro" pitchFamily="34" charset="-122"/>
                <a:cs typeface="Source Serif Pro" pitchFamily="34" charset="-120"/>
              </a:rPr>
            </a:br>
            <a:r>
              <a:rPr lang="en-US" sz="1400" dirty="0">
                <a:solidFill>
                  <a:srgbClr val="504C49"/>
                </a:solidFill>
                <a:latin typeface="Source Serif Pro" pitchFamily="34" charset="0"/>
                <a:ea typeface="Source Serif Pro" pitchFamily="34" charset="-122"/>
                <a:cs typeface="Source Serif Pro" pitchFamily="34" charset="-120"/>
              </a:rPr>
              <a:t>empathetic leadership</a:t>
            </a:r>
            <a:endParaRPr lang="en-US" sz="1400" dirty="0"/>
          </a:p>
        </p:txBody>
      </p:sp>
      <p:sp>
        <p:nvSpPr>
          <p:cNvPr id="16" name="Text 11"/>
          <p:cNvSpPr/>
          <p:nvPr/>
        </p:nvSpPr>
        <p:spPr>
          <a:xfrm>
            <a:off x="7457718" y="1669852"/>
            <a:ext cx="1964888" cy="207407"/>
          </a:xfrm>
          <a:prstGeom prst="rect">
            <a:avLst/>
          </a:prstGeom>
          <a:noFill/>
          <a:ln/>
        </p:spPr>
        <p:txBody>
          <a:bodyPr wrap="none" lIns="0" tIns="0" rIns="0" bIns="0" rtlCol="0" anchor="t"/>
          <a:lstStyle/>
          <a:p>
            <a:pPr marL="0" indent="0" algn="l">
              <a:lnSpc>
                <a:spcPts val="1600"/>
              </a:lnSpc>
              <a:buNone/>
            </a:pPr>
            <a:r>
              <a:rPr lang="en-US" sz="1400" dirty="0">
                <a:solidFill>
                  <a:srgbClr val="201B18"/>
                </a:solidFill>
                <a:latin typeface="Platypi Medium" pitchFamily="34" charset="0"/>
                <a:ea typeface="Platypi Medium" pitchFamily="34" charset="-122"/>
                <a:cs typeface="Platypi Medium" pitchFamily="34" charset="-120"/>
              </a:rPr>
              <a:t>New Core Competencies</a:t>
            </a:r>
            <a:endParaRPr lang="en-US" sz="1400" dirty="0"/>
          </a:p>
        </p:txBody>
      </p:sp>
      <p:sp>
        <p:nvSpPr>
          <p:cNvPr id="17" name="Text 12"/>
          <p:cNvSpPr/>
          <p:nvPr/>
        </p:nvSpPr>
        <p:spPr>
          <a:xfrm>
            <a:off x="7457718" y="1987868"/>
            <a:ext cx="6737866" cy="353854"/>
          </a:xfrm>
          <a:prstGeom prst="rect">
            <a:avLst/>
          </a:prstGeom>
          <a:noFill/>
          <a:ln/>
        </p:spPr>
        <p:txBody>
          <a:bodyPr wrap="square" lIns="0" tIns="0" rIns="0" bIns="0" rtlCol="0" anchor="t"/>
          <a:lstStyle/>
          <a:p>
            <a:pPr marL="342900" indent="-342900" algn="l">
              <a:lnSpc>
                <a:spcPts val="1350"/>
              </a:lnSpc>
              <a:buSzPct val="100000"/>
              <a:buChar char="•"/>
            </a:pPr>
            <a:r>
              <a:rPr lang="en-US" sz="1400" b="1" dirty="0">
                <a:solidFill>
                  <a:srgbClr val="504C49"/>
                </a:solidFill>
                <a:latin typeface="Source Serif Pro" pitchFamily="34" charset="0"/>
                <a:ea typeface="Source Serif Pro" pitchFamily="34" charset="-122"/>
                <a:cs typeface="Source Serif Pro" pitchFamily="34" charset="-120"/>
              </a:rPr>
              <a:t>Human-Machine Teaming:</a:t>
            </a:r>
            <a:r>
              <a:rPr lang="en-US" sz="1400" dirty="0">
                <a:solidFill>
                  <a:srgbClr val="504C49"/>
                </a:solidFill>
                <a:latin typeface="Source Serif Pro" pitchFamily="34" charset="0"/>
                <a:ea typeface="Source Serif Pro" pitchFamily="34" charset="-122"/>
                <a:cs typeface="Source Serif Pro" pitchFamily="34" charset="-120"/>
              </a:rPr>
              <a:t> Designing, managing, and working alongside intelligent systems, knowing when to trust AI recommendations and when to override them</a:t>
            </a:r>
            <a:endParaRPr lang="en-US" sz="1400" dirty="0"/>
          </a:p>
        </p:txBody>
      </p:sp>
      <p:sp>
        <p:nvSpPr>
          <p:cNvPr id="18" name="Text 13"/>
          <p:cNvSpPr/>
          <p:nvPr/>
        </p:nvSpPr>
        <p:spPr>
          <a:xfrm>
            <a:off x="7450098" y="2570689"/>
            <a:ext cx="6737866" cy="353854"/>
          </a:xfrm>
          <a:prstGeom prst="rect">
            <a:avLst/>
          </a:prstGeom>
          <a:noFill/>
          <a:ln/>
        </p:spPr>
        <p:txBody>
          <a:bodyPr wrap="square" lIns="0" tIns="0" rIns="0" bIns="0" rtlCol="0" anchor="t"/>
          <a:lstStyle/>
          <a:p>
            <a:pPr marL="342900" indent="-342900" algn="l">
              <a:lnSpc>
                <a:spcPts val="1350"/>
              </a:lnSpc>
              <a:buSzPct val="100000"/>
              <a:buChar char="•"/>
            </a:pPr>
            <a:r>
              <a:rPr lang="en-US" sz="1400" b="1" dirty="0">
                <a:solidFill>
                  <a:srgbClr val="504C49"/>
                </a:solidFill>
                <a:latin typeface="Source Serif Pro" pitchFamily="34" charset="0"/>
                <a:ea typeface="Source Serif Pro" pitchFamily="34" charset="-122"/>
                <a:cs typeface="Source Serif Pro" pitchFamily="34" charset="-120"/>
              </a:rPr>
              <a:t>Leadership and Emotional Intelligence:</a:t>
            </a:r>
            <a:r>
              <a:rPr lang="en-US" sz="1400" dirty="0">
                <a:solidFill>
                  <a:srgbClr val="504C49"/>
                </a:solidFill>
                <a:latin typeface="Source Serif Pro" pitchFamily="34" charset="0"/>
                <a:ea typeface="Source Serif Pro" pitchFamily="34" charset="-122"/>
                <a:cs typeface="Source Serif Pro" pitchFamily="34" charset="-120"/>
              </a:rPr>
              <a:t> Guiding teams through constant change and fostering a culture of continuous learning and adaptation</a:t>
            </a:r>
            <a:endParaRPr lang="en-US" sz="1400" dirty="0"/>
          </a:p>
        </p:txBody>
      </p:sp>
      <p:sp>
        <p:nvSpPr>
          <p:cNvPr id="19" name="Text 14"/>
          <p:cNvSpPr/>
          <p:nvPr/>
        </p:nvSpPr>
        <p:spPr>
          <a:xfrm>
            <a:off x="8822723" y="3078480"/>
            <a:ext cx="2560677" cy="207407"/>
          </a:xfrm>
          <a:prstGeom prst="rect">
            <a:avLst/>
          </a:prstGeom>
          <a:noFill/>
          <a:ln/>
        </p:spPr>
        <p:txBody>
          <a:bodyPr wrap="none" lIns="0" tIns="0" rIns="0" bIns="0" rtlCol="0" anchor="t"/>
          <a:lstStyle/>
          <a:p>
            <a:pPr marL="0" indent="0" algn="l">
              <a:lnSpc>
                <a:spcPts val="1600"/>
              </a:lnSpc>
              <a:buNone/>
            </a:pPr>
            <a:r>
              <a:rPr lang="en-US" sz="1300" dirty="0">
                <a:solidFill>
                  <a:srgbClr val="201B18"/>
                </a:solidFill>
                <a:latin typeface="Platypi Medium" pitchFamily="34" charset="0"/>
                <a:ea typeface="Platypi Medium" pitchFamily="34" charset="-122"/>
                <a:cs typeface="Platypi Medium" pitchFamily="34" charset="-120"/>
              </a:rPr>
              <a:t>Emerging Supply Chain Careers</a:t>
            </a:r>
            <a:endParaRPr lang="en-US" sz="1300" dirty="0"/>
          </a:p>
        </p:txBody>
      </p:sp>
      <p:pic>
        <p:nvPicPr>
          <p:cNvPr id="20" name="Image 3" descr="preencoded.png"/>
          <p:cNvPicPr>
            <a:picLocks noChangeAspect="1"/>
          </p:cNvPicPr>
          <p:nvPr/>
        </p:nvPicPr>
        <p:blipFill>
          <a:blip r:embed="rId6"/>
          <a:stretch>
            <a:fillRect/>
          </a:stretch>
        </p:blipFill>
        <p:spPr>
          <a:xfrm>
            <a:off x="8822723" y="3324583"/>
            <a:ext cx="5671965" cy="3894772"/>
          </a:xfrm>
          <a:prstGeom prst="rect">
            <a:avLst/>
          </a:prstGeom>
        </p:spPr>
      </p:pic>
      <p:sp>
        <p:nvSpPr>
          <p:cNvPr id="21" name="Text 15"/>
          <p:cNvSpPr/>
          <p:nvPr/>
        </p:nvSpPr>
        <p:spPr>
          <a:xfrm>
            <a:off x="8822723" y="7339489"/>
            <a:ext cx="6737866" cy="176927"/>
          </a:xfrm>
          <a:prstGeom prst="rect">
            <a:avLst/>
          </a:prstGeom>
          <a:noFill/>
          <a:ln/>
        </p:spPr>
        <p:txBody>
          <a:bodyPr wrap="none" lIns="0" tIns="0" rIns="0" bIns="0" rtlCol="0" anchor="t"/>
          <a:lstStyle/>
          <a:p>
            <a:pPr marL="342900" indent="-342900" algn="l">
              <a:lnSpc>
                <a:spcPts val="1350"/>
              </a:lnSpc>
              <a:buSzPct val="100000"/>
              <a:buChar char="•"/>
            </a:pPr>
            <a:r>
              <a:rPr lang="en-US" sz="1400" dirty="0">
                <a:solidFill>
                  <a:srgbClr val="504C49"/>
                </a:solidFill>
                <a:latin typeface="Source Serif Pro" pitchFamily="34" charset="0"/>
                <a:ea typeface="Source Serif Pro" pitchFamily="34" charset="-122"/>
                <a:cs typeface="Source Serif Pro" pitchFamily="34" charset="-120"/>
              </a:rPr>
              <a:t>Supply Chain Data Scientists</a:t>
            </a:r>
            <a:endParaRPr lang="en-US" sz="1400" dirty="0"/>
          </a:p>
        </p:txBody>
      </p:sp>
      <p:sp>
        <p:nvSpPr>
          <p:cNvPr id="22" name="Text 16"/>
          <p:cNvSpPr/>
          <p:nvPr/>
        </p:nvSpPr>
        <p:spPr>
          <a:xfrm>
            <a:off x="8822723" y="7555111"/>
            <a:ext cx="6737866" cy="176927"/>
          </a:xfrm>
          <a:prstGeom prst="rect">
            <a:avLst/>
          </a:prstGeom>
          <a:noFill/>
          <a:ln/>
        </p:spPr>
        <p:txBody>
          <a:bodyPr wrap="none" lIns="0" tIns="0" rIns="0" bIns="0" rtlCol="0" anchor="t"/>
          <a:lstStyle/>
          <a:p>
            <a:pPr marL="342900" indent="-342900" algn="l">
              <a:lnSpc>
                <a:spcPts val="1350"/>
              </a:lnSpc>
              <a:buSzPct val="100000"/>
              <a:buChar char="•"/>
            </a:pPr>
            <a:r>
              <a:rPr lang="en-US" sz="1400" dirty="0">
                <a:solidFill>
                  <a:srgbClr val="504C49"/>
                </a:solidFill>
                <a:latin typeface="Source Serif Pro" pitchFamily="34" charset="0"/>
                <a:ea typeface="Source Serif Pro" pitchFamily="34" charset="-122"/>
                <a:cs typeface="Source Serif Pro" pitchFamily="34" charset="-120"/>
              </a:rPr>
              <a:t>AI Ethics and Bias Analysts</a:t>
            </a:r>
            <a:endParaRPr lang="en-US" sz="1400" dirty="0"/>
          </a:p>
        </p:txBody>
      </p:sp>
      <p:sp>
        <p:nvSpPr>
          <p:cNvPr id="23" name="Text 17"/>
          <p:cNvSpPr/>
          <p:nvPr/>
        </p:nvSpPr>
        <p:spPr>
          <a:xfrm>
            <a:off x="8822723" y="7770733"/>
            <a:ext cx="6737866" cy="176927"/>
          </a:xfrm>
          <a:prstGeom prst="rect">
            <a:avLst/>
          </a:prstGeom>
          <a:noFill/>
          <a:ln/>
        </p:spPr>
        <p:txBody>
          <a:bodyPr wrap="none" lIns="0" tIns="0" rIns="0" bIns="0" rtlCol="0" anchor="t"/>
          <a:lstStyle/>
          <a:p>
            <a:pPr marL="342900" indent="-342900" algn="l">
              <a:lnSpc>
                <a:spcPts val="1350"/>
              </a:lnSpc>
              <a:buSzPct val="100000"/>
              <a:buChar char="•"/>
            </a:pPr>
            <a:r>
              <a:rPr lang="en-US" sz="1400" dirty="0">
                <a:solidFill>
                  <a:srgbClr val="504C49"/>
                </a:solidFill>
                <a:latin typeface="Source Serif Pro" pitchFamily="34" charset="0"/>
                <a:ea typeface="Source Serif Pro" pitchFamily="34" charset="-122"/>
                <a:cs typeface="Source Serif Pro" pitchFamily="34" charset="-120"/>
              </a:rPr>
              <a:t>Digital Twin Operators</a:t>
            </a:r>
            <a:endParaRPr lang="en-US" sz="1400" dirty="0"/>
          </a:p>
        </p:txBody>
      </p:sp>
      <p:sp>
        <p:nvSpPr>
          <p:cNvPr id="24" name="Text 18"/>
          <p:cNvSpPr/>
          <p:nvPr/>
        </p:nvSpPr>
        <p:spPr>
          <a:xfrm>
            <a:off x="8822723" y="7986356"/>
            <a:ext cx="6737866" cy="176927"/>
          </a:xfrm>
          <a:prstGeom prst="rect">
            <a:avLst/>
          </a:prstGeom>
          <a:noFill/>
          <a:ln/>
        </p:spPr>
        <p:txBody>
          <a:bodyPr wrap="none" lIns="0" tIns="0" rIns="0" bIns="0" rtlCol="0" anchor="t"/>
          <a:lstStyle/>
          <a:p>
            <a:pPr marL="342900" indent="-342900" algn="l">
              <a:lnSpc>
                <a:spcPts val="1350"/>
              </a:lnSpc>
              <a:buSzPct val="100000"/>
              <a:buChar char="•"/>
            </a:pPr>
            <a:r>
              <a:rPr lang="en-US" sz="1400" dirty="0">
                <a:solidFill>
                  <a:srgbClr val="504C49"/>
                </a:solidFill>
                <a:latin typeface="Source Serif Pro" pitchFamily="34" charset="0"/>
                <a:ea typeface="Source Serif Pro" pitchFamily="34" charset="-122"/>
                <a:cs typeface="Source Serif Pro" pitchFamily="34" charset="-120"/>
              </a:rPr>
              <a:t>Robotics Fleet Managers</a:t>
            </a:r>
            <a:endParaRPr lang="en-US" sz="1400" dirty="0"/>
          </a:p>
        </p:txBody>
      </p:sp>
      <p:sp>
        <p:nvSpPr>
          <p:cNvPr id="25" name="Text 19"/>
          <p:cNvSpPr/>
          <p:nvPr/>
        </p:nvSpPr>
        <p:spPr>
          <a:xfrm>
            <a:off x="135711" y="6200418"/>
            <a:ext cx="13579673" cy="176927"/>
          </a:xfrm>
          <a:prstGeom prst="rect">
            <a:avLst/>
          </a:prstGeom>
          <a:noFill/>
          <a:ln/>
        </p:spPr>
        <p:txBody>
          <a:bodyPr wrap="none" lIns="0" tIns="0" rIns="0" bIns="0" rtlCol="0" anchor="t"/>
          <a:lstStyle/>
          <a:p>
            <a:pPr marL="0" indent="0" algn="l">
              <a:lnSpc>
                <a:spcPts val="1350"/>
              </a:lnSpc>
              <a:buNone/>
            </a:pPr>
            <a:r>
              <a:rPr lang="en-US" sz="1400" dirty="0">
                <a:solidFill>
                  <a:srgbClr val="504C49"/>
                </a:solidFill>
                <a:latin typeface="Source Serif Pro" pitchFamily="34" charset="0"/>
                <a:ea typeface="Source Serif Pro" pitchFamily="34" charset="-122"/>
                <a:cs typeface="Source Serif Pro" pitchFamily="34" charset="-120"/>
              </a:rPr>
              <a:t>The paradox of the AI-driven supply chain is that it makes human judgment </a:t>
            </a:r>
            <a:r>
              <a:rPr lang="en-US" sz="1400" b="1" dirty="0">
                <a:solidFill>
                  <a:srgbClr val="504C49"/>
                </a:solidFill>
                <a:latin typeface="Source Serif Pro" pitchFamily="34" charset="0"/>
                <a:ea typeface="Source Serif Pro" pitchFamily="34" charset="-122"/>
                <a:cs typeface="Source Serif Pro" pitchFamily="34" charset="-120"/>
              </a:rPr>
              <a:t>more</a:t>
            </a:r>
            <a:r>
              <a:rPr lang="en-US" sz="1400" dirty="0">
                <a:solidFill>
                  <a:srgbClr val="504C49"/>
                </a:solidFill>
                <a:latin typeface="Source Serif Pro" pitchFamily="34" charset="0"/>
                <a:ea typeface="Source Serif Pro" pitchFamily="34" charset="-122"/>
                <a:cs typeface="Source Serif Pro" pitchFamily="34" charset="-120"/>
              </a:rPr>
              <a:t>, not less, valuable. </a:t>
            </a:r>
            <a:br>
              <a:rPr lang="en-US" sz="1400" dirty="0">
                <a:solidFill>
                  <a:srgbClr val="504C49"/>
                </a:solidFill>
                <a:latin typeface="Source Serif Pro" pitchFamily="34" charset="0"/>
                <a:ea typeface="Source Serif Pro" pitchFamily="34" charset="-122"/>
                <a:cs typeface="Source Serif Pro" pitchFamily="34" charset="-120"/>
              </a:rPr>
            </a:br>
            <a:r>
              <a:rPr lang="en-US" sz="1400" dirty="0">
                <a:solidFill>
                  <a:srgbClr val="504C49"/>
                </a:solidFill>
                <a:latin typeface="Source Serif Pro" pitchFamily="34" charset="0"/>
                <a:ea typeface="Source Serif Pro" pitchFamily="34" charset="-122"/>
                <a:cs typeface="Source Serif Pro" pitchFamily="34" charset="-120"/>
              </a:rPr>
              <a:t>While AI excels at "how" questions, humans must answer the far more difficult questions of "what" and "why</a:t>
            </a:r>
            <a:r>
              <a:rPr lang="en-US" sz="850" dirty="0">
                <a:solidFill>
                  <a:srgbClr val="504C49"/>
                </a:solidFill>
                <a:latin typeface="Source Serif Pro" pitchFamily="34" charset="0"/>
                <a:ea typeface="Source Serif Pro" pitchFamily="34" charset="-122"/>
                <a:cs typeface="Source Serif Pro" pitchFamily="34" charset="-120"/>
              </a:rPr>
              <a:t>".</a:t>
            </a:r>
            <a:endParaRPr lang="en-US" sz="850" dirty="0"/>
          </a:p>
        </p:txBody>
      </p:sp>
      <p:sp>
        <p:nvSpPr>
          <p:cNvPr id="26" name="Shape 20"/>
          <p:cNvSpPr/>
          <p:nvPr/>
        </p:nvSpPr>
        <p:spPr>
          <a:xfrm>
            <a:off x="442436" y="8330684"/>
            <a:ext cx="15240" cy="425768"/>
          </a:xfrm>
          <a:prstGeom prst="rect">
            <a:avLst/>
          </a:prstGeom>
          <a:solidFill>
            <a:srgbClr val="3E2513"/>
          </a:solidFill>
          <a:ln/>
        </p:spPr>
        <p:txBody>
          <a:bodyPr/>
          <a:lstStyle/>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79120" y="398145"/>
            <a:ext cx="9857780" cy="452557"/>
          </a:xfrm>
          <a:prstGeom prst="rect">
            <a:avLst/>
          </a:prstGeom>
          <a:noFill/>
          <a:ln/>
        </p:spPr>
        <p:txBody>
          <a:bodyPr wrap="none" lIns="0" tIns="0" rIns="0" bIns="0" rtlCol="0" anchor="t"/>
          <a:lstStyle/>
          <a:p>
            <a:pPr marL="0" indent="0" algn="l">
              <a:lnSpc>
                <a:spcPts val="3550"/>
              </a:lnSpc>
              <a:buNone/>
            </a:pPr>
            <a:r>
              <a:rPr lang="en-US" sz="2850" dirty="0">
                <a:solidFill>
                  <a:srgbClr val="201B18"/>
                </a:solidFill>
                <a:latin typeface="Platypi Medium" pitchFamily="34" charset="0"/>
                <a:ea typeface="Platypi Medium" pitchFamily="34" charset="-122"/>
                <a:cs typeface="Platypi Medium" pitchFamily="34" charset="-120"/>
              </a:rPr>
              <a:t>The Strategic Imperative of Technology in Modern SCM</a:t>
            </a:r>
            <a:endParaRPr lang="en-US" sz="2850" dirty="0"/>
          </a:p>
        </p:txBody>
      </p:sp>
      <p:sp>
        <p:nvSpPr>
          <p:cNvPr id="3" name="Text 1"/>
          <p:cNvSpPr/>
          <p:nvPr/>
        </p:nvSpPr>
        <p:spPr>
          <a:xfrm>
            <a:off x="579120" y="1198126"/>
            <a:ext cx="6559510" cy="926306"/>
          </a:xfrm>
          <a:prstGeom prst="rect">
            <a:avLst/>
          </a:prstGeom>
          <a:noFill/>
          <a:ln/>
        </p:spPr>
        <p:txBody>
          <a:bodyPr wrap="square" lIns="0" tIns="0" rIns="0" bIns="0" rtlCol="0" anchor="t"/>
          <a:lstStyle/>
          <a:p>
            <a:pPr marL="0" indent="0" algn="l">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Information Technology (IT) and computer simulation have evolved from back-office support functions into core strategic pillars of effective Supply Chain Management. Together, they empower organisations to enhance efficiency, improve visibility, bolster resilience, and make smarter, data-driven decisions.</a:t>
            </a:r>
            <a:endParaRPr lang="en-US" sz="1400" dirty="0"/>
          </a:p>
        </p:txBody>
      </p:sp>
      <p:sp>
        <p:nvSpPr>
          <p:cNvPr id="4" name="Text 2"/>
          <p:cNvSpPr/>
          <p:nvPr/>
        </p:nvSpPr>
        <p:spPr>
          <a:xfrm>
            <a:off x="579120" y="2269212"/>
            <a:ext cx="3165991" cy="271463"/>
          </a:xfrm>
          <a:prstGeom prst="rect">
            <a:avLst/>
          </a:prstGeom>
          <a:noFill/>
          <a:ln/>
        </p:spPr>
        <p:txBody>
          <a:bodyPr wrap="none" lIns="0" tIns="0" rIns="0" bIns="0" rtlCol="0" anchor="t"/>
          <a:lstStyle/>
          <a:p>
            <a:pPr marL="0" indent="0" algn="l">
              <a:lnSpc>
                <a:spcPts val="2100"/>
              </a:lnSpc>
              <a:buNone/>
            </a:pPr>
            <a:r>
              <a:rPr lang="en-US" sz="1700" dirty="0">
                <a:solidFill>
                  <a:srgbClr val="201B18"/>
                </a:solidFill>
                <a:latin typeface="Platypi Medium" pitchFamily="34" charset="0"/>
                <a:ea typeface="Platypi Medium" pitchFamily="34" charset="-122"/>
                <a:cs typeface="Platypi Medium" pitchFamily="34" charset="-120"/>
              </a:rPr>
              <a:t>Key Benefits of IT Integration</a:t>
            </a:r>
            <a:endParaRPr lang="en-US" sz="1700" dirty="0"/>
          </a:p>
        </p:txBody>
      </p:sp>
      <p:sp>
        <p:nvSpPr>
          <p:cNvPr id="5" name="Shape 3"/>
          <p:cNvSpPr/>
          <p:nvPr/>
        </p:nvSpPr>
        <p:spPr>
          <a:xfrm>
            <a:off x="579120" y="2703552"/>
            <a:ext cx="325755" cy="325755"/>
          </a:xfrm>
          <a:prstGeom prst="roundRect">
            <a:avLst>
              <a:gd name="adj" fmla="val 6668"/>
            </a:avLst>
          </a:prstGeom>
          <a:solidFill>
            <a:srgbClr val="92D050"/>
          </a:solidFill>
          <a:ln/>
        </p:spPr>
        <p:txBody>
          <a:bodyPr/>
          <a:lstStyle/>
          <a:p>
            <a:endParaRPr lang="en-IN"/>
          </a:p>
        </p:txBody>
      </p:sp>
      <p:sp>
        <p:nvSpPr>
          <p:cNvPr id="6" name="Text 4"/>
          <p:cNvSpPr/>
          <p:nvPr/>
        </p:nvSpPr>
        <p:spPr>
          <a:xfrm>
            <a:off x="1049655" y="2753320"/>
            <a:ext cx="3357324" cy="226219"/>
          </a:xfrm>
          <a:prstGeom prst="rect">
            <a:avLst/>
          </a:prstGeom>
          <a:noFill/>
          <a:ln/>
        </p:spPr>
        <p:txBody>
          <a:bodyPr wrap="none" lIns="0" tIns="0" rIns="0" bIns="0" rtlCol="0" anchor="t"/>
          <a:lstStyle/>
          <a:p>
            <a:pPr marL="0" indent="0" algn="l">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Enhanced Visibility and Transparency</a:t>
            </a:r>
            <a:endParaRPr lang="en-US" sz="1400" dirty="0"/>
          </a:p>
        </p:txBody>
      </p:sp>
      <p:sp>
        <p:nvSpPr>
          <p:cNvPr id="7" name="Text 5"/>
          <p:cNvSpPr/>
          <p:nvPr/>
        </p:nvSpPr>
        <p:spPr>
          <a:xfrm>
            <a:off x="1049655" y="3124319"/>
            <a:ext cx="6088975" cy="463153"/>
          </a:xfrm>
          <a:prstGeom prst="rect">
            <a:avLst/>
          </a:prstGeom>
          <a:noFill/>
          <a:ln/>
        </p:spPr>
        <p:txBody>
          <a:bodyPr wrap="square" lIns="0" tIns="0" rIns="0" bIns="0" rtlCol="0" anchor="t"/>
          <a:lstStyle/>
          <a:p>
            <a:pPr marL="0" indent="0" algn="l">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ERP, WMS, and TMS systems provide real-time data on inventory, orders, and shipments, allowing managers to track goods and proactively identify potential bottlenecks.</a:t>
            </a:r>
            <a:endParaRPr lang="en-US" sz="1400" dirty="0"/>
          </a:p>
        </p:txBody>
      </p:sp>
      <p:sp>
        <p:nvSpPr>
          <p:cNvPr id="8" name="Shape 6"/>
          <p:cNvSpPr/>
          <p:nvPr/>
        </p:nvSpPr>
        <p:spPr>
          <a:xfrm>
            <a:off x="579120" y="3877032"/>
            <a:ext cx="325755" cy="325755"/>
          </a:xfrm>
          <a:prstGeom prst="roundRect">
            <a:avLst>
              <a:gd name="adj" fmla="val 6668"/>
            </a:avLst>
          </a:prstGeom>
          <a:solidFill>
            <a:srgbClr val="92D050"/>
          </a:solidFill>
          <a:ln/>
        </p:spPr>
        <p:txBody>
          <a:bodyPr/>
          <a:lstStyle/>
          <a:p>
            <a:endParaRPr lang="en-IN"/>
          </a:p>
        </p:txBody>
      </p:sp>
      <p:sp>
        <p:nvSpPr>
          <p:cNvPr id="9" name="Text 7"/>
          <p:cNvSpPr/>
          <p:nvPr/>
        </p:nvSpPr>
        <p:spPr>
          <a:xfrm>
            <a:off x="1049655" y="3926800"/>
            <a:ext cx="2881789" cy="226219"/>
          </a:xfrm>
          <a:prstGeom prst="rect">
            <a:avLst/>
          </a:prstGeom>
          <a:noFill/>
          <a:ln/>
        </p:spPr>
        <p:txBody>
          <a:bodyPr wrap="none" lIns="0" tIns="0" rIns="0" bIns="0" rtlCol="0" anchor="t"/>
          <a:lstStyle/>
          <a:p>
            <a:pPr marL="0" indent="0" algn="l">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Improved Operational Efficiency</a:t>
            </a:r>
            <a:endParaRPr lang="en-US" sz="1400" dirty="0"/>
          </a:p>
        </p:txBody>
      </p:sp>
      <p:sp>
        <p:nvSpPr>
          <p:cNvPr id="10" name="Text 8"/>
          <p:cNvSpPr/>
          <p:nvPr/>
        </p:nvSpPr>
        <p:spPr>
          <a:xfrm>
            <a:off x="1049655" y="4297799"/>
            <a:ext cx="6088975" cy="463153"/>
          </a:xfrm>
          <a:prstGeom prst="rect">
            <a:avLst/>
          </a:prstGeom>
          <a:noFill/>
          <a:ln/>
        </p:spPr>
        <p:txBody>
          <a:bodyPr wrap="square" lIns="0" tIns="0" rIns="0" bIns="0" rtlCol="0" anchor="t"/>
          <a:lstStyle/>
          <a:p>
            <a:pPr marL="0" indent="0" algn="l">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Automation of routine tasks reduces errors, saves time, and frees human resources for strategic activities while optimising transportation routes and inventory levels.</a:t>
            </a:r>
            <a:endParaRPr lang="en-US" sz="1400" dirty="0"/>
          </a:p>
        </p:txBody>
      </p:sp>
      <p:sp>
        <p:nvSpPr>
          <p:cNvPr id="11" name="Shape 9"/>
          <p:cNvSpPr/>
          <p:nvPr/>
        </p:nvSpPr>
        <p:spPr>
          <a:xfrm>
            <a:off x="579120" y="5050512"/>
            <a:ext cx="325755" cy="325755"/>
          </a:xfrm>
          <a:prstGeom prst="roundRect">
            <a:avLst>
              <a:gd name="adj" fmla="val 6668"/>
            </a:avLst>
          </a:prstGeom>
          <a:solidFill>
            <a:srgbClr val="92D050"/>
          </a:solidFill>
          <a:ln/>
        </p:spPr>
        <p:txBody>
          <a:bodyPr/>
          <a:lstStyle/>
          <a:p>
            <a:endParaRPr lang="en-IN"/>
          </a:p>
        </p:txBody>
      </p:sp>
      <p:sp>
        <p:nvSpPr>
          <p:cNvPr id="12" name="Text 10"/>
          <p:cNvSpPr/>
          <p:nvPr/>
        </p:nvSpPr>
        <p:spPr>
          <a:xfrm>
            <a:off x="1049655" y="5100280"/>
            <a:ext cx="2027873" cy="226219"/>
          </a:xfrm>
          <a:prstGeom prst="rect">
            <a:avLst/>
          </a:prstGeom>
          <a:noFill/>
          <a:ln/>
        </p:spPr>
        <p:txBody>
          <a:bodyPr wrap="none" lIns="0" tIns="0" rIns="0" bIns="0" rtlCol="0" anchor="t"/>
          <a:lstStyle/>
          <a:p>
            <a:pPr marL="0" indent="0" algn="l">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Superior Collaboration</a:t>
            </a:r>
            <a:endParaRPr lang="en-US" sz="1400" dirty="0"/>
          </a:p>
        </p:txBody>
      </p:sp>
      <p:sp>
        <p:nvSpPr>
          <p:cNvPr id="13" name="Text 11"/>
          <p:cNvSpPr/>
          <p:nvPr/>
        </p:nvSpPr>
        <p:spPr>
          <a:xfrm>
            <a:off x="1049655" y="5471279"/>
            <a:ext cx="6088975" cy="463153"/>
          </a:xfrm>
          <a:prstGeom prst="rect">
            <a:avLst/>
          </a:prstGeom>
          <a:noFill/>
          <a:ln/>
        </p:spPr>
        <p:txBody>
          <a:bodyPr wrap="square" lIns="0" tIns="0" rIns="0" bIns="0" rtlCol="0" anchor="t"/>
          <a:lstStyle/>
          <a:p>
            <a:pPr marL="0" indent="0" algn="l">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Modern IT platforms break down silos and enable seamless collaboration among all supply chain partners through shared information sources.</a:t>
            </a:r>
            <a:endParaRPr lang="en-US" sz="1400" dirty="0"/>
          </a:p>
        </p:txBody>
      </p:sp>
      <p:sp>
        <p:nvSpPr>
          <p:cNvPr id="14" name="Text 12"/>
          <p:cNvSpPr/>
          <p:nvPr/>
        </p:nvSpPr>
        <p:spPr>
          <a:xfrm>
            <a:off x="7499390" y="1212652"/>
            <a:ext cx="4920734" cy="271463"/>
          </a:xfrm>
          <a:prstGeom prst="rect">
            <a:avLst/>
          </a:prstGeom>
          <a:noFill/>
          <a:ln/>
        </p:spPr>
        <p:txBody>
          <a:bodyPr wrap="none" lIns="0" tIns="0" rIns="0" bIns="0" rtlCol="0" anchor="t"/>
          <a:lstStyle/>
          <a:p>
            <a:pPr marL="0" indent="0" algn="l">
              <a:lnSpc>
                <a:spcPts val="2100"/>
              </a:lnSpc>
              <a:buNone/>
            </a:pPr>
            <a:r>
              <a:rPr lang="en-US" sz="1700" dirty="0">
                <a:solidFill>
                  <a:srgbClr val="201B18"/>
                </a:solidFill>
                <a:latin typeface="Platypi Medium" pitchFamily="34" charset="0"/>
                <a:ea typeface="Platypi Medium" pitchFamily="34" charset="-122"/>
                <a:cs typeface="Platypi Medium" pitchFamily="34" charset="-120"/>
              </a:rPr>
              <a:t>Core IT Systems in Supply Chain Management</a:t>
            </a:r>
            <a:endParaRPr lang="en-US" sz="1700" dirty="0"/>
          </a:p>
        </p:txBody>
      </p:sp>
      <p:pic>
        <p:nvPicPr>
          <p:cNvPr id="15" name="Image 0" descr="preencoded.png"/>
          <p:cNvPicPr>
            <a:picLocks noChangeAspect="1"/>
          </p:cNvPicPr>
          <p:nvPr/>
        </p:nvPicPr>
        <p:blipFill>
          <a:blip r:embed="rId3"/>
          <a:stretch>
            <a:fillRect/>
          </a:stretch>
        </p:blipFill>
        <p:spPr>
          <a:xfrm>
            <a:off x="7499390" y="1646992"/>
            <a:ext cx="361950" cy="361950"/>
          </a:xfrm>
          <a:prstGeom prst="rect">
            <a:avLst/>
          </a:prstGeom>
        </p:spPr>
      </p:pic>
      <p:sp>
        <p:nvSpPr>
          <p:cNvPr id="16" name="Text 13"/>
          <p:cNvSpPr/>
          <p:nvPr/>
        </p:nvSpPr>
        <p:spPr>
          <a:xfrm>
            <a:off x="7499390" y="2189917"/>
            <a:ext cx="3127534" cy="226219"/>
          </a:xfrm>
          <a:prstGeom prst="rect">
            <a:avLst/>
          </a:prstGeom>
          <a:noFill/>
          <a:ln/>
        </p:spPr>
        <p:txBody>
          <a:bodyPr wrap="none" lIns="0" tIns="0" rIns="0" bIns="0" rtlCol="0" anchor="t"/>
          <a:lstStyle/>
          <a:p>
            <a:pPr marL="0" indent="0" algn="l">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Enterprise Resource Planning (ERP)</a:t>
            </a:r>
            <a:endParaRPr lang="en-US" sz="1400" dirty="0"/>
          </a:p>
        </p:txBody>
      </p:sp>
      <p:sp>
        <p:nvSpPr>
          <p:cNvPr id="17" name="Text 14"/>
          <p:cNvSpPr/>
          <p:nvPr/>
        </p:nvSpPr>
        <p:spPr>
          <a:xfrm>
            <a:off x="7499390" y="2560915"/>
            <a:ext cx="6559510" cy="463153"/>
          </a:xfrm>
          <a:prstGeom prst="rect">
            <a:avLst/>
          </a:prstGeom>
          <a:noFill/>
          <a:ln/>
        </p:spPr>
        <p:txBody>
          <a:bodyPr wrap="square" lIns="0" tIns="0" rIns="0" bIns="0" rtlCol="0" anchor="t"/>
          <a:lstStyle/>
          <a:p>
            <a:pPr marL="0" indent="0" algn="l">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The central nervous system integrating all major functions into a unified platform, providing a holistic view of the entire supply chain.</a:t>
            </a:r>
            <a:endParaRPr lang="en-US" sz="1400" dirty="0"/>
          </a:p>
        </p:txBody>
      </p:sp>
      <p:pic>
        <p:nvPicPr>
          <p:cNvPr id="18" name="Image 1" descr="preencoded.png"/>
          <p:cNvPicPr>
            <a:picLocks noChangeAspect="1"/>
          </p:cNvPicPr>
          <p:nvPr/>
        </p:nvPicPr>
        <p:blipFill>
          <a:blip r:embed="rId4"/>
          <a:stretch>
            <a:fillRect/>
          </a:stretch>
        </p:blipFill>
        <p:spPr>
          <a:xfrm>
            <a:off x="7499390" y="3386018"/>
            <a:ext cx="361950" cy="361950"/>
          </a:xfrm>
          <a:prstGeom prst="rect">
            <a:avLst/>
          </a:prstGeom>
        </p:spPr>
      </p:pic>
      <p:sp>
        <p:nvSpPr>
          <p:cNvPr id="19" name="Text 15"/>
          <p:cNvSpPr/>
          <p:nvPr/>
        </p:nvSpPr>
        <p:spPr>
          <a:xfrm>
            <a:off x="7499390" y="3928943"/>
            <a:ext cx="3656528" cy="226219"/>
          </a:xfrm>
          <a:prstGeom prst="rect">
            <a:avLst/>
          </a:prstGeom>
          <a:noFill/>
          <a:ln/>
        </p:spPr>
        <p:txBody>
          <a:bodyPr wrap="none" lIns="0" tIns="0" rIns="0" bIns="0" rtlCol="0" anchor="t"/>
          <a:lstStyle/>
          <a:p>
            <a:pPr marL="0" indent="0" algn="l">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Warehouse Management Systems (WMS)</a:t>
            </a:r>
            <a:endParaRPr lang="en-US" sz="1400" dirty="0"/>
          </a:p>
        </p:txBody>
      </p:sp>
      <p:sp>
        <p:nvSpPr>
          <p:cNvPr id="20" name="Text 16"/>
          <p:cNvSpPr/>
          <p:nvPr/>
        </p:nvSpPr>
        <p:spPr>
          <a:xfrm>
            <a:off x="7499390" y="4299942"/>
            <a:ext cx="6559510" cy="463153"/>
          </a:xfrm>
          <a:prstGeom prst="rect">
            <a:avLst/>
          </a:prstGeom>
          <a:noFill/>
          <a:ln/>
        </p:spPr>
        <p:txBody>
          <a:bodyPr wrap="square" lIns="0" tIns="0" rIns="0" bIns="0" rtlCol="0" anchor="t"/>
          <a:lstStyle/>
          <a:p>
            <a:pPr marL="0" indent="0" algn="l">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Specialised software controlling warehouse operations through barcoding and RFID for real-time tracking and process automation.</a:t>
            </a:r>
            <a:endParaRPr lang="en-US" sz="1400" dirty="0"/>
          </a:p>
        </p:txBody>
      </p:sp>
      <p:pic>
        <p:nvPicPr>
          <p:cNvPr id="21" name="Image 2" descr="preencoded.png"/>
          <p:cNvPicPr>
            <a:picLocks noChangeAspect="1"/>
          </p:cNvPicPr>
          <p:nvPr/>
        </p:nvPicPr>
        <p:blipFill>
          <a:blip r:embed="rId5"/>
          <a:stretch>
            <a:fillRect/>
          </a:stretch>
        </p:blipFill>
        <p:spPr>
          <a:xfrm>
            <a:off x="7499390" y="5125045"/>
            <a:ext cx="361950" cy="361950"/>
          </a:xfrm>
          <a:prstGeom prst="rect">
            <a:avLst/>
          </a:prstGeom>
        </p:spPr>
      </p:pic>
      <p:sp>
        <p:nvSpPr>
          <p:cNvPr id="22" name="Text 17"/>
          <p:cNvSpPr/>
          <p:nvPr/>
        </p:nvSpPr>
        <p:spPr>
          <a:xfrm>
            <a:off x="7499390" y="5667970"/>
            <a:ext cx="3953470" cy="226219"/>
          </a:xfrm>
          <a:prstGeom prst="rect">
            <a:avLst/>
          </a:prstGeom>
          <a:noFill/>
          <a:ln/>
        </p:spPr>
        <p:txBody>
          <a:bodyPr wrap="none" lIns="0" tIns="0" rIns="0" bIns="0" rtlCol="0" anchor="t"/>
          <a:lstStyle/>
          <a:p>
            <a:pPr marL="0" indent="0" algn="l">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Transportation Management Systems (TMS)</a:t>
            </a:r>
            <a:endParaRPr lang="en-US" sz="1400" dirty="0"/>
          </a:p>
        </p:txBody>
      </p:sp>
      <p:sp>
        <p:nvSpPr>
          <p:cNvPr id="23" name="Text 18"/>
          <p:cNvSpPr/>
          <p:nvPr/>
        </p:nvSpPr>
        <p:spPr>
          <a:xfrm>
            <a:off x="7499390" y="6038969"/>
            <a:ext cx="6559510" cy="463153"/>
          </a:xfrm>
          <a:prstGeom prst="rect">
            <a:avLst/>
          </a:prstGeom>
          <a:noFill/>
          <a:ln/>
        </p:spPr>
        <p:txBody>
          <a:bodyPr wrap="square" lIns="0" tIns="0" rIns="0" bIns="0" rtlCol="0" anchor="t"/>
          <a:lstStyle/>
          <a:p>
            <a:pPr marL="0" indent="0" algn="l">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Focused on logistics, optimising shipping routes, selecting cost-effective carriers, and tracking shipments in real-time.</a:t>
            </a:r>
            <a:endParaRPr lang="en-US" sz="1400" dirty="0"/>
          </a:p>
        </p:txBody>
      </p:sp>
      <p:sp>
        <p:nvSpPr>
          <p:cNvPr id="24" name="Text 19"/>
          <p:cNvSpPr/>
          <p:nvPr/>
        </p:nvSpPr>
        <p:spPr>
          <a:xfrm>
            <a:off x="579120" y="6882170"/>
            <a:ext cx="4173022" cy="271463"/>
          </a:xfrm>
          <a:prstGeom prst="rect">
            <a:avLst/>
          </a:prstGeom>
          <a:noFill/>
          <a:ln/>
        </p:spPr>
        <p:txBody>
          <a:bodyPr wrap="none" lIns="0" tIns="0" rIns="0" bIns="0" rtlCol="0" anchor="t"/>
          <a:lstStyle/>
          <a:p>
            <a:pPr marL="0" indent="0" algn="l">
              <a:lnSpc>
                <a:spcPts val="2100"/>
              </a:lnSpc>
              <a:buNone/>
            </a:pPr>
            <a:r>
              <a:rPr lang="en-US" sz="1700" dirty="0">
                <a:solidFill>
                  <a:srgbClr val="201B18"/>
                </a:solidFill>
                <a:latin typeface="Platypi Medium" pitchFamily="34" charset="0"/>
                <a:ea typeface="Platypi Medium" pitchFamily="34" charset="-122"/>
                <a:cs typeface="Platypi Medium" pitchFamily="34" charset="-120"/>
              </a:rPr>
              <a:t>Data-Driven Strategic Decision-Making</a:t>
            </a:r>
            <a:endParaRPr lang="en-US" sz="1700" dirty="0"/>
          </a:p>
        </p:txBody>
      </p:sp>
      <p:sp>
        <p:nvSpPr>
          <p:cNvPr id="25" name="Text 20"/>
          <p:cNvSpPr/>
          <p:nvPr/>
        </p:nvSpPr>
        <p:spPr>
          <a:xfrm>
            <a:off x="579120" y="7370802"/>
            <a:ext cx="13472160" cy="463153"/>
          </a:xfrm>
          <a:prstGeom prst="rect">
            <a:avLst/>
          </a:prstGeom>
          <a:noFill/>
          <a:ln/>
        </p:spPr>
        <p:txBody>
          <a:bodyPr wrap="square" lIns="0" tIns="0" rIns="0" bIns="0" rtlCol="0" anchor="t"/>
          <a:lstStyle/>
          <a:p>
            <a:pPr marL="0" indent="0" algn="l">
              <a:lnSpc>
                <a:spcPts val="1800"/>
              </a:lnSpc>
              <a:buNone/>
            </a:pPr>
            <a:r>
              <a:rPr lang="en-US" sz="1400" dirty="0">
                <a:solidFill>
                  <a:srgbClr val="504C49"/>
                </a:solidFill>
                <a:latin typeface="Source Serif Pro" pitchFamily="34" charset="0"/>
                <a:ea typeface="Source Serif Pro" pitchFamily="34" charset="-122"/>
                <a:cs typeface="Source Serif Pro" pitchFamily="34" charset="-120"/>
              </a:rPr>
              <a:t>IT provides the foundation for advanced analytics, allowing companies to leverage Big Data, AI, and Machine Learning. These technologies analyze vast datasets to produce more accurate demand forecasts, identify emerging risks, and optimize complex processes, shifting from reactive problem-solving to proactive, predictive management.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38520" y="370165"/>
            <a:ext cx="10019109" cy="420648"/>
          </a:xfrm>
          <a:prstGeom prst="rect">
            <a:avLst/>
          </a:prstGeom>
          <a:noFill/>
          <a:ln/>
        </p:spPr>
        <p:txBody>
          <a:bodyPr wrap="none" lIns="0" tIns="0" rIns="0" bIns="0" rtlCol="0" anchor="t"/>
          <a:lstStyle/>
          <a:p>
            <a:pPr marL="0" indent="0" algn="l">
              <a:lnSpc>
                <a:spcPts val="3300"/>
              </a:lnSpc>
              <a:buNone/>
            </a:pPr>
            <a:r>
              <a:rPr lang="en-US" sz="2650" dirty="0">
                <a:solidFill>
                  <a:srgbClr val="201B18"/>
                </a:solidFill>
                <a:latin typeface="Platypi Medium" pitchFamily="34" charset="0"/>
                <a:ea typeface="Platypi Medium" pitchFamily="34" charset="-122"/>
                <a:cs typeface="Platypi Medium" pitchFamily="34" charset="-120"/>
              </a:rPr>
              <a:t>The Power of Computer Simulation in Supply Chain Strategy</a:t>
            </a:r>
            <a:endParaRPr lang="en-US" sz="2650" dirty="0"/>
          </a:p>
        </p:txBody>
      </p:sp>
      <p:sp>
        <p:nvSpPr>
          <p:cNvPr id="3" name="Text 1"/>
          <p:cNvSpPr/>
          <p:nvPr/>
        </p:nvSpPr>
        <p:spPr>
          <a:xfrm>
            <a:off x="538520" y="1113830"/>
            <a:ext cx="6612493" cy="861536"/>
          </a:xfrm>
          <a:prstGeom prst="rect">
            <a:avLst/>
          </a:prstGeom>
          <a:noFill/>
          <a:ln/>
        </p:spPr>
        <p:txBody>
          <a:bodyPr wrap="square" lIns="0" tIns="0" rIns="0" bIns="0" rtlCol="0" anchor="t"/>
          <a:lstStyle/>
          <a:p>
            <a:pPr marL="0" indent="0" algn="l">
              <a:lnSpc>
                <a:spcPts val="1650"/>
              </a:lnSpc>
              <a:buNone/>
            </a:pPr>
            <a:r>
              <a:rPr lang="en-US" sz="1400" dirty="0">
                <a:solidFill>
                  <a:srgbClr val="504C49"/>
                </a:solidFill>
                <a:latin typeface="Source Serif Pro" pitchFamily="34" charset="0"/>
                <a:ea typeface="Source Serif Pro" pitchFamily="34" charset="-122"/>
                <a:cs typeface="Source Serif Pro" pitchFamily="34" charset="-120"/>
              </a:rPr>
              <a:t>While IT provides the data and infrastructure, computer simulation provides strategic foresight. Creating a dynamic, computer-based model of a supply network allows organisations to experiment and stress-test in a risk-free environment, accounting for complex interdependencies that analytical models often cannot capture.</a:t>
            </a:r>
            <a:endParaRPr lang="en-US" sz="1400" dirty="0"/>
          </a:p>
        </p:txBody>
      </p:sp>
      <p:sp>
        <p:nvSpPr>
          <p:cNvPr id="4" name="Text 2"/>
          <p:cNvSpPr/>
          <p:nvPr/>
        </p:nvSpPr>
        <p:spPr>
          <a:xfrm>
            <a:off x="538520" y="2236113"/>
            <a:ext cx="2970252" cy="252413"/>
          </a:xfrm>
          <a:prstGeom prst="rect">
            <a:avLst/>
          </a:prstGeom>
          <a:noFill/>
          <a:ln/>
        </p:spPr>
        <p:txBody>
          <a:bodyPr wrap="none" lIns="0" tIns="0" rIns="0" bIns="0" rtlCol="0" anchor="t"/>
          <a:lstStyle/>
          <a:p>
            <a:pPr marL="0" indent="0" algn="l">
              <a:lnSpc>
                <a:spcPts val="1950"/>
              </a:lnSpc>
              <a:buNone/>
            </a:pPr>
            <a:r>
              <a:rPr lang="en-US" sz="1550" dirty="0">
                <a:solidFill>
                  <a:srgbClr val="201B18"/>
                </a:solidFill>
                <a:latin typeface="Platypi Medium" pitchFamily="34" charset="0"/>
                <a:ea typeface="Platypi Medium" pitchFamily="34" charset="-122"/>
                <a:cs typeface="Platypi Medium" pitchFamily="34" charset="-120"/>
              </a:rPr>
              <a:t>Key Applications and Benefits</a:t>
            </a:r>
            <a:endParaRPr lang="en-US" sz="1550" dirty="0"/>
          </a:p>
        </p:txBody>
      </p:sp>
      <p:pic>
        <p:nvPicPr>
          <p:cNvPr id="5" name="Image 0" descr="preencoded.png"/>
          <p:cNvPicPr>
            <a:picLocks noChangeAspect="1"/>
          </p:cNvPicPr>
          <p:nvPr/>
        </p:nvPicPr>
        <p:blipFill>
          <a:blip r:embed="rId3"/>
          <a:stretch>
            <a:fillRect/>
          </a:stretch>
        </p:blipFill>
        <p:spPr>
          <a:xfrm>
            <a:off x="538520" y="2513767"/>
            <a:ext cx="336590" cy="336590"/>
          </a:xfrm>
          <a:prstGeom prst="rect">
            <a:avLst/>
          </a:prstGeom>
        </p:spPr>
      </p:pic>
      <p:sp>
        <p:nvSpPr>
          <p:cNvPr id="6" name="Text 3"/>
          <p:cNvSpPr/>
          <p:nvPr/>
        </p:nvSpPr>
        <p:spPr>
          <a:xfrm>
            <a:off x="1043345" y="2593658"/>
            <a:ext cx="2124194" cy="210383"/>
          </a:xfrm>
          <a:prstGeom prst="rect">
            <a:avLst/>
          </a:prstGeom>
          <a:noFill/>
          <a:ln/>
        </p:spPr>
        <p:txBody>
          <a:bodyPr wrap="none" lIns="0" tIns="0" rIns="0" bIns="0" rtlCol="0" anchor="t"/>
          <a:lstStyle/>
          <a:p>
            <a:pPr marL="0" indent="0" algn="l">
              <a:lnSpc>
                <a:spcPts val="1650"/>
              </a:lnSpc>
              <a:buNone/>
            </a:pPr>
            <a:r>
              <a:rPr lang="en-US" sz="1300" dirty="0">
                <a:solidFill>
                  <a:srgbClr val="504C49"/>
                </a:solidFill>
                <a:latin typeface="Platypi Medium" pitchFamily="34" charset="0"/>
                <a:ea typeface="Platypi Medium" pitchFamily="34" charset="-122"/>
                <a:cs typeface="Platypi Medium" pitchFamily="34" charset="-120"/>
              </a:rPr>
              <a:t>Strategic Network Design</a:t>
            </a:r>
            <a:endParaRPr lang="en-US" sz="1300" dirty="0"/>
          </a:p>
        </p:txBody>
      </p:sp>
      <p:sp>
        <p:nvSpPr>
          <p:cNvPr id="7" name="Text 4"/>
          <p:cNvSpPr/>
          <p:nvPr/>
        </p:nvSpPr>
        <p:spPr>
          <a:xfrm>
            <a:off x="1043345" y="2938582"/>
            <a:ext cx="6107668" cy="430768"/>
          </a:xfrm>
          <a:prstGeom prst="rect">
            <a:avLst/>
          </a:prstGeom>
          <a:noFill/>
          <a:ln/>
        </p:spPr>
        <p:txBody>
          <a:bodyPr wrap="square" lIns="0" tIns="0" rIns="0" bIns="0" rtlCol="0" anchor="t"/>
          <a:lstStyle/>
          <a:p>
            <a:pPr marL="0" indent="0" algn="l">
              <a:lnSpc>
                <a:spcPts val="1650"/>
              </a:lnSpc>
              <a:buNone/>
            </a:pPr>
            <a:r>
              <a:rPr lang="en-US" sz="1400" dirty="0">
                <a:solidFill>
                  <a:srgbClr val="504C49"/>
                </a:solidFill>
                <a:latin typeface="Source Serif Pro" pitchFamily="34" charset="0"/>
                <a:ea typeface="Source Serif Pro" pitchFamily="34" charset="-122"/>
                <a:cs typeface="Source Serif Pro" pitchFamily="34" charset="-120"/>
              </a:rPr>
              <a:t>Modelling different scenarios for factory, warehouse, and distribution centre locations to balance cost, service levels, and lead times.</a:t>
            </a:r>
            <a:endParaRPr lang="en-US" sz="1400" dirty="0"/>
          </a:p>
        </p:txBody>
      </p:sp>
      <p:pic>
        <p:nvPicPr>
          <p:cNvPr id="8" name="Image 1" descr="preencoded.png"/>
          <p:cNvPicPr>
            <a:picLocks noChangeAspect="1"/>
          </p:cNvPicPr>
          <p:nvPr/>
        </p:nvPicPr>
        <p:blipFill>
          <a:blip r:embed="rId4"/>
          <a:stretch>
            <a:fillRect/>
          </a:stretch>
        </p:blipFill>
        <p:spPr>
          <a:xfrm>
            <a:off x="538520" y="3705939"/>
            <a:ext cx="336590" cy="336590"/>
          </a:xfrm>
          <a:prstGeom prst="rect">
            <a:avLst/>
          </a:prstGeom>
        </p:spPr>
      </p:pic>
      <p:sp>
        <p:nvSpPr>
          <p:cNvPr id="9" name="Text 5"/>
          <p:cNvSpPr/>
          <p:nvPr/>
        </p:nvSpPr>
        <p:spPr>
          <a:xfrm>
            <a:off x="1043345" y="3785830"/>
            <a:ext cx="1956911" cy="210383"/>
          </a:xfrm>
          <a:prstGeom prst="rect">
            <a:avLst/>
          </a:prstGeom>
          <a:noFill/>
          <a:ln/>
        </p:spPr>
        <p:txBody>
          <a:bodyPr wrap="none" lIns="0" tIns="0" rIns="0" bIns="0" rtlCol="0" anchor="t"/>
          <a:lstStyle/>
          <a:p>
            <a:pPr marL="0" indent="0" algn="l">
              <a:lnSpc>
                <a:spcPts val="1650"/>
              </a:lnSpc>
              <a:buNone/>
            </a:pPr>
            <a:r>
              <a:rPr lang="en-US" sz="1300" dirty="0">
                <a:solidFill>
                  <a:srgbClr val="504C49"/>
                </a:solidFill>
                <a:latin typeface="Platypi Medium" pitchFamily="34" charset="0"/>
                <a:ea typeface="Platypi Medium" pitchFamily="34" charset="-122"/>
                <a:cs typeface="Platypi Medium" pitchFamily="34" charset="-120"/>
              </a:rPr>
              <a:t>Inventory Optimization</a:t>
            </a:r>
            <a:endParaRPr lang="en-US" sz="1300" dirty="0"/>
          </a:p>
        </p:txBody>
      </p:sp>
      <p:sp>
        <p:nvSpPr>
          <p:cNvPr id="10" name="Text 6"/>
          <p:cNvSpPr/>
          <p:nvPr/>
        </p:nvSpPr>
        <p:spPr>
          <a:xfrm>
            <a:off x="1043345" y="4130754"/>
            <a:ext cx="6107668" cy="430768"/>
          </a:xfrm>
          <a:prstGeom prst="rect">
            <a:avLst/>
          </a:prstGeom>
          <a:noFill/>
          <a:ln/>
        </p:spPr>
        <p:txBody>
          <a:bodyPr wrap="square" lIns="0" tIns="0" rIns="0" bIns="0" rtlCol="0" anchor="t"/>
          <a:lstStyle/>
          <a:p>
            <a:pPr marL="0" indent="0" algn="l">
              <a:lnSpc>
                <a:spcPts val="1650"/>
              </a:lnSpc>
              <a:buNone/>
            </a:pPr>
            <a:r>
              <a:rPr lang="en-US" sz="1400" dirty="0">
                <a:solidFill>
                  <a:srgbClr val="504C49"/>
                </a:solidFill>
                <a:latin typeface="Source Serif Pro" pitchFamily="34" charset="0"/>
                <a:ea typeface="Source Serif Pro" pitchFamily="34" charset="-122"/>
                <a:cs typeface="Source Serif Pro" pitchFamily="34" charset="-120"/>
              </a:rPr>
              <a:t>Testing various inventory policies to understand their impact on holding costs and service levels, minimising both stockouts and costly overstocks.</a:t>
            </a:r>
            <a:endParaRPr lang="en-US" sz="1400" dirty="0"/>
          </a:p>
        </p:txBody>
      </p:sp>
      <p:pic>
        <p:nvPicPr>
          <p:cNvPr id="11" name="Image 2" descr="preencoded.png"/>
          <p:cNvPicPr>
            <a:picLocks noChangeAspect="1"/>
          </p:cNvPicPr>
          <p:nvPr/>
        </p:nvPicPr>
        <p:blipFill>
          <a:blip r:embed="rId5"/>
          <a:stretch>
            <a:fillRect/>
          </a:stretch>
        </p:blipFill>
        <p:spPr>
          <a:xfrm>
            <a:off x="538520" y="4898112"/>
            <a:ext cx="336590" cy="336590"/>
          </a:xfrm>
          <a:prstGeom prst="rect">
            <a:avLst/>
          </a:prstGeom>
        </p:spPr>
      </p:pic>
      <p:sp>
        <p:nvSpPr>
          <p:cNvPr id="12" name="Text 7"/>
          <p:cNvSpPr/>
          <p:nvPr/>
        </p:nvSpPr>
        <p:spPr>
          <a:xfrm>
            <a:off x="1043345" y="4978003"/>
            <a:ext cx="1683068" cy="210383"/>
          </a:xfrm>
          <a:prstGeom prst="rect">
            <a:avLst/>
          </a:prstGeom>
          <a:noFill/>
          <a:ln/>
        </p:spPr>
        <p:txBody>
          <a:bodyPr wrap="none" lIns="0" tIns="0" rIns="0" bIns="0" rtlCol="0" anchor="t"/>
          <a:lstStyle/>
          <a:p>
            <a:pPr marL="0" indent="0" algn="l">
              <a:lnSpc>
                <a:spcPts val="1650"/>
              </a:lnSpc>
              <a:buNone/>
            </a:pPr>
            <a:r>
              <a:rPr lang="en-US" sz="1300" dirty="0">
                <a:solidFill>
                  <a:srgbClr val="504C49"/>
                </a:solidFill>
                <a:latin typeface="Platypi Medium" pitchFamily="34" charset="0"/>
                <a:ea typeface="Platypi Medium" pitchFamily="34" charset="-122"/>
                <a:cs typeface="Platypi Medium" pitchFamily="34" charset="-120"/>
              </a:rPr>
              <a:t>Risk Management</a:t>
            </a:r>
            <a:endParaRPr lang="en-US" sz="1300" dirty="0"/>
          </a:p>
        </p:txBody>
      </p:sp>
      <p:sp>
        <p:nvSpPr>
          <p:cNvPr id="13" name="Text 8"/>
          <p:cNvSpPr/>
          <p:nvPr/>
        </p:nvSpPr>
        <p:spPr>
          <a:xfrm>
            <a:off x="1043345" y="5322927"/>
            <a:ext cx="6107668" cy="430768"/>
          </a:xfrm>
          <a:prstGeom prst="rect">
            <a:avLst/>
          </a:prstGeom>
          <a:noFill/>
          <a:ln/>
        </p:spPr>
        <p:txBody>
          <a:bodyPr wrap="square" lIns="0" tIns="0" rIns="0" bIns="0" rtlCol="0" anchor="t"/>
          <a:lstStyle/>
          <a:p>
            <a:pPr marL="0" indent="0" algn="l">
              <a:lnSpc>
                <a:spcPts val="1650"/>
              </a:lnSpc>
              <a:buNone/>
            </a:pPr>
            <a:r>
              <a:rPr lang="en-US" sz="1400" dirty="0">
                <a:solidFill>
                  <a:srgbClr val="504C49"/>
                </a:solidFill>
                <a:latin typeface="Source Serif Pro" pitchFamily="34" charset="0"/>
                <a:ea typeface="Source Serif Pro" pitchFamily="34" charset="-122"/>
                <a:cs typeface="Source Serif Pro" pitchFamily="34" charset="-120"/>
              </a:rPr>
              <a:t>Running "what-if" scenarios to model the impact of disruptions like supplier failures or natural disasters, identifying vulnerabilities and developing contingency plans.</a:t>
            </a:r>
            <a:endParaRPr lang="en-US" sz="1400" dirty="0"/>
          </a:p>
        </p:txBody>
      </p:sp>
      <p:sp>
        <p:nvSpPr>
          <p:cNvPr id="14" name="Text 9"/>
          <p:cNvSpPr/>
          <p:nvPr/>
        </p:nvSpPr>
        <p:spPr>
          <a:xfrm>
            <a:off x="7487007" y="1127284"/>
            <a:ext cx="4677728" cy="252413"/>
          </a:xfrm>
          <a:prstGeom prst="rect">
            <a:avLst/>
          </a:prstGeom>
          <a:noFill/>
          <a:ln/>
        </p:spPr>
        <p:txBody>
          <a:bodyPr wrap="none" lIns="0" tIns="0" rIns="0" bIns="0" rtlCol="0" anchor="t"/>
          <a:lstStyle/>
          <a:p>
            <a:pPr marL="0" indent="0" algn="l">
              <a:lnSpc>
                <a:spcPts val="1950"/>
              </a:lnSpc>
              <a:buNone/>
            </a:pPr>
            <a:r>
              <a:rPr lang="en-US" sz="1550" dirty="0">
                <a:solidFill>
                  <a:srgbClr val="201B18"/>
                </a:solidFill>
                <a:latin typeface="Platypi Medium" pitchFamily="34" charset="0"/>
                <a:ea typeface="Platypi Medium" pitchFamily="34" charset="-122"/>
                <a:cs typeface="Platypi Medium" pitchFamily="34" charset="-120"/>
              </a:rPr>
              <a:t>The Digital Twin: Ultimate Technology Synergy</a:t>
            </a:r>
            <a:endParaRPr lang="en-US" sz="1550" dirty="0"/>
          </a:p>
        </p:txBody>
      </p:sp>
      <p:pic>
        <p:nvPicPr>
          <p:cNvPr id="15" name="Image 3" descr="preencoded.png"/>
          <p:cNvPicPr>
            <a:picLocks noChangeAspect="1"/>
          </p:cNvPicPr>
          <p:nvPr/>
        </p:nvPicPr>
        <p:blipFill>
          <a:blip r:embed="rId6"/>
          <a:stretch>
            <a:fillRect/>
          </a:stretch>
        </p:blipFill>
        <p:spPr>
          <a:xfrm>
            <a:off x="7487007" y="1531144"/>
            <a:ext cx="6612493" cy="3967401"/>
          </a:xfrm>
          <a:prstGeom prst="rect">
            <a:avLst/>
          </a:prstGeom>
        </p:spPr>
      </p:pic>
      <p:sp>
        <p:nvSpPr>
          <p:cNvPr id="16" name="Text 10"/>
          <p:cNvSpPr/>
          <p:nvPr/>
        </p:nvSpPr>
        <p:spPr>
          <a:xfrm>
            <a:off x="7487007" y="5649992"/>
            <a:ext cx="6612493" cy="646152"/>
          </a:xfrm>
          <a:prstGeom prst="rect">
            <a:avLst/>
          </a:prstGeom>
          <a:noFill/>
          <a:ln/>
        </p:spPr>
        <p:txBody>
          <a:bodyPr wrap="square" lIns="0" tIns="0" rIns="0" bIns="0" rtlCol="0" anchor="t"/>
          <a:lstStyle/>
          <a:p>
            <a:pPr marL="0" indent="0" algn="l">
              <a:lnSpc>
                <a:spcPts val="1650"/>
              </a:lnSpc>
              <a:buNone/>
            </a:pPr>
            <a:r>
              <a:rPr lang="en-US" sz="1400" dirty="0">
                <a:solidFill>
                  <a:srgbClr val="504C49"/>
                </a:solidFill>
                <a:latin typeface="Source Serif Pro" pitchFamily="34" charset="0"/>
                <a:ea typeface="Source Serif Pro" pitchFamily="34" charset="-122"/>
                <a:cs typeface="Source Serif Pro" pitchFamily="34" charset="-120"/>
              </a:rPr>
              <a:t>A digital twin is a virtual replica of a physical supply chain continuously updated with real-time data from IT systems and IoT sensors. This creates a dynamic, high-fidelity simulation that allows managers to not only visualize current operations but also run simulations and test scenarios based on live data.</a:t>
            </a:r>
            <a:endParaRPr lang="en-US" sz="1400" dirty="0"/>
          </a:p>
        </p:txBody>
      </p:sp>
      <p:sp>
        <p:nvSpPr>
          <p:cNvPr id="17" name="Text 11"/>
          <p:cNvSpPr/>
          <p:nvPr/>
        </p:nvSpPr>
        <p:spPr>
          <a:xfrm>
            <a:off x="7487007" y="6554816"/>
            <a:ext cx="6612493" cy="430768"/>
          </a:xfrm>
          <a:prstGeom prst="rect">
            <a:avLst/>
          </a:prstGeom>
          <a:noFill/>
          <a:ln/>
        </p:spPr>
        <p:txBody>
          <a:bodyPr wrap="square" lIns="0" tIns="0" rIns="0" bIns="0" rtlCol="0" anchor="t"/>
          <a:lstStyle/>
          <a:p>
            <a:pPr marL="0" indent="0" algn="l">
              <a:lnSpc>
                <a:spcPts val="1650"/>
              </a:lnSpc>
              <a:buNone/>
            </a:pPr>
            <a:r>
              <a:rPr lang="en-US" sz="1400" dirty="0">
                <a:solidFill>
                  <a:srgbClr val="504C49"/>
                </a:solidFill>
                <a:latin typeface="Source Serif Pro" pitchFamily="34" charset="0"/>
                <a:ea typeface="Source Serif Pro" pitchFamily="34" charset="-122"/>
                <a:cs typeface="Source Serif Pro" pitchFamily="34" charset="-120"/>
              </a:rPr>
              <a:t>Gartner predicts that by 2028, 15% of large enterprises will have embedded intelligent simulation in their operations, with the digital twin serving as the foundation.</a:t>
            </a:r>
            <a:endParaRPr lang="en-US" sz="1400" dirty="0"/>
          </a:p>
        </p:txBody>
      </p:sp>
      <p:sp>
        <p:nvSpPr>
          <p:cNvPr id="18" name="Text 12"/>
          <p:cNvSpPr/>
          <p:nvPr/>
        </p:nvSpPr>
        <p:spPr>
          <a:xfrm>
            <a:off x="7487007" y="7244257"/>
            <a:ext cx="2735818" cy="252413"/>
          </a:xfrm>
          <a:prstGeom prst="rect">
            <a:avLst/>
          </a:prstGeom>
          <a:noFill/>
          <a:ln/>
        </p:spPr>
        <p:txBody>
          <a:bodyPr wrap="none" lIns="0" tIns="0" rIns="0" bIns="0" rtlCol="0" anchor="t"/>
          <a:lstStyle/>
          <a:p>
            <a:pPr marL="0" indent="0" algn="l">
              <a:lnSpc>
                <a:spcPts val="1950"/>
              </a:lnSpc>
              <a:buNone/>
            </a:pPr>
            <a:r>
              <a:rPr lang="en-US" sz="1550" dirty="0">
                <a:solidFill>
                  <a:srgbClr val="201B18"/>
                </a:solidFill>
                <a:latin typeface="Platypi Medium" pitchFamily="34" charset="0"/>
                <a:ea typeface="Platypi Medium" pitchFamily="34" charset="-122"/>
                <a:cs typeface="Platypi Medium" pitchFamily="34" charset="-120"/>
              </a:rPr>
              <a:t>Implementation Challenges</a:t>
            </a:r>
            <a:endParaRPr lang="en-US" sz="1550" dirty="0"/>
          </a:p>
        </p:txBody>
      </p:sp>
      <p:sp>
        <p:nvSpPr>
          <p:cNvPr id="19" name="Text 13"/>
          <p:cNvSpPr/>
          <p:nvPr/>
        </p:nvSpPr>
        <p:spPr>
          <a:xfrm>
            <a:off x="7487007" y="7536359"/>
            <a:ext cx="6612493" cy="646152"/>
          </a:xfrm>
          <a:prstGeom prst="rect">
            <a:avLst/>
          </a:prstGeom>
          <a:noFill/>
          <a:ln/>
        </p:spPr>
        <p:txBody>
          <a:bodyPr wrap="square" lIns="0" tIns="0" rIns="0" bIns="0" rtlCol="0" anchor="t"/>
          <a:lstStyle/>
          <a:p>
            <a:pPr marL="0" indent="0" algn="l">
              <a:lnSpc>
                <a:spcPts val="1650"/>
              </a:lnSpc>
              <a:buNone/>
            </a:pPr>
            <a:r>
              <a:rPr lang="en-US" sz="1400" dirty="0">
                <a:solidFill>
                  <a:srgbClr val="504C49"/>
                </a:solidFill>
                <a:latin typeface="Source Serif Pro" pitchFamily="34" charset="0"/>
                <a:ea typeface="Source Serif Pro" pitchFamily="34" charset="-122"/>
                <a:cs typeface="Source Serif Pro" pitchFamily="34" charset="-120"/>
              </a:rPr>
              <a:t>Despite clear benefits, adoption faces hurdles including significant upfront costs, integration complexity with legacy systems, organisational resistance to change, and skills shortages for effectively managing these sophisticated systems.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384048"/>
            <a:ext cx="10972800" cy="329184"/>
          </a:xfrm>
          <a:prstGeom prst="rect">
            <a:avLst/>
          </a:prstGeom>
          <a:noFill/>
          <a:ln/>
        </p:spPr>
        <p:txBody>
          <a:bodyPr wrap="square" lIns="0" tIns="0" rIns="0" bIns="0" rtlCol="0" anchor="ctr"/>
          <a:lstStyle/>
          <a:p>
            <a:r>
              <a:rPr lang="en-US" sz="1440" b="1" kern="0" spc="240" dirty="0">
                <a:solidFill>
                  <a:srgbClr val="C9760F"/>
                </a:solidFill>
                <a:latin typeface="Arial" pitchFamily="34" charset="0"/>
                <a:ea typeface="Arial" pitchFamily="34" charset="-122"/>
                <a:cs typeface="Arial" pitchFamily="34" charset="-120"/>
              </a:rPr>
              <a:t>THEORY</a:t>
            </a:r>
            <a:endParaRPr lang="en-US" sz="1440" dirty="0"/>
          </a:p>
        </p:txBody>
      </p:sp>
      <p:sp>
        <p:nvSpPr>
          <p:cNvPr id="3" name="Text 1"/>
          <p:cNvSpPr/>
          <p:nvPr/>
        </p:nvSpPr>
        <p:spPr>
          <a:xfrm>
            <a:off x="658368" y="680314"/>
            <a:ext cx="13277088" cy="822960"/>
          </a:xfrm>
          <a:prstGeom prst="rect">
            <a:avLst/>
          </a:prstGeom>
          <a:noFill/>
          <a:ln/>
        </p:spPr>
        <p:txBody>
          <a:bodyPr wrap="square" lIns="0" tIns="0" rIns="0" bIns="0" rtlCol="0" anchor="ctr"/>
          <a:lstStyle/>
          <a:p>
            <a:r>
              <a:rPr lang="en-US" sz="3600" b="1" dirty="0">
                <a:solidFill>
                  <a:srgbClr val="1A3868"/>
                </a:solidFill>
                <a:latin typeface="Arial" pitchFamily="34" charset="0"/>
                <a:ea typeface="Arial" pitchFamily="34" charset="-122"/>
                <a:cs typeface="Arial" pitchFamily="34" charset="-120"/>
              </a:rPr>
              <a:t>The Six Supply Chain Drivers</a:t>
            </a:r>
            <a:endParaRPr lang="en-US" sz="3600" dirty="0"/>
          </a:p>
        </p:txBody>
      </p:sp>
      <p:sp>
        <p:nvSpPr>
          <p:cNvPr id="4" name="Text 2"/>
          <p:cNvSpPr/>
          <p:nvPr/>
        </p:nvSpPr>
        <p:spPr>
          <a:xfrm>
            <a:off x="658368" y="1700784"/>
            <a:ext cx="13277088" cy="1207008"/>
          </a:xfrm>
          <a:prstGeom prst="rect">
            <a:avLst/>
          </a:prstGeom>
          <a:noFill/>
          <a:ln/>
        </p:spPr>
        <p:txBody>
          <a:bodyPr wrap="square" lIns="0" tIns="0" rIns="0" bIns="0" rtlCol="0" anchor="ctr"/>
          <a:lstStyle/>
          <a:p>
            <a:pPr>
              <a:lnSpc>
                <a:spcPct val="130000"/>
              </a:lnSpc>
            </a:pPr>
            <a:r>
              <a:rPr lang="en-US" sz="1740" dirty="0">
                <a:solidFill>
                  <a:srgbClr val="1F2937"/>
                </a:solidFill>
                <a:latin typeface="Arial" pitchFamily="34" charset="0"/>
                <a:ea typeface="Arial" pitchFamily="34" charset="-122"/>
                <a:cs typeface="Arial" pitchFamily="34" charset="-120"/>
              </a:rPr>
              <a:t>Every supply chain's performance in terms of responsiveness and efficiency is determined by how well it manages </a:t>
            </a:r>
            <a:r>
              <a:rPr lang="en-US" sz="1740" b="1" dirty="0">
                <a:solidFill>
                  <a:srgbClr val="1A3868"/>
                </a:solidFill>
                <a:latin typeface="Arial" pitchFamily="34" charset="0"/>
                <a:ea typeface="Arial" pitchFamily="34" charset="-122"/>
                <a:cs typeface="Arial" pitchFamily="34" charset="-120"/>
              </a:rPr>
              <a:t>six drivers</a:t>
            </a:r>
            <a:r>
              <a:rPr lang="en-US" sz="1740" dirty="0">
                <a:solidFill>
                  <a:srgbClr val="1F2937"/>
                </a:solidFill>
                <a:latin typeface="Arial" pitchFamily="34" charset="0"/>
                <a:ea typeface="Arial" pitchFamily="34" charset="-122"/>
                <a:cs typeface="Arial" pitchFamily="34" charset="-120"/>
              </a:rPr>
              <a:t> — three logistical and three cross-functional (Chopra &amp; Meindl framework). A firm designs the level of each driver to achieve the desired </a:t>
            </a:r>
            <a:r>
              <a:rPr lang="en-US" sz="1740" b="1" i="1" dirty="0">
                <a:solidFill>
                  <a:srgbClr val="C9760F"/>
                </a:solidFill>
                <a:latin typeface="Arial" pitchFamily="34" charset="0"/>
                <a:ea typeface="Arial" pitchFamily="34" charset="-122"/>
                <a:cs typeface="Arial" pitchFamily="34" charset="-120"/>
              </a:rPr>
              <a:t>strategic fit</a:t>
            </a:r>
            <a:r>
              <a:rPr lang="en-US" sz="1740" dirty="0">
                <a:solidFill>
                  <a:srgbClr val="1F2937"/>
                </a:solidFill>
                <a:latin typeface="Arial" pitchFamily="34" charset="0"/>
                <a:ea typeface="Arial" pitchFamily="34" charset="-122"/>
                <a:cs typeface="Arial" pitchFamily="34" charset="-120"/>
              </a:rPr>
              <a:t> between competitive strategy and supply chain strategy.</a:t>
            </a:r>
            <a:endParaRPr lang="en-US" sz="1740" dirty="0"/>
          </a:p>
        </p:txBody>
      </p:sp>
      <p:sp>
        <p:nvSpPr>
          <p:cNvPr id="5" name="Shape 3"/>
          <p:cNvSpPr/>
          <p:nvPr/>
        </p:nvSpPr>
        <p:spPr>
          <a:xfrm>
            <a:off x="658368" y="3127248"/>
            <a:ext cx="6419088" cy="4279392"/>
          </a:xfrm>
          <a:prstGeom prst="roundRect">
            <a:avLst>
              <a:gd name="adj" fmla="val 2051"/>
            </a:avLst>
          </a:prstGeom>
          <a:solidFill>
            <a:srgbClr val="EAF1FC"/>
          </a:solidFill>
          <a:ln/>
          <a:effectLst>
            <a:outerShdw blurRad="101600" dist="38100" dir="5400000" algn="bl" rotWithShape="0">
              <a:srgbClr val="000000">
                <a:alpha val="10000"/>
              </a:srgbClr>
            </a:outerShdw>
          </a:effectLst>
        </p:spPr>
        <p:txBody>
          <a:bodyPr/>
          <a:lstStyle/>
          <a:p>
            <a:endParaRPr lang="en-US" sz="2400"/>
          </a:p>
        </p:txBody>
      </p:sp>
      <p:sp>
        <p:nvSpPr>
          <p:cNvPr id="6" name="Text 4"/>
          <p:cNvSpPr/>
          <p:nvPr/>
        </p:nvSpPr>
        <p:spPr>
          <a:xfrm>
            <a:off x="1042416" y="3456432"/>
            <a:ext cx="5705856" cy="384048"/>
          </a:xfrm>
          <a:prstGeom prst="rect">
            <a:avLst/>
          </a:prstGeom>
          <a:noFill/>
          <a:ln/>
        </p:spPr>
        <p:txBody>
          <a:bodyPr wrap="square" lIns="0" tIns="0" rIns="0" bIns="0" rtlCol="0" anchor="ctr"/>
          <a:lstStyle/>
          <a:p>
            <a:r>
              <a:rPr lang="en-US" sz="1560" b="1" kern="0" spc="180" dirty="0">
                <a:solidFill>
                  <a:srgbClr val="1A3868"/>
                </a:solidFill>
                <a:latin typeface="Arial" pitchFamily="34" charset="0"/>
                <a:ea typeface="Arial" pitchFamily="34" charset="-122"/>
                <a:cs typeface="Arial" pitchFamily="34" charset="-120"/>
              </a:rPr>
              <a:t>LOGISTICAL DRIVERS</a:t>
            </a:r>
            <a:endParaRPr lang="en-US" sz="1560" dirty="0"/>
          </a:p>
        </p:txBody>
      </p:sp>
      <p:sp>
        <p:nvSpPr>
          <p:cNvPr id="7" name="Shape 5"/>
          <p:cNvSpPr/>
          <p:nvPr/>
        </p:nvSpPr>
        <p:spPr>
          <a:xfrm>
            <a:off x="1042416" y="4059936"/>
            <a:ext cx="603504" cy="603504"/>
          </a:xfrm>
          <a:prstGeom prst="ellipse">
            <a:avLst/>
          </a:prstGeom>
          <a:solidFill>
            <a:srgbClr val="1A3868"/>
          </a:solidFill>
          <a:ln/>
        </p:spPr>
        <p:txBody>
          <a:bodyPr/>
          <a:lstStyle/>
          <a:p>
            <a:endParaRPr lang="en-US" sz="2160"/>
          </a:p>
        </p:txBody>
      </p:sp>
      <p:pic>
        <p:nvPicPr>
          <p:cNvPr id="8" name="Image 0" descr="icons/facilities.png"/>
          <p:cNvPicPr>
            <a:picLocks noChangeAspect="1"/>
          </p:cNvPicPr>
          <p:nvPr/>
        </p:nvPicPr>
        <p:blipFill>
          <a:blip r:embed="rId3"/>
          <a:stretch>
            <a:fillRect/>
          </a:stretch>
        </p:blipFill>
        <p:spPr>
          <a:xfrm>
            <a:off x="1174090" y="4191610"/>
            <a:ext cx="340157" cy="340157"/>
          </a:xfrm>
          <a:prstGeom prst="rect">
            <a:avLst/>
          </a:prstGeom>
        </p:spPr>
      </p:pic>
      <p:sp>
        <p:nvSpPr>
          <p:cNvPr id="9" name="Text 6"/>
          <p:cNvSpPr/>
          <p:nvPr/>
        </p:nvSpPr>
        <p:spPr>
          <a:xfrm>
            <a:off x="1810512" y="4027017"/>
            <a:ext cx="5047488" cy="351130"/>
          </a:xfrm>
          <a:prstGeom prst="rect">
            <a:avLst/>
          </a:prstGeom>
          <a:noFill/>
          <a:ln/>
        </p:spPr>
        <p:txBody>
          <a:bodyPr wrap="square" lIns="0" tIns="0" rIns="0" bIns="0" rtlCol="0" anchor="ctr"/>
          <a:lstStyle/>
          <a:p>
            <a:r>
              <a:rPr lang="en-US" sz="1620" b="1" dirty="0">
                <a:solidFill>
                  <a:srgbClr val="1A3868"/>
                </a:solidFill>
                <a:latin typeface="Arial" pitchFamily="34" charset="0"/>
                <a:ea typeface="Arial" pitchFamily="34" charset="-122"/>
                <a:cs typeface="Arial" pitchFamily="34" charset="-120"/>
              </a:rPr>
              <a:t>Facilities</a:t>
            </a:r>
            <a:endParaRPr lang="en-US" sz="1620" dirty="0"/>
          </a:p>
        </p:txBody>
      </p:sp>
      <p:sp>
        <p:nvSpPr>
          <p:cNvPr id="10" name="Text 7"/>
          <p:cNvSpPr/>
          <p:nvPr/>
        </p:nvSpPr>
        <p:spPr>
          <a:xfrm>
            <a:off x="1810512" y="4367174"/>
            <a:ext cx="5047488" cy="713232"/>
          </a:xfrm>
          <a:prstGeom prst="rect">
            <a:avLst/>
          </a:prstGeom>
          <a:noFill/>
          <a:ln/>
        </p:spPr>
        <p:txBody>
          <a:bodyPr wrap="square" lIns="0" tIns="0" rIns="0" bIns="0" rtlCol="0" anchor="ctr"/>
          <a:lstStyle/>
          <a:p>
            <a:pPr>
              <a:lnSpc>
                <a:spcPct val="115000"/>
              </a:lnSpc>
            </a:pPr>
            <a:r>
              <a:rPr lang="en-US" sz="1400" dirty="0">
                <a:solidFill>
                  <a:srgbClr val="1F2937"/>
                </a:solidFill>
                <a:latin typeface="Arial" pitchFamily="34" charset="0"/>
                <a:ea typeface="Arial" pitchFamily="34" charset="-122"/>
                <a:cs typeface="Arial" pitchFamily="34" charset="-120"/>
              </a:rPr>
              <a:t>Where product is made, stored, or serviced — location, capacity and flexibility choices.</a:t>
            </a:r>
            <a:endParaRPr lang="en-US" sz="1400" dirty="0"/>
          </a:p>
        </p:txBody>
      </p:sp>
      <p:sp>
        <p:nvSpPr>
          <p:cNvPr id="11" name="Shape 8"/>
          <p:cNvSpPr/>
          <p:nvPr/>
        </p:nvSpPr>
        <p:spPr>
          <a:xfrm>
            <a:off x="1042416" y="5179162"/>
            <a:ext cx="603504" cy="603504"/>
          </a:xfrm>
          <a:prstGeom prst="ellipse">
            <a:avLst/>
          </a:prstGeom>
          <a:solidFill>
            <a:srgbClr val="1A3868"/>
          </a:solidFill>
          <a:ln/>
        </p:spPr>
        <p:txBody>
          <a:bodyPr/>
          <a:lstStyle/>
          <a:p>
            <a:endParaRPr lang="en-US" sz="2160"/>
          </a:p>
        </p:txBody>
      </p:sp>
      <p:pic>
        <p:nvPicPr>
          <p:cNvPr id="12" name="Image 1" descr="icons/inventory.png"/>
          <p:cNvPicPr>
            <a:picLocks noChangeAspect="1"/>
          </p:cNvPicPr>
          <p:nvPr/>
        </p:nvPicPr>
        <p:blipFill>
          <a:blip r:embed="rId4"/>
          <a:stretch>
            <a:fillRect/>
          </a:stretch>
        </p:blipFill>
        <p:spPr>
          <a:xfrm>
            <a:off x="1174090" y="5310835"/>
            <a:ext cx="340157" cy="340157"/>
          </a:xfrm>
          <a:prstGeom prst="rect">
            <a:avLst/>
          </a:prstGeom>
        </p:spPr>
      </p:pic>
      <p:sp>
        <p:nvSpPr>
          <p:cNvPr id="13" name="Text 9"/>
          <p:cNvSpPr/>
          <p:nvPr/>
        </p:nvSpPr>
        <p:spPr>
          <a:xfrm>
            <a:off x="1810512" y="5146243"/>
            <a:ext cx="5047488" cy="351130"/>
          </a:xfrm>
          <a:prstGeom prst="rect">
            <a:avLst/>
          </a:prstGeom>
          <a:noFill/>
          <a:ln/>
        </p:spPr>
        <p:txBody>
          <a:bodyPr wrap="square" lIns="0" tIns="0" rIns="0" bIns="0" rtlCol="0" anchor="ctr"/>
          <a:lstStyle/>
          <a:p>
            <a:r>
              <a:rPr lang="en-US" sz="1620" b="1" dirty="0">
                <a:solidFill>
                  <a:srgbClr val="1A3868"/>
                </a:solidFill>
                <a:latin typeface="Arial" pitchFamily="34" charset="0"/>
                <a:ea typeface="Arial" pitchFamily="34" charset="-122"/>
                <a:cs typeface="Arial" pitchFamily="34" charset="-120"/>
              </a:rPr>
              <a:t>Inventory</a:t>
            </a:r>
            <a:endParaRPr lang="en-US" sz="1620" dirty="0"/>
          </a:p>
        </p:txBody>
      </p:sp>
      <p:sp>
        <p:nvSpPr>
          <p:cNvPr id="14" name="Text 10"/>
          <p:cNvSpPr/>
          <p:nvPr/>
        </p:nvSpPr>
        <p:spPr>
          <a:xfrm>
            <a:off x="1810512" y="5486400"/>
            <a:ext cx="5047488" cy="713232"/>
          </a:xfrm>
          <a:prstGeom prst="rect">
            <a:avLst/>
          </a:prstGeom>
          <a:noFill/>
          <a:ln/>
        </p:spPr>
        <p:txBody>
          <a:bodyPr wrap="square" lIns="0" tIns="0" rIns="0" bIns="0" rtlCol="0" anchor="ctr"/>
          <a:lstStyle/>
          <a:p>
            <a:pPr>
              <a:lnSpc>
                <a:spcPct val="115000"/>
              </a:lnSpc>
            </a:pPr>
            <a:r>
              <a:rPr lang="en-US" sz="1400" dirty="0">
                <a:solidFill>
                  <a:srgbClr val="1F2937"/>
                </a:solidFill>
                <a:latin typeface="Arial" pitchFamily="34" charset="0"/>
                <a:ea typeface="Arial" pitchFamily="34" charset="-122"/>
                <a:cs typeface="Arial" pitchFamily="34" charset="-120"/>
              </a:rPr>
              <a:t>Raw material, WIP and finished goods held across the chain to buffer against uncertainty.</a:t>
            </a:r>
            <a:endParaRPr lang="en-US" sz="1400" dirty="0"/>
          </a:p>
        </p:txBody>
      </p:sp>
      <p:sp>
        <p:nvSpPr>
          <p:cNvPr id="15" name="Shape 11"/>
          <p:cNvSpPr/>
          <p:nvPr/>
        </p:nvSpPr>
        <p:spPr>
          <a:xfrm>
            <a:off x="1042416" y="6298387"/>
            <a:ext cx="603504" cy="603504"/>
          </a:xfrm>
          <a:prstGeom prst="ellipse">
            <a:avLst/>
          </a:prstGeom>
          <a:solidFill>
            <a:srgbClr val="1A3868"/>
          </a:solidFill>
          <a:ln/>
        </p:spPr>
        <p:txBody>
          <a:bodyPr/>
          <a:lstStyle/>
          <a:p>
            <a:endParaRPr lang="en-US" sz="2160"/>
          </a:p>
        </p:txBody>
      </p:sp>
      <p:pic>
        <p:nvPicPr>
          <p:cNvPr id="16" name="Image 2" descr="icons/transportation.png"/>
          <p:cNvPicPr>
            <a:picLocks noChangeAspect="1"/>
          </p:cNvPicPr>
          <p:nvPr/>
        </p:nvPicPr>
        <p:blipFill>
          <a:blip r:embed="rId5"/>
          <a:stretch>
            <a:fillRect/>
          </a:stretch>
        </p:blipFill>
        <p:spPr>
          <a:xfrm>
            <a:off x="1174090" y="6430061"/>
            <a:ext cx="340157" cy="340157"/>
          </a:xfrm>
          <a:prstGeom prst="rect">
            <a:avLst/>
          </a:prstGeom>
        </p:spPr>
      </p:pic>
      <p:sp>
        <p:nvSpPr>
          <p:cNvPr id="17" name="Text 12"/>
          <p:cNvSpPr/>
          <p:nvPr/>
        </p:nvSpPr>
        <p:spPr>
          <a:xfrm>
            <a:off x="1810512" y="6265469"/>
            <a:ext cx="5047488" cy="351130"/>
          </a:xfrm>
          <a:prstGeom prst="rect">
            <a:avLst/>
          </a:prstGeom>
          <a:noFill/>
          <a:ln/>
        </p:spPr>
        <p:txBody>
          <a:bodyPr wrap="square" lIns="0" tIns="0" rIns="0" bIns="0" rtlCol="0" anchor="ctr"/>
          <a:lstStyle/>
          <a:p>
            <a:r>
              <a:rPr lang="en-US" sz="1620" b="1" dirty="0">
                <a:solidFill>
                  <a:srgbClr val="1A3868"/>
                </a:solidFill>
                <a:latin typeface="Arial" pitchFamily="34" charset="0"/>
                <a:ea typeface="Arial" pitchFamily="34" charset="-122"/>
                <a:cs typeface="Arial" pitchFamily="34" charset="-120"/>
              </a:rPr>
              <a:t>Transportation</a:t>
            </a:r>
            <a:endParaRPr lang="en-US" sz="1620" dirty="0"/>
          </a:p>
        </p:txBody>
      </p:sp>
      <p:sp>
        <p:nvSpPr>
          <p:cNvPr id="18" name="Text 13"/>
          <p:cNvSpPr/>
          <p:nvPr/>
        </p:nvSpPr>
        <p:spPr>
          <a:xfrm>
            <a:off x="1810512" y="6605626"/>
            <a:ext cx="5047488" cy="713232"/>
          </a:xfrm>
          <a:prstGeom prst="rect">
            <a:avLst/>
          </a:prstGeom>
          <a:noFill/>
          <a:ln/>
        </p:spPr>
        <p:txBody>
          <a:bodyPr wrap="square" lIns="0" tIns="0" rIns="0" bIns="0" rtlCol="0" anchor="ctr"/>
          <a:lstStyle/>
          <a:p>
            <a:pPr>
              <a:lnSpc>
                <a:spcPct val="115000"/>
              </a:lnSpc>
            </a:pPr>
            <a:r>
              <a:rPr lang="en-US" sz="1400" dirty="0">
                <a:solidFill>
                  <a:srgbClr val="1F2937"/>
                </a:solidFill>
                <a:latin typeface="Arial" pitchFamily="34" charset="0"/>
                <a:ea typeface="Arial" pitchFamily="34" charset="-122"/>
                <a:cs typeface="Arial" pitchFamily="34" charset="-120"/>
              </a:rPr>
              <a:t>Movement of inventory between stages — mode, network and routing decisions.</a:t>
            </a:r>
            <a:endParaRPr lang="en-US" sz="1400" dirty="0"/>
          </a:p>
        </p:txBody>
      </p:sp>
      <p:sp>
        <p:nvSpPr>
          <p:cNvPr id="19" name="Shape 14"/>
          <p:cNvSpPr/>
          <p:nvPr/>
        </p:nvSpPr>
        <p:spPr>
          <a:xfrm>
            <a:off x="7516368" y="3127248"/>
            <a:ext cx="6419088" cy="4279392"/>
          </a:xfrm>
          <a:prstGeom prst="roundRect">
            <a:avLst>
              <a:gd name="adj" fmla="val 2051"/>
            </a:avLst>
          </a:prstGeom>
          <a:solidFill>
            <a:srgbClr val="1A3868"/>
          </a:solidFill>
          <a:ln/>
          <a:effectLst>
            <a:outerShdw blurRad="101600" dist="38100" dir="5400000" algn="bl" rotWithShape="0">
              <a:srgbClr val="000000">
                <a:alpha val="12000"/>
              </a:srgbClr>
            </a:outerShdw>
          </a:effectLst>
        </p:spPr>
        <p:txBody>
          <a:bodyPr/>
          <a:lstStyle/>
          <a:p>
            <a:endParaRPr lang="en-US" sz="2160"/>
          </a:p>
        </p:txBody>
      </p:sp>
      <p:sp>
        <p:nvSpPr>
          <p:cNvPr id="20" name="Text 15"/>
          <p:cNvSpPr/>
          <p:nvPr/>
        </p:nvSpPr>
        <p:spPr>
          <a:xfrm>
            <a:off x="7900416" y="3456432"/>
            <a:ext cx="5705856" cy="384048"/>
          </a:xfrm>
          <a:prstGeom prst="rect">
            <a:avLst/>
          </a:prstGeom>
          <a:noFill/>
          <a:ln/>
        </p:spPr>
        <p:txBody>
          <a:bodyPr wrap="square" lIns="0" tIns="0" rIns="0" bIns="0" rtlCol="0" anchor="ctr"/>
          <a:lstStyle/>
          <a:p>
            <a:r>
              <a:rPr lang="en-US" sz="1560" b="1" kern="0" spc="180" dirty="0">
                <a:solidFill>
                  <a:srgbClr val="B6D6FC"/>
                </a:solidFill>
                <a:latin typeface="Arial" pitchFamily="34" charset="0"/>
                <a:ea typeface="Arial" pitchFamily="34" charset="-122"/>
                <a:cs typeface="Arial" pitchFamily="34" charset="-120"/>
              </a:rPr>
              <a:t>CROSS-FUNCTIONAL DRIVERS</a:t>
            </a:r>
            <a:endParaRPr lang="en-US" sz="1560" dirty="0"/>
          </a:p>
        </p:txBody>
      </p:sp>
      <p:sp>
        <p:nvSpPr>
          <p:cNvPr id="21" name="Shape 16"/>
          <p:cNvSpPr/>
          <p:nvPr/>
        </p:nvSpPr>
        <p:spPr>
          <a:xfrm>
            <a:off x="7900416" y="4059936"/>
            <a:ext cx="603504" cy="603504"/>
          </a:xfrm>
          <a:prstGeom prst="ellipse">
            <a:avLst/>
          </a:prstGeom>
          <a:solidFill>
            <a:srgbClr val="FFFFFF"/>
          </a:solidFill>
          <a:ln/>
        </p:spPr>
        <p:txBody>
          <a:bodyPr/>
          <a:lstStyle/>
          <a:p>
            <a:endParaRPr lang="en-US" sz="2160"/>
          </a:p>
        </p:txBody>
      </p:sp>
      <p:pic>
        <p:nvPicPr>
          <p:cNvPr id="22" name="Image 3" descr="icons/information.png"/>
          <p:cNvPicPr>
            <a:picLocks noChangeAspect="1"/>
          </p:cNvPicPr>
          <p:nvPr/>
        </p:nvPicPr>
        <p:blipFill>
          <a:blip r:embed="rId6"/>
          <a:stretch>
            <a:fillRect/>
          </a:stretch>
        </p:blipFill>
        <p:spPr>
          <a:xfrm>
            <a:off x="8032090" y="4191610"/>
            <a:ext cx="340157" cy="340157"/>
          </a:xfrm>
          <a:prstGeom prst="rect">
            <a:avLst/>
          </a:prstGeom>
        </p:spPr>
      </p:pic>
      <p:sp>
        <p:nvSpPr>
          <p:cNvPr id="23" name="Text 17"/>
          <p:cNvSpPr/>
          <p:nvPr/>
        </p:nvSpPr>
        <p:spPr>
          <a:xfrm>
            <a:off x="8668512" y="4027017"/>
            <a:ext cx="5047488" cy="351130"/>
          </a:xfrm>
          <a:prstGeom prst="rect">
            <a:avLst/>
          </a:prstGeom>
          <a:noFill/>
          <a:ln/>
        </p:spPr>
        <p:txBody>
          <a:bodyPr wrap="square" lIns="0" tIns="0" rIns="0" bIns="0" rtlCol="0" anchor="ctr"/>
          <a:lstStyle/>
          <a:p>
            <a:r>
              <a:rPr lang="en-US" sz="1620" b="1" dirty="0">
                <a:solidFill>
                  <a:srgbClr val="FFFFFF"/>
                </a:solidFill>
                <a:latin typeface="Arial" pitchFamily="34" charset="0"/>
                <a:ea typeface="Arial" pitchFamily="34" charset="-122"/>
                <a:cs typeface="Arial" pitchFamily="34" charset="-120"/>
              </a:rPr>
              <a:t>Information</a:t>
            </a:r>
            <a:endParaRPr lang="en-US" sz="1620" dirty="0"/>
          </a:p>
        </p:txBody>
      </p:sp>
      <p:sp>
        <p:nvSpPr>
          <p:cNvPr id="24" name="Text 18"/>
          <p:cNvSpPr/>
          <p:nvPr/>
        </p:nvSpPr>
        <p:spPr>
          <a:xfrm>
            <a:off x="8668512" y="4367174"/>
            <a:ext cx="5047488" cy="713232"/>
          </a:xfrm>
          <a:prstGeom prst="rect">
            <a:avLst/>
          </a:prstGeom>
          <a:noFill/>
          <a:ln/>
        </p:spPr>
        <p:txBody>
          <a:bodyPr wrap="square" lIns="0" tIns="0" rIns="0" bIns="0" rtlCol="0" anchor="ctr"/>
          <a:lstStyle/>
          <a:p>
            <a:pPr>
              <a:lnSpc>
                <a:spcPct val="115000"/>
              </a:lnSpc>
            </a:pPr>
            <a:r>
              <a:rPr lang="en-US" sz="1600" dirty="0">
                <a:solidFill>
                  <a:srgbClr val="B6D6FC"/>
                </a:solidFill>
                <a:latin typeface="Arial" pitchFamily="34" charset="0"/>
                <a:ea typeface="Arial" pitchFamily="34" charset="-122"/>
                <a:cs typeface="Arial" pitchFamily="34" charset="-120"/>
              </a:rPr>
              <a:t>Data and analysis on facilities, inventory, transport, customers used to make decisions.</a:t>
            </a:r>
            <a:endParaRPr lang="en-US" sz="1600" dirty="0"/>
          </a:p>
        </p:txBody>
      </p:sp>
      <p:sp>
        <p:nvSpPr>
          <p:cNvPr id="25" name="Shape 19"/>
          <p:cNvSpPr/>
          <p:nvPr/>
        </p:nvSpPr>
        <p:spPr>
          <a:xfrm>
            <a:off x="7900416" y="5179162"/>
            <a:ext cx="603504" cy="603504"/>
          </a:xfrm>
          <a:prstGeom prst="ellipse">
            <a:avLst/>
          </a:prstGeom>
          <a:solidFill>
            <a:srgbClr val="FFFFFF"/>
          </a:solidFill>
          <a:ln/>
        </p:spPr>
        <p:txBody>
          <a:bodyPr/>
          <a:lstStyle/>
          <a:p>
            <a:endParaRPr lang="en-US" sz="2160"/>
          </a:p>
        </p:txBody>
      </p:sp>
      <p:pic>
        <p:nvPicPr>
          <p:cNvPr id="26" name="Image 4" descr="icons/sourcing.png"/>
          <p:cNvPicPr>
            <a:picLocks noChangeAspect="1"/>
          </p:cNvPicPr>
          <p:nvPr/>
        </p:nvPicPr>
        <p:blipFill>
          <a:blip r:embed="rId7"/>
          <a:stretch>
            <a:fillRect/>
          </a:stretch>
        </p:blipFill>
        <p:spPr>
          <a:xfrm>
            <a:off x="8032090" y="5310835"/>
            <a:ext cx="340157" cy="340157"/>
          </a:xfrm>
          <a:prstGeom prst="rect">
            <a:avLst/>
          </a:prstGeom>
        </p:spPr>
      </p:pic>
      <p:sp>
        <p:nvSpPr>
          <p:cNvPr id="27" name="Text 20"/>
          <p:cNvSpPr/>
          <p:nvPr/>
        </p:nvSpPr>
        <p:spPr>
          <a:xfrm>
            <a:off x="8668512" y="5146243"/>
            <a:ext cx="5047488" cy="351130"/>
          </a:xfrm>
          <a:prstGeom prst="rect">
            <a:avLst/>
          </a:prstGeom>
          <a:noFill/>
          <a:ln/>
        </p:spPr>
        <p:txBody>
          <a:bodyPr wrap="square" lIns="0" tIns="0" rIns="0" bIns="0" rtlCol="0" anchor="ctr"/>
          <a:lstStyle/>
          <a:p>
            <a:r>
              <a:rPr lang="en-US" sz="1620" b="1" dirty="0">
                <a:solidFill>
                  <a:srgbClr val="FFFFFF"/>
                </a:solidFill>
                <a:latin typeface="Arial" pitchFamily="34" charset="0"/>
                <a:ea typeface="Arial" pitchFamily="34" charset="-122"/>
                <a:cs typeface="Arial" pitchFamily="34" charset="-120"/>
              </a:rPr>
              <a:t>Sourcing</a:t>
            </a:r>
            <a:endParaRPr lang="en-US" sz="1620" dirty="0"/>
          </a:p>
        </p:txBody>
      </p:sp>
      <p:sp>
        <p:nvSpPr>
          <p:cNvPr id="28" name="Text 21"/>
          <p:cNvSpPr/>
          <p:nvPr/>
        </p:nvSpPr>
        <p:spPr>
          <a:xfrm>
            <a:off x="8668512" y="5486400"/>
            <a:ext cx="5047488" cy="713232"/>
          </a:xfrm>
          <a:prstGeom prst="rect">
            <a:avLst/>
          </a:prstGeom>
          <a:noFill/>
          <a:ln/>
        </p:spPr>
        <p:txBody>
          <a:bodyPr wrap="square" lIns="0" tIns="0" rIns="0" bIns="0" rtlCol="0" anchor="ctr"/>
          <a:lstStyle/>
          <a:p>
            <a:pPr>
              <a:lnSpc>
                <a:spcPct val="115000"/>
              </a:lnSpc>
            </a:pPr>
            <a:r>
              <a:rPr lang="en-US" sz="1600" dirty="0">
                <a:solidFill>
                  <a:srgbClr val="B6D6FC"/>
                </a:solidFill>
                <a:latin typeface="Arial" pitchFamily="34" charset="0"/>
                <a:ea typeface="Arial" pitchFamily="34" charset="-122"/>
                <a:cs typeface="Arial" pitchFamily="34" charset="-120"/>
              </a:rPr>
              <a:t>Set of processes to procure goods/services — who performs which activity, make or buy.</a:t>
            </a:r>
            <a:endParaRPr lang="en-US" sz="1600" dirty="0"/>
          </a:p>
        </p:txBody>
      </p:sp>
      <p:sp>
        <p:nvSpPr>
          <p:cNvPr id="29" name="Shape 22"/>
          <p:cNvSpPr/>
          <p:nvPr/>
        </p:nvSpPr>
        <p:spPr>
          <a:xfrm>
            <a:off x="7900416" y="6298387"/>
            <a:ext cx="603504" cy="603504"/>
          </a:xfrm>
          <a:prstGeom prst="ellipse">
            <a:avLst/>
          </a:prstGeom>
          <a:solidFill>
            <a:srgbClr val="FFFFFF"/>
          </a:solidFill>
          <a:ln/>
        </p:spPr>
        <p:txBody>
          <a:bodyPr/>
          <a:lstStyle/>
          <a:p>
            <a:endParaRPr lang="en-US" sz="2160"/>
          </a:p>
        </p:txBody>
      </p:sp>
      <p:pic>
        <p:nvPicPr>
          <p:cNvPr id="30" name="Image 5" descr="icons/pricing.png"/>
          <p:cNvPicPr>
            <a:picLocks noChangeAspect="1"/>
          </p:cNvPicPr>
          <p:nvPr/>
        </p:nvPicPr>
        <p:blipFill>
          <a:blip r:embed="rId8"/>
          <a:stretch>
            <a:fillRect/>
          </a:stretch>
        </p:blipFill>
        <p:spPr>
          <a:xfrm>
            <a:off x="8032090" y="6430061"/>
            <a:ext cx="340157" cy="340157"/>
          </a:xfrm>
          <a:prstGeom prst="rect">
            <a:avLst/>
          </a:prstGeom>
        </p:spPr>
      </p:pic>
      <p:sp>
        <p:nvSpPr>
          <p:cNvPr id="31" name="Text 23"/>
          <p:cNvSpPr/>
          <p:nvPr/>
        </p:nvSpPr>
        <p:spPr>
          <a:xfrm>
            <a:off x="8668512" y="6265469"/>
            <a:ext cx="5047488" cy="351130"/>
          </a:xfrm>
          <a:prstGeom prst="rect">
            <a:avLst/>
          </a:prstGeom>
          <a:noFill/>
          <a:ln/>
        </p:spPr>
        <p:txBody>
          <a:bodyPr wrap="square" lIns="0" tIns="0" rIns="0" bIns="0" rtlCol="0" anchor="ctr"/>
          <a:lstStyle/>
          <a:p>
            <a:r>
              <a:rPr lang="en-US" sz="1620" b="1" dirty="0">
                <a:solidFill>
                  <a:srgbClr val="FFFFFF"/>
                </a:solidFill>
                <a:latin typeface="Arial" pitchFamily="34" charset="0"/>
                <a:ea typeface="Arial" pitchFamily="34" charset="-122"/>
                <a:cs typeface="Arial" pitchFamily="34" charset="-120"/>
              </a:rPr>
              <a:t>Pricing</a:t>
            </a:r>
            <a:endParaRPr lang="en-US" sz="1620" dirty="0"/>
          </a:p>
        </p:txBody>
      </p:sp>
      <p:sp>
        <p:nvSpPr>
          <p:cNvPr id="32" name="Text 24"/>
          <p:cNvSpPr/>
          <p:nvPr/>
        </p:nvSpPr>
        <p:spPr>
          <a:xfrm>
            <a:off x="8668512" y="6605626"/>
            <a:ext cx="5047488" cy="713232"/>
          </a:xfrm>
          <a:prstGeom prst="rect">
            <a:avLst/>
          </a:prstGeom>
          <a:noFill/>
          <a:ln/>
        </p:spPr>
        <p:txBody>
          <a:bodyPr wrap="square" lIns="0" tIns="0" rIns="0" bIns="0" rtlCol="0" anchor="ctr"/>
          <a:lstStyle/>
          <a:p>
            <a:pPr>
              <a:lnSpc>
                <a:spcPct val="115000"/>
              </a:lnSpc>
            </a:pPr>
            <a:r>
              <a:rPr lang="en-US" sz="1600" dirty="0">
                <a:solidFill>
                  <a:srgbClr val="B6D6FC"/>
                </a:solidFill>
                <a:latin typeface="Arial" pitchFamily="34" charset="0"/>
                <a:ea typeface="Arial" pitchFamily="34" charset="-122"/>
                <a:cs typeface="Arial" pitchFamily="34" charset="-120"/>
              </a:rPr>
              <a:t>How much a firm charges for goods/services, shaping buyer behaviour and demand patterns.</a:t>
            </a:r>
            <a:endParaRPr lang="en-US" sz="1600" dirty="0"/>
          </a:p>
        </p:txBody>
      </p:sp>
      <p:sp>
        <p:nvSpPr>
          <p:cNvPr id="33" name="Text 25"/>
          <p:cNvSpPr/>
          <p:nvPr/>
        </p:nvSpPr>
        <p:spPr>
          <a:xfrm>
            <a:off x="548640" y="7812634"/>
            <a:ext cx="8778240" cy="329184"/>
          </a:xfrm>
          <a:prstGeom prst="rect">
            <a:avLst/>
          </a:prstGeom>
          <a:noFill/>
          <a:ln/>
        </p:spPr>
        <p:txBody>
          <a:bodyPr wrap="square" lIns="0" tIns="0" rIns="0" bIns="0" rtlCol="0" anchor="ctr"/>
          <a:lstStyle/>
          <a:p>
            <a:r>
              <a:rPr lang="en-US" sz="1200" dirty="0">
                <a:solidFill>
                  <a:srgbClr val="5B6B82"/>
                </a:solidFill>
                <a:latin typeface="Arial" pitchFamily="34" charset="0"/>
                <a:ea typeface="Arial" pitchFamily="34" charset="-122"/>
                <a:cs typeface="Arial" pitchFamily="34" charset="-120"/>
              </a:rPr>
              <a:t>Supply Chain Management</a:t>
            </a:r>
            <a:endParaRPr lang="en-US" sz="1200" dirty="0"/>
          </a:p>
        </p:txBody>
      </p:sp>
      <p:sp>
        <p:nvSpPr>
          <p:cNvPr id="34" name="Text 26"/>
          <p:cNvSpPr/>
          <p:nvPr/>
        </p:nvSpPr>
        <p:spPr>
          <a:xfrm>
            <a:off x="13529462" y="7812634"/>
            <a:ext cx="548640" cy="329184"/>
          </a:xfrm>
          <a:prstGeom prst="rect">
            <a:avLst/>
          </a:prstGeom>
          <a:noFill/>
          <a:ln/>
        </p:spPr>
        <p:txBody>
          <a:bodyPr wrap="square" lIns="0" tIns="0" rIns="0" bIns="0" rtlCol="0" anchor="ctr"/>
          <a:lstStyle/>
          <a:p>
            <a:pPr algn="r"/>
            <a:r>
              <a:rPr lang="en-US" sz="1200" dirty="0">
                <a:solidFill>
                  <a:srgbClr val="5B6B82"/>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384048"/>
            <a:ext cx="10972800" cy="329184"/>
          </a:xfrm>
          <a:prstGeom prst="rect">
            <a:avLst/>
          </a:prstGeom>
          <a:noFill/>
          <a:ln/>
        </p:spPr>
        <p:txBody>
          <a:bodyPr wrap="square" lIns="0" tIns="0" rIns="0" bIns="0" rtlCol="0" anchor="ctr"/>
          <a:lstStyle/>
          <a:p>
            <a:r>
              <a:rPr lang="en-US" sz="1440" b="1" kern="0" spc="240" dirty="0">
                <a:solidFill>
                  <a:srgbClr val="C9760F"/>
                </a:solidFill>
                <a:latin typeface="Arial" pitchFamily="34" charset="0"/>
                <a:ea typeface="Arial" pitchFamily="34" charset="-122"/>
                <a:cs typeface="Arial" pitchFamily="34" charset="-120"/>
              </a:rPr>
              <a:t>DIAGRAM</a:t>
            </a:r>
            <a:endParaRPr lang="en-US" sz="1440" dirty="0"/>
          </a:p>
        </p:txBody>
      </p:sp>
      <p:sp>
        <p:nvSpPr>
          <p:cNvPr id="3" name="Text 1"/>
          <p:cNvSpPr/>
          <p:nvPr/>
        </p:nvSpPr>
        <p:spPr>
          <a:xfrm>
            <a:off x="658368" y="680314"/>
            <a:ext cx="13277088" cy="822960"/>
          </a:xfrm>
          <a:prstGeom prst="rect">
            <a:avLst/>
          </a:prstGeom>
          <a:noFill/>
          <a:ln/>
        </p:spPr>
        <p:txBody>
          <a:bodyPr wrap="square" lIns="0" tIns="0" rIns="0" bIns="0" rtlCol="0" anchor="ctr"/>
          <a:lstStyle/>
          <a:p>
            <a:r>
              <a:rPr lang="en-US" sz="3600" b="1" dirty="0">
                <a:solidFill>
                  <a:srgbClr val="1A3868"/>
                </a:solidFill>
                <a:latin typeface="Arial" pitchFamily="34" charset="0"/>
                <a:ea typeface="Arial" pitchFamily="34" charset="-122"/>
                <a:cs typeface="Arial" pitchFamily="34" charset="-120"/>
              </a:rPr>
              <a:t>Drivers of Supply Chain Performance</a:t>
            </a:r>
            <a:endParaRPr lang="en-US" sz="3600" dirty="0"/>
          </a:p>
        </p:txBody>
      </p:sp>
      <p:sp>
        <p:nvSpPr>
          <p:cNvPr id="4" name="Shape 2"/>
          <p:cNvSpPr/>
          <p:nvPr/>
        </p:nvSpPr>
        <p:spPr>
          <a:xfrm>
            <a:off x="7313371" y="2905598"/>
            <a:ext cx="10973" cy="908548"/>
          </a:xfrm>
          <a:prstGeom prst="line">
            <a:avLst/>
          </a:prstGeom>
          <a:noFill/>
          <a:ln w="28575">
            <a:solidFill>
              <a:srgbClr val="B6D6FC"/>
            </a:solidFill>
            <a:prstDash val="solid"/>
          </a:ln>
        </p:spPr>
        <p:txBody>
          <a:bodyPr/>
          <a:lstStyle/>
          <a:p>
            <a:endParaRPr lang="en-US" sz="2160"/>
          </a:p>
        </p:txBody>
      </p:sp>
      <p:sp>
        <p:nvSpPr>
          <p:cNvPr id="5" name="Shape 3"/>
          <p:cNvSpPr/>
          <p:nvPr/>
        </p:nvSpPr>
        <p:spPr>
          <a:xfrm>
            <a:off x="6633058" y="2225284"/>
            <a:ext cx="1360627" cy="1360627"/>
          </a:xfrm>
          <a:prstGeom prst="ellipse">
            <a:avLst/>
          </a:prstGeom>
          <a:solidFill>
            <a:srgbClr val="EAF1FC"/>
          </a:solidFill>
          <a:ln w="15875">
            <a:solidFill>
              <a:srgbClr val="1A3868"/>
            </a:solidFill>
            <a:prstDash val="solid"/>
          </a:ln>
          <a:effectLst>
            <a:outerShdw blurRad="76200" dist="25400" dir="5400000" algn="bl" rotWithShape="0">
              <a:srgbClr val="000000">
                <a:alpha val="10000"/>
              </a:srgbClr>
            </a:outerShdw>
          </a:effectLst>
        </p:spPr>
        <p:txBody>
          <a:bodyPr/>
          <a:lstStyle/>
          <a:p>
            <a:endParaRPr lang="en-US" sz="2160"/>
          </a:p>
        </p:txBody>
      </p:sp>
      <p:pic>
        <p:nvPicPr>
          <p:cNvPr id="6" name="Image 0" descr="icons/facilities.png"/>
          <p:cNvPicPr>
            <a:picLocks noChangeAspect="1"/>
          </p:cNvPicPr>
          <p:nvPr/>
        </p:nvPicPr>
        <p:blipFill>
          <a:blip r:embed="rId3"/>
          <a:stretch>
            <a:fillRect/>
          </a:stretch>
        </p:blipFill>
        <p:spPr>
          <a:xfrm>
            <a:off x="7028078" y="2576413"/>
            <a:ext cx="570586" cy="570586"/>
          </a:xfrm>
          <a:prstGeom prst="rect">
            <a:avLst/>
          </a:prstGeom>
        </p:spPr>
      </p:pic>
      <p:sp>
        <p:nvSpPr>
          <p:cNvPr id="7" name="Text 4"/>
          <p:cNvSpPr/>
          <p:nvPr/>
        </p:nvSpPr>
        <p:spPr>
          <a:xfrm>
            <a:off x="6216091" y="1808317"/>
            <a:ext cx="2194560" cy="384048"/>
          </a:xfrm>
          <a:prstGeom prst="rect">
            <a:avLst/>
          </a:prstGeom>
          <a:noFill/>
          <a:ln/>
        </p:spPr>
        <p:txBody>
          <a:bodyPr wrap="square" lIns="0" tIns="0" rIns="0" bIns="0" rtlCol="0" anchor="ctr"/>
          <a:lstStyle/>
          <a:p>
            <a:pPr algn="ctr"/>
            <a:r>
              <a:rPr lang="en-US" sz="1500" b="1" dirty="0">
                <a:solidFill>
                  <a:srgbClr val="1A3868"/>
                </a:solidFill>
                <a:latin typeface="Arial" pitchFamily="34" charset="0"/>
                <a:ea typeface="Arial" pitchFamily="34" charset="-122"/>
                <a:cs typeface="Arial" pitchFamily="34" charset="-120"/>
              </a:rPr>
              <a:t>Facilities</a:t>
            </a:r>
            <a:endParaRPr lang="en-US" sz="1500" dirty="0"/>
          </a:p>
        </p:txBody>
      </p:sp>
      <p:sp>
        <p:nvSpPr>
          <p:cNvPr id="8" name="Shape 5"/>
          <p:cNvSpPr/>
          <p:nvPr/>
        </p:nvSpPr>
        <p:spPr>
          <a:xfrm>
            <a:off x="8216130" y="3839383"/>
            <a:ext cx="855245" cy="454274"/>
          </a:xfrm>
          <a:prstGeom prst="line">
            <a:avLst/>
          </a:prstGeom>
          <a:noFill/>
          <a:ln w="28575">
            <a:solidFill>
              <a:srgbClr val="B6D6FC"/>
            </a:solidFill>
            <a:prstDash val="solid"/>
          </a:ln>
        </p:spPr>
        <p:txBody>
          <a:bodyPr/>
          <a:lstStyle/>
          <a:p>
            <a:endParaRPr lang="en-US" sz="2160"/>
          </a:p>
        </p:txBody>
      </p:sp>
      <p:sp>
        <p:nvSpPr>
          <p:cNvPr id="9" name="Shape 6"/>
          <p:cNvSpPr/>
          <p:nvPr/>
        </p:nvSpPr>
        <p:spPr>
          <a:xfrm>
            <a:off x="8391061" y="3159070"/>
            <a:ext cx="1360627" cy="1360627"/>
          </a:xfrm>
          <a:prstGeom prst="ellipse">
            <a:avLst/>
          </a:prstGeom>
          <a:solidFill>
            <a:srgbClr val="EAF1FC"/>
          </a:solidFill>
          <a:ln w="15875">
            <a:solidFill>
              <a:srgbClr val="1A3868"/>
            </a:solidFill>
            <a:prstDash val="solid"/>
          </a:ln>
          <a:effectLst>
            <a:outerShdw blurRad="76200" dist="25400" dir="5400000" algn="bl" rotWithShape="0">
              <a:srgbClr val="000000">
                <a:alpha val="10000"/>
              </a:srgbClr>
            </a:outerShdw>
          </a:effectLst>
        </p:spPr>
        <p:txBody>
          <a:bodyPr/>
          <a:lstStyle/>
          <a:p>
            <a:endParaRPr lang="en-US" sz="2160"/>
          </a:p>
        </p:txBody>
      </p:sp>
      <p:pic>
        <p:nvPicPr>
          <p:cNvPr id="10" name="Image 1" descr="icons/transportation.png"/>
          <p:cNvPicPr>
            <a:picLocks noChangeAspect="1"/>
          </p:cNvPicPr>
          <p:nvPr/>
        </p:nvPicPr>
        <p:blipFill>
          <a:blip r:embed="rId4"/>
          <a:stretch>
            <a:fillRect/>
          </a:stretch>
        </p:blipFill>
        <p:spPr>
          <a:xfrm>
            <a:off x="8786082" y="3510199"/>
            <a:ext cx="570586" cy="570586"/>
          </a:xfrm>
          <a:prstGeom prst="rect">
            <a:avLst/>
          </a:prstGeom>
        </p:spPr>
      </p:pic>
      <p:sp>
        <p:nvSpPr>
          <p:cNvPr id="11" name="Text 7"/>
          <p:cNvSpPr/>
          <p:nvPr/>
        </p:nvSpPr>
        <p:spPr>
          <a:xfrm>
            <a:off x="7974095" y="4585534"/>
            <a:ext cx="2194560" cy="384048"/>
          </a:xfrm>
          <a:prstGeom prst="rect">
            <a:avLst/>
          </a:prstGeom>
          <a:noFill/>
          <a:ln/>
        </p:spPr>
        <p:txBody>
          <a:bodyPr wrap="square" lIns="0" tIns="0" rIns="0" bIns="0" rtlCol="0" anchor="ctr"/>
          <a:lstStyle/>
          <a:p>
            <a:pPr algn="ctr"/>
            <a:r>
              <a:rPr lang="en-US" sz="1500" b="1" dirty="0">
                <a:solidFill>
                  <a:srgbClr val="1A3868"/>
                </a:solidFill>
                <a:latin typeface="Arial" pitchFamily="34" charset="0"/>
                <a:ea typeface="Arial" pitchFamily="34" charset="-122"/>
                <a:cs typeface="Arial" pitchFamily="34" charset="-120"/>
              </a:rPr>
              <a:t>Transportation</a:t>
            </a:r>
            <a:endParaRPr lang="en-US" sz="1500" dirty="0"/>
          </a:p>
        </p:txBody>
      </p:sp>
      <p:sp>
        <p:nvSpPr>
          <p:cNvPr id="12" name="Shape 8"/>
          <p:cNvSpPr/>
          <p:nvPr/>
        </p:nvSpPr>
        <p:spPr>
          <a:xfrm>
            <a:off x="8216130" y="5252680"/>
            <a:ext cx="855245" cy="454274"/>
          </a:xfrm>
          <a:prstGeom prst="line">
            <a:avLst/>
          </a:prstGeom>
          <a:noFill/>
          <a:ln w="28575">
            <a:solidFill>
              <a:srgbClr val="B6D6FC"/>
            </a:solidFill>
            <a:prstDash val="solid"/>
          </a:ln>
        </p:spPr>
        <p:txBody>
          <a:bodyPr/>
          <a:lstStyle/>
          <a:p>
            <a:endParaRPr lang="en-US" sz="2160"/>
          </a:p>
        </p:txBody>
      </p:sp>
      <p:sp>
        <p:nvSpPr>
          <p:cNvPr id="13" name="Shape 9"/>
          <p:cNvSpPr/>
          <p:nvPr/>
        </p:nvSpPr>
        <p:spPr>
          <a:xfrm>
            <a:off x="8391061" y="5026639"/>
            <a:ext cx="1360627" cy="1360627"/>
          </a:xfrm>
          <a:prstGeom prst="ellipse">
            <a:avLst/>
          </a:prstGeom>
          <a:solidFill>
            <a:srgbClr val="EAF1FC"/>
          </a:solidFill>
          <a:ln w="15875">
            <a:solidFill>
              <a:srgbClr val="1A3868"/>
            </a:solidFill>
            <a:prstDash val="solid"/>
          </a:ln>
          <a:effectLst>
            <a:outerShdw blurRad="76200" dist="25400" dir="5400000" algn="bl" rotWithShape="0">
              <a:srgbClr val="000000">
                <a:alpha val="10000"/>
              </a:srgbClr>
            </a:outerShdw>
          </a:effectLst>
        </p:spPr>
        <p:txBody>
          <a:bodyPr/>
          <a:lstStyle/>
          <a:p>
            <a:endParaRPr lang="en-US" sz="2160"/>
          </a:p>
        </p:txBody>
      </p:sp>
      <p:pic>
        <p:nvPicPr>
          <p:cNvPr id="14" name="Image 2" descr="icons/inventory.png"/>
          <p:cNvPicPr>
            <a:picLocks noChangeAspect="1"/>
          </p:cNvPicPr>
          <p:nvPr/>
        </p:nvPicPr>
        <p:blipFill>
          <a:blip r:embed="rId5"/>
          <a:stretch>
            <a:fillRect/>
          </a:stretch>
        </p:blipFill>
        <p:spPr>
          <a:xfrm>
            <a:off x="8786082" y="5377769"/>
            <a:ext cx="570586" cy="570586"/>
          </a:xfrm>
          <a:prstGeom prst="rect">
            <a:avLst/>
          </a:prstGeom>
        </p:spPr>
      </p:pic>
      <p:sp>
        <p:nvSpPr>
          <p:cNvPr id="15" name="Text 10"/>
          <p:cNvSpPr/>
          <p:nvPr/>
        </p:nvSpPr>
        <p:spPr>
          <a:xfrm>
            <a:off x="7974095" y="6453103"/>
            <a:ext cx="2194560" cy="384048"/>
          </a:xfrm>
          <a:prstGeom prst="rect">
            <a:avLst/>
          </a:prstGeom>
          <a:noFill/>
          <a:ln/>
        </p:spPr>
        <p:txBody>
          <a:bodyPr wrap="square" lIns="0" tIns="0" rIns="0" bIns="0" rtlCol="0" anchor="ctr"/>
          <a:lstStyle/>
          <a:p>
            <a:pPr algn="ctr"/>
            <a:r>
              <a:rPr lang="en-US" sz="1500" b="1" dirty="0">
                <a:solidFill>
                  <a:srgbClr val="1A3868"/>
                </a:solidFill>
                <a:latin typeface="Arial" pitchFamily="34" charset="0"/>
                <a:ea typeface="Arial" pitchFamily="34" charset="-122"/>
                <a:cs typeface="Arial" pitchFamily="34" charset="-120"/>
              </a:rPr>
              <a:t>Inventory</a:t>
            </a:r>
            <a:endParaRPr lang="en-US" sz="1500" dirty="0"/>
          </a:p>
        </p:txBody>
      </p:sp>
      <p:sp>
        <p:nvSpPr>
          <p:cNvPr id="16" name="Shape 11"/>
          <p:cNvSpPr/>
          <p:nvPr/>
        </p:nvSpPr>
        <p:spPr>
          <a:xfrm>
            <a:off x="7313371" y="5732192"/>
            <a:ext cx="10973" cy="908548"/>
          </a:xfrm>
          <a:prstGeom prst="line">
            <a:avLst/>
          </a:prstGeom>
          <a:noFill/>
          <a:ln w="28575">
            <a:solidFill>
              <a:srgbClr val="B6D6FC"/>
            </a:solidFill>
            <a:prstDash val="solid"/>
          </a:ln>
        </p:spPr>
        <p:txBody>
          <a:bodyPr/>
          <a:lstStyle/>
          <a:p>
            <a:endParaRPr lang="en-US" sz="2160"/>
          </a:p>
        </p:txBody>
      </p:sp>
      <p:sp>
        <p:nvSpPr>
          <p:cNvPr id="17" name="Shape 12"/>
          <p:cNvSpPr/>
          <p:nvPr/>
        </p:nvSpPr>
        <p:spPr>
          <a:xfrm>
            <a:off x="6633058" y="5960425"/>
            <a:ext cx="1360627" cy="1360627"/>
          </a:xfrm>
          <a:prstGeom prst="ellipse">
            <a:avLst/>
          </a:prstGeom>
          <a:solidFill>
            <a:srgbClr val="EAF1FC"/>
          </a:solidFill>
          <a:ln w="15875">
            <a:solidFill>
              <a:srgbClr val="1A3868"/>
            </a:solidFill>
            <a:prstDash val="solid"/>
          </a:ln>
          <a:effectLst>
            <a:outerShdw blurRad="76200" dist="25400" dir="5400000" algn="bl" rotWithShape="0">
              <a:srgbClr val="000000">
                <a:alpha val="10000"/>
              </a:srgbClr>
            </a:outerShdw>
          </a:effectLst>
        </p:spPr>
        <p:txBody>
          <a:bodyPr/>
          <a:lstStyle/>
          <a:p>
            <a:endParaRPr lang="en-US" sz="2160"/>
          </a:p>
        </p:txBody>
      </p:sp>
      <p:pic>
        <p:nvPicPr>
          <p:cNvPr id="18" name="Image 3" descr="icons/information.png"/>
          <p:cNvPicPr>
            <a:picLocks noChangeAspect="1"/>
          </p:cNvPicPr>
          <p:nvPr/>
        </p:nvPicPr>
        <p:blipFill>
          <a:blip r:embed="rId6"/>
          <a:stretch>
            <a:fillRect/>
          </a:stretch>
        </p:blipFill>
        <p:spPr>
          <a:xfrm>
            <a:off x="7028078" y="6311555"/>
            <a:ext cx="570586" cy="570586"/>
          </a:xfrm>
          <a:prstGeom prst="rect">
            <a:avLst/>
          </a:prstGeom>
        </p:spPr>
      </p:pic>
      <p:sp>
        <p:nvSpPr>
          <p:cNvPr id="19" name="Text 13"/>
          <p:cNvSpPr/>
          <p:nvPr/>
        </p:nvSpPr>
        <p:spPr>
          <a:xfrm>
            <a:off x="6216091" y="7386889"/>
            <a:ext cx="2194560" cy="384048"/>
          </a:xfrm>
          <a:prstGeom prst="rect">
            <a:avLst/>
          </a:prstGeom>
          <a:noFill/>
          <a:ln/>
        </p:spPr>
        <p:txBody>
          <a:bodyPr wrap="square" lIns="0" tIns="0" rIns="0" bIns="0" rtlCol="0" anchor="ctr"/>
          <a:lstStyle/>
          <a:p>
            <a:pPr algn="ctr"/>
            <a:r>
              <a:rPr lang="en-US" sz="1500" b="1" dirty="0">
                <a:solidFill>
                  <a:srgbClr val="1A3868"/>
                </a:solidFill>
                <a:latin typeface="Arial" pitchFamily="34" charset="0"/>
                <a:ea typeface="Arial" pitchFamily="34" charset="-122"/>
                <a:cs typeface="Arial" pitchFamily="34" charset="-120"/>
              </a:rPr>
              <a:t>Information</a:t>
            </a:r>
            <a:endParaRPr lang="en-US" sz="1500" dirty="0"/>
          </a:p>
        </p:txBody>
      </p:sp>
      <p:sp>
        <p:nvSpPr>
          <p:cNvPr id="20" name="Shape 14"/>
          <p:cNvSpPr/>
          <p:nvPr/>
        </p:nvSpPr>
        <p:spPr>
          <a:xfrm>
            <a:off x="5555368" y="5252680"/>
            <a:ext cx="855245" cy="454274"/>
          </a:xfrm>
          <a:prstGeom prst="line">
            <a:avLst/>
          </a:prstGeom>
          <a:noFill/>
          <a:ln w="28575">
            <a:solidFill>
              <a:srgbClr val="B6D6FC"/>
            </a:solidFill>
            <a:prstDash val="solid"/>
          </a:ln>
        </p:spPr>
        <p:txBody>
          <a:bodyPr/>
          <a:lstStyle/>
          <a:p>
            <a:endParaRPr lang="en-US" sz="2160"/>
          </a:p>
        </p:txBody>
      </p:sp>
      <p:sp>
        <p:nvSpPr>
          <p:cNvPr id="21" name="Shape 15"/>
          <p:cNvSpPr/>
          <p:nvPr/>
        </p:nvSpPr>
        <p:spPr>
          <a:xfrm>
            <a:off x="4875054" y="5026639"/>
            <a:ext cx="1360627" cy="1360627"/>
          </a:xfrm>
          <a:prstGeom prst="ellipse">
            <a:avLst/>
          </a:prstGeom>
          <a:solidFill>
            <a:srgbClr val="EAF1FC"/>
          </a:solidFill>
          <a:ln w="15875">
            <a:solidFill>
              <a:srgbClr val="1A3868"/>
            </a:solidFill>
            <a:prstDash val="solid"/>
          </a:ln>
          <a:effectLst>
            <a:outerShdw blurRad="76200" dist="25400" dir="5400000" algn="bl" rotWithShape="0">
              <a:srgbClr val="000000">
                <a:alpha val="10000"/>
              </a:srgbClr>
            </a:outerShdw>
          </a:effectLst>
        </p:spPr>
        <p:txBody>
          <a:bodyPr/>
          <a:lstStyle/>
          <a:p>
            <a:endParaRPr lang="en-US" sz="2160"/>
          </a:p>
        </p:txBody>
      </p:sp>
      <p:pic>
        <p:nvPicPr>
          <p:cNvPr id="22" name="Image 4" descr="icons/sourcing.png"/>
          <p:cNvPicPr>
            <a:picLocks noChangeAspect="1"/>
          </p:cNvPicPr>
          <p:nvPr/>
        </p:nvPicPr>
        <p:blipFill>
          <a:blip r:embed="rId7"/>
          <a:stretch>
            <a:fillRect/>
          </a:stretch>
        </p:blipFill>
        <p:spPr>
          <a:xfrm>
            <a:off x="5270075" y="5377769"/>
            <a:ext cx="570586" cy="570586"/>
          </a:xfrm>
          <a:prstGeom prst="rect">
            <a:avLst/>
          </a:prstGeom>
        </p:spPr>
      </p:pic>
      <p:sp>
        <p:nvSpPr>
          <p:cNvPr id="23" name="Text 16"/>
          <p:cNvSpPr/>
          <p:nvPr/>
        </p:nvSpPr>
        <p:spPr>
          <a:xfrm>
            <a:off x="4458088" y="6453103"/>
            <a:ext cx="2194560" cy="384048"/>
          </a:xfrm>
          <a:prstGeom prst="rect">
            <a:avLst/>
          </a:prstGeom>
          <a:noFill/>
          <a:ln/>
        </p:spPr>
        <p:txBody>
          <a:bodyPr wrap="square" lIns="0" tIns="0" rIns="0" bIns="0" rtlCol="0" anchor="ctr"/>
          <a:lstStyle/>
          <a:p>
            <a:pPr algn="ctr"/>
            <a:r>
              <a:rPr lang="en-US" sz="1500" b="1" dirty="0">
                <a:solidFill>
                  <a:srgbClr val="1A3868"/>
                </a:solidFill>
                <a:latin typeface="Arial" pitchFamily="34" charset="0"/>
                <a:ea typeface="Arial" pitchFamily="34" charset="-122"/>
                <a:cs typeface="Arial" pitchFamily="34" charset="-120"/>
              </a:rPr>
              <a:t>Sourcing</a:t>
            </a:r>
            <a:endParaRPr lang="en-US" sz="1500" dirty="0"/>
          </a:p>
        </p:txBody>
      </p:sp>
      <p:sp>
        <p:nvSpPr>
          <p:cNvPr id="24" name="Shape 17"/>
          <p:cNvSpPr/>
          <p:nvPr/>
        </p:nvSpPr>
        <p:spPr>
          <a:xfrm>
            <a:off x="5555368" y="3839383"/>
            <a:ext cx="855245" cy="454274"/>
          </a:xfrm>
          <a:prstGeom prst="line">
            <a:avLst/>
          </a:prstGeom>
          <a:noFill/>
          <a:ln w="28575">
            <a:solidFill>
              <a:srgbClr val="B6D6FC"/>
            </a:solidFill>
            <a:prstDash val="solid"/>
          </a:ln>
        </p:spPr>
        <p:txBody>
          <a:bodyPr/>
          <a:lstStyle/>
          <a:p>
            <a:endParaRPr lang="en-US" sz="2160"/>
          </a:p>
        </p:txBody>
      </p:sp>
      <p:sp>
        <p:nvSpPr>
          <p:cNvPr id="25" name="Shape 18"/>
          <p:cNvSpPr/>
          <p:nvPr/>
        </p:nvSpPr>
        <p:spPr>
          <a:xfrm>
            <a:off x="4875054" y="3159070"/>
            <a:ext cx="1360627" cy="1360627"/>
          </a:xfrm>
          <a:prstGeom prst="ellipse">
            <a:avLst/>
          </a:prstGeom>
          <a:solidFill>
            <a:srgbClr val="EAF1FC"/>
          </a:solidFill>
          <a:ln w="15875">
            <a:solidFill>
              <a:srgbClr val="1A3868"/>
            </a:solidFill>
            <a:prstDash val="solid"/>
          </a:ln>
          <a:effectLst>
            <a:outerShdw blurRad="76200" dist="25400" dir="5400000" algn="bl" rotWithShape="0">
              <a:srgbClr val="000000">
                <a:alpha val="10000"/>
              </a:srgbClr>
            </a:outerShdw>
          </a:effectLst>
        </p:spPr>
        <p:txBody>
          <a:bodyPr/>
          <a:lstStyle/>
          <a:p>
            <a:endParaRPr lang="en-US" sz="2160"/>
          </a:p>
        </p:txBody>
      </p:sp>
      <p:pic>
        <p:nvPicPr>
          <p:cNvPr id="26" name="Image 5" descr="icons/pricing.png"/>
          <p:cNvPicPr>
            <a:picLocks noChangeAspect="1"/>
          </p:cNvPicPr>
          <p:nvPr/>
        </p:nvPicPr>
        <p:blipFill>
          <a:blip r:embed="rId8"/>
          <a:stretch>
            <a:fillRect/>
          </a:stretch>
        </p:blipFill>
        <p:spPr>
          <a:xfrm>
            <a:off x="5270075" y="3510199"/>
            <a:ext cx="570586" cy="570586"/>
          </a:xfrm>
          <a:prstGeom prst="rect">
            <a:avLst/>
          </a:prstGeom>
        </p:spPr>
      </p:pic>
      <p:sp>
        <p:nvSpPr>
          <p:cNvPr id="27" name="Text 19"/>
          <p:cNvSpPr/>
          <p:nvPr/>
        </p:nvSpPr>
        <p:spPr>
          <a:xfrm>
            <a:off x="4458088" y="4585534"/>
            <a:ext cx="2194560" cy="384048"/>
          </a:xfrm>
          <a:prstGeom prst="rect">
            <a:avLst/>
          </a:prstGeom>
          <a:noFill/>
          <a:ln/>
        </p:spPr>
        <p:txBody>
          <a:bodyPr wrap="square" lIns="0" tIns="0" rIns="0" bIns="0" rtlCol="0" anchor="ctr"/>
          <a:lstStyle/>
          <a:p>
            <a:pPr algn="ctr"/>
            <a:r>
              <a:rPr lang="en-US" sz="1500" b="1" dirty="0">
                <a:solidFill>
                  <a:srgbClr val="1A3868"/>
                </a:solidFill>
                <a:latin typeface="Arial" pitchFamily="34" charset="0"/>
                <a:ea typeface="Arial" pitchFamily="34" charset="-122"/>
                <a:cs typeface="Arial" pitchFamily="34" charset="-120"/>
              </a:rPr>
              <a:t>Pricing</a:t>
            </a:r>
            <a:endParaRPr lang="en-US" sz="1500" dirty="0"/>
          </a:p>
        </p:txBody>
      </p:sp>
      <p:sp>
        <p:nvSpPr>
          <p:cNvPr id="28" name="Shape 20"/>
          <p:cNvSpPr/>
          <p:nvPr/>
        </p:nvSpPr>
        <p:spPr>
          <a:xfrm>
            <a:off x="6270955" y="3730752"/>
            <a:ext cx="2084832" cy="2084832"/>
          </a:xfrm>
          <a:prstGeom prst="ellipse">
            <a:avLst/>
          </a:prstGeom>
          <a:solidFill>
            <a:srgbClr val="1A3868"/>
          </a:solidFill>
          <a:ln/>
          <a:effectLst>
            <a:outerShdw blurRad="127000" dist="38100" dir="5400000" algn="bl" rotWithShape="0">
              <a:srgbClr val="000000">
                <a:alpha val="18000"/>
              </a:srgbClr>
            </a:outerShdw>
          </a:effectLst>
        </p:spPr>
        <p:txBody>
          <a:bodyPr/>
          <a:lstStyle/>
          <a:p>
            <a:endParaRPr lang="en-US" sz="2160"/>
          </a:p>
        </p:txBody>
      </p:sp>
      <p:sp>
        <p:nvSpPr>
          <p:cNvPr id="29" name="Text 21"/>
          <p:cNvSpPr/>
          <p:nvPr/>
        </p:nvSpPr>
        <p:spPr>
          <a:xfrm>
            <a:off x="6270955" y="4312310"/>
            <a:ext cx="2084832" cy="932688"/>
          </a:xfrm>
          <a:prstGeom prst="rect">
            <a:avLst/>
          </a:prstGeom>
          <a:noFill/>
          <a:ln/>
        </p:spPr>
        <p:txBody>
          <a:bodyPr wrap="square" lIns="0" tIns="0" rIns="0" bIns="0" rtlCol="0" anchor="ctr"/>
          <a:lstStyle/>
          <a:p>
            <a:pPr algn="ctr">
              <a:lnSpc>
                <a:spcPct val="105000"/>
              </a:lnSpc>
            </a:pPr>
            <a:r>
              <a:rPr lang="en-US" b="1" dirty="0">
                <a:solidFill>
                  <a:srgbClr val="FFFFFF"/>
                </a:solidFill>
                <a:latin typeface="Arial" pitchFamily="34" charset="0"/>
                <a:ea typeface="Arial" pitchFamily="34" charset="-122"/>
                <a:cs typeface="Arial" pitchFamily="34" charset="-120"/>
              </a:rPr>
              <a:t>STRATEGIC</a:t>
            </a:r>
            <a:endParaRPr lang="en-US" dirty="0"/>
          </a:p>
          <a:p>
            <a:pPr algn="ctr">
              <a:lnSpc>
                <a:spcPct val="105000"/>
              </a:lnSpc>
            </a:pPr>
            <a:r>
              <a:rPr lang="en-US" b="1" dirty="0">
                <a:solidFill>
                  <a:srgbClr val="FFFFFF"/>
                </a:solidFill>
                <a:latin typeface="Arial" pitchFamily="34" charset="0"/>
                <a:ea typeface="Arial" pitchFamily="34" charset="-122"/>
                <a:cs typeface="Arial" pitchFamily="34" charset="-120"/>
              </a:rPr>
              <a:t>FIT</a:t>
            </a:r>
            <a:endParaRPr lang="en-US" dirty="0"/>
          </a:p>
        </p:txBody>
      </p:sp>
      <p:sp>
        <p:nvSpPr>
          <p:cNvPr id="30" name="Shape 22"/>
          <p:cNvSpPr/>
          <p:nvPr/>
        </p:nvSpPr>
        <p:spPr>
          <a:xfrm>
            <a:off x="11356848" y="1810512"/>
            <a:ext cx="2798064" cy="5321808"/>
          </a:xfrm>
          <a:prstGeom prst="roundRect">
            <a:avLst>
              <a:gd name="adj" fmla="val 3137"/>
            </a:avLst>
          </a:prstGeom>
          <a:solidFill>
            <a:srgbClr val="EAF1FC"/>
          </a:solidFill>
          <a:ln/>
        </p:spPr>
        <p:txBody>
          <a:bodyPr/>
          <a:lstStyle/>
          <a:p>
            <a:endParaRPr lang="en-US" sz="2160"/>
          </a:p>
        </p:txBody>
      </p:sp>
      <p:sp>
        <p:nvSpPr>
          <p:cNvPr id="31" name="Text 23"/>
          <p:cNvSpPr/>
          <p:nvPr/>
        </p:nvSpPr>
        <p:spPr>
          <a:xfrm>
            <a:off x="11631168" y="2029968"/>
            <a:ext cx="2304288" cy="384048"/>
          </a:xfrm>
          <a:prstGeom prst="rect">
            <a:avLst/>
          </a:prstGeom>
          <a:noFill/>
          <a:ln/>
        </p:spPr>
        <p:txBody>
          <a:bodyPr wrap="square" lIns="0" tIns="0" rIns="0" bIns="0" rtlCol="0" anchor="ctr"/>
          <a:lstStyle/>
          <a:p>
            <a:r>
              <a:rPr lang="en-US" sz="1500" b="1" dirty="0">
                <a:solidFill>
                  <a:srgbClr val="1A3868"/>
                </a:solidFill>
                <a:latin typeface="Arial" pitchFamily="34" charset="0"/>
                <a:ea typeface="Arial" pitchFamily="34" charset="-122"/>
                <a:cs typeface="Arial" pitchFamily="34" charset="-120"/>
              </a:rPr>
              <a:t>Reading the model</a:t>
            </a:r>
            <a:endParaRPr lang="en-US" sz="1500" dirty="0"/>
          </a:p>
        </p:txBody>
      </p:sp>
      <p:sp>
        <p:nvSpPr>
          <p:cNvPr id="32" name="Text 24"/>
          <p:cNvSpPr/>
          <p:nvPr/>
        </p:nvSpPr>
        <p:spPr>
          <a:xfrm>
            <a:off x="11631168" y="2468880"/>
            <a:ext cx="2304288" cy="4498848"/>
          </a:xfrm>
          <a:prstGeom prst="rect">
            <a:avLst/>
          </a:prstGeom>
          <a:noFill/>
          <a:ln/>
        </p:spPr>
        <p:txBody>
          <a:bodyPr wrap="square" lIns="0" tIns="0" rIns="0" bIns="0" rtlCol="0" anchor="ctr"/>
          <a:lstStyle/>
          <a:p>
            <a:pPr>
              <a:lnSpc>
                <a:spcPct val="125000"/>
              </a:lnSpc>
            </a:pPr>
            <a:r>
              <a:rPr lang="en-US" sz="1320" dirty="0">
                <a:solidFill>
                  <a:srgbClr val="1F2937"/>
                </a:solidFill>
                <a:latin typeface="Arial" pitchFamily="34" charset="0"/>
                <a:ea typeface="Arial" pitchFamily="34" charset="-122"/>
                <a:cs typeface="Arial" pitchFamily="34" charset="-120"/>
              </a:rPr>
              <a:t>Each driver can be tuned toward </a:t>
            </a:r>
            <a:r>
              <a:rPr lang="en-US" sz="1320" b="1" dirty="0">
                <a:solidFill>
                  <a:srgbClr val="1A3868"/>
                </a:solidFill>
                <a:latin typeface="Arial" pitchFamily="34" charset="0"/>
                <a:ea typeface="Arial" pitchFamily="34" charset="-122"/>
                <a:cs typeface="Arial" pitchFamily="34" charset="-120"/>
              </a:rPr>
              <a:t>efficiency</a:t>
            </a:r>
            <a:r>
              <a:rPr lang="en-US" sz="1320" dirty="0">
                <a:solidFill>
                  <a:srgbClr val="1F2937"/>
                </a:solidFill>
                <a:latin typeface="Arial" pitchFamily="34" charset="0"/>
                <a:ea typeface="Arial" pitchFamily="34" charset="-122"/>
                <a:cs typeface="Arial" pitchFamily="34" charset="-120"/>
              </a:rPr>
              <a:t> (low cost) or </a:t>
            </a:r>
            <a:r>
              <a:rPr lang="en-US" sz="1320" b="1" dirty="0">
                <a:solidFill>
                  <a:srgbClr val="C9760F"/>
                </a:solidFill>
                <a:latin typeface="Arial" pitchFamily="34" charset="0"/>
                <a:ea typeface="Arial" pitchFamily="34" charset="-122"/>
                <a:cs typeface="Arial" pitchFamily="34" charset="-120"/>
              </a:rPr>
              <a:t>responsiveness</a:t>
            </a:r>
            <a:r>
              <a:rPr lang="en-US" sz="1320" dirty="0">
                <a:solidFill>
                  <a:srgbClr val="1F2937"/>
                </a:solidFill>
                <a:latin typeface="Arial" pitchFamily="34" charset="0"/>
                <a:ea typeface="Arial" pitchFamily="34" charset="-122"/>
                <a:cs typeface="Arial" pitchFamily="34" charset="-120"/>
              </a:rPr>
              <a:t> (speed, flexibility).</a:t>
            </a:r>
            <a:endParaRPr lang="en-US" sz="1320" dirty="0"/>
          </a:p>
          <a:p>
            <a:pPr>
              <a:lnSpc>
                <a:spcPct val="125000"/>
              </a:lnSpc>
            </a:pPr>
            <a:endParaRPr lang="en-US" sz="1320" dirty="0"/>
          </a:p>
          <a:p>
            <a:pPr>
              <a:lnSpc>
                <a:spcPct val="125000"/>
              </a:lnSpc>
            </a:pPr>
            <a:r>
              <a:rPr lang="en-US" sz="1320" dirty="0">
                <a:solidFill>
                  <a:srgbClr val="1F2937"/>
                </a:solidFill>
                <a:latin typeface="Arial" pitchFamily="34" charset="0"/>
                <a:ea typeface="Arial" pitchFamily="34" charset="-122"/>
                <a:cs typeface="Arial" pitchFamily="34" charset="-120"/>
              </a:rPr>
              <a:t>The combined setting of all six drivers determines a supply chain's overall position on the efficiency-responsiveness spectrum, and hence its strategic fit with business goals.</a:t>
            </a:r>
            <a:endParaRPr lang="en-US" sz="1320" dirty="0"/>
          </a:p>
        </p:txBody>
      </p:sp>
      <p:sp>
        <p:nvSpPr>
          <p:cNvPr id="33" name="Text 25"/>
          <p:cNvSpPr/>
          <p:nvPr/>
        </p:nvSpPr>
        <p:spPr>
          <a:xfrm>
            <a:off x="548640" y="7812634"/>
            <a:ext cx="8778240" cy="329184"/>
          </a:xfrm>
          <a:prstGeom prst="rect">
            <a:avLst/>
          </a:prstGeom>
          <a:noFill/>
          <a:ln/>
        </p:spPr>
        <p:txBody>
          <a:bodyPr wrap="square" lIns="0" tIns="0" rIns="0" bIns="0" rtlCol="0" anchor="ctr"/>
          <a:lstStyle/>
          <a:p>
            <a:r>
              <a:rPr lang="en-US" sz="1200" dirty="0">
                <a:solidFill>
                  <a:srgbClr val="5B6B82"/>
                </a:solidFill>
                <a:latin typeface="Arial" pitchFamily="34" charset="0"/>
                <a:ea typeface="Arial" pitchFamily="34" charset="-122"/>
                <a:cs typeface="Arial" pitchFamily="34" charset="-120"/>
              </a:rPr>
              <a:t>Supply Chain Management</a:t>
            </a:r>
            <a:endParaRPr lang="en-US" sz="1200" dirty="0"/>
          </a:p>
        </p:txBody>
      </p:sp>
      <p:sp>
        <p:nvSpPr>
          <p:cNvPr id="34" name="Text 26"/>
          <p:cNvSpPr/>
          <p:nvPr/>
        </p:nvSpPr>
        <p:spPr>
          <a:xfrm>
            <a:off x="13529462" y="7812634"/>
            <a:ext cx="548640" cy="329184"/>
          </a:xfrm>
          <a:prstGeom prst="rect">
            <a:avLst/>
          </a:prstGeom>
          <a:noFill/>
          <a:ln/>
        </p:spPr>
        <p:txBody>
          <a:bodyPr wrap="square" lIns="0" tIns="0" rIns="0" bIns="0" rtlCol="0" anchor="ctr"/>
          <a:lstStyle/>
          <a:p>
            <a:pPr algn="r"/>
            <a:r>
              <a:rPr lang="en-US" sz="1200" dirty="0">
                <a:solidFill>
                  <a:srgbClr val="5B6B82"/>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384048"/>
            <a:ext cx="10972800" cy="329184"/>
          </a:xfrm>
          <a:prstGeom prst="rect">
            <a:avLst/>
          </a:prstGeom>
          <a:noFill/>
          <a:ln/>
        </p:spPr>
        <p:txBody>
          <a:bodyPr wrap="square" lIns="0" tIns="0" rIns="0" bIns="0" rtlCol="0" anchor="ctr"/>
          <a:lstStyle/>
          <a:p>
            <a:r>
              <a:rPr lang="en-US" sz="1440" b="1" kern="0" spc="240" dirty="0">
                <a:solidFill>
                  <a:srgbClr val="C9760F"/>
                </a:solidFill>
                <a:latin typeface="Arial" pitchFamily="34" charset="0"/>
                <a:ea typeface="Arial" pitchFamily="34" charset="-122"/>
                <a:cs typeface="Arial" pitchFamily="34" charset="-120"/>
              </a:rPr>
              <a:t>THEORY</a:t>
            </a:r>
            <a:endParaRPr lang="en-US" sz="1440" dirty="0"/>
          </a:p>
        </p:txBody>
      </p:sp>
      <p:sp>
        <p:nvSpPr>
          <p:cNvPr id="3" name="Text 1"/>
          <p:cNvSpPr/>
          <p:nvPr/>
        </p:nvSpPr>
        <p:spPr>
          <a:xfrm>
            <a:off x="658368" y="680314"/>
            <a:ext cx="13277088" cy="822960"/>
          </a:xfrm>
          <a:prstGeom prst="rect">
            <a:avLst/>
          </a:prstGeom>
          <a:noFill/>
          <a:ln/>
        </p:spPr>
        <p:txBody>
          <a:bodyPr wrap="square" lIns="0" tIns="0" rIns="0" bIns="0" rtlCol="0" anchor="ctr"/>
          <a:lstStyle/>
          <a:p>
            <a:r>
              <a:rPr lang="en-US" sz="3600" b="1" dirty="0">
                <a:solidFill>
                  <a:srgbClr val="1A3868"/>
                </a:solidFill>
                <a:latin typeface="Arial" pitchFamily="34" charset="0"/>
                <a:ea typeface="Arial" pitchFamily="34" charset="-122"/>
                <a:cs typeface="Arial" pitchFamily="34" charset="-120"/>
              </a:rPr>
              <a:t>Each Driver Has an Efficiency–Responsiveness Trade-off</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3014080814"/>
              </p:ext>
            </p:extLst>
          </p:nvPr>
        </p:nvGraphicFramePr>
        <p:xfrm>
          <a:off x="658368" y="1755648"/>
          <a:ext cx="13277088" cy="5530294"/>
        </p:xfrm>
        <a:graphic>
          <a:graphicData uri="http://schemas.openxmlformats.org/drawingml/2006/table">
            <a:tbl>
              <a:tblPr/>
              <a:tblGrid>
                <a:gridCol w="2304288">
                  <a:extLst>
                    <a:ext uri="{9D8B030D-6E8A-4147-A177-3AD203B41FA5}">
                      <a16:colId xmlns:a16="http://schemas.microsoft.com/office/drawing/2014/main" val="20000"/>
                    </a:ext>
                  </a:extLst>
                </a:gridCol>
                <a:gridCol w="5321808">
                  <a:extLst>
                    <a:ext uri="{9D8B030D-6E8A-4147-A177-3AD203B41FA5}">
                      <a16:colId xmlns:a16="http://schemas.microsoft.com/office/drawing/2014/main" val="20001"/>
                    </a:ext>
                  </a:extLst>
                </a:gridCol>
                <a:gridCol w="5650992">
                  <a:extLst>
                    <a:ext uri="{9D8B030D-6E8A-4147-A177-3AD203B41FA5}">
                      <a16:colId xmlns:a16="http://schemas.microsoft.com/office/drawing/2014/main" val="20002"/>
                    </a:ext>
                  </a:extLst>
                </a:gridCol>
              </a:tblGrid>
              <a:tr h="790042">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Driver</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1A3868"/>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Efficiency Focus (Low Cost)</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1A3868"/>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Responsiveness Focus (Speed/Flexibility)</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1A3868"/>
                    </a:solidFill>
                  </a:tcPr>
                </a:tc>
                <a:extLst>
                  <a:ext uri="{0D108BD9-81ED-4DB2-BD59-A6C34878D82A}">
                    <a16:rowId xmlns:a16="http://schemas.microsoft.com/office/drawing/2014/main" val="10000"/>
                  </a:ext>
                </a:extLst>
              </a:tr>
              <a:tr h="790042">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Facilities</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F2937"/>
                          </a:solidFill>
                          <a:latin typeface="Arial" pitchFamily="34" charset="0"/>
                          <a:ea typeface="Arial" pitchFamily="34" charset="-122"/>
                          <a:cs typeface="Arial" pitchFamily="34" charset="-120"/>
                        </a:rPr>
                        <a:t>Few large, centralized plants/warehouses for economies of scale</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F2937"/>
                          </a:solidFill>
                          <a:latin typeface="Arial" pitchFamily="34" charset="0"/>
                          <a:ea typeface="Arial" pitchFamily="34" charset="-122"/>
                          <a:cs typeface="Arial" pitchFamily="34" charset="-120"/>
                        </a:rPr>
                        <a:t>Many smaller, local facilities close to customers</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0042">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Inventory</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600" dirty="0">
                          <a:solidFill>
                            <a:srgbClr val="1F2937"/>
                          </a:solidFill>
                          <a:latin typeface="Arial" pitchFamily="34" charset="0"/>
                          <a:ea typeface="Arial" pitchFamily="34" charset="-122"/>
                          <a:cs typeface="Arial" pitchFamily="34" charset="-120"/>
                        </a:rPr>
                        <a:t>Low inventory levels held across the chain</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600" dirty="0">
                          <a:solidFill>
                            <a:srgbClr val="1F2937"/>
                          </a:solidFill>
                          <a:latin typeface="Arial" pitchFamily="34" charset="0"/>
                          <a:ea typeface="Arial" pitchFamily="34" charset="-122"/>
                          <a:cs typeface="Arial" pitchFamily="34" charset="-120"/>
                        </a:rPr>
                        <a:t>High inventory / buffer stock to absorb demand swings</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extLst>
                  <a:ext uri="{0D108BD9-81ED-4DB2-BD59-A6C34878D82A}">
                    <a16:rowId xmlns:a16="http://schemas.microsoft.com/office/drawing/2014/main" val="10002"/>
                  </a:ext>
                </a:extLst>
              </a:tr>
              <a:tr h="790042">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Transportation</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F2937"/>
                          </a:solidFill>
                          <a:latin typeface="Arial" pitchFamily="34" charset="0"/>
                          <a:ea typeface="Arial" pitchFamily="34" charset="-122"/>
                          <a:cs typeface="Arial" pitchFamily="34" charset="-120"/>
                        </a:rPr>
                        <a:t>Low-cost modes: rail, sea, full-truckload (FTL)</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F2937"/>
                          </a:solidFill>
                          <a:latin typeface="Arial" pitchFamily="34" charset="0"/>
                          <a:ea typeface="Arial" pitchFamily="34" charset="-122"/>
                          <a:cs typeface="Arial" pitchFamily="34" charset="-120"/>
                        </a:rPr>
                        <a:t>Fast modes: air freight, less-than-truckload (LTL), premium courier</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90042">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Information</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600" dirty="0">
                          <a:solidFill>
                            <a:srgbClr val="1F2937"/>
                          </a:solidFill>
                          <a:latin typeface="Arial" pitchFamily="34" charset="0"/>
                          <a:ea typeface="Arial" pitchFamily="34" charset="-122"/>
                          <a:cs typeface="Arial" pitchFamily="34" charset="-120"/>
                        </a:rPr>
                        <a:t>Lower investment in information sharing systems</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600" dirty="0">
                          <a:solidFill>
                            <a:srgbClr val="1F2937"/>
                          </a:solidFill>
                          <a:latin typeface="Arial" pitchFamily="34" charset="0"/>
                          <a:ea typeface="Arial" pitchFamily="34" charset="-122"/>
                          <a:cs typeface="Arial" pitchFamily="34" charset="-120"/>
                        </a:rPr>
                        <a:t>High investment in real-time data, visibility &amp; analytics</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extLst>
                  <a:ext uri="{0D108BD9-81ED-4DB2-BD59-A6C34878D82A}">
                    <a16:rowId xmlns:a16="http://schemas.microsoft.com/office/drawing/2014/main" val="10004"/>
                  </a:ext>
                </a:extLst>
              </a:tr>
              <a:tr h="790042">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Sourcing</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F2937"/>
                          </a:solidFill>
                          <a:latin typeface="Arial" pitchFamily="34" charset="0"/>
                          <a:ea typeface="Arial" pitchFamily="34" charset="-122"/>
                          <a:cs typeface="Arial" pitchFamily="34" charset="-120"/>
                        </a:rPr>
                        <a:t>Select suppliers mainly for low cost</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F2937"/>
                          </a:solidFill>
                          <a:latin typeface="Arial" pitchFamily="34" charset="0"/>
                          <a:ea typeface="Arial" pitchFamily="34" charset="-122"/>
                          <a:cs typeface="Arial" pitchFamily="34" charset="-120"/>
                        </a:rPr>
                        <a:t>Select suppliers mainly for speed, flexibility, reliability</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90042">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Pricing</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600" dirty="0">
                          <a:solidFill>
                            <a:srgbClr val="1F2937"/>
                          </a:solidFill>
                          <a:latin typeface="Arial" pitchFamily="34" charset="0"/>
                          <a:ea typeface="Arial" pitchFamily="34" charset="-122"/>
                          <a:cs typeface="Arial" pitchFamily="34" charset="-120"/>
                        </a:rPr>
                        <a:t>Stable, low pricing to encourage predictable demand</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600" dirty="0">
                          <a:solidFill>
                            <a:srgbClr val="1F2937"/>
                          </a:solidFill>
                          <a:latin typeface="Arial" pitchFamily="34" charset="0"/>
                          <a:ea typeface="Arial" pitchFamily="34" charset="-122"/>
                          <a:cs typeface="Arial" pitchFamily="34" charset="-120"/>
                        </a:rPr>
                        <a:t>Dynamic pricing to manage/shape variable demand</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extLst>
                  <a:ext uri="{0D108BD9-81ED-4DB2-BD59-A6C34878D82A}">
                    <a16:rowId xmlns:a16="http://schemas.microsoft.com/office/drawing/2014/main" val="10006"/>
                  </a:ext>
                </a:extLst>
              </a:tr>
            </a:tbl>
          </a:graphicData>
        </a:graphic>
      </p:graphicFrame>
      <p:sp>
        <p:nvSpPr>
          <p:cNvPr id="5" name="Text 2"/>
          <p:cNvSpPr/>
          <p:nvPr/>
        </p:nvSpPr>
        <p:spPr>
          <a:xfrm>
            <a:off x="548640" y="7812634"/>
            <a:ext cx="8778240" cy="329184"/>
          </a:xfrm>
          <a:prstGeom prst="rect">
            <a:avLst/>
          </a:prstGeom>
          <a:noFill/>
          <a:ln/>
        </p:spPr>
        <p:txBody>
          <a:bodyPr wrap="square" lIns="0" tIns="0" rIns="0" bIns="0" rtlCol="0" anchor="ctr"/>
          <a:lstStyle/>
          <a:p>
            <a:r>
              <a:rPr lang="en-US" sz="1200" dirty="0">
                <a:solidFill>
                  <a:srgbClr val="5B6B82"/>
                </a:solidFill>
                <a:latin typeface="Arial" pitchFamily="34" charset="0"/>
                <a:ea typeface="Arial" pitchFamily="34" charset="-122"/>
                <a:cs typeface="Arial" pitchFamily="34" charset="-120"/>
              </a:rPr>
              <a:t>Supply Chain Management</a:t>
            </a:r>
            <a:endParaRPr lang="en-US" sz="1200" dirty="0"/>
          </a:p>
        </p:txBody>
      </p:sp>
      <p:sp>
        <p:nvSpPr>
          <p:cNvPr id="6" name="Text 3"/>
          <p:cNvSpPr/>
          <p:nvPr/>
        </p:nvSpPr>
        <p:spPr>
          <a:xfrm>
            <a:off x="13529462" y="7812634"/>
            <a:ext cx="548640" cy="329184"/>
          </a:xfrm>
          <a:prstGeom prst="rect">
            <a:avLst/>
          </a:prstGeom>
          <a:noFill/>
          <a:ln/>
        </p:spPr>
        <p:txBody>
          <a:bodyPr wrap="square" lIns="0" tIns="0" rIns="0" bIns="0" rtlCol="0" anchor="ctr"/>
          <a:lstStyle/>
          <a:p>
            <a:pPr algn="r"/>
            <a:r>
              <a:rPr lang="en-US" sz="1200" dirty="0">
                <a:solidFill>
                  <a:srgbClr val="5B6B82"/>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384048"/>
            <a:ext cx="10972800" cy="329184"/>
          </a:xfrm>
          <a:prstGeom prst="rect">
            <a:avLst/>
          </a:prstGeom>
          <a:noFill/>
          <a:ln/>
        </p:spPr>
        <p:txBody>
          <a:bodyPr wrap="square" lIns="0" tIns="0" rIns="0" bIns="0" rtlCol="0" anchor="ctr"/>
          <a:lstStyle/>
          <a:p>
            <a:r>
              <a:rPr lang="en-US" sz="1440" b="1" kern="0" spc="240" dirty="0">
                <a:solidFill>
                  <a:srgbClr val="C9760F"/>
                </a:solidFill>
                <a:latin typeface="Arial" pitchFamily="34" charset="0"/>
                <a:ea typeface="Arial" pitchFamily="34" charset="-122"/>
                <a:cs typeface="Arial" pitchFamily="34" charset="-120"/>
              </a:rPr>
              <a:t>NUMERICAL METRICS</a:t>
            </a:r>
            <a:endParaRPr lang="en-US" sz="1440" dirty="0"/>
          </a:p>
        </p:txBody>
      </p:sp>
      <p:sp>
        <p:nvSpPr>
          <p:cNvPr id="3" name="Text 1"/>
          <p:cNvSpPr/>
          <p:nvPr/>
        </p:nvSpPr>
        <p:spPr>
          <a:xfrm>
            <a:off x="658368" y="680314"/>
            <a:ext cx="13277088" cy="822960"/>
          </a:xfrm>
          <a:prstGeom prst="rect">
            <a:avLst/>
          </a:prstGeom>
          <a:noFill/>
          <a:ln/>
        </p:spPr>
        <p:txBody>
          <a:bodyPr wrap="square" lIns="0" tIns="0" rIns="0" bIns="0" rtlCol="0" anchor="ctr"/>
          <a:lstStyle/>
          <a:p>
            <a:r>
              <a:rPr lang="en-US" sz="3600" b="1" dirty="0">
                <a:solidFill>
                  <a:srgbClr val="1A3868"/>
                </a:solidFill>
                <a:latin typeface="Arial" pitchFamily="34" charset="0"/>
                <a:ea typeface="Arial" pitchFamily="34" charset="-122"/>
                <a:cs typeface="Arial" pitchFamily="34" charset="-120"/>
              </a:rPr>
              <a:t>10 Key Supply Chain Metrics — Part I</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2032251512"/>
              </p:ext>
            </p:extLst>
          </p:nvPr>
        </p:nvGraphicFramePr>
        <p:xfrm>
          <a:off x="658368" y="1810512"/>
          <a:ext cx="13277088" cy="4345230"/>
        </p:xfrm>
        <a:graphic>
          <a:graphicData uri="http://schemas.openxmlformats.org/drawingml/2006/table">
            <a:tbl>
              <a:tblPr/>
              <a:tblGrid>
                <a:gridCol w="603504">
                  <a:extLst>
                    <a:ext uri="{9D8B030D-6E8A-4147-A177-3AD203B41FA5}">
                      <a16:colId xmlns:a16="http://schemas.microsoft.com/office/drawing/2014/main" val="20000"/>
                    </a:ext>
                  </a:extLst>
                </a:gridCol>
                <a:gridCol w="2798064">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5486400">
                  <a:extLst>
                    <a:ext uri="{9D8B030D-6E8A-4147-A177-3AD203B41FA5}">
                      <a16:colId xmlns:a16="http://schemas.microsoft.com/office/drawing/2014/main" val="20003"/>
                    </a:ext>
                  </a:extLst>
                </a:gridCol>
              </a:tblGrid>
              <a:tr h="724205">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1A3868"/>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Metric</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1A3868"/>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Formula</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1A3868"/>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What It Shows</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1A3868"/>
                    </a:solidFill>
                  </a:tcPr>
                </a:tc>
                <a:extLst>
                  <a:ext uri="{0D108BD9-81ED-4DB2-BD59-A6C34878D82A}">
                    <a16:rowId xmlns:a16="http://schemas.microsoft.com/office/drawing/2014/main" val="10000"/>
                  </a:ext>
                </a:extLst>
              </a:tr>
              <a:tr h="724205">
                <a:tc>
                  <a:txBody>
                    <a:bodyPr/>
                    <a:lstStyle/>
                    <a:p>
                      <a:pPr marL="0" indent="0" algn="ctr">
                        <a:buNone/>
                      </a:pPr>
                      <a:r>
                        <a:rPr lang="en-US" sz="1800" b="1" dirty="0">
                          <a:solidFill>
                            <a:srgbClr val="C9760F"/>
                          </a:solidFill>
                          <a:latin typeface="Arial" pitchFamily="34" charset="0"/>
                          <a:ea typeface="Arial" pitchFamily="34" charset="-122"/>
                          <a:cs typeface="Arial" pitchFamily="34" charset="-120"/>
                        </a:rPr>
                        <a:t>1</a:t>
                      </a:r>
                      <a:endParaRPr lang="en-US" sz="18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Inventory Turnover Ratio</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i="1" dirty="0">
                          <a:solidFill>
                            <a:srgbClr val="1F2937"/>
                          </a:solidFill>
                          <a:latin typeface="Arial" pitchFamily="34" charset="0"/>
                          <a:ea typeface="Arial" pitchFamily="34" charset="-122"/>
                          <a:cs typeface="Arial" pitchFamily="34" charset="-120"/>
                        </a:rPr>
                        <a:t>COGS ÷ Average Inventory Value</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How many times inventory is sold and replaced in a period; higher = more efficient inventory use.</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4205">
                <a:tc>
                  <a:txBody>
                    <a:bodyPr/>
                    <a:lstStyle/>
                    <a:p>
                      <a:pPr marL="0" indent="0" algn="ctr">
                        <a:buNone/>
                      </a:pPr>
                      <a:r>
                        <a:rPr lang="en-US" sz="1800" b="1" dirty="0">
                          <a:solidFill>
                            <a:srgbClr val="C9760F"/>
                          </a:solidFill>
                          <a:latin typeface="Arial" pitchFamily="34" charset="0"/>
                          <a:ea typeface="Arial" pitchFamily="34" charset="-122"/>
                          <a:cs typeface="Arial" pitchFamily="34" charset="-120"/>
                        </a:rPr>
                        <a:t>2</a:t>
                      </a:r>
                      <a:endParaRPr lang="en-US" sz="18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Order Fill Rate</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i="1" dirty="0">
                          <a:solidFill>
                            <a:srgbClr val="1F2937"/>
                          </a:solidFill>
                          <a:latin typeface="Arial" pitchFamily="34" charset="0"/>
                          <a:ea typeface="Arial" pitchFamily="34" charset="-122"/>
                          <a:cs typeface="Arial" pitchFamily="34" charset="-120"/>
                        </a:rPr>
                        <a:t>(Orders Fully Shipped ÷ Total Orders) × 100</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Percentage of customer orders fulfilled completely from available stock, first time.</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extLst>
                  <a:ext uri="{0D108BD9-81ED-4DB2-BD59-A6C34878D82A}">
                    <a16:rowId xmlns:a16="http://schemas.microsoft.com/office/drawing/2014/main" val="10002"/>
                  </a:ext>
                </a:extLst>
              </a:tr>
              <a:tr h="724205">
                <a:tc>
                  <a:txBody>
                    <a:bodyPr/>
                    <a:lstStyle/>
                    <a:p>
                      <a:pPr marL="0" indent="0" algn="ctr">
                        <a:buNone/>
                      </a:pPr>
                      <a:r>
                        <a:rPr lang="en-US" sz="1800" b="1" dirty="0">
                          <a:solidFill>
                            <a:srgbClr val="C9760F"/>
                          </a:solidFill>
                          <a:latin typeface="Arial" pitchFamily="34" charset="0"/>
                          <a:ea typeface="Arial" pitchFamily="34" charset="-122"/>
                          <a:cs typeface="Arial" pitchFamily="34" charset="-120"/>
                        </a:rPr>
                        <a:t>3</a:t>
                      </a:r>
                      <a:endParaRPr lang="en-US" sz="18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On-Time Delivery (OTD) %</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i="1" dirty="0">
                          <a:solidFill>
                            <a:srgbClr val="1F2937"/>
                          </a:solidFill>
                          <a:latin typeface="Arial" pitchFamily="34" charset="0"/>
                          <a:ea typeface="Arial" pitchFamily="34" charset="-122"/>
                          <a:cs typeface="Arial" pitchFamily="34" charset="-120"/>
                        </a:rPr>
                        <a:t>(On-Time Deliveries ÷ Total Deliveries) × 100</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Reliability of the transportation and fulfilment process against promised dates.</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4205">
                <a:tc>
                  <a:txBody>
                    <a:bodyPr/>
                    <a:lstStyle/>
                    <a:p>
                      <a:pPr marL="0" indent="0" algn="ctr">
                        <a:buNone/>
                      </a:pPr>
                      <a:r>
                        <a:rPr lang="en-US" sz="1800" b="1" dirty="0">
                          <a:solidFill>
                            <a:srgbClr val="C9760F"/>
                          </a:solidFill>
                          <a:latin typeface="Arial" pitchFamily="34" charset="0"/>
                          <a:ea typeface="Arial" pitchFamily="34" charset="-122"/>
                          <a:cs typeface="Arial" pitchFamily="34" charset="-120"/>
                        </a:rPr>
                        <a:t>4</a:t>
                      </a:r>
                      <a:endParaRPr lang="en-US" sz="18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Perfect Order Rate</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i="1" dirty="0">
                          <a:solidFill>
                            <a:srgbClr val="1F2937"/>
                          </a:solidFill>
                          <a:latin typeface="Arial" pitchFamily="34" charset="0"/>
                          <a:ea typeface="Arial" pitchFamily="34" charset="-122"/>
                          <a:cs typeface="Arial" pitchFamily="34" charset="-120"/>
                        </a:rPr>
                        <a:t>% On-time × % Complete × % Damage-free × % Accurate Docs</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Composite measure of flawless order execution across every dimension.</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extLst>
                  <a:ext uri="{0D108BD9-81ED-4DB2-BD59-A6C34878D82A}">
                    <a16:rowId xmlns:a16="http://schemas.microsoft.com/office/drawing/2014/main" val="10004"/>
                  </a:ext>
                </a:extLst>
              </a:tr>
              <a:tr h="724205">
                <a:tc>
                  <a:txBody>
                    <a:bodyPr/>
                    <a:lstStyle/>
                    <a:p>
                      <a:pPr marL="0" indent="0" algn="ctr">
                        <a:buNone/>
                      </a:pPr>
                      <a:r>
                        <a:rPr lang="en-US" sz="1800" b="1" dirty="0">
                          <a:solidFill>
                            <a:srgbClr val="C9760F"/>
                          </a:solidFill>
                          <a:latin typeface="Arial" pitchFamily="34" charset="0"/>
                          <a:ea typeface="Arial" pitchFamily="34" charset="-122"/>
                          <a:cs typeface="Arial" pitchFamily="34" charset="-120"/>
                        </a:rPr>
                        <a:t>5</a:t>
                      </a:r>
                      <a:endParaRPr lang="en-US" sz="18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Cash-to-Cash Cycle Time</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i="1" dirty="0">
                          <a:solidFill>
                            <a:srgbClr val="1F2937"/>
                          </a:solidFill>
                          <a:latin typeface="Arial" pitchFamily="34" charset="0"/>
                          <a:ea typeface="Arial" pitchFamily="34" charset="-122"/>
                          <a:cs typeface="Arial" pitchFamily="34" charset="-120"/>
                        </a:rPr>
                        <a:t>DIO + DSO − DPO (in days)</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Days between paying suppliers and collecting cash from customers; lower ties up less working capital.</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48640" y="7812634"/>
            <a:ext cx="8778240" cy="329184"/>
          </a:xfrm>
          <a:prstGeom prst="rect">
            <a:avLst/>
          </a:prstGeom>
          <a:noFill/>
          <a:ln/>
        </p:spPr>
        <p:txBody>
          <a:bodyPr wrap="square" lIns="0" tIns="0" rIns="0" bIns="0" rtlCol="0" anchor="ctr"/>
          <a:lstStyle/>
          <a:p>
            <a:r>
              <a:rPr lang="en-US" sz="1200" dirty="0">
                <a:solidFill>
                  <a:srgbClr val="5B6B82"/>
                </a:solidFill>
                <a:latin typeface="Arial" pitchFamily="34" charset="0"/>
                <a:ea typeface="Arial" pitchFamily="34" charset="-122"/>
                <a:cs typeface="Arial" pitchFamily="34" charset="-120"/>
              </a:rPr>
              <a:t>Supply Chain Management</a:t>
            </a:r>
            <a:endParaRPr lang="en-US" sz="1200" dirty="0"/>
          </a:p>
        </p:txBody>
      </p:sp>
      <p:sp>
        <p:nvSpPr>
          <p:cNvPr id="6" name="Text 3"/>
          <p:cNvSpPr/>
          <p:nvPr/>
        </p:nvSpPr>
        <p:spPr>
          <a:xfrm>
            <a:off x="13529462" y="7812634"/>
            <a:ext cx="548640" cy="329184"/>
          </a:xfrm>
          <a:prstGeom prst="rect">
            <a:avLst/>
          </a:prstGeom>
          <a:noFill/>
          <a:ln/>
        </p:spPr>
        <p:txBody>
          <a:bodyPr wrap="square" lIns="0" tIns="0" rIns="0" bIns="0" rtlCol="0" anchor="ctr"/>
          <a:lstStyle/>
          <a:p>
            <a:pPr algn="r"/>
            <a:r>
              <a:rPr lang="en-US" sz="1200" dirty="0">
                <a:solidFill>
                  <a:srgbClr val="5B6B82"/>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384048"/>
            <a:ext cx="10972800" cy="329184"/>
          </a:xfrm>
          <a:prstGeom prst="rect">
            <a:avLst/>
          </a:prstGeom>
          <a:noFill/>
          <a:ln/>
        </p:spPr>
        <p:txBody>
          <a:bodyPr wrap="square" lIns="0" tIns="0" rIns="0" bIns="0" rtlCol="0" anchor="ctr"/>
          <a:lstStyle/>
          <a:p>
            <a:r>
              <a:rPr lang="en-US" sz="1440" b="1" kern="0" spc="240" dirty="0">
                <a:solidFill>
                  <a:srgbClr val="C9760F"/>
                </a:solidFill>
                <a:latin typeface="Arial" pitchFamily="34" charset="0"/>
                <a:ea typeface="Arial" pitchFamily="34" charset="-122"/>
                <a:cs typeface="Arial" pitchFamily="34" charset="-120"/>
              </a:rPr>
              <a:t>NUMERICAL METRICS</a:t>
            </a:r>
            <a:endParaRPr lang="en-US" sz="1440" dirty="0"/>
          </a:p>
        </p:txBody>
      </p:sp>
      <p:sp>
        <p:nvSpPr>
          <p:cNvPr id="3" name="Text 1"/>
          <p:cNvSpPr/>
          <p:nvPr/>
        </p:nvSpPr>
        <p:spPr>
          <a:xfrm>
            <a:off x="658368" y="680314"/>
            <a:ext cx="13277088" cy="822960"/>
          </a:xfrm>
          <a:prstGeom prst="rect">
            <a:avLst/>
          </a:prstGeom>
          <a:noFill/>
          <a:ln/>
        </p:spPr>
        <p:txBody>
          <a:bodyPr wrap="square" lIns="0" tIns="0" rIns="0" bIns="0" rtlCol="0" anchor="ctr"/>
          <a:lstStyle/>
          <a:p>
            <a:r>
              <a:rPr lang="en-US" sz="3600" b="1" dirty="0">
                <a:solidFill>
                  <a:srgbClr val="1A3868"/>
                </a:solidFill>
                <a:latin typeface="Arial" pitchFamily="34" charset="0"/>
                <a:ea typeface="Arial" pitchFamily="34" charset="-122"/>
                <a:cs typeface="Arial" pitchFamily="34" charset="-120"/>
              </a:rPr>
              <a:t>10 Key Supply Chain Metrics — Part II</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2530301641"/>
              </p:ext>
            </p:extLst>
          </p:nvPr>
        </p:nvGraphicFramePr>
        <p:xfrm>
          <a:off x="658368" y="1810512"/>
          <a:ext cx="13277088" cy="3840480"/>
        </p:xfrm>
        <a:graphic>
          <a:graphicData uri="http://schemas.openxmlformats.org/drawingml/2006/table">
            <a:tbl>
              <a:tblPr/>
              <a:tblGrid>
                <a:gridCol w="603504">
                  <a:extLst>
                    <a:ext uri="{9D8B030D-6E8A-4147-A177-3AD203B41FA5}">
                      <a16:colId xmlns:a16="http://schemas.microsoft.com/office/drawing/2014/main" val="20000"/>
                    </a:ext>
                  </a:extLst>
                </a:gridCol>
                <a:gridCol w="2798064">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5486400">
                  <a:extLst>
                    <a:ext uri="{9D8B030D-6E8A-4147-A177-3AD203B41FA5}">
                      <a16:colId xmlns:a16="http://schemas.microsoft.com/office/drawing/2014/main" val="20003"/>
                    </a:ext>
                  </a:extLst>
                </a:gridCol>
              </a:tblGrid>
              <a:tr h="640080">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1A3868"/>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Metric</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1A3868"/>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Formula</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1A3868"/>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What It Shows</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1A3868"/>
                    </a:solidFill>
                  </a:tcPr>
                </a:tc>
                <a:extLst>
                  <a:ext uri="{0D108BD9-81ED-4DB2-BD59-A6C34878D82A}">
                    <a16:rowId xmlns:a16="http://schemas.microsoft.com/office/drawing/2014/main" val="10000"/>
                  </a:ext>
                </a:extLst>
              </a:tr>
              <a:tr h="640080">
                <a:tc>
                  <a:txBody>
                    <a:bodyPr/>
                    <a:lstStyle/>
                    <a:p>
                      <a:pPr marL="0" indent="0" algn="ctr">
                        <a:buNone/>
                      </a:pPr>
                      <a:r>
                        <a:rPr lang="en-US" sz="1800" b="1" dirty="0">
                          <a:solidFill>
                            <a:srgbClr val="C9760F"/>
                          </a:solidFill>
                          <a:latin typeface="Arial" pitchFamily="34" charset="0"/>
                          <a:ea typeface="Arial" pitchFamily="34" charset="-122"/>
                          <a:cs typeface="Arial" pitchFamily="34" charset="-120"/>
                        </a:rPr>
                        <a:t>6</a:t>
                      </a:r>
                      <a:endParaRPr lang="en-US" sz="18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Transportation Cost % of Sales</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i="1" dirty="0">
                          <a:solidFill>
                            <a:srgbClr val="1F2937"/>
                          </a:solidFill>
                          <a:latin typeface="Arial" pitchFamily="34" charset="0"/>
                          <a:ea typeface="Arial" pitchFamily="34" charset="-122"/>
                          <a:cs typeface="Arial" pitchFamily="34" charset="-120"/>
                        </a:rPr>
                        <a:t>(Total Freight Cost ÷ Net Sales Revenue) × 100</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Share of revenue consumed by logistics/transport; tracks cost efficiency of distribution.</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ctr">
                        <a:buNone/>
                      </a:pPr>
                      <a:r>
                        <a:rPr lang="en-US" sz="1800" b="1" dirty="0">
                          <a:solidFill>
                            <a:srgbClr val="C9760F"/>
                          </a:solidFill>
                          <a:latin typeface="Arial" pitchFamily="34" charset="0"/>
                          <a:ea typeface="Arial" pitchFamily="34" charset="-122"/>
                          <a:cs typeface="Arial" pitchFamily="34" charset="-120"/>
                        </a:rPr>
                        <a:t>7</a:t>
                      </a:r>
                      <a:endParaRPr lang="en-US" sz="18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Warehouse Capacity Utilization</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i="1" dirty="0">
                          <a:solidFill>
                            <a:srgbClr val="1F2937"/>
                          </a:solidFill>
                          <a:latin typeface="Arial" pitchFamily="34" charset="0"/>
                          <a:ea typeface="Arial" pitchFamily="34" charset="-122"/>
                          <a:cs typeface="Arial" pitchFamily="34" charset="-120"/>
                        </a:rPr>
                        <a:t>(Space/Volume Used ÷ Total Available Capacity) × 100</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How intensively storage capacity is used; guides facility expansion or consolidation decisions.</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extLst>
                  <a:ext uri="{0D108BD9-81ED-4DB2-BD59-A6C34878D82A}">
                    <a16:rowId xmlns:a16="http://schemas.microsoft.com/office/drawing/2014/main" val="10002"/>
                  </a:ext>
                </a:extLst>
              </a:tr>
              <a:tr h="640080">
                <a:tc>
                  <a:txBody>
                    <a:bodyPr/>
                    <a:lstStyle/>
                    <a:p>
                      <a:pPr marL="0" indent="0" algn="ctr">
                        <a:buNone/>
                      </a:pPr>
                      <a:r>
                        <a:rPr lang="en-US" sz="1800" b="1" dirty="0">
                          <a:solidFill>
                            <a:srgbClr val="C9760F"/>
                          </a:solidFill>
                          <a:latin typeface="Arial" pitchFamily="34" charset="0"/>
                          <a:ea typeface="Arial" pitchFamily="34" charset="-122"/>
                          <a:cs typeface="Arial" pitchFamily="34" charset="-120"/>
                        </a:rPr>
                        <a:t>8</a:t>
                      </a:r>
                      <a:endParaRPr lang="en-US" sz="18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Forecast Accuracy (via MAPE)</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i="1" dirty="0">
                          <a:solidFill>
                            <a:srgbClr val="1F2937"/>
                          </a:solidFill>
                          <a:latin typeface="Arial" pitchFamily="34" charset="0"/>
                          <a:ea typeface="Arial" pitchFamily="34" charset="-122"/>
                          <a:cs typeface="Arial" pitchFamily="34" charset="-120"/>
                        </a:rPr>
                        <a:t>MAPE = (Σ |Actual − Forecast| / Actual) ÷ n × 100</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Error between forecasted and actual demand; lower MAPE means more reliable planning.</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ctr">
                        <a:buNone/>
                      </a:pPr>
                      <a:r>
                        <a:rPr lang="en-US" sz="1800" b="1" dirty="0">
                          <a:solidFill>
                            <a:srgbClr val="C9760F"/>
                          </a:solidFill>
                          <a:latin typeface="Arial" pitchFamily="34" charset="0"/>
                          <a:ea typeface="Arial" pitchFamily="34" charset="-122"/>
                          <a:cs typeface="Arial" pitchFamily="34" charset="-120"/>
                        </a:rPr>
                        <a:t>9</a:t>
                      </a:r>
                      <a:endParaRPr lang="en-US" sz="18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Total Supply Chain Cycle Time</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i="1" dirty="0">
                          <a:solidFill>
                            <a:srgbClr val="1F2937"/>
                          </a:solidFill>
                          <a:latin typeface="Arial" pitchFamily="34" charset="0"/>
                          <a:ea typeface="Arial" pitchFamily="34" charset="-122"/>
                          <a:cs typeface="Arial" pitchFamily="34" charset="-120"/>
                        </a:rPr>
                        <a:t>Sum of lead times: sourcing + production + delivery</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Total time from raw-material order to final customer delivery; a core speed indicator.</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extLst>
                  <a:ext uri="{0D108BD9-81ED-4DB2-BD59-A6C34878D82A}">
                    <a16:rowId xmlns:a16="http://schemas.microsoft.com/office/drawing/2014/main" val="10004"/>
                  </a:ext>
                </a:extLst>
              </a:tr>
              <a:tr h="640080">
                <a:tc>
                  <a:txBody>
                    <a:bodyPr/>
                    <a:lstStyle/>
                    <a:p>
                      <a:pPr marL="0" indent="0" algn="ctr">
                        <a:buNone/>
                      </a:pPr>
                      <a:r>
                        <a:rPr lang="en-US" sz="1800" b="1" dirty="0">
                          <a:solidFill>
                            <a:srgbClr val="C9760F"/>
                          </a:solidFill>
                          <a:latin typeface="Arial" pitchFamily="34" charset="0"/>
                          <a:ea typeface="Arial" pitchFamily="34" charset="-122"/>
                          <a:cs typeface="Arial" pitchFamily="34" charset="-120"/>
                        </a:rPr>
                        <a:t>10</a:t>
                      </a:r>
                      <a:endParaRPr lang="en-US" sz="18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1A3868"/>
                          </a:solidFill>
                          <a:latin typeface="Arial" pitchFamily="34" charset="0"/>
                          <a:ea typeface="Arial" pitchFamily="34" charset="-122"/>
                          <a:cs typeface="Arial" pitchFamily="34" charset="-120"/>
                        </a:rPr>
                        <a:t>Return on Supply Chain Fixed Assets</a:t>
                      </a:r>
                      <a:endParaRPr lang="en-US" sz="16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i="1" dirty="0">
                          <a:solidFill>
                            <a:srgbClr val="1F2937"/>
                          </a:solidFill>
                          <a:latin typeface="Arial" pitchFamily="34" charset="0"/>
                          <a:ea typeface="Arial" pitchFamily="34" charset="-122"/>
                          <a:cs typeface="Arial" pitchFamily="34" charset="-120"/>
                        </a:rPr>
                        <a:t>Supply Chain Revenue ÷ Net Value of SC Fixed Assets</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Revenue generated per rupee invested in supply chain infrastructure (plant, warehouse, fleet).</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658368" y="5650992"/>
            <a:ext cx="13277088" cy="1481328"/>
          </a:xfrm>
          <a:prstGeom prst="roundRect">
            <a:avLst>
              <a:gd name="adj" fmla="val 5185"/>
            </a:avLst>
          </a:prstGeom>
          <a:solidFill>
            <a:srgbClr val="EAF1FC"/>
          </a:solidFill>
          <a:ln/>
        </p:spPr>
        <p:txBody>
          <a:bodyPr/>
          <a:lstStyle/>
          <a:p>
            <a:endParaRPr lang="en-US" sz="2400"/>
          </a:p>
        </p:txBody>
      </p:sp>
      <p:sp>
        <p:nvSpPr>
          <p:cNvPr id="6" name="Text 3"/>
          <p:cNvSpPr/>
          <p:nvPr/>
        </p:nvSpPr>
        <p:spPr>
          <a:xfrm>
            <a:off x="1077628" y="6375197"/>
            <a:ext cx="12618720" cy="1097280"/>
          </a:xfrm>
          <a:prstGeom prst="rect">
            <a:avLst/>
          </a:prstGeom>
          <a:noFill/>
          <a:ln/>
        </p:spPr>
        <p:txBody>
          <a:bodyPr wrap="square" lIns="0" tIns="0" rIns="0" bIns="0" rtlCol="0" anchor="ctr"/>
          <a:lstStyle/>
          <a:p>
            <a:pPr>
              <a:lnSpc>
                <a:spcPct val="130000"/>
              </a:lnSpc>
            </a:pPr>
            <a:r>
              <a:rPr lang="en-US" sz="1600" b="1" dirty="0">
                <a:solidFill>
                  <a:srgbClr val="1A3868"/>
                </a:solidFill>
                <a:latin typeface="Arial" pitchFamily="34" charset="0"/>
                <a:ea typeface="Arial" pitchFamily="34" charset="-122"/>
                <a:cs typeface="Arial" pitchFamily="34" charset="-120"/>
              </a:rPr>
              <a:t>Takeaway:  </a:t>
            </a:r>
            <a:r>
              <a:rPr lang="en-US" sz="1600" dirty="0">
                <a:solidFill>
                  <a:srgbClr val="1F2937"/>
                </a:solidFill>
                <a:latin typeface="Arial" pitchFamily="34" charset="0"/>
                <a:ea typeface="Arial" pitchFamily="34" charset="-122"/>
                <a:cs typeface="Arial" pitchFamily="34" charset="-120"/>
              </a:rPr>
              <a:t>Metrics 1–5 emphasize execution reliability (fulfilment, delivery, cash flow), while metrics 6–10 emphasize cost, capacity and planning accuracy. Together they let managers track both the </a:t>
            </a:r>
            <a:r>
              <a:rPr lang="en-US" sz="1600" b="1" dirty="0">
                <a:solidFill>
                  <a:srgbClr val="1A3868"/>
                </a:solidFill>
                <a:latin typeface="Arial" pitchFamily="34" charset="0"/>
                <a:ea typeface="Arial" pitchFamily="34" charset="-122"/>
                <a:cs typeface="Arial" pitchFamily="34" charset="-120"/>
              </a:rPr>
              <a:t>efficiency</a:t>
            </a:r>
            <a:r>
              <a:rPr lang="en-US" sz="1600" dirty="0">
                <a:solidFill>
                  <a:srgbClr val="1F2937"/>
                </a:solidFill>
                <a:latin typeface="Arial" pitchFamily="34" charset="0"/>
                <a:ea typeface="Arial" pitchFamily="34" charset="-122"/>
                <a:cs typeface="Arial" pitchFamily="34" charset="-120"/>
              </a:rPr>
              <a:t> and </a:t>
            </a:r>
            <a:r>
              <a:rPr lang="en-US" sz="1600" b="1" dirty="0">
                <a:solidFill>
                  <a:srgbClr val="C9760F"/>
                </a:solidFill>
                <a:latin typeface="Arial" pitchFamily="34" charset="0"/>
                <a:ea typeface="Arial" pitchFamily="34" charset="-122"/>
                <a:cs typeface="Arial" pitchFamily="34" charset="-120"/>
              </a:rPr>
              <a:t>responsiveness</a:t>
            </a:r>
            <a:r>
              <a:rPr lang="en-US" sz="1600" dirty="0">
                <a:solidFill>
                  <a:srgbClr val="1F2937"/>
                </a:solidFill>
                <a:latin typeface="Arial" pitchFamily="34" charset="0"/>
                <a:ea typeface="Arial" pitchFamily="34" charset="-122"/>
                <a:cs typeface="Arial" pitchFamily="34" charset="-120"/>
              </a:rPr>
              <a:t> of the six drivers discussed earlier.</a:t>
            </a:r>
            <a:endParaRPr lang="en-US" sz="1600" dirty="0"/>
          </a:p>
        </p:txBody>
      </p:sp>
      <p:sp>
        <p:nvSpPr>
          <p:cNvPr id="7" name="Text 4"/>
          <p:cNvSpPr/>
          <p:nvPr/>
        </p:nvSpPr>
        <p:spPr>
          <a:xfrm>
            <a:off x="548640" y="7812634"/>
            <a:ext cx="8778240" cy="329184"/>
          </a:xfrm>
          <a:prstGeom prst="rect">
            <a:avLst/>
          </a:prstGeom>
          <a:noFill/>
          <a:ln/>
        </p:spPr>
        <p:txBody>
          <a:bodyPr wrap="square" lIns="0" tIns="0" rIns="0" bIns="0" rtlCol="0" anchor="ctr"/>
          <a:lstStyle/>
          <a:p>
            <a:r>
              <a:rPr lang="en-US" sz="1200" dirty="0">
                <a:solidFill>
                  <a:srgbClr val="5B6B82"/>
                </a:solidFill>
                <a:latin typeface="Arial" pitchFamily="34" charset="0"/>
                <a:ea typeface="Arial" pitchFamily="34" charset="-122"/>
                <a:cs typeface="Arial" pitchFamily="34" charset="-120"/>
              </a:rPr>
              <a:t>Supply Chain Management</a:t>
            </a:r>
            <a:endParaRPr lang="en-US" sz="1200" dirty="0"/>
          </a:p>
        </p:txBody>
      </p:sp>
      <p:sp>
        <p:nvSpPr>
          <p:cNvPr id="8" name="Text 5"/>
          <p:cNvSpPr/>
          <p:nvPr/>
        </p:nvSpPr>
        <p:spPr>
          <a:xfrm>
            <a:off x="13529462" y="7812634"/>
            <a:ext cx="548640" cy="329184"/>
          </a:xfrm>
          <a:prstGeom prst="rect">
            <a:avLst/>
          </a:prstGeom>
          <a:noFill/>
          <a:ln/>
        </p:spPr>
        <p:txBody>
          <a:bodyPr wrap="square" lIns="0" tIns="0" rIns="0" bIns="0" rtlCol="0" anchor="ctr"/>
          <a:lstStyle/>
          <a:p>
            <a:pPr algn="r"/>
            <a:r>
              <a:rPr lang="en-US" sz="1400" dirty="0">
                <a:solidFill>
                  <a:srgbClr val="5B6B82"/>
                </a:solidFill>
                <a:latin typeface="Arial" pitchFamily="34" charset="0"/>
                <a:ea typeface="Arial" pitchFamily="34" charset="-122"/>
                <a:cs typeface="Arial" pitchFamily="34" charset="-120"/>
              </a:rPr>
              <a:t>8</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960352" y="-1755648"/>
            <a:ext cx="5486400" cy="5486400"/>
          </a:xfrm>
          <a:prstGeom prst="ellipse">
            <a:avLst/>
          </a:prstGeom>
          <a:solidFill>
            <a:srgbClr val="1A3868">
              <a:alpha val="70000"/>
            </a:srgbClr>
          </a:solidFill>
          <a:ln/>
        </p:spPr>
        <p:txBody>
          <a:bodyPr/>
          <a:lstStyle/>
          <a:p>
            <a:endParaRPr lang="en-US" sz="2160"/>
          </a:p>
        </p:txBody>
      </p:sp>
      <p:sp>
        <p:nvSpPr>
          <p:cNvPr id="3" name="Shape 1"/>
          <p:cNvSpPr/>
          <p:nvPr/>
        </p:nvSpPr>
        <p:spPr>
          <a:xfrm>
            <a:off x="-1865376" y="5815584"/>
            <a:ext cx="3950208" cy="3950208"/>
          </a:xfrm>
          <a:prstGeom prst="ellipse">
            <a:avLst/>
          </a:prstGeom>
          <a:solidFill>
            <a:srgbClr val="1A3868">
              <a:alpha val="60000"/>
            </a:srgbClr>
          </a:solidFill>
          <a:ln/>
        </p:spPr>
        <p:txBody>
          <a:bodyPr/>
          <a:lstStyle/>
          <a:p>
            <a:endParaRPr lang="en-US" sz="2160"/>
          </a:p>
        </p:txBody>
      </p:sp>
      <p:sp>
        <p:nvSpPr>
          <p:cNvPr id="4" name="Text 2"/>
          <p:cNvSpPr/>
          <p:nvPr/>
        </p:nvSpPr>
        <p:spPr>
          <a:xfrm>
            <a:off x="1097280" y="2798064"/>
            <a:ext cx="6583680" cy="438912"/>
          </a:xfrm>
          <a:prstGeom prst="rect">
            <a:avLst/>
          </a:prstGeom>
          <a:noFill/>
          <a:ln/>
        </p:spPr>
        <p:txBody>
          <a:bodyPr wrap="square" lIns="0" tIns="0" rIns="0" bIns="0" rtlCol="0" anchor="ctr"/>
          <a:lstStyle/>
          <a:p>
            <a:r>
              <a:rPr lang="en-US" sz="1680" b="1" kern="0" spc="360" dirty="0">
                <a:solidFill>
                  <a:srgbClr val="C9760F"/>
                </a:solidFill>
                <a:latin typeface="Arial" pitchFamily="34" charset="0"/>
                <a:ea typeface="Arial" pitchFamily="34" charset="-122"/>
                <a:cs typeface="Arial" pitchFamily="34" charset="-120"/>
              </a:rPr>
              <a:t>SECTION 2</a:t>
            </a:r>
            <a:endParaRPr lang="en-US" sz="1680" dirty="0"/>
          </a:p>
        </p:txBody>
      </p:sp>
      <p:sp>
        <p:nvSpPr>
          <p:cNvPr id="5" name="Text 3"/>
          <p:cNvSpPr/>
          <p:nvPr/>
        </p:nvSpPr>
        <p:spPr>
          <a:xfrm>
            <a:off x="1097280" y="3236976"/>
            <a:ext cx="11850624" cy="1426464"/>
          </a:xfrm>
          <a:prstGeom prst="rect">
            <a:avLst/>
          </a:prstGeom>
          <a:noFill/>
          <a:ln/>
        </p:spPr>
        <p:txBody>
          <a:bodyPr wrap="square" lIns="0" tIns="0" rIns="0" bIns="0" rtlCol="0" anchor="ctr"/>
          <a:lstStyle/>
          <a:p>
            <a:r>
              <a:rPr lang="en-US" sz="4800" b="1" dirty="0">
                <a:solidFill>
                  <a:srgbClr val="FFFFFF"/>
                </a:solidFill>
                <a:latin typeface="Arial" pitchFamily="34" charset="0"/>
                <a:ea typeface="Arial" pitchFamily="34" charset="-122"/>
                <a:cs typeface="Arial" pitchFamily="34" charset="-120"/>
              </a:rPr>
              <a:t>Supply Chain Becomes the Value Chain</a:t>
            </a:r>
            <a:endParaRPr lang="en-US" sz="4800" dirty="0"/>
          </a:p>
        </p:txBody>
      </p:sp>
      <p:sp>
        <p:nvSpPr>
          <p:cNvPr id="6" name="Text 4"/>
          <p:cNvSpPr/>
          <p:nvPr/>
        </p:nvSpPr>
        <p:spPr>
          <a:xfrm>
            <a:off x="1097280" y="4553712"/>
            <a:ext cx="10424160" cy="658368"/>
          </a:xfrm>
          <a:prstGeom prst="rect">
            <a:avLst/>
          </a:prstGeom>
          <a:noFill/>
          <a:ln/>
        </p:spPr>
        <p:txBody>
          <a:bodyPr wrap="square" lIns="0" tIns="0" rIns="0" bIns="0" rtlCol="0" anchor="ctr"/>
          <a:lstStyle/>
          <a:p>
            <a:r>
              <a:rPr lang="en-US" sz="2400" dirty="0">
                <a:solidFill>
                  <a:schemeClr val="tx2"/>
                </a:solidFill>
                <a:latin typeface="Arial" pitchFamily="34" charset="0"/>
                <a:ea typeface="Arial" pitchFamily="34" charset="-122"/>
                <a:cs typeface="Arial" pitchFamily="34" charset="-120"/>
              </a:rPr>
              <a:t>From a linear cost-minimizing pipeline to an integrated, value-creating network</a:t>
            </a:r>
            <a:endParaRPr lang="en-US" sz="2400" dirty="0">
              <a:solidFill>
                <a:schemeClr val="tx2"/>
              </a:solidFill>
            </a:endParaRPr>
          </a:p>
        </p:txBody>
      </p:sp>
      <p:pic>
        <p:nvPicPr>
          <p:cNvPr id="7" name="Image 0" descr="icons/network_white.png"/>
          <p:cNvPicPr>
            <a:picLocks noChangeAspect="1"/>
          </p:cNvPicPr>
          <p:nvPr/>
        </p:nvPicPr>
        <p:blipFill>
          <a:blip r:embed="rId3"/>
          <a:stretch>
            <a:fillRect/>
          </a:stretch>
        </p:blipFill>
        <p:spPr>
          <a:xfrm>
            <a:off x="12399264" y="5925312"/>
            <a:ext cx="1207008" cy="120700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384048"/>
            <a:ext cx="10972800" cy="329184"/>
          </a:xfrm>
          <a:prstGeom prst="rect">
            <a:avLst/>
          </a:prstGeom>
          <a:noFill/>
          <a:ln/>
        </p:spPr>
        <p:txBody>
          <a:bodyPr wrap="square" lIns="0" tIns="0" rIns="0" bIns="0" rtlCol="0" anchor="ctr"/>
          <a:lstStyle/>
          <a:p>
            <a:r>
              <a:rPr lang="en-US" sz="1440" b="1" kern="0" spc="240" dirty="0">
                <a:solidFill>
                  <a:srgbClr val="C9760F"/>
                </a:solidFill>
                <a:latin typeface="Arial" pitchFamily="34" charset="0"/>
                <a:ea typeface="Arial" pitchFamily="34" charset="-122"/>
                <a:cs typeface="Arial" pitchFamily="34" charset="-120"/>
              </a:rPr>
              <a:t>THEORY</a:t>
            </a:r>
            <a:endParaRPr lang="en-US" sz="1440" dirty="0"/>
          </a:p>
        </p:txBody>
      </p:sp>
      <p:sp>
        <p:nvSpPr>
          <p:cNvPr id="3" name="Text 1"/>
          <p:cNvSpPr/>
          <p:nvPr/>
        </p:nvSpPr>
        <p:spPr>
          <a:xfrm>
            <a:off x="658368" y="680314"/>
            <a:ext cx="13277088" cy="822960"/>
          </a:xfrm>
          <a:prstGeom prst="rect">
            <a:avLst/>
          </a:prstGeom>
          <a:noFill/>
          <a:ln/>
        </p:spPr>
        <p:txBody>
          <a:bodyPr wrap="square" lIns="0" tIns="0" rIns="0" bIns="0" rtlCol="0" anchor="ctr"/>
          <a:lstStyle/>
          <a:p>
            <a:r>
              <a:rPr lang="en-US" sz="3600" b="1" dirty="0">
                <a:solidFill>
                  <a:srgbClr val="1A3868"/>
                </a:solidFill>
                <a:latin typeface="Arial" pitchFamily="34" charset="0"/>
                <a:ea typeface="Arial" pitchFamily="34" charset="-122"/>
                <a:cs typeface="Arial" pitchFamily="34" charset="-120"/>
              </a:rPr>
              <a:t>Why 'Supply Chain' Is Becoming 'Value Chain'</a:t>
            </a:r>
            <a:endParaRPr lang="en-US" sz="3600" dirty="0"/>
          </a:p>
        </p:txBody>
      </p:sp>
      <p:sp>
        <p:nvSpPr>
          <p:cNvPr id="4" name="Text 2"/>
          <p:cNvSpPr/>
          <p:nvPr/>
        </p:nvSpPr>
        <p:spPr>
          <a:xfrm>
            <a:off x="658368" y="1700784"/>
            <a:ext cx="13277088" cy="1426464"/>
          </a:xfrm>
          <a:prstGeom prst="rect">
            <a:avLst/>
          </a:prstGeom>
          <a:noFill/>
          <a:ln/>
        </p:spPr>
        <p:txBody>
          <a:bodyPr wrap="square" lIns="0" tIns="0" rIns="0" bIns="0" rtlCol="0" anchor="ctr"/>
          <a:lstStyle/>
          <a:p>
            <a:pPr>
              <a:lnSpc>
                <a:spcPct val="132000"/>
              </a:lnSpc>
            </a:pPr>
            <a:r>
              <a:rPr lang="en-US" sz="1740" dirty="0">
                <a:solidFill>
                  <a:srgbClr val="1F2937"/>
                </a:solidFill>
                <a:latin typeface="Arial" pitchFamily="34" charset="0"/>
                <a:ea typeface="Arial" pitchFamily="34" charset="-122"/>
                <a:cs typeface="Arial" pitchFamily="34" charset="-120"/>
              </a:rPr>
              <a:t>The traditional supply chain view treated logistics as a </a:t>
            </a:r>
            <a:r>
              <a:rPr lang="en-US" sz="1740" b="1" dirty="0">
                <a:solidFill>
                  <a:srgbClr val="1A3868"/>
                </a:solidFill>
                <a:latin typeface="Arial" pitchFamily="34" charset="0"/>
                <a:ea typeface="Arial" pitchFamily="34" charset="-122"/>
                <a:cs typeface="Arial" pitchFamily="34" charset="-120"/>
              </a:rPr>
              <a:t>cost centre</a:t>
            </a:r>
            <a:r>
              <a:rPr lang="en-US" sz="1740" dirty="0">
                <a:solidFill>
                  <a:srgbClr val="1F2937"/>
                </a:solidFill>
                <a:latin typeface="Arial" pitchFamily="34" charset="0"/>
                <a:ea typeface="Arial" pitchFamily="34" charset="-122"/>
                <a:cs typeface="Arial" pitchFamily="34" charset="-120"/>
              </a:rPr>
              <a:t> — a linear sequence of push activities from raw material to finished goods. Michael Porter's </a:t>
            </a:r>
            <a:r>
              <a:rPr lang="en-US" sz="1740" b="1" i="1" dirty="0">
                <a:solidFill>
                  <a:srgbClr val="C9760F"/>
                </a:solidFill>
                <a:latin typeface="Arial" pitchFamily="34" charset="0"/>
                <a:ea typeface="Arial" pitchFamily="34" charset="-122"/>
                <a:cs typeface="Arial" pitchFamily="34" charset="-120"/>
              </a:rPr>
              <a:t>Value Chain</a:t>
            </a:r>
            <a:r>
              <a:rPr lang="en-US" sz="1740" dirty="0">
                <a:solidFill>
                  <a:srgbClr val="1F2937"/>
                </a:solidFill>
                <a:latin typeface="Arial" pitchFamily="34" charset="0"/>
                <a:ea typeface="Arial" pitchFamily="34" charset="-122"/>
                <a:cs typeface="Arial" pitchFamily="34" charset="-120"/>
              </a:rPr>
              <a:t> model (1985) reframed this: every activity — inbound logistics, operations, outbound logistics, marketing &amp; sales, and service — should add </a:t>
            </a:r>
            <a:r>
              <a:rPr lang="en-US" sz="1740" i="1" dirty="0">
                <a:solidFill>
                  <a:srgbClr val="1F2937"/>
                </a:solidFill>
                <a:latin typeface="Arial" pitchFamily="34" charset="0"/>
                <a:ea typeface="Arial" pitchFamily="34" charset="-122"/>
                <a:cs typeface="Arial" pitchFamily="34" charset="-120"/>
              </a:rPr>
              <a:t>value the customer is willing to pay for</a:t>
            </a:r>
            <a:r>
              <a:rPr lang="en-US" sz="1740" dirty="0">
                <a:solidFill>
                  <a:srgbClr val="1F2937"/>
                </a:solidFill>
                <a:latin typeface="Arial" pitchFamily="34" charset="0"/>
                <a:ea typeface="Arial" pitchFamily="34" charset="-122"/>
                <a:cs typeface="Arial" pitchFamily="34" charset="-120"/>
              </a:rPr>
              <a:t>, supported by infrastructure, HR, technology and procurement.</a:t>
            </a:r>
            <a:endParaRPr lang="en-US" sz="1740" dirty="0"/>
          </a:p>
        </p:txBody>
      </p:sp>
      <p:sp>
        <p:nvSpPr>
          <p:cNvPr id="5" name="Shape 3"/>
          <p:cNvSpPr/>
          <p:nvPr/>
        </p:nvSpPr>
        <p:spPr>
          <a:xfrm>
            <a:off x="658368" y="3346704"/>
            <a:ext cx="4224528" cy="2798064"/>
          </a:xfrm>
          <a:prstGeom prst="roundRect">
            <a:avLst>
              <a:gd name="adj" fmla="val 3137"/>
            </a:avLst>
          </a:prstGeom>
          <a:solidFill>
            <a:srgbClr val="EAF1FC"/>
          </a:solidFill>
          <a:ln/>
          <a:effectLst>
            <a:outerShdw blurRad="101600" dist="38100" dir="5400000" algn="bl" rotWithShape="0">
              <a:srgbClr val="000000">
                <a:alpha val="10000"/>
              </a:srgbClr>
            </a:outerShdw>
          </a:effectLst>
        </p:spPr>
        <p:txBody>
          <a:bodyPr/>
          <a:lstStyle/>
          <a:p>
            <a:endParaRPr lang="en-US" sz="2160"/>
          </a:p>
        </p:txBody>
      </p:sp>
      <p:sp>
        <p:nvSpPr>
          <p:cNvPr id="6" name="Shape 4"/>
          <p:cNvSpPr/>
          <p:nvPr/>
        </p:nvSpPr>
        <p:spPr>
          <a:xfrm>
            <a:off x="987552" y="3675888"/>
            <a:ext cx="713232" cy="713232"/>
          </a:xfrm>
          <a:prstGeom prst="ellipse">
            <a:avLst/>
          </a:prstGeom>
          <a:solidFill>
            <a:srgbClr val="1A3868"/>
          </a:solidFill>
          <a:ln/>
        </p:spPr>
        <p:txBody>
          <a:bodyPr/>
          <a:lstStyle/>
          <a:p>
            <a:endParaRPr lang="en-US" sz="2160"/>
          </a:p>
        </p:txBody>
      </p:sp>
      <p:pic>
        <p:nvPicPr>
          <p:cNvPr id="7" name="Image 0" descr="icons/exchange.png"/>
          <p:cNvPicPr>
            <a:picLocks noChangeAspect="1"/>
          </p:cNvPicPr>
          <p:nvPr/>
        </p:nvPicPr>
        <p:blipFill>
          <a:blip r:embed="rId3"/>
          <a:stretch>
            <a:fillRect/>
          </a:stretch>
        </p:blipFill>
        <p:spPr>
          <a:xfrm>
            <a:off x="1119226" y="3807562"/>
            <a:ext cx="449885" cy="449885"/>
          </a:xfrm>
          <a:prstGeom prst="rect">
            <a:avLst/>
          </a:prstGeom>
        </p:spPr>
      </p:pic>
      <p:sp>
        <p:nvSpPr>
          <p:cNvPr id="8" name="Text 5"/>
          <p:cNvSpPr/>
          <p:nvPr/>
        </p:nvSpPr>
        <p:spPr>
          <a:xfrm>
            <a:off x="987552" y="4498848"/>
            <a:ext cx="3566160" cy="548640"/>
          </a:xfrm>
          <a:prstGeom prst="rect">
            <a:avLst/>
          </a:prstGeom>
          <a:noFill/>
          <a:ln/>
        </p:spPr>
        <p:txBody>
          <a:bodyPr wrap="square" lIns="0" tIns="0" rIns="0" bIns="0" rtlCol="0" anchor="ctr"/>
          <a:lstStyle/>
          <a:p>
            <a:r>
              <a:rPr lang="en-US" b="1" dirty="0">
                <a:solidFill>
                  <a:srgbClr val="1A3868"/>
                </a:solidFill>
                <a:latin typeface="Arial" pitchFamily="34" charset="0"/>
                <a:ea typeface="Arial" pitchFamily="34" charset="-122"/>
                <a:cs typeface="Arial" pitchFamily="34" charset="-120"/>
              </a:rPr>
              <a:t>From Push to Pull</a:t>
            </a:r>
            <a:endParaRPr lang="en-US" dirty="0"/>
          </a:p>
        </p:txBody>
      </p:sp>
      <p:sp>
        <p:nvSpPr>
          <p:cNvPr id="9" name="Text 6"/>
          <p:cNvSpPr/>
          <p:nvPr/>
        </p:nvSpPr>
        <p:spPr>
          <a:xfrm>
            <a:off x="987552" y="5047488"/>
            <a:ext cx="3566160" cy="987552"/>
          </a:xfrm>
          <a:prstGeom prst="rect">
            <a:avLst/>
          </a:prstGeom>
          <a:noFill/>
          <a:ln/>
        </p:spPr>
        <p:txBody>
          <a:bodyPr wrap="square" lIns="0" tIns="0" rIns="0" bIns="0" rtlCol="0" anchor="ctr"/>
          <a:lstStyle/>
          <a:p>
            <a:pPr>
              <a:lnSpc>
                <a:spcPct val="120000"/>
              </a:lnSpc>
            </a:pPr>
            <a:r>
              <a:rPr lang="en-US" sz="1380" dirty="0">
                <a:solidFill>
                  <a:srgbClr val="1F2937"/>
                </a:solidFill>
                <a:latin typeface="Arial" pitchFamily="34" charset="0"/>
                <a:ea typeface="Arial" pitchFamily="34" charset="-122"/>
                <a:cs typeface="Arial" pitchFamily="34" charset="-120"/>
              </a:rPr>
              <a:t>Activities are triggered by customer demand and value creation, not just by moving product forward.</a:t>
            </a:r>
            <a:endParaRPr lang="en-US" sz="1380" dirty="0"/>
          </a:p>
        </p:txBody>
      </p:sp>
      <p:sp>
        <p:nvSpPr>
          <p:cNvPr id="10" name="Shape 7"/>
          <p:cNvSpPr/>
          <p:nvPr/>
        </p:nvSpPr>
        <p:spPr>
          <a:xfrm>
            <a:off x="5266944" y="3346704"/>
            <a:ext cx="4224528" cy="2798064"/>
          </a:xfrm>
          <a:prstGeom prst="roundRect">
            <a:avLst>
              <a:gd name="adj" fmla="val 3137"/>
            </a:avLst>
          </a:prstGeom>
          <a:solidFill>
            <a:srgbClr val="EAF1FC"/>
          </a:solidFill>
          <a:ln/>
          <a:effectLst>
            <a:outerShdw blurRad="101600" dist="38100" dir="5400000" algn="bl" rotWithShape="0">
              <a:srgbClr val="000000">
                <a:alpha val="10000"/>
              </a:srgbClr>
            </a:outerShdw>
          </a:effectLst>
        </p:spPr>
        <p:txBody>
          <a:bodyPr/>
          <a:lstStyle/>
          <a:p>
            <a:endParaRPr lang="en-US" sz="2160"/>
          </a:p>
        </p:txBody>
      </p:sp>
      <p:sp>
        <p:nvSpPr>
          <p:cNvPr id="11" name="Shape 8"/>
          <p:cNvSpPr/>
          <p:nvPr/>
        </p:nvSpPr>
        <p:spPr>
          <a:xfrm>
            <a:off x="5596128" y="3675888"/>
            <a:ext cx="713232" cy="713232"/>
          </a:xfrm>
          <a:prstGeom prst="ellipse">
            <a:avLst/>
          </a:prstGeom>
          <a:solidFill>
            <a:srgbClr val="1A3868"/>
          </a:solidFill>
          <a:ln/>
        </p:spPr>
        <p:txBody>
          <a:bodyPr/>
          <a:lstStyle/>
          <a:p>
            <a:endParaRPr lang="en-US" sz="2160"/>
          </a:p>
        </p:txBody>
      </p:sp>
      <p:pic>
        <p:nvPicPr>
          <p:cNvPr id="12" name="Image 1" descr="icons/link.png"/>
          <p:cNvPicPr>
            <a:picLocks noChangeAspect="1"/>
          </p:cNvPicPr>
          <p:nvPr/>
        </p:nvPicPr>
        <p:blipFill>
          <a:blip r:embed="rId4"/>
          <a:stretch>
            <a:fillRect/>
          </a:stretch>
        </p:blipFill>
        <p:spPr>
          <a:xfrm>
            <a:off x="5727802" y="3807562"/>
            <a:ext cx="449885" cy="449885"/>
          </a:xfrm>
          <a:prstGeom prst="rect">
            <a:avLst/>
          </a:prstGeom>
        </p:spPr>
      </p:pic>
      <p:sp>
        <p:nvSpPr>
          <p:cNvPr id="13" name="Text 9"/>
          <p:cNvSpPr/>
          <p:nvPr/>
        </p:nvSpPr>
        <p:spPr>
          <a:xfrm>
            <a:off x="5596128" y="4498848"/>
            <a:ext cx="3566160" cy="548640"/>
          </a:xfrm>
          <a:prstGeom prst="rect">
            <a:avLst/>
          </a:prstGeom>
          <a:noFill/>
          <a:ln/>
        </p:spPr>
        <p:txBody>
          <a:bodyPr wrap="square" lIns="0" tIns="0" rIns="0" bIns="0" rtlCol="0" anchor="ctr"/>
          <a:lstStyle/>
          <a:p>
            <a:r>
              <a:rPr lang="en-US" b="1" dirty="0">
                <a:solidFill>
                  <a:srgbClr val="1A3868"/>
                </a:solidFill>
                <a:latin typeface="Arial" pitchFamily="34" charset="0"/>
                <a:ea typeface="Arial" pitchFamily="34" charset="-122"/>
                <a:cs typeface="Arial" pitchFamily="34" charset="-120"/>
              </a:rPr>
              <a:t>Integration Over Silos</a:t>
            </a:r>
            <a:endParaRPr lang="en-US" dirty="0"/>
          </a:p>
        </p:txBody>
      </p:sp>
      <p:sp>
        <p:nvSpPr>
          <p:cNvPr id="14" name="Text 10"/>
          <p:cNvSpPr/>
          <p:nvPr/>
        </p:nvSpPr>
        <p:spPr>
          <a:xfrm>
            <a:off x="5596128" y="5047488"/>
            <a:ext cx="3566160" cy="987552"/>
          </a:xfrm>
          <a:prstGeom prst="rect">
            <a:avLst/>
          </a:prstGeom>
          <a:noFill/>
          <a:ln/>
        </p:spPr>
        <p:txBody>
          <a:bodyPr wrap="square" lIns="0" tIns="0" rIns="0" bIns="0" rtlCol="0" anchor="ctr"/>
          <a:lstStyle/>
          <a:p>
            <a:pPr>
              <a:lnSpc>
                <a:spcPct val="120000"/>
              </a:lnSpc>
            </a:pPr>
            <a:r>
              <a:rPr lang="en-US" sz="1380" dirty="0">
                <a:solidFill>
                  <a:srgbClr val="1F2937"/>
                </a:solidFill>
                <a:latin typeface="Arial" pitchFamily="34" charset="0"/>
                <a:ea typeface="Arial" pitchFamily="34" charset="-122"/>
                <a:cs typeface="Arial" pitchFamily="34" charset="-120"/>
              </a:rPr>
              <a:t>Suppliers, manufacturers, distributors and retailers act as one coordinated value-creating network.</a:t>
            </a:r>
            <a:endParaRPr lang="en-US" sz="1380" dirty="0"/>
          </a:p>
        </p:txBody>
      </p:sp>
      <p:sp>
        <p:nvSpPr>
          <p:cNvPr id="15" name="Shape 11"/>
          <p:cNvSpPr/>
          <p:nvPr/>
        </p:nvSpPr>
        <p:spPr>
          <a:xfrm>
            <a:off x="9875520" y="3346704"/>
            <a:ext cx="4224528" cy="2798064"/>
          </a:xfrm>
          <a:prstGeom prst="roundRect">
            <a:avLst>
              <a:gd name="adj" fmla="val 3137"/>
            </a:avLst>
          </a:prstGeom>
          <a:solidFill>
            <a:srgbClr val="EAF1FC"/>
          </a:solidFill>
          <a:ln/>
          <a:effectLst>
            <a:outerShdw blurRad="101600" dist="38100" dir="5400000" algn="bl" rotWithShape="0">
              <a:srgbClr val="000000">
                <a:alpha val="10000"/>
              </a:srgbClr>
            </a:outerShdw>
          </a:effectLst>
        </p:spPr>
        <p:txBody>
          <a:bodyPr/>
          <a:lstStyle/>
          <a:p>
            <a:endParaRPr lang="en-US" sz="2160"/>
          </a:p>
        </p:txBody>
      </p:sp>
      <p:sp>
        <p:nvSpPr>
          <p:cNvPr id="16" name="Shape 12"/>
          <p:cNvSpPr/>
          <p:nvPr/>
        </p:nvSpPr>
        <p:spPr>
          <a:xfrm>
            <a:off x="10204704" y="3675888"/>
            <a:ext cx="713232" cy="713232"/>
          </a:xfrm>
          <a:prstGeom prst="ellipse">
            <a:avLst/>
          </a:prstGeom>
          <a:solidFill>
            <a:srgbClr val="1A3868"/>
          </a:solidFill>
          <a:ln/>
        </p:spPr>
        <p:txBody>
          <a:bodyPr/>
          <a:lstStyle/>
          <a:p>
            <a:endParaRPr lang="en-US" sz="2160"/>
          </a:p>
        </p:txBody>
      </p:sp>
      <p:pic>
        <p:nvPicPr>
          <p:cNvPr id="17" name="Image 2" descr="icons/bullseye.png"/>
          <p:cNvPicPr>
            <a:picLocks noChangeAspect="1"/>
          </p:cNvPicPr>
          <p:nvPr/>
        </p:nvPicPr>
        <p:blipFill>
          <a:blip r:embed="rId5"/>
          <a:stretch>
            <a:fillRect/>
          </a:stretch>
        </p:blipFill>
        <p:spPr>
          <a:xfrm>
            <a:off x="10336378" y="3807562"/>
            <a:ext cx="449885" cy="449885"/>
          </a:xfrm>
          <a:prstGeom prst="rect">
            <a:avLst/>
          </a:prstGeom>
        </p:spPr>
      </p:pic>
      <p:sp>
        <p:nvSpPr>
          <p:cNvPr id="18" name="Text 13"/>
          <p:cNvSpPr/>
          <p:nvPr/>
        </p:nvSpPr>
        <p:spPr>
          <a:xfrm>
            <a:off x="10204704" y="4498848"/>
            <a:ext cx="3566160" cy="548640"/>
          </a:xfrm>
          <a:prstGeom prst="rect">
            <a:avLst/>
          </a:prstGeom>
          <a:noFill/>
          <a:ln/>
        </p:spPr>
        <p:txBody>
          <a:bodyPr wrap="square" lIns="0" tIns="0" rIns="0" bIns="0" rtlCol="0" anchor="ctr"/>
          <a:lstStyle/>
          <a:p>
            <a:r>
              <a:rPr lang="en-US" b="1" dirty="0">
                <a:solidFill>
                  <a:srgbClr val="1A3868"/>
                </a:solidFill>
                <a:latin typeface="Arial" pitchFamily="34" charset="0"/>
                <a:ea typeface="Arial" pitchFamily="34" charset="-122"/>
                <a:cs typeface="Arial" pitchFamily="34" charset="-120"/>
              </a:rPr>
              <a:t>Value, Not Just Cost</a:t>
            </a:r>
            <a:endParaRPr lang="en-US" dirty="0"/>
          </a:p>
        </p:txBody>
      </p:sp>
      <p:sp>
        <p:nvSpPr>
          <p:cNvPr id="19" name="Text 14"/>
          <p:cNvSpPr/>
          <p:nvPr/>
        </p:nvSpPr>
        <p:spPr>
          <a:xfrm>
            <a:off x="10204704" y="5047488"/>
            <a:ext cx="3566160" cy="987552"/>
          </a:xfrm>
          <a:prstGeom prst="rect">
            <a:avLst/>
          </a:prstGeom>
          <a:noFill/>
          <a:ln/>
        </p:spPr>
        <p:txBody>
          <a:bodyPr wrap="square" lIns="0" tIns="0" rIns="0" bIns="0" rtlCol="0" anchor="ctr"/>
          <a:lstStyle/>
          <a:p>
            <a:pPr>
              <a:lnSpc>
                <a:spcPct val="120000"/>
              </a:lnSpc>
            </a:pPr>
            <a:r>
              <a:rPr lang="en-US" sz="1380" dirty="0">
                <a:solidFill>
                  <a:srgbClr val="1F2937"/>
                </a:solidFill>
                <a:latin typeface="Arial" pitchFamily="34" charset="0"/>
                <a:ea typeface="Arial" pitchFamily="34" charset="-122"/>
                <a:cs typeface="Arial" pitchFamily="34" charset="-120"/>
              </a:rPr>
              <a:t>Every stage is judged by the value/margin it contributes, not only by the cost it avoids.</a:t>
            </a:r>
            <a:endParaRPr lang="en-US" sz="1380" dirty="0"/>
          </a:p>
        </p:txBody>
      </p:sp>
      <p:sp>
        <p:nvSpPr>
          <p:cNvPr id="20" name="Text 15"/>
          <p:cNvSpPr/>
          <p:nvPr/>
        </p:nvSpPr>
        <p:spPr>
          <a:xfrm>
            <a:off x="658368" y="6419088"/>
            <a:ext cx="13277088" cy="658368"/>
          </a:xfrm>
          <a:prstGeom prst="rect">
            <a:avLst/>
          </a:prstGeom>
          <a:noFill/>
          <a:ln/>
        </p:spPr>
        <p:txBody>
          <a:bodyPr wrap="square" lIns="0" tIns="0" rIns="0" bIns="0" rtlCol="0" anchor="ctr"/>
          <a:lstStyle/>
          <a:p>
            <a:pPr>
              <a:lnSpc>
                <a:spcPct val="120000"/>
              </a:lnSpc>
            </a:pPr>
            <a:r>
              <a:rPr lang="en-US" sz="1500" b="1" dirty="0">
                <a:solidFill>
                  <a:srgbClr val="1A3868"/>
                </a:solidFill>
                <a:latin typeface="Arial" pitchFamily="34" charset="0"/>
                <a:ea typeface="Arial" pitchFamily="34" charset="-122"/>
                <a:cs typeface="Arial" pitchFamily="34" charset="-120"/>
              </a:rPr>
              <a:t>In short: </a:t>
            </a:r>
            <a:r>
              <a:rPr lang="en-US" sz="1500" i="1" dirty="0">
                <a:solidFill>
                  <a:srgbClr val="5B6B82"/>
                </a:solidFill>
                <a:latin typeface="Arial" pitchFamily="34" charset="0"/>
                <a:ea typeface="Arial" pitchFamily="34" charset="-122"/>
                <a:cs typeface="Arial" pitchFamily="34" charset="-120"/>
              </a:rPr>
              <a:t>a supply chain moves products efficiently; a value chain uses that same movement to deliberately build competitive advantage and customer value at each step.</a:t>
            </a:r>
            <a:endParaRPr lang="en-US" sz="1500" dirty="0"/>
          </a:p>
        </p:txBody>
      </p:sp>
      <p:sp>
        <p:nvSpPr>
          <p:cNvPr id="21" name="Text 16"/>
          <p:cNvSpPr/>
          <p:nvPr/>
        </p:nvSpPr>
        <p:spPr>
          <a:xfrm>
            <a:off x="548640" y="7812634"/>
            <a:ext cx="8778240" cy="329184"/>
          </a:xfrm>
          <a:prstGeom prst="rect">
            <a:avLst/>
          </a:prstGeom>
          <a:noFill/>
          <a:ln/>
        </p:spPr>
        <p:txBody>
          <a:bodyPr wrap="square" lIns="0" tIns="0" rIns="0" bIns="0" rtlCol="0" anchor="ctr"/>
          <a:lstStyle/>
          <a:p>
            <a:r>
              <a:rPr lang="en-US" sz="1200" dirty="0">
                <a:solidFill>
                  <a:srgbClr val="5B6B82"/>
                </a:solidFill>
                <a:latin typeface="Arial" pitchFamily="34" charset="0"/>
                <a:ea typeface="Arial" pitchFamily="34" charset="-122"/>
                <a:cs typeface="Arial" pitchFamily="34" charset="-120"/>
              </a:rPr>
              <a:t>Supply Chain Management</a:t>
            </a:r>
            <a:endParaRPr lang="en-US" sz="1200" dirty="0"/>
          </a:p>
        </p:txBody>
      </p:sp>
      <p:sp>
        <p:nvSpPr>
          <p:cNvPr id="22" name="Text 17"/>
          <p:cNvSpPr/>
          <p:nvPr/>
        </p:nvSpPr>
        <p:spPr>
          <a:xfrm>
            <a:off x="13529462" y="7812634"/>
            <a:ext cx="548640" cy="329184"/>
          </a:xfrm>
          <a:prstGeom prst="rect">
            <a:avLst/>
          </a:prstGeom>
          <a:noFill/>
          <a:ln/>
        </p:spPr>
        <p:txBody>
          <a:bodyPr wrap="square" lIns="0" tIns="0" rIns="0" bIns="0" rtlCol="0" anchor="ctr"/>
          <a:lstStyle/>
          <a:p>
            <a:pPr algn="r"/>
            <a:r>
              <a:rPr lang="en-US" sz="1200" dirty="0">
                <a:solidFill>
                  <a:srgbClr val="5B6B82"/>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384048"/>
            <a:ext cx="10972800" cy="329184"/>
          </a:xfrm>
          <a:prstGeom prst="rect">
            <a:avLst/>
          </a:prstGeom>
          <a:noFill/>
          <a:ln/>
        </p:spPr>
        <p:txBody>
          <a:bodyPr wrap="square" lIns="0" tIns="0" rIns="0" bIns="0" rtlCol="0" anchor="ctr"/>
          <a:lstStyle/>
          <a:p>
            <a:r>
              <a:rPr lang="en-US" sz="1440" b="1" kern="0" spc="240" dirty="0">
                <a:solidFill>
                  <a:srgbClr val="C9760F"/>
                </a:solidFill>
                <a:latin typeface="Arial" pitchFamily="34" charset="0"/>
                <a:ea typeface="Arial" pitchFamily="34" charset="-122"/>
                <a:cs typeface="Arial" pitchFamily="34" charset="-120"/>
              </a:rPr>
              <a:t>DIAGRAM</a:t>
            </a:r>
            <a:endParaRPr lang="en-US" sz="1440" dirty="0"/>
          </a:p>
        </p:txBody>
      </p:sp>
      <p:sp>
        <p:nvSpPr>
          <p:cNvPr id="3" name="Text 1"/>
          <p:cNvSpPr/>
          <p:nvPr/>
        </p:nvSpPr>
        <p:spPr>
          <a:xfrm>
            <a:off x="658368" y="680314"/>
            <a:ext cx="13277088" cy="822960"/>
          </a:xfrm>
          <a:prstGeom prst="rect">
            <a:avLst/>
          </a:prstGeom>
          <a:noFill/>
          <a:ln/>
        </p:spPr>
        <p:txBody>
          <a:bodyPr wrap="square" lIns="0" tIns="0" rIns="0" bIns="0" rtlCol="0" anchor="ctr"/>
          <a:lstStyle/>
          <a:p>
            <a:r>
              <a:rPr lang="en-US" sz="3600" b="1" dirty="0">
                <a:solidFill>
                  <a:srgbClr val="1A3868"/>
                </a:solidFill>
                <a:latin typeface="Arial" pitchFamily="34" charset="0"/>
                <a:ea typeface="Arial" pitchFamily="34" charset="-122"/>
                <a:cs typeface="Arial" pitchFamily="34" charset="-120"/>
              </a:rPr>
              <a:t>Porter's Value Chain Model</a:t>
            </a:r>
            <a:endParaRPr lang="en-US" sz="3600" dirty="0"/>
          </a:p>
        </p:txBody>
      </p:sp>
      <p:sp>
        <p:nvSpPr>
          <p:cNvPr id="4" name="Shape 2"/>
          <p:cNvSpPr/>
          <p:nvPr/>
        </p:nvSpPr>
        <p:spPr>
          <a:xfrm>
            <a:off x="658368" y="1810512"/>
            <a:ext cx="13277088" cy="548640"/>
          </a:xfrm>
          <a:prstGeom prst="rect">
            <a:avLst/>
          </a:prstGeom>
          <a:solidFill>
            <a:srgbClr val="1A3868"/>
          </a:solidFill>
          <a:ln w="9525">
            <a:solidFill>
              <a:srgbClr val="FFFFFF"/>
            </a:solidFill>
            <a:prstDash val="solid"/>
          </a:ln>
        </p:spPr>
        <p:txBody>
          <a:bodyPr/>
          <a:lstStyle/>
          <a:p>
            <a:endParaRPr lang="en-US" sz="2800"/>
          </a:p>
        </p:txBody>
      </p:sp>
      <p:sp>
        <p:nvSpPr>
          <p:cNvPr id="5" name="Text 3"/>
          <p:cNvSpPr/>
          <p:nvPr/>
        </p:nvSpPr>
        <p:spPr>
          <a:xfrm>
            <a:off x="932688" y="1810512"/>
            <a:ext cx="12728448" cy="548640"/>
          </a:xfrm>
          <a:prstGeom prst="rect">
            <a:avLst/>
          </a:prstGeom>
          <a:noFill/>
          <a:ln/>
        </p:spPr>
        <p:txBody>
          <a:bodyPr wrap="square" lIns="0" tIns="0" rIns="0" bIns="0" rtlCol="0" anchor="ctr"/>
          <a:lstStyle/>
          <a:p>
            <a:r>
              <a:rPr lang="en-US" dirty="0">
                <a:solidFill>
                  <a:srgbClr val="FFFFFF"/>
                </a:solidFill>
                <a:latin typeface="Arial" pitchFamily="34" charset="0"/>
                <a:ea typeface="Arial" pitchFamily="34" charset="-122"/>
                <a:cs typeface="Arial" pitchFamily="34" charset="-120"/>
              </a:rPr>
              <a:t>Firm Infrastructure  (planning, finance, general management)</a:t>
            </a:r>
            <a:endParaRPr lang="en-US" dirty="0"/>
          </a:p>
        </p:txBody>
      </p:sp>
      <p:sp>
        <p:nvSpPr>
          <p:cNvPr id="6" name="Shape 4"/>
          <p:cNvSpPr/>
          <p:nvPr/>
        </p:nvSpPr>
        <p:spPr>
          <a:xfrm>
            <a:off x="658368" y="2359152"/>
            <a:ext cx="13277088" cy="548640"/>
          </a:xfrm>
          <a:prstGeom prst="rect">
            <a:avLst/>
          </a:prstGeom>
          <a:solidFill>
            <a:srgbClr val="12274A"/>
          </a:solidFill>
          <a:ln w="9525">
            <a:solidFill>
              <a:srgbClr val="FFFFFF"/>
            </a:solidFill>
            <a:prstDash val="solid"/>
          </a:ln>
        </p:spPr>
        <p:txBody>
          <a:bodyPr/>
          <a:lstStyle/>
          <a:p>
            <a:endParaRPr lang="en-US" sz="2800"/>
          </a:p>
        </p:txBody>
      </p:sp>
      <p:sp>
        <p:nvSpPr>
          <p:cNvPr id="7" name="Text 5"/>
          <p:cNvSpPr/>
          <p:nvPr/>
        </p:nvSpPr>
        <p:spPr>
          <a:xfrm>
            <a:off x="932688" y="2359152"/>
            <a:ext cx="12728448" cy="548640"/>
          </a:xfrm>
          <a:prstGeom prst="rect">
            <a:avLst/>
          </a:prstGeom>
          <a:noFill/>
          <a:ln/>
        </p:spPr>
        <p:txBody>
          <a:bodyPr wrap="square" lIns="0" tIns="0" rIns="0" bIns="0" rtlCol="0" anchor="ctr"/>
          <a:lstStyle/>
          <a:p>
            <a:r>
              <a:rPr lang="en-US" dirty="0">
                <a:solidFill>
                  <a:srgbClr val="FFFFFF"/>
                </a:solidFill>
                <a:latin typeface="Arial" pitchFamily="34" charset="0"/>
                <a:ea typeface="Arial" pitchFamily="34" charset="-122"/>
                <a:cs typeface="Arial" pitchFamily="34" charset="-120"/>
              </a:rPr>
              <a:t>Human Resource Management  (recruiting, training, compensation)</a:t>
            </a:r>
            <a:endParaRPr lang="en-US" dirty="0"/>
          </a:p>
        </p:txBody>
      </p:sp>
      <p:sp>
        <p:nvSpPr>
          <p:cNvPr id="8" name="Shape 6"/>
          <p:cNvSpPr/>
          <p:nvPr/>
        </p:nvSpPr>
        <p:spPr>
          <a:xfrm>
            <a:off x="658368" y="2907792"/>
            <a:ext cx="13277088" cy="548640"/>
          </a:xfrm>
          <a:prstGeom prst="rect">
            <a:avLst/>
          </a:prstGeom>
          <a:solidFill>
            <a:srgbClr val="1A3868"/>
          </a:solidFill>
          <a:ln w="9525">
            <a:solidFill>
              <a:srgbClr val="FFFFFF"/>
            </a:solidFill>
            <a:prstDash val="solid"/>
          </a:ln>
        </p:spPr>
        <p:txBody>
          <a:bodyPr/>
          <a:lstStyle/>
          <a:p>
            <a:endParaRPr lang="en-US" sz="2800"/>
          </a:p>
        </p:txBody>
      </p:sp>
      <p:sp>
        <p:nvSpPr>
          <p:cNvPr id="9" name="Text 7"/>
          <p:cNvSpPr/>
          <p:nvPr/>
        </p:nvSpPr>
        <p:spPr>
          <a:xfrm>
            <a:off x="932688" y="2907792"/>
            <a:ext cx="12728448" cy="548640"/>
          </a:xfrm>
          <a:prstGeom prst="rect">
            <a:avLst/>
          </a:prstGeom>
          <a:noFill/>
          <a:ln/>
        </p:spPr>
        <p:txBody>
          <a:bodyPr wrap="square" lIns="0" tIns="0" rIns="0" bIns="0" rtlCol="0" anchor="ctr"/>
          <a:lstStyle/>
          <a:p>
            <a:r>
              <a:rPr lang="en-US" dirty="0">
                <a:solidFill>
                  <a:srgbClr val="FFFFFF"/>
                </a:solidFill>
                <a:latin typeface="Arial" pitchFamily="34" charset="0"/>
                <a:ea typeface="Arial" pitchFamily="34" charset="-122"/>
                <a:cs typeface="Arial" pitchFamily="34" charset="-120"/>
              </a:rPr>
              <a:t>Technology Development  (R&amp;D, IT systems, process automation)</a:t>
            </a:r>
            <a:endParaRPr lang="en-US" dirty="0"/>
          </a:p>
        </p:txBody>
      </p:sp>
      <p:sp>
        <p:nvSpPr>
          <p:cNvPr id="10" name="Shape 8"/>
          <p:cNvSpPr/>
          <p:nvPr/>
        </p:nvSpPr>
        <p:spPr>
          <a:xfrm>
            <a:off x="658368" y="3456432"/>
            <a:ext cx="13277088" cy="548640"/>
          </a:xfrm>
          <a:prstGeom prst="rect">
            <a:avLst/>
          </a:prstGeom>
          <a:solidFill>
            <a:srgbClr val="12274A"/>
          </a:solidFill>
          <a:ln w="9525">
            <a:solidFill>
              <a:srgbClr val="FFFFFF"/>
            </a:solidFill>
            <a:prstDash val="solid"/>
          </a:ln>
        </p:spPr>
        <p:txBody>
          <a:bodyPr/>
          <a:lstStyle/>
          <a:p>
            <a:endParaRPr lang="en-US" sz="2800"/>
          </a:p>
        </p:txBody>
      </p:sp>
      <p:sp>
        <p:nvSpPr>
          <p:cNvPr id="11" name="Text 9"/>
          <p:cNvSpPr/>
          <p:nvPr/>
        </p:nvSpPr>
        <p:spPr>
          <a:xfrm>
            <a:off x="932688" y="3456432"/>
            <a:ext cx="12728448" cy="548640"/>
          </a:xfrm>
          <a:prstGeom prst="rect">
            <a:avLst/>
          </a:prstGeom>
          <a:noFill/>
          <a:ln/>
        </p:spPr>
        <p:txBody>
          <a:bodyPr wrap="square" lIns="0" tIns="0" rIns="0" bIns="0" rtlCol="0" anchor="ctr"/>
          <a:lstStyle/>
          <a:p>
            <a:r>
              <a:rPr lang="en-US" dirty="0">
                <a:solidFill>
                  <a:srgbClr val="FFFFFF"/>
                </a:solidFill>
                <a:latin typeface="Arial" pitchFamily="34" charset="0"/>
                <a:ea typeface="Arial" pitchFamily="34" charset="-122"/>
                <a:cs typeface="Arial" pitchFamily="34" charset="-120"/>
              </a:rPr>
              <a:t>Procurement  (purchasing inputs, supplier management)</a:t>
            </a:r>
            <a:endParaRPr lang="en-US" dirty="0"/>
          </a:p>
        </p:txBody>
      </p:sp>
      <p:sp>
        <p:nvSpPr>
          <p:cNvPr id="12" name="Text 10"/>
          <p:cNvSpPr/>
          <p:nvPr/>
        </p:nvSpPr>
        <p:spPr>
          <a:xfrm>
            <a:off x="636422" y="1426464"/>
            <a:ext cx="4389120" cy="329184"/>
          </a:xfrm>
          <a:prstGeom prst="rect">
            <a:avLst/>
          </a:prstGeom>
          <a:noFill/>
          <a:ln/>
        </p:spPr>
        <p:txBody>
          <a:bodyPr wrap="square" lIns="0" tIns="0" rIns="0" bIns="0" rtlCol="0" anchor="ctr"/>
          <a:lstStyle/>
          <a:p>
            <a:r>
              <a:rPr lang="en-US" sz="1380" b="1" kern="0" spc="180" dirty="0">
                <a:solidFill>
                  <a:srgbClr val="1A3868"/>
                </a:solidFill>
                <a:latin typeface="Arial" pitchFamily="34" charset="0"/>
                <a:ea typeface="Arial" pitchFamily="34" charset="-122"/>
                <a:cs typeface="Arial" pitchFamily="34" charset="-120"/>
              </a:rPr>
              <a:t>SUPPORT ACTIVITIES</a:t>
            </a:r>
            <a:endParaRPr lang="en-US" sz="1380" dirty="0"/>
          </a:p>
        </p:txBody>
      </p:sp>
      <p:sp>
        <p:nvSpPr>
          <p:cNvPr id="13" name="Shape 11"/>
          <p:cNvSpPr/>
          <p:nvPr/>
        </p:nvSpPr>
        <p:spPr>
          <a:xfrm>
            <a:off x="658368" y="4389120"/>
            <a:ext cx="2655418" cy="2084832"/>
          </a:xfrm>
          <a:prstGeom prst="rect">
            <a:avLst/>
          </a:prstGeom>
          <a:solidFill>
            <a:srgbClr val="C9760F"/>
          </a:solidFill>
          <a:ln w="9525">
            <a:solidFill>
              <a:srgbClr val="FFFFFF"/>
            </a:solidFill>
            <a:prstDash val="solid"/>
          </a:ln>
        </p:spPr>
        <p:txBody>
          <a:bodyPr/>
          <a:lstStyle/>
          <a:p>
            <a:endParaRPr lang="en-US" sz="2800"/>
          </a:p>
        </p:txBody>
      </p:sp>
      <p:sp>
        <p:nvSpPr>
          <p:cNvPr id="14" name="Text 12"/>
          <p:cNvSpPr/>
          <p:nvPr/>
        </p:nvSpPr>
        <p:spPr>
          <a:xfrm>
            <a:off x="746150" y="4553712"/>
            <a:ext cx="2479853" cy="713232"/>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Inbound</a:t>
            </a:r>
            <a:endParaRPr lang="en-US" dirty="0"/>
          </a:p>
          <a:p>
            <a:pPr algn="ctr"/>
            <a:r>
              <a:rPr lang="en-US" b="1" dirty="0">
                <a:solidFill>
                  <a:srgbClr val="FFFFFF"/>
                </a:solidFill>
                <a:latin typeface="Arial" pitchFamily="34" charset="0"/>
                <a:ea typeface="Arial" pitchFamily="34" charset="-122"/>
                <a:cs typeface="Arial" pitchFamily="34" charset="-120"/>
              </a:rPr>
              <a:t>Logistics</a:t>
            </a:r>
            <a:endParaRPr lang="en-US" dirty="0"/>
          </a:p>
        </p:txBody>
      </p:sp>
      <p:sp>
        <p:nvSpPr>
          <p:cNvPr id="15" name="Text 13"/>
          <p:cNvSpPr/>
          <p:nvPr/>
        </p:nvSpPr>
        <p:spPr>
          <a:xfrm>
            <a:off x="768096" y="5321808"/>
            <a:ext cx="2435962" cy="1042416"/>
          </a:xfrm>
          <a:prstGeom prst="rect">
            <a:avLst/>
          </a:prstGeom>
          <a:noFill/>
          <a:ln/>
        </p:spPr>
        <p:txBody>
          <a:bodyPr wrap="square" lIns="0" tIns="0" rIns="0" bIns="0" rtlCol="0" anchor="ctr"/>
          <a:lstStyle/>
          <a:p>
            <a:pPr algn="ctr">
              <a:lnSpc>
                <a:spcPct val="112000"/>
              </a:lnSpc>
            </a:pPr>
            <a:r>
              <a:rPr lang="en-US" sz="1400" dirty="0">
                <a:solidFill>
                  <a:srgbClr val="FFFFFF"/>
                </a:solidFill>
                <a:latin typeface="Arial" pitchFamily="34" charset="0"/>
                <a:ea typeface="Arial" pitchFamily="34" charset="-122"/>
                <a:cs typeface="Arial" pitchFamily="34" charset="-120"/>
              </a:rPr>
              <a:t>Receiving, warehousing &amp; inventory control of inputs</a:t>
            </a:r>
            <a:endParaRPr lang="en-US" sz="1400" dirty="0"/>
          </a:p>
        </p:txBody>
      </p:sp>
      <p:sp>
        <p:nvSpPr>
          <p:cNvPr id="16" name="Shape 14"/>
          <p:cNvSpPr/>
          <p:nvPr/>
        </p:nvSpPr>
        <p:spPr>
          <a:xfrm>
            <a:off x="3313785" y="4389120"/>
            <a:ext cx="2655418" cy="2084832"/>
          </a:xfrm>
          <a:prstGeom prst="rect">
            <a:avLst/>
          </a:prstGeom>
          <a:solidFill>
            <a:srgbClr val="D98F30"/>
          </a:solidFill>
          <a:ln w="9525">
            <a:solidFill>
              <a:srgbClr val="FFFFFF"/>
            </a:solidFill>
            <a:prstDash val="solid"/>
          </a:ln>
        </p:spPr>
        <p:txBody>
          <a:bodyPr/>
          <a:lstStyle/>
          <a:p>
            <a:endParaRPr lang="en-US" sz="2800"/>
          </a:p>
        </p:txBody>
      </p:sp>
      <p:sp>
        <p:nvSpPr>
          <p:cNvPr id="17" name="Text 15"/>
          <p:cNvSpPr/>
          <p:nvPr/>
        </p:nvSpPr>
        <p:spPr>
          <a:xfrm>
            <a:off x="3401568" y="4553712"/>
            <a:ext cx="2479853" cy="713232"/>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Operations</a:t>
            </a:r>
            <a:endParaRPr lang="en-US" dirty="0"/>
          </a:p>
        </p:txBody>
      </p:sp>
      <p:sp>
        <p:nvSpPr>
          <p:cNvPr id="18" name="Text 16"/>
          <p:cNvSpPr/>
          <p:nvPr/>
        </p:nvSpPr>
        <p:spPr>
          <a:xfrm>
            <a:off x="3423513" y="5321808"/>
            <a:ext cx="2435962" cy="1042416"/>
          </a:xfrm>
          <a:prstGeom prst="rect">
            <a:avLst/>
          </a:prstGeom>
          <a:noFill/>
          <a:ln/>
        </p:spPr>
        <p:txBody>
          <a:bodyPr wrap="square" lIns="0" tIns="0" rIns="0" bIns="0" rtlCol="0" anchor="ctr"/>
          <a:lstStyle/>
          <a:p>
            <a:pPr algn="ctr">
              <a:lnSpc>
                <a:spcPct val="112000"/>
              </a:lnSpc>
            </a:pPr>
            <a:r>
              <a:rPr lang="en-US" sz="1400" dirty="0">
                <a:solidFill>
                  <a:srgbClr val="FFFFFF"/>
                </a:solidFill>
                <a:latin typeface="Arial" pitchFamily="34" charset="0"/>
                <a:ea typeface="Arial" pitchFamily="34" charset="-122"/>
                <a:cs typeface="Arial" pitchFamily="34" charset="-120"/>
              </a:rPr>
              <a:t>Transforming inputs into finished goods/services</a:t>
            </a:r>
            <a:endParaRPr lang="en-US" sz="1400" dirty="0"/>
          </a:p>
        </p:txBody>
      </p:sp>
      <p:sp>
        <p:nvSpPr>
          <p:cNvPr id="19" name="Shape 17"/>
          <p:cNvSpPr/>
          <p:nvPr/>
        </p:nvSpPr>
        <p:spPr>
          <a:xfrm>
            <a:off x="5969203" y="4389120"/>
            <a:ext cx="2655418" cy="2084832"/>
          </a:xfrm>
          <a:prstGeom prst="rect">
            <a:avLst/>
          </a:prstGeom>
          <a:solidFill>
            <a:srgbClr val="C9760F"/>
          </a:solidFill>
          <a:ln w="9525">
            <a:solidFill>
              <a:srgbClr val="FFFFFF"/>
            </a:solidFill>
            <a:prstDash val="solid"/>
          </a:ln>
        </p:spPr>
        <p:txBody>
          <a:bodyPr/>
          <a:lstStyle/>
          <a:p>
            <a:endParaRPr lang="en-US" sz="2800"/>
          </a:p>
        </p:txBody>
      </p:sp>
      <p:sp>
        <p:nvSpPr>
          <p:cNvPr id="20" name="Text 18"/>
          <p:cNvSpPr/>
          <p:nvPr/>
        </p:nvSpPr>
        <p:spPr>
          <a:xfrm>
            <a:off x="6056986" y="4553712"/>
            <a:ext cx="2479853" cy="713232"/>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Outbound</a:t>
            </a:r>
            <a:endParaRPr lang="en-US" dirty="0"/>
          </a:p>
          <a:p>
            <a:pPr algn="ctr"/>
            <a:r>
              <a:rPr lang="en-US" b="1" dirty="0">
                <a:solidFill>
                  <a:srgbClr val="FFFFFF"/>
                </a:solidFill>
                <a:latin typeface="Arial" pitchFamily="34" charset="0"/>
                <a:ea typeface="Arial" pitchFamily="34" charset="-122"/>
                <a:cs typeface="Arial" pitchFamily="34" charset="-120"/>
              </a:rPr>
              <a:t>Logistics</a:t>
            </a:r>
            <a:endParaRPr lang="en-US" dirty="0"/>
          </a:p>
        </p:txBody>
      </p:sp>
      <p:sp>
        <p:nvSpPr>
          <p:cNvPr id="21" name="Text 19"/>
          <p:cNvSpPr/>
          <p:nvPr/>
        </p:nvSpPr>
        <p:spPr>
          <a:xfrm>
            <a:off x="6078931" y="5321808"/>
            <a:ext cx="2435962" cy="1042416"/>
          </a:xfrm>
          <a:prstGeom prst="rect">
            <a:avLst/>
          </a:prstGeom>
          <a:noFill/>
          <a:ln/>
        </p:spPr>
        <p:txBody>
          <a:bodyPr wrap="square" lIns="0" tIns="0" rIns="0" bIns="0" rtlCol="0" anchor="ctr"/>
          <a:lstStyle/>
          <a:p>
            <a:pPr algn="ctr">
              <a:lnSpc>
                <a:spcPct val="112000"/>
              </a:lnSpc>
            </a:pPr>
            <a:r>
              <a:rPr lang="en-US" sz="1400" dirty="0">
                <a:solidFill>
                  <a:srgbClr val="FFFFFF"/>
                </a:solidFill>
                <a:latin typeface="Arial" pitchFamily="34" charset="0"/>
                <a:ea typeface="Arial" pitchFamily="34" charset="-122"/>
                <a:cs typeface="Arial" pitchFamily="34" charset="-120"/>
              </a:rPr>
              <a:t>Order fulfilment, warehousing &amp; distribution to buyers</a:t>
            </a:r>
            <a:endParaRPr lang="en-US" sz="1400" dirty="0"/>
          </a:p>
        </p:txBody>
      </p:sp>
      <p:sp>
        <p:nvSpPr>
          <p:cNvPr id="22" name="Shape 20"/>
          <p:cNvSpPr/>
          <p:nvPr/>
        </p:nvSpPr>
        <p:spPr>
          <a:xfrm>
            <a:off x="8624621" y="4389120"/>
            <a:ext cx="2655418" cy="2084832"/>
          </a:xfrm>
          <a:prstGeom prst="rect">
            <a:avLst/>
          </a:prstGeom>
          <a:solidFill>
            <a:srgbClr val="D98F30"/>
          </a:solidFill>
          <a:ln w="9525">
            <a:solidFill>
              <a:srgbClr val="FFFFFF"/>
            </a:solidFill>
            <a:prstDash val="solid"/>
          </a:ln>
        </p:spPr>
        <p:txBody>
          <a:bodyPr/>
          <a:lstStyle/>
          <a:p>
            <a:endParaRPr lang="en-US" sz="2800"/>
          </a:p>
        </p:txBody>
      </p:sp>
      <p:sp>
        <p:nvSpPr>
          <p:cNvPr id="23" name="Text 21"/>
          <p:cNvSpPr/>
          <p:nvPr/>
        </p:nvSpPr>
        <p:spPr>
          <a:xfrm>
            <a:off x="8712403" y="4553712"/>
            <a:ext cx="2479853" cy="713232"/>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Marketing</a:t>
            </a:r>
            <a:endParaRPr lang="en-US" dirty="0"/>
          </a:p>
          <a:p>
            <a:pPr algn="ctr"/>
            <a:r>
              <a:rPr lang="en-US" b="1" dirty="0">
                <a:solidFill>
                  <a:srgbClr val="FFFFFF"/>
                </a:solidFill>
                <a:latin typeface="Arial" pitchFamily="34" charset="0"/>
                <a:ea typeface="Arial" pitchFamily="34" charset="-122"/>
                <a:cs typeface="Arial" pitchFamily="34" charset="-120"/>
              </a:rPr>
              <a:t>&amp; Sales</a:t>
            </a:r>
            <a:endParaRPr lang="en-US" dirty="0"/>
          </a:p>
        </p:txBody>
      </p:sp>
      <p:sp>
        <p:nvSpPr>
          <p:cNvPr id="24" name="Text 22"/>
          <p:cNvSpPr/>
          <p:nvPr/>
        </p:nvSpPr>
        <p:spPr>
          <a:xfrm>
            <a:off x="8734349" y="5321808"/>
            <a:ext cx="2435962" cy="1042416"/>
          </a:xfrm>
          <a:prstGeom prst="rect">
            <a:avLst/>
          </a:prstGeom>
          <a:noFill/>
          <a:ln/>
        </p:spPr>
        <p:txBody>
          <a:bodyPr wrap="square" lIns="0" tIns="0" rIns="0" bIns="0" rtlCol="0" anchor="ctr"/>
          <a:lstStyle/>
          <a:p>
            <a:pPr algn="ctr">
              <a:lnSpc>
                <a:spcPct val="112000"/>
              </a:lnSpc>
            </a:pPr>
            <a:r>
              <a:rPr lang="en-US" sz="1400" dirty="0">
                <a:solidFill>
                  <a:srgbClr val="FFFFFF"/>
                </a:solidFill>
                <a:latin typeface="Arial" pitchFamily="34" charset="0"/>
                <a:ea typeface="Arial" pitchFamily="34" charset="-122"/>
                <a:cs typeface="Arial" pitchFamily="34" charset="-120"/>
              </a:rPr>
              <a:t>Advertising, promotion, pricing &amp; channel selection</a:t>
            </a:r>
            <a:endParaRPr lang="en-US" sz="1400" dirty="0"/>
          </a:p>
        </p:txBody>
      </p:sp>
      <p:sp>
        <p:nvSpPr>
          <p:cNvPr id="25" name="Shape 23"/>
          <p:cNvSpPr/>
          <p:nvPr/>
        </p:nvSpPr>
        <p:spPr>
          <a:xfrm>
            <a:off x="11280038" y="4389120"/>
            <a:ext cx="2655418" cy="2084832"/>
          </a:xfrm>
          <a:prstGeom prst="rect">
            <a:avLst/>
          </a:prstGeom>
          <a:solidFill>
            <a:srgbClr val="C9760F"/>
          </a:solidFill>
          <a:ln w="9525">
            <a:solidFill>
              <a:srgbClr val="FFFFFF"/>
            </a:solidFill>
            <a:prstDash val="solid"/>
          </a:ln>
        </p:spPr>
        <p:txBody>
          <a:bodyPr/>
          <a:lstStyle/>
          <a:p>
            <a:endParaRPr lang="en-US" sz="2800"/>
          </a:p>
        </p:txBody>
      </p:sp>
      <p:sp>
        <p:nvSpPr>
          <p:cNvPr id="26" name="Text 24"/>
          <p:cNvSpPr/>
          <p:nvPr/>
        </p:nvSpPr>
        <p:spPr>
          <a:xfrm>
            <a:off x="11367821" y="4553712"/>
            <a:ext cx="2479853" cy="713232"/>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Service</a:t>
            </a:r>
            <a:endParaRPr lang="en-US" dirty="0"/>
          </a:p>
        </p:txBody>
      </p:sp>
      <p:sp>
        <p:nvSpPr>
          <p:cNvPr id="27" name="Text 25"/>
          <p:cNvSpPr/>
          <p:nvPr/>
        </p:nvSpPr>
        <p:spPr>
          <a:xfrm>
            <a:off x="11389766" y="5321808"/>
            <a:ext cx="2435962" cy="1042416"/>
          </a:xfrm>
          <a:prstGeom prst="rect">
            <a:avLst/>
          </a:prstGeom>
          <a:noFill/>
          <a:ln/>
        </p:spPr>
        <p:txBody>
          <a:bodyPr wrap="square" lIns="0" tIns="0" rIns="0" bIns="0" rtlCol="0" anchor="ctr"/>
          <a:lstStyle/>
          <a:p>
            <a:pPr algn="ctr">
              <a:lnSpc>
                <a:spcPct val="112000"/>
              </a:lnSpc>
            </a:pPr>
            <a:r>
              <a:rPr lang="en-US" sz="1400" dirty="0">
                <a:solidFill>
                  <a:srgbClr val="FFFFFF"/>
                </a:solidFill>
                <a:latin typeface="Arial" pitchFamily="34" charset="0"/>
                <a:ea typeface="Arial" pitchFamily="34" charset="-122"/>
                <a:cs typeface="Arial" pitchFamily="34" charset="-120"/>
              </a:rPr>
              <a:t>Installation, repair, training &amp; customer support</a:t>
            </a:r>
            <a:endParaRPr lang="en-US" sz="1400" dirty="0"/>
          </a:p>
        </p:txBody>
      </p:sp>
      <p:sp>
        <p:nvSpPr>
          <p:cNvPr id="28" name="Text 26"/>
          <p:cNvSpPr/>
          <p:nvPr/>
        </p:nvSpPr>
        <p:spPr>
          <a:xfrm>
            <a:off x="636422" y="4037990"/>
            <a:ext cx="4389120" cy="329184"/>
          </a:xfrm>
          <a:prstGeom prst="rect">
            <a:avLst/>
          </a:prstGeom>
          <a:noFill/>
          <a:ln/>
        </p:spPr>
        <p:txBody>
          <a:bodyPr wrap="square" lIns="0" tIns="0" rIns="0" bIns="0" rtlCol="0" anchor="ctr"/>
          <a:lstStyle/>
          <a:p>
            <a:r>
              <a:rPr lang="en-US" sz="1600" b="1" kern="0" spc="180" dirty="0">
                <a:solidFill>
                  <a:srgbClr val="C9760F"/>
                </a:solidFill>
                <a:latin typeface="Arial" pitchFamily="34" charset="0"/>
                <a:ea typeface="Arial" pitchFamily="34" charset="-122"/>
                <a:cs typeface="Arial" pitchFamily="34" charset="-120"/>
              </a:rPr>
              <a:t>PRIMARY ACTIVITIES</a:t>
            </a:r>
            <a:endParaRPr lang="en-US" sz="1600" dirty="0"/>
          </a:p>
        </p:txBody>
      </p:sp>
      <p:sp>
        <p:nvSpPr>
          <p:cNvPr id="29" name="Shape 27"/>
          <p:cNvSpPr/>
          <p:nvPr/>
        </p:nvSpPr>
        <p:spPr>
          <a:xfrm>
            <a:off x="13770864" y="5047488"/>
            <a:ext cx="768096" cy="768096"/>
          </a:xfrm>
          <a:prstGeom prst="ellipse">
            <a:avLst/>
          </a:prstGeom>
          <a:solidFill>
            <a:srgbClr val="1A3868"/>
          </a:solidFill>
          <a:ln/>
        </p:spPr>
        <p:txBody>
          <a:bodyPr/>
          <a:lstStyle/>
          <a:p>
            <a:endParaRPr lang="en-US" sz="2800"/>
          </a:p>
        </p:txBody>
      </p:sp>
      <p:sp>
        <p:nvSpPr>
          <p:cNvPr id="30" name="Text 28"/>
          <p:cNvSpPr/>
          <p:nvPr/>
        </p:nvSpPr>
        <p:spPr>
          <a:xfrm>
            <a:off x="13551408" y="5288890"/>
            <a:ext cx="1207008" cy="329184"/>
          </a:xfrm>
          <a:prstGeom prst="rect">
            <a:avLst/>
          </a:prstGeom>
          <a:noFill/>
          <a:ln/>
        </p:spPr>
        <p:txBody>
          <a:bodyPr wrap="square" lIns="0" tIns="0" rIns="0" bIns="0" rtlCol="0" anchor="ctr"/>
          <a:lstStyle/>
          <a:p>
            <a:pPr algn="ctr"/>
            <a:r>
              <a:rPr lang="en-US" sz="1100" b="1" dirty="0">
                <a:solidFill>
                  <a:srgbClr val="FFFFFF"/>
                </a:solidFill>
                <a:latin typeface="Arial" pitchFamily="34" charset="0"/>
                <a:ea typeface="Arial" pitchFamily="34" charset="-122"/>
                <a:cs typeface="Arial" pitchFamily="34" charset="-120"/>
              </a:rPr>
              <a:t>MARGIN</a:t>
            </a:r>
            <a:endParaRPr lang="en-US" sz="1100" dirty="0"/>
          </a:p>
        </p:txBody>
      </p:sp>
      <p:sp>
        <p:nvSpPr>
          <p:cNvPr id="31" name="Text 29"/>
          <p:cNvSpPr/>
          <p:nvPr/>
        </p:nvSpPr>
        <p:spPr>
          <a:xfrm>
            <a:off x="658368" y="6748272"/>
            <a:ext cx="13277088" cy="603504"/>
          </a:xfrm>
          <a:prstGeom prst="rect">
            <a:avLst/>
          </a:prstGeom>
          <a:noFill/>
          <a:ln/>
        </p:spPr>
        <p:txBody>
          <a:bodyPr wrap="square" lIns="0" tIns="0" rIns="0" bIns="0" rtlCol="0" anchor="ctr"/>
          <a:lstStyle/>
          <a:p>
            <a:pPr>
              <a:lnSpc>
                <a:spcPct val="120000"/>
              </a:lnSpc>
            </a:pPr>
            <a:r>
              <a:rPr lang="en-US" sz="1600" b="1" dirty="0">
                <a:solidFill>
                  <a:srgbClr val="1A3868"/>
                </a:solidFill>
                <a:latin typeface="Arial" pitchFamily="34" charset="0"/>
                <a:ea typeface="Arial" pitchFamily="34" charset="-122"/>
                <a:cs typeface="Arial" pitchFamily="34" charset="-120"/>
              </a:rPr>
              <a:t>Value chain logic:  </a:t>
            </a:r>
            <a:r>
              <a:rPr lang="en-US" sz="1600" dirty="0">
                <a:solidFill>
                  <a:srgbClr val="5B6B82"/>
                </a:solidFill>
                <a:latin typeface="Arial" pitchFamily="34" charset="0"/>
                <a:ea typeface="Arial" pitchFamily="34" charset="-122"/>
                <a:cs typeface="Arial" pitchFamily="34" charset="-120"/>
              </a:rPr>
              <a:t>Primary activities create and deliver the product; support activities enable them. The cumulative value created, minus the cost of performing these activities, determines the firm's </a:t>
            </a:r>
            <a:r>
              <a:rPr lang="en-US" sz="1600" b="1" i="1" dirty="0">
                <a:solidFill>
                  <a:srgbClr val="5B6B82"/>
                </a:solidFill>
                <a:latin typeface="Arial" pitchFamily="34" charset="0"/>
                <a:ea typeface="Arial" pitchFamily="34" charset="-122"/>
                <a:cs typeface="Arial" pitchFamily="34" charset="-120"/>
              </a:rPr>
              <a:t>margin</a:t>
            </a:r>
            <a:r>
              <a:rPr lang="en-US" sz="1600" dirty="0">
                <a:solidFill>
                  <a:srgbClr val="5B6B82"/>
                </a:solidFill>
                <a:latin typeface="Arial" pitchFamily="34" charset="0"/>
                <a:ea typeface="Arial" pitchFamily="34" charset="-122"/>
                <a:cs typeface="Arial" pitchFamily="34" charset="-120"/>
              </a:rPr>
              <a:t> — the essence of competitive advantage.</a:t>
            </a:r>
            <a:endParaRPr lang="en-US" sz="1600" dirty="0"/>
          </a:p>
        </p:txBody>
      </p:sp>
      <p:sp>
        <p:nvSpPr>
          <p:cNvPr id="32" name="Text 30"/>
          <p:cNvSpPr/>
          <p:nvPr/>
        </p:nvSpPr>
        <p:spPr>
          <a:xfrm>
            <a:off x="548640" y="7812634"/>
            <a:ext cx="8778240" cy="329184"/>
          </a:xfrm>
          <a:prstGeom prst="rect">
            <a:avLst/>
          </a:prstGeom>
          <a:noFill/>
          <a:ln/>
        </p:spPr>
        <p:txBody>
          <a:bodyPr wrap="square" lIns="0" tIns="0" rIns="0" bIns="0" rtlCol="0" anchor="ctr"/>
          <a:lstStyle/>
          <a:p>
            <a:r>
              <a:rPr lang="en-US" sz="1600" dirty="0">
                <a:solidFill>
                  <a:srgbClr val="5B6B82"/>
                </a:solidFill>
                <a:latin typeface="Arial" pitchFamily="34" charset="0"/>
                <a:ea typeface="Arial" pitchFamily="34" charset="-122"/>
                <a:cs typeface="Arial" pitchFamily="34" charset="-120"/>
              </a:rPr>
              <a:t>Supply Chain Management</a:t>
            </a:r>
            <a:endParaRPr lang="en-US" sz="1600" dirty="0"/>
          </a:p>
        </p:txBody>
      </p:sp>
      <p:sp>
        <p:nvSpPr>
          <p:cNvPr id="33" name="Text 31"/>
          <p:cNvSpPr/>
          <p:nvPr/>
        </p:nvSpPr>
        <p:spPr>
          <a:xfrm>
            <a:off x="13529462" y="7812634"/>
            <a:ext cx="548640" cy="329184"/>
          </a:xfrm>
          <a:prstGeom prst="rect">
            <a:avLst/>
          </a:prstGeom>
          <a:noFill/>
          <a:ln/>
        </p:spPr>
        <p:txBody>
          <a:bodyPr wrap="square" lIns="0" tIns="0" rIns="0" bIns="0" rtlCol="0" anchor="ctr"/>
          <a:lstStyle/>
          <a:p>
            <a:pPr algn="r"/>
            <a:r>
              <a:rPr lang="en-US" sz="1600" dirty="0">
                <a:solidFill>
                  <a:srgbClr val="5B6B82"/>
                </a:solidFill>
                <a:latin typeface="Arial" pitchFamily="34" charset="0"/>
                <a:ea typeface="Arial" pitchFamily="34" charset="-122"/>
                <a:cs typeface="Arial" pitchFamily="34" charset="-120"/>
              </a:rPr>
              <a:t>11</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384048"/>
            <a:ext cx="10972800" cy="329184"/>
          </a:xfrm>
          <a:prstGeom prst="rect">
            <a:avLst/>
          </a:prstGeom>
          <a:noFill/>
          <a:ln/>
        </p:spPr>
        <p:txBody>
          <a:bodyPr wrap="square" lIns="0" tIns="0" rIns="0" bIns="0" rtlCol="0" anchor="ctr"/>
          <a:lstStyle/>
          <a:p>
            <a:r>
              <a:rPr lang="en-US" sz="1440" b="1" kern="0" spc="240" dirty="0">
                <a:solidFill>
                  <a:srgbClr val="C9760F"/>
                </a:solidFill>
                <a:latin typeface="Arial" pitchFamily="34" charset="0"/>
                <a:ea typeface="Arial" pitchFamily="34" charset="-122"/>
                <a:cs typeface="Arial" pitchFamily="34" charset="-120"/>
              </a:rPr>
              <a:t>DIAGRAM</a:t>
            </a:r>
            <a:endParaRPr lang="en-US" sz="1440" dirty="0"/>
          </a:p>
        </p:txBody>
      </p:sp>
      <p:sp>
        <p:nvSpPr>
          <p:cNvPr id="3" name="Text 1"/>
          <p:cNvSpPr/>
          <p:nvPr/>
        </p:nvSpPr>
        <p:spPr>
          <a:xfrm>
            <a:off x="658368" y="680314"/>
            <a:ext cx="13277088" cy="822960"/>
          </a:xfrm>
          <a:prstGeom prst="rect">
            <a:avLst/>
          </a:prstGeom>
          <a:noFill/>
          <a:ln/>
        </p:spPr>
        <p:txBody>
          <a:bodyPr wrap="square" lIns="0" tIns="0" rIns="0" bIns="0" rtlCol="0" anchor="ctr"/>
          <a:lstStyle/>
          <a:p>
            <a:r>
              <a:rPr lang="en-US" sz="3600" b="1" dirty="0">
                <a:solidFill>
                  <a:srgbClr val="1A3868"/>
                </a:solidFill>
                <a:latin typeface="Arial" pitchFamily="34" charset="0"/>
                <a:ea typeface="Arial" pitchFamily="34" charset="-122"/>
                <a:cs typeface="Arial" pitchFamily="34" charset="-120"/>
              </a:rPr>
              <a:t>From a Linear Chain to a Value Network</a:t>
            </a:r>
            <a:endParaRPr lang="en-US" sz="3600" dirty="0"/>
          </a:p>
        </p:txBody>
      </p:sp>
      <p:sp>
        <p:nvSpPr>
          <p:cNvPr id="4" name="Shape 2"/>
          <p:cNvSpPr/>
          <p:nvPr/>
        </p:nvSpPr>
        <p:spPr>
          <a:xfrm>
            <a:off x="658368" y="2194560"/>
            <a:ext cx="6419088" cy="5157216"/>
          </a:xfrm>
          <a:prstGeom prst="roundRect">
            <a:avLst>
              <a:gd name="adj" fmla="val 1702"/>
            </a:avLst>
          </a:prstGeom>
          <a:solidFill>
            <a:srgbClr val="EAF1FC"/>
          </a:solidFill>
          <a:ln/>
        </p:spPr>
        <p:txBody>
          <a:bodyPr/>
          <a:lstStyle/>
          <a:p>
            <a:endParaRPr lang="en-US" sz="2800"/>
          </a:p>
        </p:txBody>
      </p:sp>
      <p:sp>
        <p:nvSpPr>
          <p:cNvPr id="5" name="Text 3"/>
          <p:cNvSpPr/>
          <p:nvPr/>
        </p:nvSpPr>
        <p:spPr>
          <a:xfrm>
            <a:off x="987552" y="2468880"/>
            <a:ext cx="5760720" cy="384048"/>
          </a:xfrm>
          <a:prstGeom prst="rect">
            <a:avLst/>
          </a:prstGeom>
          <a:noFill/>
          <a:ln/>
        </p:spPr>
        <p:txBody>
          <a:bodyPr wrap="square" lIns="0" tIns="0" rIns="0" bIns="0" rtlCol="0" anchor="ctr"/>
          <a:lstStyle/>
          <a:p>
            <a:r>
              <a:rPr lang="en-US" sz="1560" b="1" kern="0" spc="120" dirty="0">
                <a:solidFill>
                  <a:srgbClr val="1A3868"/>
                </a:solidFill>
                <a:latin typeface="Arial" pitchFamily="34" charset="0"/>
                <a:ea typeface="Arial" pitchFamily="34" charset="-122"/>
                <a:cs typeface="Arial" pitchFamily="34" charset="-120"/>
              </a:rPr>
              <a:t>TRADITIONAL SUPPLY CHAIN</a:t>
            </a:r>
            <a:endParaRPr lang="en-US" sz="1560" dirty="0"/>
          </a:p>
        </p:txBody>
      </p:sp>
      <p:sp>
        <p:nvSpPr>
          <p:cNvPr id="6" name="Text 4"/>
          <p:cNvSpPr/>
          <p:nvPr/>
        </p:nvSpPr>
        <p:spPr>
          <a:xfrm>
            <a:off x="987552" y="2874874"/>
            <a:ext cx="5760720" cy="329184"/>
          </a:xfrm>
          <a:prstGeom prst="rect">
            <a:avLst/>
          </a:prstGeom>
          <a:noFill/>
          <a:ln/>
        </p:spPr>
        <p:txBody>
          <a:bodyPr wrap="square" lIns="0" tIns="0" rIns="0" bIns="0" rtlCol="0" anchor="ctr"/>
          <a:lstStyle/>
          <a:p>
            <a:r>
              <a:rPr lang="en-US" sz="1600" i="1" dirty="0">
                <a:solidFill>
                  <a:srgbClr val="5B6B82"/>
                </a:solidFill>
                <a:latin typeface="Arial" pitchFamily="34" charset="0"/>
                <a:ea typeface="Arial" pitchFamily="34" charset="-122"/>
                <a:cs typeface="Arial" pitchFamily="34" charset="-120"/>
              </a:rPr>
              <a:t>Linear · sequential · cost-focused</a:t>
            </a:r>
            <a:endParaRPr lang="en-US" sz="1600" dirty="0"/>
          </a:p>
        </p:txBody>
      </p:sp>
      <p:sp>
        <p:nvSpPr>
          <p:cNvPr id="7" name="Shape 5"/>
          <p:cNvSpPr/>
          <p:nvPr/>
        </p:nvSpPr>
        <p:spPr>
          <a:xfrm>
            <a:off x="976579" y="3840480"/>
            <a:ext cx="1042416" cy="658368"/>
          </a:xfrm>
          <a:prstGeom prst="rect">
            <a:avLst/>
          </a:prstGeom>
          <a:solidFill>
            <a:srgbClr val="1A3868"/>
          </a:solidFill>
          <a:ln/>
        </p:spPr>
        <p:txBody>
          <a:bodyPr/>
          <a:lstStyle/>
          <a:p>
            <a:endParaRPr lang="en-US" sz="2800"/>
          </a:p>
        </p:txBody>
      </p:sp>
      <p:sp>
        <p:nvSpPr>
          <p:cNvPr id="8" name="Text 6"/>
          <p:cNvSpPr/>
          <p:nvPr/>
        </p:nvSpPr>
        <p:spPr>
          <a:xfrm>
            <a:off x="866851" y="3840480"/>
            <a:ext cx="1261872" cy="658368"/>
          </a:xfrm>
          <a:prstGeom prst="rect">
            <a:avLst/>
          </a:prstGeom>
          <a:noFill/>
          <a:ln/>
        </p:spPr>
        <p:txBody>
          <a:bodyPr wrap="square" lIns="0" tIns="0" rIns="0" bIns="0" rtlCol="0" anchor="ctr"/>
          <a:lstStyle/>
          <a:p>
            <a:pPr algn="ctr"/>
            <a:r>
              <a:rPr lang="en-US" sz="1100" b="1" dirty="0">
                <a:solidFill>
                  <a:srgbClr val="FFFFFF"/>
                </a:solidFill>
                <a:latin typeface="Arial" pitchFamily="34" charset="0"/>
                <a:ea typeface="Arial" pitchFamily="34" charset="-122"/>
                <a:cs typeface="Arial" pitchFamily="34" charset="-120"/>
              </a:rPr>
              <a:t>Supplier</a:t>
            </a:r>
            <a:endParaRPr lang="en-US" sz="1100" dirty="0"/>
          </a:p>
        </p:txBody>
      </p:sp>
      <p:sp>
        <p:nvSpPr>
          <p:cNvPr id="9" name="Shape 7"/>
          <p:cNvSpPr/>
          <p:nvPr/>
        </p:nvSpPr>
        <p:spPr>
          <a:xfrm>
            <a:off x="2018995" y="4169664"/>
            <a:ext cx="142646" cy="0"/>
          </a:xfrm>
          <a:prstGeom prst="line">
            <a:avLst/>
          </a:prstGeom>
          <a:noFill/>
          <a:ln w="25400">
            <a:solidFill>
              <a:srgbClr val="1A3868"/>
            </a:solidFill>
            <a:prstDash val="solid"/>
          </a:ln>
        </p:spPr>
        <p:txBody>
          <a:bodyPr/>
          <a:lstStyle/>
          <a:p>
            <a:endParaRPr lang="en-US" sz="2800"/>
          </a:p>
        </p:txBody>
      </p:sp>
      <p:sp>
        <p:nvSpPr>
          <p:cNvPr id="10" name="Shape 8"/>
          <p:cNvSpPr/>
          <p:nvPr/>
        </p:nvSpPr>
        <p:spPr>
          <a:xfrm>
            <a:off x="2161642" y="3840480"/>
            <a:ext cx="1042416" cy="658368"/>
          </a:xfrm>
          <a:prstGeom prst="rect">
            <a:avLst/>
          </a:prstGeom>
          <a:solidFill>
            <a:srgbClr val="1A3868"/>
          </a:solidFill>
          <a:ln/>
        </p:spPr>
        <p:txBody>
          <a:bodyPr/>
          <a:lstStyle/>
          <a:p>
            <a:endParaRPr lang="en-US" sz="2800"/>
          </a:p>
        </p:txBody>
      </p:sp>
      <p:sp>
        <p:nvSpPr>
          <p:cNvPr id="11" name="Text 9"/>
          <p:cNvSpPr/>
          <p:nvPr/>
        </p:nvSpPr>
        <p:spPr>
          <a:xfrm>
            <a:off x="2051914" y="3840480"/>
            <a:ext cx="1261872" cy="658368"/>
          </a:xfrm>
          <a:prstGeom prst="rect">
            <a:avLst/>
          </a:prstGeom>
          <a:noFill/>
          <a:ln/>
        </p:spPr>
        <p:txBody>
          <a:bodyPr wrap="square" lIns="0" tIns="0" rIns="0" bIns="0" rtlCol="0" anchor="ctr"/>
          <a:lstStyle/>
          <a:p>
            <a:pPr algn="ctr"/>
            <a:r>
              <a:rPr lang="en-US" sz="1100" b="1" dirty="0">
                <a:solidFill>
                  <a:srgbClr val="FFFFFF"/>
                </a:solidFill>
                <a:latin typeface="Arial" pitchFamily="34" charset="0"/>
                <a:ea typeface="Arial" pitchFamily="34" charset="-122"/>
                <a:cs typeface="Arial" pitchFamily="34" charset="-120"/>
              </a:rPr>
              <a:t>Manufacturer</a:t>
            </a:r>
            <a:endParaRPr lang="en-US" sz="1100" dirty="0"/>
          </a:p>
        </p:txBody>
      </p:sp>
      <p:sp>
        <p:nvSpPr>
          <p:cNvPr id="12" name="Shape 10"/>
          <p:cNvSpPr/>
          <p:nvPr/>
        </p:nvSpPr>
        <p:spPr>
          <a:xfrm>
            <a:off x="3204058" y="4169664"/>
            <a:ext cx="142646" cy="0"/>
          </a:xfrm>
          <a:prstGeom prst="line">
            <a:avLst/>
          </a:prstGeom>
          <a:noFill/>
          <a:ln w="25400">
            <a:solidFill>
              <a:srgbClr val="1A3868"/>
            </a:solidFill>
            <a:prstDash val="solid"/>
          </a:ln>
        </p:spPr>
        <p:txBody>
          <a:bodyPr/>
          <a:lstStyle/>
          <a:p>
            <a:endParaRPr lang="en-US" sz="2800"/>
          </a:p>
        </p:txBody>
      </p:sp>
      <p:sp>
        <p:nvSpPr>
          <p:cNvPr id="13" name="Shape 11"/>
          <p:cNvSpPr/>
          <p:nvPr/>
        </p:nvSpPr>
        <p:spPr>
          <a:xfrm>
            <a:off x="3346704" y="3840480"/>
            <a:ext cx="1042416" cy="658368"/>
          </a:xfrm>
          <a:prstGeom prst="rect">
            <a:avLst/>
          </a:prstGeom>
          <a:solidFill>
            <a:srgbClr val="1A3868"/>
          </a:solidFill>
          <a:ln/>
        </p:spPr>
        <p:txBody>
          <a:bodyPr/>
          <a:lstStyle/>
          <a:p>
            <a:endParaRPr lang="en-US" sz="2800"/>
          </a:p>
        </p:txBody>
      </p:sp>
      <p:sp>
        <p:nvSpPr>
          <p:cNvPr id="14" name="Text 12"/>
          <p:cNvSpPr/>
          <p:nvPr/>
        </p:nvSpPr>
        <p:spPr>
          <a:xfrm>
            <a:off x="3236976" y="3840480"/>
            <a:ext cx="1261872" cy="658368"/>
          </a:xfrm>
          <a:prstGeom prst="rect">
            <a:avLst/>
          </a:prstGeom>
          <a:noFill/>
          <a:ln/>
        </p:spPr>
        <p:txBody>
          <a:bodyPr wrap="square" lIns="0" tIns="0" rIns="0" bIns="0" rtlCol="0" anchor="ctr"/>
          <a:lstStyle/>
          <a:p>
            <a:pPr algn="ctr"/>
            <a:r>
              <a:rPr lang="en-US" sz="1100" b="1" dirty="0">
                <a:solidFill>
                  <a:srgbClr val="FFFFFF"/>
                </a:solidFill>
                <a:latin typeface="Arial" pitchFamily="34" charset="0"/>
                <a:ea typeface="Arial" pitchFamily="34" charset="-122"/>
                <a:cs typeface="Arial" pitchFamily="34" charset="-120"/>
              </a:rPr>
              <a:t>Distributor</a:t>
            </a:r>
            <a:endParaRPr lang="en-US" sz="1100" dirty="0"/>
          </a:p>
        </p:txBody>
      </p:sp>
      <p:sp>
        <p:nvSpPr>
          <p:cNvPr id="15" name="Shape 13"/>
          <p:cNvSpPr/>
          <p:nvPr/>
        </p:nvSpPr>
        <p:spPr>
          <a:xfrm>
            <a:off x="4389120" y="4169664"/>
            <a:ext cx="142646" cy="0"/>
          </a:xfrm>
          <a:prstGeom prst="line">
            <a:avLst/>
          </a:prstGeom>
          <a:noFill/>
          <a:ln w="25400">
            <a:solidFill>
              <a:srgbClr val="1A3868"/>
            </a:solidFill>
            <a:prstDash val="solid"/>
          </a:ln>
        </p:spPr>
        <p:txBody>
          <a:bodyPr/>
          <a:lstStyle/>
          <a:p>
            <a:endParaRPr lang="en-US" sz="2800"/>
          </a:p>
        </p:txBody>
      </p:sp>
      <p:sp>
        <p:nvSpPr>
          <p:cNvPr id="16" name="Shape 14"/>
          <p:cNvSpPr/>
          <p:nvPr/>
        </p:nvSpPr>
        <p:spPr>
          <a:xfrm>
            <a:off x="4531766" y="3840480"/>
            <a:ext cx="1042416" cy="658368"/>
          </a:xfrm>
          <a:prstGeom prst="rect">
            <a:avLst/>
          </a:prstGeom>
          <a:solidFill>
            <a:srgbClr val="1A3868"/>
          </a:solidFill>
          <a:ln/>
        </p:spPr>
        <p:txBody>
          <a:bodyPr/>
          <a:lstStyle/>
          <a:p>
            <a:endParaRPr lang="en-US" sz="2800"/>
          </a:p>
        </p:txBody>
      </p:sp>
      <p:sp>
        <p:nvSpPr>
          <p:cNvPr id="17" name="Text 15"/>
          <p:cNvSpPr/>
          <p:nvPr/>
        </p:nvSpPr>
        <p:spPr>
          <a:xfrm>
            <a:off x="4422038" y="3840480"/>
            <a:ext cx="1261872" cy="658368"/>
          </a:xfrm>
          <a:prstGeom prst="rect">
            <a:avLst/>
          </a:prstGeom>
          <a:noFill/>
          <a:ln/>
        </p:spPr>
        <p:txBody>
          <a:bodyPr wrap="square" lIns="0" tIns="0" rIns="0" bIns="0" rtlCol="0" anchor="ctr"/>
          <a:lstStyle/>
          <a:p>
            <a:pPr algn="ctr"/>
            <a:r>
              <a:rPr lang="en-US" sz="1100" b="1" dirty="0">
                <a:solidFill>
                  <a:srgbClr val="FFFFFF"/>
                </a:solidFill>
                <a:latin typeface="Arial" pitchFamily="34" charset="0"/>
                <a:ea typeface="Arial" pitchFamily="34" charset="-122"/>
                <a:cs typeface="Arial" pitchFamily="34" charset="-120"/>
              </a:rPr>
              <a:t>Retailer</a:t>
            </a:r>
            <a:endParaRPr lang="en-US" sz="1100" dirty="0"/>
          </a:p>
        </p:txBody>
      </p:sp>
      <p:sp>
        <p:nvSpPr>
          <p:cNvPr id="18" name="Shape 16"/>
          <p:cNvSpPr/>
          <p:nvPr/>
        </p:nvSpPr>
        <p:spPr>
          <a:xfrm>
            <a:off x="5574183" y="4169664"/>
            <a:ext cx="142646" cy="0"/>
          </a:xfrm>
          <a:prstGeom prst="line">
            <a:avLst/>
          </a:prstGeom>
          <a:noFill/>
          <a:ln w="25400">
            <a:solidFill>
              <a:srgbClr val="1A3868"/>
            </a:solidFill>
            <a:prstDash val="solid"/>
          </a:ln>
        </p:spPr>
        <p:txBody>
          <a:bodyPr/>
          <a:lstStyle/>
          <a:p>
            <a:endParaRPr lang="en-US" sz="2800"/>
          </a:p>
        </p:txBody>
      </p:sp>
      <p:sp>
        <p:nvSpPr>
          <p:cNvPr id="19" name="Shape 17"/>
          <p:cNvSpPr/>
          <p:nvPr/>
        </p:nvSpPr>
        <p:spPr>
          <a:xfrm>
            <a:off x="5716829" y="3840480"/>
            <a:ext cx="1042416" cy="658368"/>
          </a:xfrm>
          <a:prstGeom prst="rect">
            <a:avLst/>
          </a:prstGeom>
          <a:solidFill>
            <a:srgbClr val="1A3868"/>
          </a:solidFill>
          <a:ln/>
        </p:spPr>
        <p:txBody>
          <a:bodyPr/>
          <a:lstStyle/>
          <a:p>
            <a:endParaRPr lang="en-US" sz="2800"/>
          </a:p>
        </p:txBody>
      </p:sp>
      <p:sp>
        <p:nvSpPr>
          <p:cNvPr id="20" name="Text 18"/>
          <p:cNvSpPr/>
          <p:nvPr/>
        </p:nvSpPr>
        <p:spPr>
          <a:xfrm>
            <a:off x="5607101" y="3840480"/>
            <a:ext cx="1261872" cy="658368"/>
          </a:xfrm>
          <a:prstGeom prst="rect">
            <a:avLst/>
          </a:prstGeom>
          <a:noFill/>
          <a:ln/>
        </p:spPr>
        <p:txBody>
          <a:bodyPr wrap="square" lIns="0" tIns="0" rIns="0" bIns="0" rtlCol="0" anchor="ctr"/>
          <a:lstStyle/>
          <a:p>
            <a:pPr algn="ctr"/>
            <a:r>
              <a:rPr lang="en-US" sz="1100" b="1" dirty="0">
                <a:solidFill>
                  <a:srgbClr val="FFFFFF"/>
                </a:solidFill>
                <a:latin typeface="Arial" pitchFamily="34" charset="0"/>
                <a:ea typeface="Arial" pitchFamily="34" charset="-122"/>
                <a:cs typeface="Arial" pitchFamily="34" charset="-120"/>
              </a:rPr>
              <a:t>Customer</a:t>
            </a:r>
            <a:endParaRPr lang="en-US" sz="1100" dirty="0"/>
          </a:p>
        </p:txBody>
      </p:sp>
      <p:sp>
        <p:nvSpPr>
          <p:cNvPr id="21" name="Text 19"/>
          <p:cNvSpPr/>
          <p:nvPr/>
        </p:nvSpPr>
        <p:spPr>
          <a:xfrm>
            <a:off x="987552" y="4937760"/>
            <a:ext cx="5760720" cy="438912"/>
          </a:xfrm>
          <a:prstGeom prst="rect">
            <a:avLst/>
          </a:prstGeom>
          <a:noFill/>
          <a:ln/>
        </p:spPr>
        <p:txBody>
          <a:bodyPr wrap="square" lIns="0" tIns="0" rIns="0" bIns="0" rtlCol="0" anchor="ctr"/>
          <a:lstStyle/>
          <a:p>
            <a:r>
              <a:rPr lang="en-US" sz="1600" dirty="0">
                <a:solidFill>
                  <a:srgbClr val="1F2937"/>
                </a:solidFill>
                <a:latin typeface="Arial" pitchFamily="34" charset="0"/>
                <a:ea typeface="Arial" pitchFamily="34" charset="-122"/>
                <a:cs typeface="Arial" pitchFamily="34" charset="-120"/>
              </a:rPr>
              <a:t>→  One-directional flow of material, driven by forecasts pushed downstream</a:t>
            </a:r>
            <a:endParaRPr lang="en-US" sz="1600" dirty="0"/>
          </a:p>
        </p:txBody>
      </p:sp>
      <p:sp>
        <p:nvSpPr>
          <p:cNvPr id="22" name="Text 20"/>
          <p:cNvSpPr/>
          <p:nvPr/>
        </p:nvSpPr>
        <p:spPr>
          <a:xfrm>
            <a:off x="987552" y="5541264"/>
            <a:ext cx="5760720" cy="438912"/>
          </a:xfrm>
          <a:prstGeom prst="rect">
            <a:avLst/>
          </a:prstGeom>
          <a:noFill/>
          <a:ln/>
        </p:spPr>
        <p:txBody>
          <a:bodyPr wrap="square" lIns="0" tIns="0" rIns="0" bIns="0" rtlCol="0" anchor="ctr"/>
          <a:lstStyle/>
          <a:p>
            <a:r>
              <a:rPr lang="en-US" sz="1600" b="1" dirty="0">
                <a:solidFill>
                  <a:srgbClr val="1A3868"/>
                </a:solidFill>
                <a:latin typeface="Arial" pitchFamily="34" charset="0"/>
                <a:ea typeface="Arial" pitchFamily="34" charset="-122"/>
                <a:cs typeface="Arial" pitchFamily="34" charset="-120"/>
              </a:rPr>
              <a:t>•  </a:t>
            </a:r>
            <a:r>
              <a:rPr lang="en-US" sz="1600" dirty="0">
                <a:solidFill>
                  <a:srgbClr val="1F2937"/>
                </a:solidFill>
                <a:latin typeface="Arial" pitchFamily="34" charset="0"/>
                <a:ea typeface="Arial" pitchFamily="34" charset="-122"/>
                <a:cs typeface="Arial" pitchFamily="34" charset="-120"/>
              </a:rPr>
              <a:t>Goal: minimize cost</a:t>
            </a:r>
            <a:endParaRPr lang="en-US" sz="1600" dirty="0"/>
          </a:p>
        </p:txBody>
      </p:sp>
      <p:sp>
        <p:nvSpPr>
          <p:cNvPr id="23" name="Text 21"/>
          <p:cNvSpPr/>
          <p:nvPr/>
        </p:nvSpPr>
        <p:spPr>
          <a:xfrm>
            <a:off x="987552" y="6002122"/>
            <a:ext cx="5760720" cy="438912"/>
          </a:xfrm>
          <a:prstGeom prst="rect">
            <a:avLst/>
          </a:prstGeom>
          <a:noFill/>
          <a:ln/>
        </p:spPr>
        <p:txBody>
          <a:bodyPr wrap="square" lIns="0" tIns="0" rIns="0" bIns="0" rtlCol="0" anchor="ctr"/>
          <a:lstStyle/>
          <a:p>
            <a:r>
              <a:rPr lang="en-US" sz="1600" b="1" dirty="0">
                <a:solidFill>
                  <a:srgbClr val="1A3868"/>
                </a:solidFill>
                <a:latin typeface="Arial" pitchFamily="34" charset="0"/>
                <a:ea typeface="Arial" pitchFamily="34" charset="-122"/>
                <a:cs typeface="Arial" pitchFamily="34" charset="-120"/>
              </a:rPr>
              <a:t>•  </a:t>
            </a:r>
            <a:r>
              <a:rPr lang="en-US" sz="1600" dirty="0">
                <a:solidFill>
                  <a:srgbClr val="1F2937"/>
                </a:solidFill>
                <a:latin typeface="Arial" pitchFamily="34" charset="0"/>
                <a:ea typeface="Arial" pitchFamily="34" charset="-122"/>
                <a:cs typeface="Arial" pitchFamily="34" charset="-120"/>
              </a:rPr>
              <a:t>Information flows in isolated silos</a:t>
            </a:r>
            <a:endParaRPr lang="en-US" sz="1600" dirty="0"/>
          </a:p>
        </p:txBody>
      </p:sp>
      <p:sp>
        <p:nvSpPr>
          <p:cNvPr id="24" name="Text 22"/>
          <p:cNvSpPr/>
          <p:nvPr/>
        </p:nvSpPr>
        <p:spPr>
          <a:xfrm>
            <a:off x="987552" y="6462979"/>
            <a:ext cx="5760720" cy="438912"/>
          </a:xfrm>
          <a:prstGeom prst="rect">
            <a:avLst/>
          </a:prstGeom>
          <a:noFill/>
          <a:ln/>
        </p:spPr>
        <p:txBody>
          <a:bodyPr wrap="square" lIns="0" tIns="0" rIns="0" bIns="0" rtlCol="0" anchor="ctr"/>
          <a:lstStyle/>
          <a:p>
            <a:r>
              <a:rPr lang="en-US" sz="1600" b="1" dirty="0">
                <a:solidFill>
                  <a:srgbClr val="1A3868"/>
                </a:solidFill>
                <a:latin typeface="Arial" pitchFamily="34" charset="0"/>
                <a:ea typeface="Arial" pitchFamily="34" charset="-122"/>
                <a:cs typeface="Arial" pitchFamily="34" charset="-120"/>
              </a:rPr>
              <a:t>•  </a:t>
            </a:r>
            <a:r>
              <a:rPr lang="en-US" sz="1600" dirty="0">
                <a:solidFill>
                  <a:srgbClr val="1F2937"/>
                </a:solidFill>
                <a:latin typeface="Arial" pitchFamily="34" charset="0"/>
                <a:ea typeface="Arial" pitchFamily="34" charset="-122"/>
                <a:cs typeface="Arial" pitchFamily="34" charset="-120"/>
              </a:rPr>
              <a:t>Success = on-time, low-cost delivery</a:t>
            </a:r>
            <a:endParaRPr lang="en-US" sz="1600" dirty="0"/>
          </a:p>
        </p:txBody>
      </p:sp>
      <p:sp>
        <p:nvSpPr>
          <p:cNvPr id="25" name="Shape 23"/>
          <p:cNvSpPr/>
          <p:nvPr/>
        </p:nvSpPr>
        <p:spPr>
          <a:xfrm>
            <a:off x="7516368" y="2194560"/>
            <a:ext cx="6419088" cy="5650992"/>
          </a:xfrm>
          <a:prstGeom prst="roundRect">
            <a:avLst>
              <a:gd name="adj" fmla="val 1702"/>
            </a:avLst>
          </a:prstGeom>
          <a:solidFill>
            <a:srgbClr val="1A3868"/>
          </a:solidFill>
          <a:ln/>
          <a:effectLst>
            <a:outerShdw blurRad="127000" dist="38100" dir="5400000" algn="bl" rotWithShape="0">
              <a:srgbClr val="000000">
                <a:alpha val="15000"/>
              </a:srgbClr>
            </a:outerShdw>
          </a:effectLst>
        </p:spPr>
        <p:txBody>
          <a:bodyPr/>
          <a:lstStyle/>
          <a:p>
            <a:endParaRPr lang="en-US" sz="2800"/>
          </a:p>
        </p:txBody>
      </p:sp>
      <p:sp>
        <p:nvSpPr>
          <p:cNvPr id="26" name="Text 24"/>
          <p:cNvSpPr/>
          <p:nvPr/>
        </p:nvSpPr>
        <p:spPr>
          <a:xfrm>
            <a:off x="7845552" y="2468880"/>
            <a:ext cx="5760720" cy="384048"/>
          </a:xfrm>
          <a:prstGeom prst="rect">
            <a:avLst/>
          </a:prstGeom>
          <a:noFill/>
          <a:ln/>
        </p:spPr>
        <p:txBody>
          <a:bodyPr wrap="square" lIns="0" tIns="0" rIns="0" bIns="0" rtlCol="0" anchor="ctr"/>
          <a:lstStyle/>
          <a:p>
            <a:r>
              <a:rPr lang="en-US" b="1" kern="0" spc="120" dirty="0">
                <a:solidFill>
                  <a:srgbClr val="C9760F"/>
                </a:solidFill>
                <a:latin typeface="Arial" pitchFamily="34" charset="0"/>
                <a:ea typeface="Arial" pitchFamily="34" charset="-122"/>
                <a:cs typeface="Arial" pitchFamily="34" charset="-120"/>
              </a:rPr>
              <a:t>INTEGRATED VALUE CHAIN</a:t>
            </a:r>
            <a:endParaRPr lang="en-US" dirty="0"/>
          </a:p>
        </p:txBody>
      </p:sp>
      <p:sp>
        <p:nvSpPr>
          <p:cNvPr id="27" name="Text 25"/>
          <p:cNvSpPr/>
          <p:nvPr/>
        </p:nvSpPr>
        <p:spPr>
          <a:xfrm>
            <a:off x="7845552" y="2874874"/>
            <a:ext cx="5760720" cy="329184"/>
          </a:xfrm>
          <a:prstGeom prst="rect">
            <a:avLst/>
          </a:prstGeom>
          <a:noFill/>
          <a:ln/>
        </p:spPr>
        <p:txBody>
          <a:bodyPr wrap="square" lIns="0" tIns="0" rIns="0" bIns="0" rtlCol="0" anchor="ctr"/>
          <a:lstStyle/>
          <a:p>
            <a:r>
              <a:rPr lang="en-US" sz="1600" i="1" dirty="0">
                <a:solidFill>
                  <a:srgbClr val="B6D6FC"/>
                </a:solidFill>
                <a:latin typeface="Arial" pitchFamily="34" charset="0"/>
                <a:ea typeface="Arial" pitchFamily="34" charset="-122"/>
                <a:cs typeface="Arial" pitchFamily="34" charset="-120"/>
              </a:rPr>
              <a:t>Networked · collaborative · value-focused</a:t>
            </a:r>
            <a:endParaRPr lang="en-US" sz="1600" dirty="0"/>
          </a:p>
        </p:txBody>
      </p:sp>
      <p:sp>
        <p:nvSpPr>
          <p:cNvPr id="28" name="Shape 26"/>
          <p:cNvSpPr/>
          <p:nvPr/>
        </p:nvSpPr>
        <p:spPr>
          <a:xfrm>
            <a:off x="10122408" y="4334256"/>
            <a:ext cx="1207008" cy="877824"/>
          </a:xfrm>
          <a:prstGeom prst="ellipse">
            <a:avLst/>
          </a:prstGeom>
          <a:solidFill>
            <a:srgbClr val="C9760F"/>
          </a:solidFill>
          <a:ln/>
        </p:spPr>
        <p:txBody>
          <a:bodyPr/>
          <a:lstStyle/>
          <a:p>
            <a:endParaRPr lang="en-US" sz="2800"/>
          </a:p>
        </p:txBody>
      </p:sp>
      <p:sp>
        <p:nvSpPr>
          <p:cNvPr id="29" name="Text 27"/>
          <p:cNvSpPr/>
          <p:nvPr/>
        </p:nvSpPr>
        <p:spPr>
          <a:xfrm>
            <a:off x="10122408" y="4334256"/>
            <a:ext cx="1207008" cy="877824"/>
          </a:xfrm>
          <a:prstGeom prst="rect">
            <a:avLst/>
          </a:prstGeom>
          <a:noFill/>
          <a:ln/>
        </p:spPr>
        <p:txBody>
          <a:bodyPr wrap="square" lIns="0" tIns="0" rIns="0" bIns="0" rtlCol="0" anchor="ctr"/>
          <a:lstStyle/>
          <a:p>
            <a:pPr algn="ctr"/>
            <a:r>
              <a:rPr lang="en-US" sz="1400" b="1" dirty="0">
                <a:solidFill>
                  <a:srgbClr val="FFFFFF"/>
                </a:solidFill>
                <a:latin typeface="Arial" pitchFamily="34" charset="0"/>
                <a:ea typeface="Arial" pitchFamily="34" charset="-122"/>
                <a:cs typeface="Arial" pitchFamily="34" charset="-120"/>
              </a:rPr>
              <a:t>Customer</a:t>
            </a:r>
            <a:endParaRPr lang="en-US" sz="1400" dirty="0"/>
          </a:p>
          <a:p>
            <a:pPr algn="ctr"/>
            <a:r>
              <a:rPr lang="en-US" sz="1400" b="1" dirty="0">
                <a:solidFill>
                  <a:srgbClr val="FFFFFF"/>
                </a:solidFill>
                <a:latin typeface="Arial" pitchFamily="34" charset="0"/>
                <a:ea typeface="Arial" pitchFamily="34" charset="-122"/>
                <a:cs typeface="Arial" pitchFamily="34" charset="-120"/>
              </a:rPr>
              <a:t>Value</a:t>
            </a:r>
            <a:endParaRPr lang="en-US" sz="1400" dirty="0"/>
          </a:p>
        </p:txBody>
      </p:sp>
      <p:sp>
        <p:nvSpPr>
          <p:cNvPr id="30" name="Shape 28"/>
          <p:cNvSpPr/>
          <p:nvPr/>
        </p:nvSpPr>
        <p:spPr>
          <a:xfrm>
            <a:off x="10725912" y="4236873"/>
            <a:ext cx="1092814" cy="536296"/>
          </a:xfrm>
          <a:prstGeom prst="line">
            <a:avLst/>
          </a:prstGeom>
          <a:noFill/>
          <a:ln w="22225">
            <a:solidFill>
              <a:srgbClr val="B6D6FC"/>
            </a:solidFill>
            <a:prstDash val="dash"/>
          </a:ln>
        </p:spPr>
        <p:txBody>
          <a:bodyPr/>
          <a:lstStyle/>
          <a:p>
            <a:endParaRPr lang="en-US" sz="2800"/>
          </a:p>
        </p:txBody>
      </p:sp>
      <p:sp>
        <p:nvSpPr>
          <p:cNvPr id="31" name="Shape 29"/>
          <p:cNvSpPr/>
          <p:nvPr/>
        </p:nvSpPr>
        <p:spPr>
          <a:xfrm>
            <a:off x="11270086" y="3907688"/>
            <a:ext cx="1097280" cy="658368"/>
          </a:xfrm>
          <a:prstGeom prst="ellipse">
            <a:avLst/>
          </a:prstGeom>
          <a:solidFill>
            <a:srgbClr val="FFFFFF"/>
          </a:solidFill>
          <a:ln/>
        </p:spPr>
        <p:txBody>
          <a:bodyPr/>
          <a:lstStyle/>
          <a:p>
            <a:endParaRPr lang="en-US" sz="2800"/>
          </a:p>
        </p:txBody>
      </p:sp>
      <p:sp>
        <p:nvSpPr>
          <p:cNvPr id="32" name="Text 30"/>
          <p:cNvSpPr/>
          <p:nvPr/>
        </p:nvSpPr>
        <p:spPr>
          <a:xfrm>
            <a:off x="11270086" y="3907688"/>
            <a:ext cx="1097280" cy="658368"/>
          </a:xfrm>
          <a:prstGeom prst="rect">
            <a:avLst/>
          </a:prstGeom>
          <a:noFill/>
          <a:ln/>
        </p:spPr>
        <p:txBody>
          <a:bodyPr wrap="square" lIns="0" tIns="0" rIns="0" bIns="0" rtlCol="0" anchor="ctr"/>
          <a:lstStyle/>
          <a:p>
            <a:pPr algn="ctr"/>
            <a:r>
              <a:rPr lang="en-US" sz="1100" b="1" dirty="0">
                <a:solidFill>
                  <a:srgbClr val="1A3868"/>
                </a:solidFill>
                <a:latin typeface="Arial" pitchFamily="34" charset="0"/>
                <a:ea typeface="Arial" pitchFamily="34" charset="-122"/>
                <a:cs typeface="Arial" pitchFamily="34" charset="-120"/>
              </a:rPr>
              <a:t>Supplier</a:t>
            </a:r>
            <a:endParaRPr lang="en-US" sz="1100" dirty="0"/>
          </a:p>
        </p:txBody>
      </p:sp>
      <p:sp>
        <p:nvSpPr>
          <p:cNvPr id="33" name="Shape 31"/>
          <p:cNvSpPr/>
          <p:nvPr/>
        </p:nvSpPr>
        <p:spPr>
          <a:xfrm>
            <a:off x="10725912" y="4773168"/>
            <a:ext cx="630936" cy="928891"/>
          </a:xfrm>
          <a:prstGeom prst="line">
            <a:avLst/>
          </a:prstGeom>
          <a:noFill/>
          <a:ln w="22225">
            <a:solidFill>
              <a:srgbClr val="B6D6FC"/>
            </a:solidFill>
            <a:prstDash val="dash"/>
          </a:ln>
        </p:spPr>
        <p:txBody>
          <a:bodyPr/>
          <a:lstStyle/>
          <a:p>
            <a:endParaRPr lang="en-US" sz="2800"/>
          </a:p>
        </p:txBody>
      </p:sp>
      <p:sp>
        <p:nvSpPr>
          <p:cNvPr id="34" name="Shape 32"/>
          <p:cNvSpPr/>
          <p:nvPr/>
        </p:nvSpPr>
        <p:spPr>
          <a:xfrm>
            <a:off x="10808208" y="5372875"/>
            <a:ext cx="1097280" cy="658368"/>
          </a:xfrm>
          <a:prstGeom prst="ellipse">
            <a:avLst/>
          </a:prstGeom>
          <a:solidFill>
            <a:srgbClr val="FFFFFF"/>
          </a:solidFill>
          <a:ln/>
        </p:spPr>
        <p:txBody>
          <a:bodyPr/>
          <a:lstStyle/>
          <a:p>
            <a:endParaRPr lang="en-US" sz="2800"/>
          </a:p>
        </p:txBody>
      </p:sp>
      <p:sp>
        <p:nvSpPr>
          <p:cNvPr id="35" name="Text 33"/>
          <p:cNvSpPr/>
          <p:nvPr/>
        </p:nvSpPr>
        <p:spPr>
          <a:xfrm>
            <a:off x="10808208" y="5372875"/>
            <a:ext cx="1097280" cy="658368"/>
          </a:xfrm>
          <a:prstGeom prst="rect">
            <a:avLst/>
          </a:prstGeom>
          <a:noFill/>
          <a:ln/>
        </p:spPr>
        <p:txBody>
          <a:bodyPr wrap="square" lIns="0" tIns="0" rIns="0" bIns="0" rtlCol="0" anchor="ctr"/>
          <a:lstStyle/>
          <a:p>
            <a:pPr algn="ctr"/>
            <a:r>
              <a:rPr lang="en-US" sz="1100" b="1" dirty="0">
                <a:solidFill>
                  <a:srgbClr val="1A3868"/>
                </a:solidFill>
                <a:latin typeface="Arial" pitchFamily="34" charset="0"/>
                <a:ea typeface="Arial" pitchFamily="34" charset="-122"/>
                <a:cs typeface="Arial" pitchFamily="34" charset="-120"/>
              </a:rPr>
              <a:t>Manufacturer</a:t>
            </a:r>
            <a:endParaRPr lang="en-US" sz="1100" dirty="0"/>
          </a:p>
        </p:txBody>
      </p:sp>
      <p:sp>
        <p:nvSpPr>
          <p:cNvPr id="36" name="Shape 34"/>
          <p:cNvSpPr/>
          <p:nvPr/>
        </p:nvSpPr>
        <p:spPr>
          <a:xfrm>
            <a:off x="9633098" y="4773168"/>
            <a:ext cx="1092814" cy="536296"/>
          </a:xfrm>
          <a:prstGeom prst="line">
            <a:avLst/>
          </a:prstGeom>
          <a:noFill/>
          <a:ln w="22225">
            <a:solidFill>
              <a:srgbClr val="B6D6FC"/>
            </a:solidFill>
            <a:prstDash val="dash"/>
          </a:ln>
        </p:spPr>
        <p:txBody>
          <a:bodyPr/>
          <a:lstStyle/>
          <a:p>
            <a:endParaRPr lang="en-US" sz="2800"/>
          </a:p>
        </p:txBody>
      </p:sp>
      <p:sp>
        <p:nvSpPr>
          <p:cNvPr id="37" name="Shape 35"/>
          <p:cNvSpPr/>
          <p:nvPr/>
        </p:nvSpPr>
        <p:spPr>
          <a:xfrm>
            <a:off x="9084458" y="4980280"/>
            <a:ext cx="1097280" cy="658368"/>
          </a:xfrm>
          <a:prstGeom prst="ellipse">
            <a:avLst/>
          </a:prstGeom>
          <a:solidFill>
            <a:srgbClr val="FFFFFF"/>
          </a:solidFill>
          <a:ln/>
        </p:spPr>
        <p:txBody>
          <a:bodyPr/>
          <a:lstStyle/>
          <a:p>
            <a:endParaRPr lang="en-US" sz="2800"/>
          </a:p>
        </p:txBody>
      </p:sp>
      <p:sp>
        <p:nvSpPr>
          <p:cNvPr id="38" name="Text 36"/>
          <p:cNvSpPr/>
          <p:nvPr/>
        </p:nvSpPr>
        <p:spPr>
          <a:xfrm>
            <a:off x="9084458" y="4980280"/>
            <a:ext cx="1097280" cy="658368"/>
          </a:xfrm>
          <a:prstGeom prst="rect">
            <a:avLst/>
          </a:prstGeom>
          <a:noFill/>
          <a:ln/>
        </p:spPr>
        <p:txBody>
          <a:bodyPr wrap="square" lIns="0" tIns="0" rIns="0" bIns="0" rtlCol="0" anchor="ctr"/>
          <a:lstStyle/>
          <a:p>
            <a:pPr algn="ctr"/>
            <a:r>
              <a:rPr lang="en-US" sz="1100" b="1" dirty="0">
                <a:solidFill>
                  <a:srgbClr val="1A3868"/>
                </a:solidFill>
                <a:latin typeface="Arial" pitchFamily="34" charset="0"/>
                <a:ea typeface="Arial" pitchFamily="34" charset="-122"/>
                <a:cs typeface="Arial" pitchFamily="34" charset="-120"/>
              </a:rPr>
              <a:t>Distributor</a:t>
            </a:r>
            <a:endParaRPr lang="en-US" sz="1100" dirty="0"/>
          </a:p>
        </p:txBody>
      </p:sp>
      <p:sp>
        <p:nvSpPr>
          <p:cNvPr id="39" name="Shape 37"/>
          <p:cNvSpPr/>
          <p:nvPr/>
        </p:nvSpPr>
        <p:spPr>
          <a:xfrm>
            <a:off x="10094976" y="3844277"/>
            <a:ext cx="630936" cy="928891"/>
          </a:xfrm>
          <a:prstGeom prst="line">
            <a:avLst/>
          </a:prstGeom>
          <a:noFill/>
          <a:ln w="22225">
            <a:solidFill>
              <a:srgbClr val="B6D6FC"/>
            </a:solidFill>
            <a:prstDash val="dash"/>
          </a:ln>
        </p:spPr>
        <p:txBody>
          <a:bodyPr/>
          <a:lstStyle/>
          <a:p>
            <a:endParaRPr lang="en-US" sz="2800"/>
          </a:p>
        </p:txBody>
      </p:sp>
      <p:sp>
        <p:nvSpPr>
          <p:cNvPr id="40" name="Shape 38"/>
          <p:cNvSpPr/>
          <p:nvPr/>
        </p:nvSpPr>
        <p:spPr>
          <a:xfrm>
            <a:off x="9546336" y="3515093"/>
            <a:ext cx="1097280" cy="658368"/>
          </a:xfrm>
          <a:prstGeom prst="ellipse">
            <a:avLst/>
          </a:prstGeom>
          <a:solidFill>
            <a:srgbClr val="FFFFFF"/>
          </a:solidFill>
          <a:ln/>
        </p:spPr>
        <p:txBody>
          <a:bodyPr/>
          <a:lstStyle/>
          <a:p>
            <a:endParaRPr lang="en-US" sz="2800"/>
          </a:p>
        </p:txBody>
      </p:sp>
      <p:sp>
        <p:nvSpPr>
          <p:cNvPr id="41" name="Text 39"/>
          <p:cNvSpPr/>
          <p:nvPr/>
        </p:nvSpPr>
        <p:spPr>
          <a:xfrm>
            <a:off x="9546336" y="3515093"/>
            <a:ext cx="1097280" cy="658368"/>
          </a:xfrm>
          <a:prstGeom prst="rect">
            <a:avLst/>
          </a:prstGeom>
          <a:noFill/>
          <a:ln/>
        </p:spPr>
        <p:txBody>
          <a:bodyPr wrap="square" lIns="0" tIns="0" rIns="0" bIns="0" rtlCol="0" anchor="ctr"/>
          <a:lstStyle/>
          <a:p>
            <a:pPr algn="ctr"/>
            <a:r>
              <a:rPr lang="en-US" sz="1100" b="1" dirty="0">
                <a:solidFill>
                  <a:srgbClr val="1A3868"/>
                </a:solidFill>
                <a:latin typeface="Arial" pitchFamily="34" charset="0"/>
                <a:ea typeface="Arial" pitchFamily="34" charset="-122"/>
                <a:cs typeface="Arial" pitchFamily="34" charset="-120"/>
              </a:rPr>
              <a:t>Retailer</a:t>
            </a:r>
            <a:endParaRPr lang="en-US" sz="1100" dirty="0"/>
          </a:p>
        </p:txBody>
      </p:sp>
      <p:sp>
        <p:nvSpPr>
          <p:cNvPr id="42" name="Text 40"/>
          <p:cNvSpPr/>
          <p:nvPr/>
        </p:nvSpPr>
        <p:spPr>
          <a:xfrm>
            <a:off x="7845552" y="6473952"/>
            <a:ext cx="5760720" cy="438912"/>
          </a:xfrm>
          <a:prstGeom prst="rect">
            <a:avLst/>
          </a:prstGeom>
          <a:noFill/>
          <a:ln/>
        </p:spPr>
        <p:txBody>
          <a:bodyPr wrap="square" lIns="0" tIns="0" rIns="0" bIns="0" rtlCol="0" anchor="ctr"/>
          <a:lstStyle/>
          <a:p>
            <a:r>
              <a:rPr lang="en-US" sz="1600" b="1" dirty="0">
                <a:solidFill>
                  <a:srgbClr val="C9760F"/>
                </a:solidFill>
                <a:latin typeface="Arial" pitchFamily="34" charset="0"/>
                <a:ea typeface="Arial" pitchFamily="34" charset="-122"/>
                <a:cs typeface="Arial" pitchFamily="34" charset="-120"/>
              </a:rPr>
              <a:t>•  </a:t>
            </a:r>
            <a:r>
              <a:rPr lang="en-US" sz="1600" dirty="0">
                <a:solidFill>
                  <a:srgbClr val="FFFFFF"/>
                </a:solidFill>
                <a:latin typeface="Arial" pitchFamily="34" charset="0"/>
                <a:ea typeface="Arial" pitchFamily="34" charset="-122"/>
                <a:cs typeface="Arial" pitchFamily="34" charset="-120"/>
              </a:rPr>
              <a:t>Goal: maximize value to customer</a:t>
            </a:r>
            <a:endParaRPr lang="en-US" sz="1600" dirty="0"/>
          </a:p>
        </p:txBody>
      </p:sp>
      <p:sp>
        <p:nvSpPr>
          <p:cNvPr id="43" name="Text 41"/>
          <p:cNvSpPr/>
          <p:nvPr/>
        </p:nvSpPr>
        <p:spPr>
          <a:xfrm>
            <a:off x="7845552" y="6934810"/>
            <a:ext cx="5760720" cy="438912"/>
          </a:xfrm>
          <a:prstGeom prst="rect">
            <a:avLst/>
          </a:prstGeom>
          <a:noFill/>
          <a:ln/>
        </p:spPr>
        <p:txBody>
          <a:bodyPr wrap="square" lIns="0" tIns="0" rIns="0" bIns="0" rtlCol="0" anchor="ctr"/>
          <a:lstStyle/>
          <a:p>
            <a:r>
              <a:rPr lang="en-US" sz="1600" b="1" dirty="0">
                <a:solidFill>
                  <a:srgbClr val="C9760F"/>
                </a:solidFill>
                <a:latin typeface="Arial" pitchFamily="34" charset="0"/>
                <a:ea typeface="Arial" pitchFamily="34" charset="-122"/>
                <a:cs typeface="Arial" pitchFamily="34" charset="-120"/>
              </a:rPr>
              <a:t>•  </a:t>
            </a:r>
            <a:r>
              <a:rPr lang="en-US" sz="1600" dirty="0">
                <a:solidFill>
                  <a:srgbClr val="FFFFFF"/>
                </a:solidFill>
                <a:latin typeface="Arial" pitchFamily="34" charset="0"/>
                <a:ea typeface="Arial" pitchFamily="34" charset="-122"/>
                <a:cs typeface="Arial" pitchFamily="34" charset="-120"/>
              </a:rPr>
              <a:t>Two-way, real-time information sharing</a:t>
            </a:r>
            <a:endParaRPr lang="en-US" sz="1600" dirty="0"/>
          </a:p>
        </p:txBody>
      </p:sp>
      <p:sp>
        <p:nvSpPr>
          <p:cNvPr id="44" name="Text 42"/>
          <p:cNvSpPr/>
          <p:nvPr/>
        </p:nvSpPr>
        <p:spPr>
          <a:xfrm>
            <a:off x="7845552" y="7395667"/>
            <a:ext cx="5760720" cy="438912"/>
          </a:xfrm>
          <a:prstGeom prst="rect">
            <a:avLst/>
          </a:prstGeom>
          <a:noFill/>
          <a:ln/>
        </p:spPr>
        <p:txBody>
          <a:bodyPr wrap="square" lIns="0" tIns="0" rIns="0" bIns="0" rtlCol="0" anchor="ctr"/>
          <a:lstStyle/>
          <a:p>
            <a:r>
              <a:rPr lang="en-US" sz="1600" b="1" dirty="0">
                <a:solidFill>
                  <a:srgbClr val="C9760F"/>
                </a:solidFill>
                <a:latin typeface="Arial" pitchFamily="34" charset="0"/>
                <a:ea typeface="Arial" pitchFamily="34" charset="-122"/>
                <a:cs typeface="Arial" pitchFamily="34" charset="-120"/>
              </a:rPr>
              <a:t>•  </a:t>
            </a:r>
            <a:r>
              <a:rPr lang="en-US" sz="1600" dirty="0">
                <a:solidFill>
                  <a:srgbClr val="FFFFFF"/>
                </a:solidFill>
                <a:latin typeface="Arial" pitchFamily="34" charset="0"/>
                <a:ea typeface="Arial" pitchFamily="34" charset="-122"/>
                <a:cs typeface="Arial" pitchFamily="34" charset="-120"/>
              </a:rPr>
              <a:t>Success = value created &amp; captured jointly</a:t>
            </a:r>
            <a:endParaRPr lang="en-US" sz="1600" dirty="0"/>
          </a:p>
        </p:txBody>
      </p:sp>
      <p:sp>
        <p:nvSpPr>
          <p:cNvPr id="45" name="Text 43"/>
          <p:cNvSpPr/>
          <p:nvPr/>
        </p:nvSpPr>
        <p:spPr>
          <a:xfrm>
            <a:off x="548640" y="7812634"/>
            <a:ext cx="8778240" cy="329184"/>
          </a:xfrm>
          <a:prstGeom prst="rect">
            <a:avLst/>
          </a:prstGeom>
          <a:noFill/>
          <a:ln/>
        </p:spPr>
        <p:txBody>
          <a:bodyPr wrap="square" lIns="0" tIns="0" rIns="0" bIns="0" rtlCol="0" anchor="ctr"/>
          <a:lstStyle/>
          <a:p>
            <a:r>
              <a:rPr lang="en-US" sz="1600" dirty="0">
                <a:solidFill>
                  <a:srgbClr val="5B6B82"/>
                </a:solidFill>
                <a:latin typeface="Arial" pitchFamily="34" charset="0"/>
                <a:ea typeface="Arial" pitchFamily="34" charset="-122"/>
                <a:cs typeface="Arial" pitchFamily="34" charset="-120"/>
              </a:rPr>
              <a:t>Supply Chain Management</a:t>
            </a:r>
            <a:endParaRPr lang="en-US" sz="1600" dirty="0"/>
          </a:p>
        </p:txBody>
      </p:sp>
      <p:sp>
        <p:nvSpPr>
          <p:cNvPr id="46" name="Text 44"/>
          <p:cNvSpPr/>
          <p:nvPr/>
        </p:nvSpPr>
        <p:spPr>
          <a:xfrm>
            <a:off x="13529462" y="7812634"/>
            <a:ext cx="548640" cy="329184"/>
          </a:xfrm>
          <a:prstGeom prst="rect">
            <a:avLst/>
          </a:prstGeom>
          <a:noFill/>
          <a:ln/>
        </p:spPr>
        <p:txBody>
          <a:bodyPr wrap="square" lIns="0" tIns="0" rIns="0" bIns="0" rtlCol="0" anchor="ctr"/>
          <a:lstStyle/>
          <a:p>
            <a:pPr algn="r"/>
            <a:r>
              <a:rPr lang="en-US" sz="1600" dirty="0">
                <a:solidFill>
                  <a:srgbClr val="5B6B82"/>
                </a:solidFill>
                <a:latin typeface="Arial" pitchFamily="34" charset="0"/>
                <a:ea typeface="Arial" pitchFamily="34" charset="-122"/>
                <a:cs typeface="Arial" pitchFamily="34" charset="-120"/>
              </a:rPr>
              <a:t>12</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960352" y="-1755648"/>
            <a:ext cx="5486400" cy="5486400"/>
          </a:xfrm>
          <a:prstGeom prst="ellipse">
            <a:avLst/>
          </a:prstGeom>
          <a:solidFill>
            <a:srgbClr val="1A3868">
              <a:alpha val="70000"/>
            </a:srgbClr>
          </a:solidFill>
          <a:ln/>
        </p:spPr>
        <p:txBody>
          <a:bodyPr/>
          <a:lstStyle/>
          <a:p>
            <a:endParaRPr lang="en-US" sz="2160"/>
          </a:p>
        </p:txBody>
      </p:sp>
      <p:sp>
        <p:nvSpPr>
          <p:cNvPr id="3" name="Shape 1"/>
          <p:cNvSpPr/>
          <p:nvPr/>
        </p:nvSpPr>
        <p:spPr>
          <a:xfrm>
            <a:off x="-1865376" y="5815584"/>
            <a:ext cx="3950208" cy="3950208"/>
          </a:xfrm>
          <a:prstGeom prst="ellipse">
            <a:avLst/>
          </a:prstGeom>
          <a:solidFill>
            <a:srgbClr val="1A3868">
              <a:alpha val="60000"/>
            </a:srgbClr>
          </a:solidFill>
          <a:ln/>
        </p:spPr>
        <p:txBody>
          <a:bodyPr/>
          <a:lstStyle/>
          <a:p>
            <a:endParaRPr lang="en-US" sz="2160"/>
          </a:p>
        </p:txBody>
      </p:sp>
      <p:sp>
        <p:nvSpPr>
          <p:cNvPr id="4" name="Text 2"/>
          <p:cNvSpPr/>
          <p:nvPr/>
        </p:nvSpPr>
        <p:spPr>
          <a:xfrm>
            <a:off x="1097280" y="2798064"/>
            <a:ext cx="6583680" cy="438912"/>
          </a:xfrm>
          <a:prstGeom prst="rect">
            <a:avLst/>
          </a:prstGeom>
          <a:noFill/>
          <a:ln/>
        </p:spPr>
        <p:txBody>
          <a:bodyPr wrap="square" lIns="0" tIns="0" rIns="0" bIns="0" rtlCol="0" anchor="ctr"/>
          <a:lstStyle/>
          <a:p>
            <a:r>
              <a:rPr lang="en-US" sz="1680" b="1" kern="0" spc="360" dirty="0">
                <a:solidFill>
                  <a:srgbClr val="C9760F"/>
                </a:solidFill>
                <a:latin typeface="Arial" pitchFamily="34" charset="0"/>
                <a:ea typeface="Arial" pitchFamily="34" charset="-122"/>
                <a:cs typeface="Arial" pitchFamily="34" charset="-120"/>
              </a:rPr>
              <a:t>SECTION 3</a:t>
            </a:r>
            <a:endParaRPr lang="en-US" sz="1680" dirty="0"/>
          </a:p>
        </p:txBody>
      </p:sp>
      <p:sp>
        <p:nvSpPr>
          <p:cNvPr id="5" name="Text 3"/>
          <p:cNvSpPr/>
          <p:nvPr/>
        </p:nvSpPr>
        <p:spPr>
          <a:xfrm>
            <a:off x="1097280" y="3236976"/>
            <a:ext cx="11850624" cy="1426464"/>
          </a:xfrm>
          <a:prstGeom prst="rect">
            <a:avLst/>
          </a:prstGeom>
          <a:noFill/>
          <a:ln/>
        </p:spPr>
        <p:txBody>
          <a:bodyPr wrap="square" lIns="0" tIns="0" rIns="0" bIns="0" rtlCol="0" anchor="ctr"/>
          <a:lstStyle/>
          <a:p>
            <a:r>
              <a:rPr lang="en-US" sz="4800" b="1" dirty="0">
                <a:solidFill>
                  <a:srgbClr val="FFFFFF"/>
                </a:solidFill>
                <a:latin typeface="Arial" pitchFamily="34" charset="0"/>
                <a:ea typeface="Arial" pitchFamily="34" charset="-122"/>
                <a:cs typeface="Arial" pitchFamily="34" charset="-120"/>
              </a:rPr>
              <a:t>The Responsive Supply Chain</a:t>
            </a:r>
            <a:endParaRPr lang="en-US" sz="4800" dirty="0"/>
          </a:p>
        </p:txBody>
      </p:sp>
      <p:sp>
        <p:nvSpPr>
          <p:cNvPr id="6" name="Text 4"/>
          <p:cNvSpPr/>
          <p:nvPr/>
        </p:nvSpPr>
        <p:spPr>
          <a:xfrm>
            <a:off x="1097280" y="4553712"/>
            <a:ext cx="10424160" cy="658368"/>
          </a:xfrm>
          <a:prstGeom prst="rect">
            <a:avLst/>
          </a:prstGeom>
          <a:noFill/>
          <a:ln/>
        </p:spPr>
        <p:txBody>
          <a:bodyPr wrap="square" lIns="0" tIns="0" rIns="0" bIns="0" rtlCol="0" anchor="ctr"/>
          <a:lstStyle/>
          <a:p>
            <a:r>
              <a:rPr lang="en-US" sz="1920" b="1" dirty="0">
                <a:solidFill>
                  <a:schemeClr val="tx2"/>
                </a:solidFill>
                <a:latin typeface="Arial" pitchFamily="34" charset="0"/>
                <a:ea typeface="Arial" pitchFamily="34" charset="-122"/>
                <a:cs typeface="Arial" pitchFamily="34" charset="-120"/>
              </a:rPr>
              <a:t>Designing speed and flexibility into the chain to match uncertain, fast-changing demand</a:t>
            </a:r>
            <a:endParaRPr lang="en-US" sz="1920" b="1" dirty="0">
              <a:solidFill>
                <a:schemeClr val="tx2"/>
              </a:solidFill>
            </a:endParaRPr>
          </a:p>
        </p:txBody>
      </p:sp>
      <p:pic>
        <p:nvPicPr>
          <p:cNvPr id="7" name="Image 0" descr="icons/rocket_amber.png"/>
          <p:cNvPicPr>
            <a:picLocks noChangeAspect="1"/>
          </p:cNvPicPr>
          <p:nvPr/>
        </p:nvPicPr>
        <p:blipFill>
          <a:blip r:embed="rId3"/>
          <a:stretch>
            <a:fillRect/>
          </a:stretch>
        </p:blipFill>
        <p:spPr>
          <a:xfrm>
            <a:off x="12399264" y="5925312"/>
            <a:ext cx="1207008" cy="120700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384048"/>
            <a:ext cx="10972800" cy="329184"/>
          </a:xfrm>
          <a:prstGeom prst="rect">
            <a:avLst/>
          </a:prstGeom>
          <a:noFill/>
          <a:ln/>
        </p:spPr>
        <p:txBody>
          <a:bodyPr wrap="square" lIns="0" tIns="0" rIns="0" bIns="0" rtlCol="0" anchor="ctr"/>
          <a:lstStyle/>
          <a:p>
            <a:r>
              <a:rPr lang="en-US" sz="1440" b="1" kern="0" spc="240" dirty="0">
                <a:solidFill>
                  <a:srgbClr val="C9760F"/>
                </a:solidFill>
                <a:latin typeface="Arial" pitchFamily="34" charset="0"/>
                <a:ea typeface="Arial" pitchFamily="34" charset="-122"/>
                <a:cs typeface="Arial" pitchFamily="34" charset="-120"/>
              </a:rPr>
              <a:t>THEORY</a:t>
            </a:r>
            <a:endParaRPr lang="en-US" sz="1440" dirty="0"/>
          </a:p>
        </p:txBody>
      </p:sp>
      <p:sp>
        <p:nvSpPr>
          <p:cNvPr id="3" name="Text 1"/>
          <p:cNvSpPr/>
          <p:nvPr/>
        </p:nvSpPr>
        <p:spPr>
          <a:xfrm>
            <a:off x="658368" y="680314"/>
            <a:ext cx="13277088" cy="822960"/>
          </a:xfrm>
          <a:prstGeom prst="rect">
            <a:avLst/>
          </a:prstGeom>
          <a:noFill/>
          <a:ln/>
        </p:spPr>
        <p:txBody>
          <a:bodyPr wrap="square" lIns="0" tIns="0" rIns="0" bIns="0" rtlCol="0" anchor="ctr"/>
          <a:lstStyle/>
          <a:p>
            <a:r>
              <a:rPr lang="en-US" sz="3600" b="1" dirty="0">
                <a:solidFill>
                  <a:srgbClr val="1A3868"/>
                </a:solidFill>
                <a:latin typeface="Arial" pitchFamily="34" charset="0"/>
                <a:ea typeface="Arial" pitchFamily="34" charset="-122"/>
                <a:cs typeface="Arial" pitchFamily="34" charset="-120"/>
              </a:rPr>
              <a:t>Fisher's Model &amp; the Case for Responsiveness</a:t>
            </a:r>
            <a:endParaRPr lang="en-US" sz="3600" dirty="0"/>
          </a:p>
        </p:txBody>
      </p:sp>
      <p:sp>
        <p:nvSpPr>
          <p:cNvPr id="4" name="Text 2"/>
          <p:cNvSpPr/>
          <p:nvPr/>
        </p:nvSpPr>
        <p:spPr>
          <a:xfrm>
            <a:off x="658368" y="1700784"/>
            <a:ext cx="13277088" cy="1426464"/>
          </a:xfrm>
          <a:prstGeom prst="rect">
            <a:avLst/>
          </a:prstGeom>
          <a:noFill/>
          <a:ln/>
        </p:spPr>
        <p:txBody>
          <a:bodyPr wrap="square" lIns="0" tIns="0" rIns="0" bIns="0" rtlCol="0" anchor="ctr"/>
          <a:lstStyle/>
          <a:p>
            <a:pPr>
              <a:lnSpc>
                <a:spcPct val="132000"/>
              </a:lnSpc>
            </a:pPr>
            <a:r>
              <a:rPr lang="en-US" sz="1740" dirty="0">
                <a:solidFill>
                  <a:srgbClr val="1F2937"/>
                </a:solidFill>
                <a:latin typeface="Arial" pitchFamily="34" charset="0"/>
                <a:ea typeface="Arial" pitchFamily="34" charset="-122"/>
                <a:cs typeface="Arial" pitchFamily="34" charset="-120"/>
              </a:rPr>
              <a:t>Marshall Fisher (1997) argued that supply chain strategy must match </a:t>
            </a:r>
            <a:r>
              <a:rPr lang="en-US" sz="1740" b="1" dirty="0">
                <a:solidFill>
                  <a:srgbClr val="1A3868"/>
                </a:solidFill>
                <a:latin typeface="Arial" pitchFamily="34" charset="0"/>
                <a:ea typeface="Arial" pitchFamily="34" charset="-122"/>
                <a:cs typeface="Arial" pitchFamily="34" charset="-120"/>
              </a:rPr>
              <a:t>product type</a:t>
            </a:r>
            <a:r>
              <a:rPr lang="en-US" sz="1740" dirty="0">
                <a:solidFill>
                  <a:srgbClr val="1F2937"/>
                </a:solidFill>
                <a:latin typeface="Arial" pitchFamily="34" charset="0"/>
                <a:ea typeface="Arial" pitchFamily="34" charset="-122"/>
                <a:cs typeface="Arial" pitchFamily="34" charset="-120"/>
              </a:rPr>
              <a:t>. </a:t>
            </a:r>
            <a:r>
              <a:rPr lang="en-US" sz="1740" b="1" dirty="0">
                <a:solidFill>
                  <a:srgbClr val="1F2937"/>
                </a:solidFill>
                <a:latin typeface="Arial" pitchFamily="34" charset="0"/>
                <a:ea typeface="Arial" pitchFamily="34" charset="-122"/>
                <a:cs typeface="Arial" pitchFamily="34" charset="-120"/>
              </a:rPr>
              <a:t>Functional products</a:t>
            </a:r>
            <a:r>
              <a:rPr lang="en-US" sz="1740" dirty="0">
                <a:solidFill>
                  <a:srgbClr val="1F2937"/>
                </a:solidFill>
                <a:latin typeface="Arial" pitchFamily="34" charset="0"/>
                <a:ea typeface="Arial" pitchFamily="34" charset="-122"/>
                <a:cs typeface="Arial" pitchFamily="34" charset="-120"/>
              </a:rPr>
              <a:t> (stable demand, long life cycles) suit </a:t>
            </a:r>
            <a:r>
              <a:rPr lang="en-US" sz="1740" b="1" dirty="0">
                <a:solidFill>
                  <a:srgbClr val="1A3868"/>
                </a:solidFill>
                <a:latin typeface="Arial" pitchFamily="34" charset="0"/>
                <a:ea typeface="Arial" pitchFamily="34" charset="-122"/>
                <a:cs typeface="Arial" pitchFamily="34" charset="-120"/>
              </a:rPr>
              <a:t>efficient</a:t>
            </a:r>
            <a:r>
              <a:rPr lang="en-US" sz="1740" dirty="0">
                <a:solidFill>
                  <a:srgbClr val="1F2937"/>
                </a:solidFill>
                <a:latin typeface="Arial" pitchFamily="34" charset="0"/>
                <a:ea typeface="Arial" pitchFamily="34" charset="-122"/>
                <a:cs typeface="Arial" pitchFamily="34" charset="-120"/>
              </a:rPr>
              <a:t> supply chains. </a:t>
            </a:r>
            <a:r>
              <a:rPr lang="en-US" sz="1740" b="1" dirty="0">
                <a:solidFill>
                  <a:srgbClr val="1F2937"/>
                </a:solidFill>
                <a:latin typeface="Arial" pitchFamily="34" charset="0"/>
                <a:ea typeface="Arial" pitchFamily="34" charset="-122"/>
                <a:cs typeface="Arial" pitchFamily="34" charset="-120"/>
              </a:rPr>
              <a:t>Innovative products</a:t>
            </a:r>
            <a:r>
              <a:rPr lang="en-US" sz="1740" dirty="0">
                <a:solidFill>
                  <a:srgbClr val="1F2937"/>
                </a:solidFill>
                <a:latin typeface="Arial" pitchFamily="34" charset="0"/>
                <a:ea typeface="Arial" pitchFamily="34" charset="-122"/>
                <a:cs typeface="Arial" pitchFamily="34" charset="-120"/>
              </a:rPr>
              <a:t> (unpredictable demand, short life cycles, high margins) need a </a:t>
            </a:r>
            <a:r>
              <a:rPr lang="en-US" sz="1740" b="1" dirty="0">
                <a:solidFill>
                  <a:srgbClr val="C9760F"/>
                </a:solidFill>
                <a:latin typeface="Arial" pitchFamily="34" charset="0"/>
                <a:ea typeface="Arial" pitchFamily="34" charset="-122"/>
                <a:cs typeface="Arial" pitchFamily="34" charset="-120"/>
              </a:rPr>
              <a:t>responsive</a:t>
            </a:r>
            <a:r>
              <a:rPr lang="en-US" sz="1740" dirty="0">
                <a:solidFill>
                  <a:srgbClr val="1F2937"/>
                </a:solidFill>
                <a:latin typeface="Arial" pitchFamily="34" charset="0"/>
                <a:ea typeface="Arial" pitchFamily="34" charset="-122"/>
                <a:cs typeface="Arial" pitchFamily="34" charset="-120"/>
              </a:rPr>
              <a:t> supply chain built for speed and flexibility rather than lowest cost.</a:t>
            </a:r>
            <a:endParaRPr lang="en-US" sz="1740" dirty="0"/>
          </a:p>
        </p:txBody>
      </p:sp>
      <p:sp>
        <p:nvSpPr>
          <p:cNvPr id="5" name="Text 3"/>
          <p:cNvSpPr/>
          <p:nvPr/>
        </p:nvSpPr>
        <p:spPr>
          <a:xfrm>
            <a:off x="658368" y="3236976"/>
            <a:ext cx="12070080" cy="438912"/>
          </a:xfrm>
          <a:prstGeom prst="rect">
            <a:avLst/>
          </a:prstGeom>
          <a:noFill/>
          <a:ln/>
        </p:spPr>
        <p:txBody>
          <a:bodyPr wrap="square" lIns="0" tIns="0" rIns="0" bIns="0" rtlCol="0" anchor="ctr"/>
          <a:lstStyle/>
          <a:p>
            <a:r>
              <a:rPr lang="en-US" b="1" dirty="0">
                <a:solidFill>
                  <a:srgbClr val="1A3868"/>
                </a:solidFill>
                <a:latin typeface="Arial" pitchFamily="34" charset="0"/>
                <a:ea typeface="Arial" pitchFamily="34" charset="-122"/>
                <a:cs typeface="Arial" pitchFamily="34" charset="-120"/>
              </a:rPr>
              <a:t>Design characteristics of a responsive supply chain:</a:t>
            </a:r>
            <a:endParaRPr lang="en-US" dirty="0"/>
          </a:p>
        </p:txBody>
      </p:sp>
      <p:sp>
        <p:nvSpPr>
          <p:cNvPr id="6" name="Shape 4"/>
          <p:cNvSpPr/>
          <p:nvPr/>
        </p:nvSpPr>
        <p:spPr>
          <a:xfrm>
            <a:off x="658368" y="3840480"/>
            <a:ext cx="4224528" cy="1920240"/>
          </a:xfrm>
          <a:prstGeom prst="roundRect">
            <a:avLst>
              <a:gd name="adj" fmla="val 4000"/>
            </a:avLst>
          </a:prstGeom>
          <a:solidFill>
            <a:srgbClr val="EAF1FC"/>
          </a:solidFill>
          <a:ln/>
        </p:spPr>
        <p:txBody>
          <a:bodyPr/>
          <a:lstStyle/>
          <a:p>
            <a:endParaRPr lang="en-US" sz="2800"/>
          </a:p>
        </p:txBody>
      </p:sp>
      <p:sp>
        <p:nvSpPr>
          <p:cNvPr id="7" name="Shape 5"/>
          <p:cNvSpPr/>
          <p:nvPr/>
        </p:nvSpPr>
        <p:spPr>
          <a:xfrm>
            <a:off x="932688" y="4081882"/>
            <a:ext cx="548640" cy="548640"/>
          </a:xfrm>
          <a:prstGeom prst="ellipse">
            <a:avLst/>
          </a:prstGeom>
          <a:solidFill>
            <a:srgbClr val="1A3868"/>
          </a:solidFill>
          <a:ln/>
        </p:spPr>
        <p:txBody>
          <a:bodyPr/>
          <a:lstStyle/>
          <a:p>
            <a:endParaRPr lang="en-US" sz="2800"/>
          </a:p>
        </p:txBody>
      </p:sp>
      <p:pic>
        <p:nvPicPr>
          <p:cNvPr id="8" name="Image 0" descr="icons/bolt_amber.png"/>
          <p:cNvPicPr>
            <a:picLocks noChangeAspect="1"/>
          </p:cNvPicPr>
          <p:nvPr/>
        </p:nvPicPr>
        <p:blipFill>
          <a:blip r:embed="rId3"/>
          <a:stretch>
            <a:fillRect/>
          </a:stretch>
        </p:blipFill>
        <p:spPr>
          <a:xfrm>
            <a:off x="1042416" y="4191610"/>
            <a:ext cx="329184" cy="329184"/>
          </a:xfrm>
          <a:prstGeom prst="rect">
            <a:avLst/>
          </a:prstGeom>
        </p:spPr>
      </p:pic>
      <p:sp>
        <p:nvSpPr>
          <p:cNvPr id="9" name="Text 6"/>
          <p:cNvSpPr/>
          <p:nvPr/>
        </p:nvSpPr>
        <p:spPr>
          <a:xfrm>
            <a:off x="1645920" y="4059936"/>
            <a:ext cx="2962656" cy="603504"/>
          </a:xfrm>
          <a:prstGeom prst="rect">
            <a:avLst/>
          </a:prstGeom>
          <a:noFill/>
          <a:ln/>
        </p:spPr>
        <p:txBody>
          <a:bodyPr wrap="square" lIns="0" tIns="0" rIns="0" bIns="0" rtlCol="0" anchor="ctr"/>
          <a:lstStyle/>
          <a:p>
            <a:r>
              <a:rPr lang="en-US" b="1" dirty="0">
                <a:solidFill>
                  <a:srgbClr val="1A3868"/>
                </a:solidFill>
                <a:latin typeface="Arial" pitchFamily="34" charset="0"/>
                <a:ea typeface="Arial" pitchFamily="34" charset="-122"/>
                <a:cs typeface="Arial" pitchFamily="34" charset="-120"/>
              </a:rPr>
              <a:t>Speed &amp; Agility</a:t>
            </a:r>
            <a:endParaRPr lang="en-US" dirty="0"/>
          </a:p>
        </p:txBody>
      </p:sp>
      <p:sp>
        <p:nvSpPr>
          <p:cNvPr id="10" name="Text 7"/>
          <p:cNvSpPr/>
          <p:nvPr/>
        </p:nvSpPr>
        <p:spPr>
          <a:xfrm>
            <a:off x="932688" y="4740250"/>
            <a:ext cx="3675888" cy="932688"/>
          </a:xfrm>
          <a:prstGeom prst="rect">
            <a:avLst/>
          </a:prstGeom>
          <a:noFill/>
          <a:ln/>
        </p:spPr>
        <p:txBody>
          <a:bodyPr wrap="square" lIns="0" tIns="0" rIns="0" bIns="0" rtlCol="0" anchor="ctr"/>
          <a:lstStyle/>
          <a:p>
            <a:pPr>
              <a:lnSpc>
                <a:spcPct val="115000"/>
              </a:lnSpc>
            </a:pPr>
            <a:r>
              <a:rPr lang="en-US" sz="1600" dirty="0">
                <a:solidFill>
                  <a:srgbClr val="1F2937"/>
                </a:solidFill>
                <a:latin typeface="Arial" pitchFamily="34" charset="0"/>
                <a:ea typeface="Arial" pitchFamily="34" charset="-122"/>
                <a:cs typeface="Arial" pitchFamily="34" charset="-120"/>
              </a:rPr>
              <a:t>Short cycle times and rapid replenishment to react quickly to real demand.</a:t>
            </a:r>
            <a:endParaRPr lang="en-US" sz="1600" dirty="0"/>
          </a:p>
        </p:txBody>
      </p:sp>
      <p:sp>
        <p:nvSpPr>
          <p:cNvPr id="11" name="Shape 8"/>
          <p:cNvSpPr/>
          <p:nvPr/>
        </p:nvSpPr>
        <p:spPr>
          <a:xfrm>
            <a:off x="5266944" y="3840480"/>
            <a:ext cx="4224528" cy="1920240"/>
          </a:xfrm>
          <a:prstGeom prst="roundRect">
            <a:avLst>
              <a:gd name="adj" fmla="val 4000"/>
            </a:avLst>
          </a:prstGeom>
          <a:solidFill>
            <a:srgbClr val="EAF1FC"/>
          </a:solidFill>
          <a:ln/>
        </p:spPr>
        <p:txBody>
          <a:bodyPr/>
          <a:lstStyle/>
          <a:p>
            <a:endParaRPr lang="en-US" sz="2800"/>
          </a:p>
        </p:txBody>
      </p:sp>
      <p:sp>
        <p:nvSpPr>
          <p:cNvPr id="12" name="Shape 9"/>
          <p:cNvSpPr/>
          <p:nvPr/>
        </p:nvSpPr>
        <p:spPr>
          <a:xfrm>
            <a:off x="5541264" y="4081882"/>
            <a:ext cx="548640" cy="548640"/>
          </a:xfrm>
          <a:prstGeom prst="ellipse">
            <a:avLst/>
          </a:prstGeom>
          <a:solidFill>
            <a:srgbClr val="1A3868"/>
          </a:solidFill>
          <a:ln/>
        </p:spPr>
        <p:txBody>
          <a:bodyPr/>
          <a:lstStyle/>
          <a:p>
            <a:endParaRPr lang="en-US" sz="2800"/>
          </a:p>
        </p:txBody>
      </p:sp>
      <p:pic>
        <p:nvPicPr>
          <p:cNvPr id="13" name="Image 1" descr="icons/sync.png"/>
          <p:cNvPicPr>
            <a:picLocks noChangeAspect="1"/>
          </p:cNvPicPr>
          <p:nvPr/>
        </p:nvPicPr>
        <p:blipFill>
          <a:blip r:embed="rId4"/>
          <a:stretch>
            <a:fillRect/>
          </a:stretch>
        </p:blipFill>
        <p:spPr>
          <a:xfrm>
            <a:off x="5650992" y="4191610"/>
            <a:ext cx="329184" cy="329184"/>
          </a:xfrm>
          <a:prstGeom prst="rect">
            <a:avLst/>
          </a:prstGeom>
        </p:spPr>
      </p:pic>
      <p:sp>
        <p:nvSpPr>
          <p:cNvPr id="14" name="Text 10"/>
          <p:cNvSpPr/>
          <p:nvPr/>
        </p:nvSpPr>
        <p:spPr>
          <a:xfrm>
            <a:off x="6254496" y="4059936"/>
            <a:ext cx="2962656" cy="603504"/>
          </a:xfrm>
          <a:prstGeom prst="rect">
            <a:avLst/>
          </a:prstGeom>
          <a:noFill/>
          <a:ln/>
        </p:spPr>
        <p:txBody>
          <a:bodyPr wrap="square" lIns="0" tIns="0" rIns="0" bIns="0" rtlCol="0" anchor="ctr"/>
          <a:lstStyle/>
          <a:p>
            <a:r>
              <a:rPr lang="en-US" b="1" dirty="0">
                <a:solidFill>
                  <a:srgbClr val="1A3868"/>
                </a:solidFill>
                <a:latin typeface="Arial" pitchFamily="34" charset="0"/>
                <a:ea typeface="Arial" pitchFamily="34" charset="-122"/>
                <a:cs typeface="Arial" pitchFamily="34" charset="-120"/>
              </a:rPr>
              <a:t>Flexible Capacity</a:t>
            </a:r>
            <a:endParaRPr lang="en-US" dirty="0"/>
          </a:p>
        </p:txBody>
      </p:sp>
      <p:sp>
        <p:nvSpPr>
          <p:cNvPr id="15" name="Text 11"/>
          <p:cNvSpPr/>
          <p:nvPr/>
        </p:nvSpPr>
        <p:spPr>
          <a:xfrm>
            <a:off x="5541264" y="4740250"/>
            <a:ext cx="3675888" cy="932688"/>
          </a:xfrm>
          <a:prstGeom prst="rect">
            <a:avLst/>
          </a:prstGeom>
          <a:noFill/>
          <a:ln/>
        </p:spPr>
        <p:txBody>
          <a:bodyPr wrap="square" lIns="0" tIns="0" rIns="0" bIns="0" rtlCol="0" anchor="ctr"/>
          <a:lstStyle/>
          <a:p>
            <a:pPr>
              <a:lnSpc>
                <a:spcPct val="115000"/>
              </a:lnSpc>
            </a:pPr>
            <a:r>
              <a:rPr lang="en-US" sz="1600" dirty="0">
                <a:solidFill>
                  <a:srgbClr val="1F2937"/>
                </a:solidFill>
                <a:latin typeface="Arial" pitchFamily="34" charset="0"/>
                <a:ea typeface="Arial" pitchFamily="34" charset="-122"/>
                <a:cs typeface="Arial" pitchFamily="34" charset="-120"/>
              </a:rPr>
              <a:t>Excess/flexible capacity absorbs demand spikes instead of relying only on stock.</a:t>
            </a:r>
            <a:endParaRPr lang="en-US" sz="1600" dirty="0"/>
          </a:p>
        </p:txBody>
      </p:sp>
      <p:sp>
        <p:nvSpPr>
          <p:cNvPr id="16" name="Shape 12"/>
          <p:cNvSpPr/>
          <p:nvPr/>
        </p:nvSpPr>
        <p:spPr>
          <a:xfrm>
            <a:off x="9875520" y="3840480"/>
            <a:ext cx="4224528" cy="1920240"/>
          </a:xfrm>
          <a:prstGeom prst="roundRect">
            <a:avLst>
              <a:gd name="adj" fmla="val 4000"/>
            </a:avLst>
          </a:prstGeom>
          <a:solidFill>
            <a:srgbClr val="EAF1FC"/>
          </a:solidFill>
          <a:ln/>
        </p:spPr>
        <p:txBody>
          <a:bodyPr/>
          <a:lstStyle/>
          <a:p>
            <a:endParaRPr lang="en-US" sz="2800"/>
          </a:p>
        </p:txBody>
      </p:sp>
      <p:sp>
        <p:nvSpPr>
          <p:cNvPr id="17" name="Shape 13"/>
          <p:cNvSpPr/>
          <p:nvPr/>
        </p:nvSpPr>
        <p:spPr>
          <a:xfrm>
            <a:off x="10149840" y="4081882"/>
            <a:ext cx="548640" cy="548640"/>
          </a:xfrm>
          <a:prstGeom prst="ellipse">
            <a:avLst/>
          </a:prstGeom>
          <a:solidFill>
            <a:srgbClr val="1A3868"/>
          </a:solidFill>
          <a:ln/>
        </p:spPr>
        <p:txBody>
          <a:bodyPr/>
          <a:lstStyle/>
          <a:p>
            <a:endParaRPr lang="en-US" sz="2800"/>
          </a:p>
        </p:txBody>
      </p:sp>
      <p:pic>
        <p:nvPicPr>
          <p:cNvPr id="18" name="Image 2" descr="icons/layers.png"/>
          <p:cNvPicPr>
            <a:picLocks noChangeAspect="1"/>
          </p:cNvPicPr>
          <p:nvPr/>
        </p:nvPicPr>
        <p:blipFill>
          <a:blip r:embed="rId5"/>
          <a:stretch>
            <a:fillRect/>
          </a:stretch>
        </p:blipFill>
        <p:spPr>
          <a:xfrm>
            <a:off x="10259568" y="4191610"/>
            <a:ext cx="329184" cy="329184"/>
          </a:xfrm>
          <a:prstGeom prst="rect">
            <a:avLst/>
          </a:prstGeom>
        </p:spPr>
      </p:pic>
      <p:sp>
        <p:nvSpPr>
          <p:cNvPr id="19" name="Text 14"/>
          <p:cNvSpPr/>
          <p:nvPr/>
        </p:nvSpPr>
        <p:spPr>
          <a:xfrm>
            <a:off x="10863072" y="4059936"/>
            <a:ext cx="2962656" cy="603504"/>
          </a:xfrm>
          <a:prstGeom prst="rect">
            <a:avLst/>
          </a:prstGeom>
          <a:noFill/>
          <a:ln/>
        </p:spPr>
        <p:txBody>
          <a:bodyPr wrap="square" lIns="0" tIns="0" rIns="0" bIns="0" rtlCol="0" anchor="ctr"/>
          <a:lstStyle/>
          <a:p>
            <a:r>
              <a:rPr lang="en-US" b="1" dirty="0">
                <a:solidFill>
                  <a:srgbClr val="1A3868"/>
                </a:solidFill>
                <a:latin typeface="Arial" pitchFamily="34" charset="0"/>
                <a:ea typeface="Arial" pitchFamily="34" charset="-122"/>
                <a:cs typeface="Arial" pitchFamily="34" charset="-120"/>
              </a:rPr>
              <a:t>Postponement</a:t>
            </a:r>
            <a:endParaRPr lang="en-US" dirty="0"/>
          </a:p>
        </p:txBody>
      </p:sp>
      <p:sp>
        <p:nvSpPr>
          <p:cNvPr id="20" name="Text 15"/>
          <p:cNvSpPr/>
          <p:nvPr/>
        </p:nvSpPr>
        <p:spPr>
          <a:xfrm>
            <a:off x="10149840" y="4740250"/>
            <a:ext cx="3675888" cy="932688"/>
          </a:xfrm>
          <a:prstGeom prst="rect">
            <a:avLst/>
          </a:prstGeom>
          <a:noFill/>
          <a:ln/>
        </p:spPr>
        <p:txBody>
          <a:bodyPr wrap="square" lIns="0" tIns="0" rIns="0" bIns="0" rtlCol="0" anchor="ctr"/>
          <a:lstStyle/>
          <a:p>
            <a:pPr>
              <a:lnSpc>
                <a:spcPct val="115000"/>
              </a:lnSpc>
            </a:pPr>
            <a:r>
              <a:rPr lang="en-US" sz="1600" dirty="0">
                <a:solidFill>
                  <a:srgbClr val="1F2937"/>
                </a:solidFill>
                <a:latin typeface="Arial" pitchFamily="34" charset="0"/>
                <a:ea typeface="Arial" pitchFamily="34" charset="-122"/>
                <a:cs typeface="Arial" pitchFamily="34" charset="-120"/>
              </a:rPr>
              <a:t>Delay final assembly/customization until real demand signals arrive.</a:t>
            </a:r>
            <a:endParaRPr lang="en-US" sz="1600" dirty="0"/>
          </a:p>
        </p:txBody>
      </p:sp>
      <p:sp>
        <p:nvSpPr>
          <p:cNvPr id="21" name="Shape 16"/>
          <p:cNvSpPr/>
          <p:nvPr/>
        </p:nvSpPr>
        <p:spPr>
          <a:xfrm>
            <a:off x="658368" y="5980176"/>
            <a:ext cx="4224528" cy="1920240"/>
          </a:xfrm>
          <a:prstGeom prst="roundRect">
            <a:avLst>
              <a:gd name="adj" fmla="val 4000"/>
            </a:avLst>
          </a:prstGeom>
          <a:solidFill>
            <a:srgbClr val="EAF1FC"/>
          </a:solidFill>
          <a:ln/>
        </p:spPr>
        <p:txBody>
          <a:bodyPr/>
          <a:lstStyle/>
          <a:p>
            <a:endParaRPr lang="en-US" sz="2800"/>
          </a:p>
        </p:txBody>
      </p:sp>
      <p:sp>
        <p:nvSpPr>
          <p:cNvPr id="22" name="Shape 17"/>
          <p:cNvSpPr/>
          <p:nvPr/>
        </p:nvSpPr>
        <p:spPr>
          <a:xfrm>
            <a:off x="932688" y="6221578"/>
            <a:ext cx="548640" cy="548640"/>
          </a:xfrm>
          <a:prstGeom prst="ellipse">
            <a:avLst/>
          </a:prstGeom>
          <a:solidFill>
            <a:srgbClr val="1A3868"/>
          </a:solidFill>
          <a:ln/>
        </p:spPr>
        <p:txBody>
          <a:bodyPr/>
          <a:lstStyle/>
          <a:p>
            <a:endParaRPr lang="en-US" sz="2800"/>
          </a:p>
        </p:txBody>
      </p:sp>
      <p:pic>
        <p:nvPicPr>
          <p:cNvPr id="23" name="Image 3" descr="icons/clock.png"/>
          <p:cNvPicPr>
            <a:picLocks noChangeAspect="1"/>
          </p:cNvPicPr>
          <p:nvPr/>
        </p:nvPicPr>
        <p:blipFill>
          <a:blip r:embed="rId6"/>
          <a:stretch>
            <a:fillRect/>
          </a:stretch>
        </p:blipFill>
        <p:spPr>
          <a:xfrm>
            <a:off x="1042416" y="6331306"/>
            <a:ext cx="329184" cy="329184"/>
          </a:xfrm>
          <a:prstGeom prst="rect">
            <a:avLst/>
          </a:prstGeom>
        </p:spPr>
      </p:pic>
      <p:sp>
        <p:nvSpPr>
          <p:cNvPr id="24" name="Text 18"/>
          <p:cNvSpPr/>
          <p:nvPr/>
        </p:nvSpPr>
        <p:spPr>
          <a:xfrm>
            <a:off x="1645920" y="6199632"/>
            <a:ext cx="2962656" cy="603504"/>
          </a:xfrm>
          <a:prstGeom prst="rect">
            <a:avLst/>
          </a:prstGeom>
          <a:noFill/>
          <a:ln/>
        </p:spPr>
        <p:txBody>
          <a:bodyPr wrap="square" lIns="0" tIns="0" rIns="0" bIns="0" rtlCol="0" anchor="ctr"/>
          <a:lstStyle/>
          <a:p>
            <a:r>
              <a:rPr lang="en-US" b="1" dirty="0">
                <a:solidFill>
                  <a:srgbClr val="1A3868"/>
                </a:solidFill>
                <a:latin typeface="Arial" pitchFamily="34" charset="0"/>
                <a:ea typeface="Arial" pitchFamily="34" charset="-122"/>
                <a:cs typeface="Arial" pitchFamily="34" charset="-120"/>
              </a:rPr>
              <a:t>Demand-Driven (Pull)</a:t>
            </a:r>
            <a:endParaRPr lang="en-US" dirty="0"/>
          </a:p>
        </p:txBody>
      </p:sp>
      <p:sp>
        <p:nvSpPr>
          <p:cNvPr id="25" name="Text 19"/>
          <p:cNvSpPr/>
          <p:nvPr/>
        </p:nvSpPr>
        <p:spPr>
          <a:xfrm>
            <a:off x="932688" y="6879946"/>
            <a:ext cx="3675888" cy="932688"/>
          </a:xfrm>
          <a:prstGeom prst="rect">
            <a:avLst/>
          </a:prstGeom>
          <a:noFill/>
          <a:ln/>
        </p:spPr>
        <p:txBody>
          <a:bodyPr wrap="square" lIns="0" tIns="0" rIns="0" bIns="0" rtlCol="0" anchor="ctr"/>
          <a:lstStyle/>
          <a:p>
            <a:pPr>
              <a:lnSpc>
                <a:spcPct val="115000"/>
              </a:lnSpc>
            </a:pPr>
            <a:r>
              <a:rPr lang="en-US" sz="1600" dirty="0">
                <a:solidFill>
                  <a:srgbClr val="1F2937"/>
                </a:solidFill>
                <a:latin typeface="Arial" pitchFamily="34" charset="0"/>
                <a:ea typeface="Arial" pitchFamily="34" charset="-122"/>
                <a:cs typeface="Arial" pitchFamily="34" charset="-120"/>
              </a:rPr>
              <a:t>Production and replenishment triggered by actual sales, not forecasts alone.</a:t>
            </a:r>
            <a:endParaRPr lang="en-US" sz="1600" dirty="0"/>
          </a:p>
        </p:txBody>
      </p:sp>
      <p:sp>
        <p:nvSpPr>
          <p:cNvPr id="26" name="Shape 20"/>
          <p:cNvSpPr/>
          <p:nvPr/>
        </p:nvSpPr>
        <p:spPr>
          <a:xfrm>
            <a:off x="5266944" y="5980176"/>
            <a:ext cx="4224528" cy="1920240"/>
          </a:xfrm>
          <a:prstGeom prst="roundRect">
            <a:avLst>
              <a:gd name="adj" fmla="val 4000"/>
            </a:avLst>
          </a:prstGeom>
          <a:solidFill>
            <a:srgbClr val="EAF1FC"/>
          </a:solidFill>
          <a:ln/>
        </p:spPr>
        <p:txBody>
          <a:bodyPr/>
          <a:lstStyle/>
          <a:p>
            <a:endParaRPr lang="en-US" sz="2800"/>
          </a:p>
        </p:txBody>
      </p:sp>
      <p:sp>
        <p:nvSpPr>
          <p:cNvPr id="27" name="Shape 21"/>
          <p:cNvSpPr/>
          <p:nvPr/>
        </p:nvSpPr>
        <p:spPr>
          <a:xfrm>
            <a:off x="5541264" y="6221578"/>
            <a:ext cx="548640" cy="548640"/>
          </a:xfrm>
          <a:prstGeom prst="ellipse">
            <a:avLst/>
          </a:prstGeom>
          <a:solidFill>
            <a:srgbClr val="1A3868"/>
          </a:solidFill>
          <a:ln/>
        </p:spPr>
        <p:txBody>
          <a:bodyPr/>
          <a:lstStyle/>
          <a:p>
            <a:endParaRPr lang="en-US" sz="2800"/>
          </a:p>
        </p:txBody>
      </p:sp>
      <p:pic>
        <p:nvPicPr>
          <p:cNvPr id="28" name="Image 4" descr="icons/shield.png"/>
          <p:cNvPicPr>
            <a:picLocks noChangeAspect="1"/>
          </p:cNvPicPr>
          <p:nvPr/>
        </p:nvPicPr>
        <p:blipFill>
          <a:blip r:embed="rId7"/>
          <a:stretch>
            <a:fillRect/>
          </a:stretch>
        </p:blipFill>
        <p:spPr>
          <a:xfrm>
            <a:off x="5650992" y="6331306"/>
            <a:ext cx="329184" cy="329184"/>
          </a:xfrm>
          <a:prstGeom prst="rect">
            <a:avLst/>
          </a:prstGeom>
        </p:spPr>
      </p:pic>
      <p:sp>
        <p:nvSpPr>
          <p:cNvPr id="29" name="Text 22"/>
          <p:cNvSpPr/>
          <p:nvPr/>
        </p:nvSpPr>
        <p:spPr>
          <a:xfrm>
            <a:off x="6254496" y="6199632"/>
            <a:ext cx="2962656" cy="603504"/>
          </a:xfrm>
          <a:prstGeom prst="rect">
            <a:avLst/>
          </a:prstGeom>
          <a:noFill/>
          <a:ln/>
        </p:spPr>
        <p:txBody>
          <a:bodyPr wrap="square" lIns="0" tIns="0" rIns="0" bIns="0" rtlCol="0" anchor="ctr"/>
          <a:lstStyle/>
          <a:p>
            <a:r>
              <a:rPr lang="en-US" b="1" dirty="0">
                <a:solidFill>
                  <a:srgbClr val="1A3868"/>
                </a:solidFill>
                <a:latin typeface="Arial" pitchFamily="34" charset="0"/>
                <a:ea typeface="Arial" pitchFamily="34" charset="-122"/>
                <a:cs typeface="Arial" pitchFamily="34" charset="-120"/>
              </a:rPr>
              <a:t>Buffer Where It Counts</a:t>
            </a:r>
            <a:endParaRPr lang="en-US" dirty="0"/>
          </a:p>
        </p:txBody>
      </p:sp>
      <p:sp>
        <p:nvSpPr>
          <p:cNvPr id="30" name="Text 23"/>
          <p:cNvSpPr/>
          <p:nvPr/>
        </p:nvSpPr>
        <p:spPr>
          <a:xfrm>
            <a:off x="5541264" y="6879946"/>
            <a:ext cx="3675888" cy="932688"/>
          </a:xfrm>
          <a:prstGeom prst="rect">
            <a:avLst/>
          </a:prstGeom>
          <a:noFill/>
          <a:ln/>
        </p:spPr>
        <p:txBody>
          <a:bodyPr wrap="square" lIns="0" tIns="0" rIns="0" bIns="0" rtlCol="0" anchor="ctr"/>
          <a:lstStyle/>
          <a:p>
            <a:pPr>
              <a:lnSpc>
                <a:spcPct val="115000"/>
              </a:lnSpc>
            </a:pPr>
            <a:r>
              <a:rPr lang="en-US" sz="1600" dirty="0">
                <a:solidFill>
                  <a:srgbClr val="1F2937"/>
                </a:solidFill>
                <a:latin typeface="Arial" pitchFamily="34" charset="0"/>
                <a:ea typeface="Arial" pitchFamily="34" charset="-122"/>
                <a:cs typeface="Arial" pitchFamily="34" charset="-120"/>
              </a:rPr>
              <a:t>Strategic safety stock at key points to hedge against supply/demand risk.</a:t>
            </a:r>
            <a:endParaRPr lang="en-US" sz="1600" dirty="0"/>
          </a:p>
        </p:txBody>
      </p:sp>
      <p:sp>
        <p:nvSpPr>
          <p:cNvPr id="31" name="Shape 24"/>
          <p:cNvSpPr/>
          <p:nvPr/>
        </p:nvSpPr>
        <p:spPr>
          <a:xfrm>
            <a:off x="9875520" y="5980176"/>
            <a:ext cx="4224528" cy="1920240"/>
          </a:xfrm>
          <a:prstGeom prst="roundRect">
            <a:avLst>
              <a:gd name="adj" fmla="val 4000"/>
            </a:avLst>
          </a:prstGeom>
          <a:solidFill>
            <a:srgbClr val="EAF1FC"/>
          </a:solidFill>
          <a:ln/>
        </p:spPr>
        <p:txBody>
          <a:bodyPr/>
          <a:lstStyle/>
          <a:p>
            <a:endParaRPr lang="en-US" sz="2800"/>
          </a:p>
        </p:txBody>
      </p:sp>
      <p:sp>
        <p:nvSpPr>
          <p:cNvPr id="32" name="Shape 25"/>
          <p:cNvSpPr/>
          <p:nvPr/>
        </p:nvSpPr>
        <p:spPr>
          <a:xfrm>
            <a:off x="10149840" y="6221578"/>
            <a:ext cx="548640" cy="548640"/>
          </a:xfrm>
          <a:prstGeom prst="ellipse">
            <a:avLst/>
          </a:prstGeom>
          <a:solidFill>
            <a:srgbClr val="1A3868"/>
          </a:solidFill>
          <a:ln/>
        </p:spPr>
        <p:txBody>
          <a:bodyPr/>
          <a:lstStyle/>
          <a:p>
            <a:endParaRPr lang="en-US" sz="2800"/>
          </a:p>
        </p:txBody>
      </p:sp>
      <p:pic>
        <p:nvPicPr>
          <p:cNvPr id="33" name="Image 5" descr="icons/cogs.png"/>
          <p:cNvPicPr>
            <a:picLocks noChangeAspect="1"/>
          </p:cNvPicPr>
          <p:nvPr/>
        </p:nvPicPr>
        <p:blipFill>
          <a:blip r:embed="rId8"/>
          <a:stretch>
            <a:fillRect/>
          </a:stretch>
        </p:blipFill>
        <p:spPr>
          <a:xfrm>
            <a:off x="10259568" y="6331306"/>
            <a:ext cx="329184" cy="329184"/>
          </a:xfrm>
          <a:prstGeom prst="rect">
            <a:avLst/>
          </a:prstGeom>
        </p:spPr>
      </p:pic>
      <p:sp>
        <p:nvSpPr>
          <p:cNvPr id="34" name="Text 26"/>
          <p:cNvSpPr/>
          <p:nvPr/>
        </p:nvSpPr>
        <p:spPr>
          <a:xfrm>
            <a:off x="10863072" y="6199632"/>
            <a:ext cx="2962656" cy="603504"/>
          </a:xfrm>
          <a:prstGeom prst="rect">
            <a:avLst/>
          </a:prstGeom>
          <a:noFill/>
          <a:ln/>
        </p:spPr>
        <p:txBody>
          <a:bodyPr wrap="square" lIns="0" tIns="0" rIns="0" bIns="0" rtlCol="0" anchor="ctr"/>
          <a:lstStyle/>
          <a:p>
            <a:r>
              <a:rPr lang="en-US" b="1" dirty="0">
                <a:solidFill>
                  <a:srgbClr val="1A3868"/>
                </a:solidFill>
                <a:latin typeface="Arial" pitchFamily="34" charset="0"/>
                <a:ea typeface="Arial" pitchFamily="34" charset="-122"/>
                <a:cs typeface="Arial" pitchFamily="34" charset="-120"/>
              </a:rPr>
              <a:t>Decentralized Decisions</a:t>
            </a:r>
            <a:endParaRPr lang="en-US" dirty="0"/>
          </a:p>
        </p:txBody>
      </p:sp>
      <p:sp>
        <p:nvSpPr>
          <p:cNvPr id="35" name="Text 27"/>
          <p:cNvSpPr/>
          <p:nvPr/>
        </p:nvSpPr>
        <p:spPr>
          <a:xfrm>
            <a:off x="10149840" y="6879946"/>
            <a:ext cx="3675888" cy="932688"/>
          </a:xfrm>
          <a:prstGeom prst="rect">
            <a:avLst/>
          </a:prstGeom>
          <a:noFill/>
          <a:ln/>
        </p:spPr>
        <p:txBody>
          <a:bodyPr wrap="square" lIns="0" tIns="0" rIns="0" bIns="0" rtlCol="0" anchor="ctr"/>
          <a:lstStyle/>
          <a:p>
            <a:pPr>
              <a:lnSpc>
                <a:spcPct val="115000"/>
              </a:lnSpc>
            </a:pPr>
            <a:r>
              <a:rPr lang="en-US" sz="1600" dirty="0">
                <a:solidFill>
                  <a:srgbClr val="1F2937"/>
                </a:solidFill>
                <a:latin typeface="Arial" pitchFamily="34" charset="0"/>
                <a:ea typeface="Arial" pitchFamily="34" charset="-122"/>
                <a:cs typeface="Arial" pitchFamily="34" charset="-120"/>
              </a:rPr>
              <a:t>Local, empowered decision-making closer to the customer for faster response.</a:t>
            </a:r>
            <a:endParaRPr lang="en-US" sz="1600" dirty="0"/>
          </a:p>
        </p:txBody>
      </p:sp>
      <p:sp>
        <p:nvSpPr>
          <p:cNvPr id="36" name="Text 28"/>
          <p:cNvSpPr/>
          <p:nvPr/>
        </p:nvSpPr>
        <p:spPr>
          <a:xfrm>
            <a:off x="548640" y="7812634"/>
            <a:ext cx="8778240" cy="329184"/>
          </a:xfrm>
          <a:prstGeom prst="rect">
            <a:avLst/>
          </a:prstGeom>
          <a:noFill/>
          <a:ln/>
        </p:spPr>
        <p:txBody>
          <a:bodyPr wrap="square" lIns="0" tIns="0" rIns="0" bIns="0" rtlCol="0" anchor="ctr"/>
          <a:lstStyle/>
          <a:p>
            <a:r>
              <a:rPr lang="en-US" sz="1600" dirty="0">
                <a:solidFill>
                  <a:srgbClr val="5B6B82"/>
                </a:solidFill>
                <a:latin typeface="Arial" pitchFamily="34" charset="0"/>
                <a:ea typeface="Arial" pitchFamily="34" charset="-122"/>
                <a:cs typeface="Arial" pitchFamily="34" charset="-120"/>
              </a:rPr>
              <a:t>Supply Chain Management</a:t>
            </a:r>
            <a:endParaRPr lang="en-US" sz="1600" dirty="0"/>
          </a:p>
        </p:txBody>
      </p:sp>
      <p:sp>
        <p:nvSpPr>
          <p:cNvPr id="37" name="Text 29"/>
          <p:cNvSpPr/>
          <p:nvPr/>
        </p:nvSpPr>
        <p:spPr>
          <a:xfrm>
            <a:off x="13529462" y="7812634"/>
            <a:ext cx="548640" cy="329184"/>
          </a:xfrm>
          <a:prstGeom prst="rect">
            <a:avLst/>
          </a:prstGeom>
          <a:noFill/>
          <a:ln/>
        </p:spPr>
        <p:txBody>
          <a:bodyPr wrap="square" lIns="0" tIns="0" rIns="0" bIns="0" rtlCol="0" anchor="ctr"/>
          <a:lstStyle/>
          <a:p>
            <a:pPr algn="r"/>
            <a:r>
              <a:rPr lang="en-US" sz="1600" dirty="0">
                <a:solidFill>
                  <a:srgbClr val="5B6B82"/>
                </a:solidFill>
                <a:latin typeface="Arial" pitchFamily="34" charset="0"/>
                <a:ea typeface="Arial" pitchFamily="34" charset="-122"/>
                <a:cs typeface="Arial" pitchFamily="34" charset="-120"/>
              </a:rPr>
              <a:t>14</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384048"/>
            <a:ext cx="10972800" cy="329184"/>
          </a:xfrm>
          <a:prstGeom prst="rect">
            <a:avLst/>
          </a:prstGeom>
          <a:noFill/>
          <a:ln/>
        </p:spPr>
        <p:txBody>
          <a:bodyPr wrap="square" lIns="0" tIns="0" rIns="0" bIns="0" rtlCol="0" anchor="ctr"/>
          <a:lstStyle/>
          <a:p>
            <a:r>
              <a:rPr lang="en-US" sz="1440" b="1" kern="0" spc="240" dirty="0">
                <a:solidFill>
                  <a:srgbClr val="C9760F"/>
                </a:solidFill>
                <a:latin typeface="Arial" pitchFamily="34" charset="0"/>
                <a:ea typeface="Arial" pitchFamily="34" charset="-122"/>
                <a:cs typeface="Arial" pitchFamily="34" charset="-120"/>
              </a:rPr>
              <a:t>DIAGRAM</a:t>
            </a:r>
            <a:endParaRPr lang="en-US" sz="1440" dirty="0"/>
          </a:p>
        </p:txBody>
      </p:sp>
      <p:sp>
        <p:nvSpPr>
          <p:cNvPr id="3" name="Text 1"/>
          <p:cNvSpPr/>
          <p:nvPr/>
        </p:nvSpPr>
        <p:spPr>
          <a:xfrm>
            <a:off x="658368" y="680314"/>
            <a:ext cx="13277088" cy="822960"/>
          </a:xfrm>
          <a:prstGeom prst="rect">
            <a:avLst/>
          </a:prstGeom>
          <a:noFill/>
          <a:ln/>
        </p:spPr>
        <p:txBody>
          <a:bodyPr wrap="square" lIns="0" tIns="0" rIns="0" bIns="0" rtlCol="0" anchor="ctr"/>
          <a:lstStyle/>
          <a:p>
            <a:r>
              <a:rPr lang="en-US" sz="3600" b="1" dirty="0">
                <a:solidFill>
                  <a:srgbClr val="1A3868"/>
                </a:solidFill>
                <a:latin typeface="Arial" pitchFamily="34" charset="0"/>
                <a:ea typeface="Arial" pitchFamily="34" charset="-122"/>
                <a:cs typeface="Arial" pitchFamily="34" charset="-120"/>
              </a:rPr>
              <a:t>Matching Supply Chain Strategy to Uncertainty</a:t>
            </a:r>
            <a:endParaRPr lang="en-US" sz="3600" dirty="0"/>
          </a:p>
        </p:txBody>
      </p:sp>
      <p:sp>
        <p:nvSpPr>
          <p:cNvPr id="4" name="Shape 2"/>
          <p:cNvSpPr/>
          <p:nvPr/>
        </p:nvSpPr>
        <p:spPr>
          <a:xfrm>
            <a:off x="3621024" y="2029968"/>
            <a:ext cx="2523744" cy="2523744"/>
          </a:xfrm>
          <a:prstGeom prst="rect">
            <a:avLst/>
          </a:prstGeom>
          <a:solidFill>
            <a:srgbClr val="1A3868"/>
          </a:solidFill>
          <a:ln w="19050">
            <a:solidFill>
              <a:srgbClr val="FFFFFF"/>
            </a:solidFill>
            <a:prstDash val="solid"/>
          </a:ln>
        </p:spPr>
        <p:txBody>
          <a:bodyPr/>
          <a:lstStyle/>
          <a:p>
            <a:endParaRPr lang="en-US" sz="2160"/>
          </a:p>
        </p:txBody>
      </p:sp>
      <p:sp>
        <p:nvSpPr>
          <p:cNvPr id="5" name="Text 3"/>
          <p:cNvSpPr/>
          <p:nvPr/>
        </p:nvSpPr>
        <p:spPr>
          <a:xfrm>
            <a:off x="3785616" y="2227478"/>
            <a:ext cx="2194560" cy="768096"/>
          </a:xfrm>
          <a:prstGeom prst="rect">
            <a:avLst/>
          </a:prstGeom>
          <a:noFill/>
          <a:ln/>
        </p:spPr>
        <p:txBody>
          <a:bodyPr wrap="square" lIns="0" tIns="0" rIns="0" bIns="0" rtlCol="0" anchor="ctr"/>
          <a:lstStyle/>
          <a:p>
            <a:pPr algn="ctr"/>
            <a:r>
              <a:rPr lang="en-US" sz="1740" b="1" dirty="0">
                <a:solidFill>
                  <a:srgbClr val="FFFFFF"/>
                </a:solidFill>
                <a:latin typeface="Arial" pitchFamily="34" charset="0"/>
                <a:ea typeface="Arial" pitchFamily="34" charset="-122"/>
                <a:cs typeface="Arial" pitchFamily="34" charset="-120"/>
              </a:rPr>
              <a:t>Efficient</a:t>
            </a:r>
            <a:endParaRPr lang="en-US" sz="1740" dirty="0"/>
          </a:p>
          <a:p>
            <a:pPr algn="ctr"/>
            <a:r>
              <a:rPr lang="en-US" sz="1740" b="1" dirty="0">
                <a:solidFill>
                  <a:srgbClr val="FFFFFF"/>
                </a:solidFill>
                <a:latin typeface="Arial" pitchFamily="34" charset="0"/>
                <a:ea typeface="Arial" pitchFamily="34" charset="-122"/>
                <a:cs typeface="Arial" pitchFamily="34" charset="-120"/>
              </a:rPr>
              <a:t>Supply Chain</a:t>
            </a:r>
            <a:endParaRPr lang="en-US" sz="1740" dirty="0"/>
          </a:p>
        </p:txBody>
      </p:sp>
      <p:sp>
        <p:nvSpPr>
          <p:cNvPr id="6" name="Text 4"/>
          <p:cNvSpPr/>
          <p:nvPr/>
        </p:nvSpPr>
        <p:spPr>
          <a:xfrm>
            <a:off x="3840480" y="3072384"/>
            <a:ext cx="2084832" cy="1371600"/>
          </a:xfrm>
          <a:prstGeom prst="rect">
            <a:avLst/>
          </a:prstGeom>
          <a:noFill/>
          <a:ln/>
        </p:spPr>
        <p:txBody>
          <a:bodyPr wrap="square" lIns="0" tIns="0" rIns="0" bIns="0" rtlCol="0" anchor="ctr"/>
          <a:lstStyle/>
          <a:p>
            <a:pPr algn="ctr">
              <a:lnSpc>
                <a:spcPct val="115000"/>
              </a:lnSpc>
            </a:pPr>
            <a:r>
              <a:rPr lang="en-US" sz="1400" dirty="0">
                <a:solidFill>
                  <a:srgbClr val="FFFFFF"/>
                </a:solidFill>
                <a:latin typeface="Arial" pitchFamily="34" charset="0"/>
                <a:ea typeface="Arial" pitchFamily="34" charset="-122"/>
                <a:cs typeface="Arial" pitchFamily="34" charset="-120"/>
              </a:rPr>
              <a:t>Low demand &amp; supply uncertainty</a:t>
            </a:r>
            <a:endParaRPr lang="en-US" sz="1400" dirty="0"/>
          </a:p>
          <a:p>
            <a:pPr algn="ctr">
              <a:lnSpc>
                <a:spcPct val="115000"/>
              </a:lnSpc>
            </a:pPr>
            <a:r>
              <a:rPr lang="en-US" sz="1400" dirty="0">
                <a:solidFill>
                  <a:srgbClr val="FFFFFF"/>
                </a:solidFill>
                <a:latin typeface="Arial" pitchFamily="34" charset="0"/>
                <a:ea typeface="Arial" pitchFamily="34" charset="-122"/>
                <a:cs typeface="Arial" pitchFamily="34" charset="-120"/>
              </a:rPr>
              <a:t>(e.g., staple groceries, commodities)</a:t>
            </a:r>
            <a:endParaRPr lang="en-US" sz="1400" dirty="0"/>
          </a:p>
        </p:txBody>
      </p:sp>
      <p:sp>
        <p:nvSpPr>
          <p:cNvPr id="7" name="Shape 5"/>
          <p:cNvSpPr/>
          <p:nvPr/>
        </p:nvSpPr>
        <p:spPr>
          <a:xfrm>
            <a:off x="6144768" y="2029968"/>
            <a:ext cx="2523744" cy="2523744"/>
          </a:xfrm>
          <a:prstGeom prst="rect">
            <a:avLst/>
          </a:prstGeom>
          <a:solidFill>
            <a:srgbClr val="C9760F"/>
          </a:solidFill>
          <a:ln w="19050">
            <a:solidFill>
              <a:srgbClr val="FFFFFF"/>
            </a:solidFill>
            <a:prstDash val="solid"/>
          </a:ln>
        </p:spPr>
        <p:txBody>
          <a:bodyPr/>
          <a:lstStyle/>
          <a:p>
            <a:endParaRPr lang="en-US" sz="2160"/>
          </a:p>
        </p:txBody>
      </p:sp>
      <p:sp>
        <p:nvSpPr>
          <p:cNvPr id="8" name="Text 6"/>
          <p:cNvSpPr/>
          <p:nvPr/>
        </p:nvSpPr>
        <p:spPr>
          <a:xfrm>
            <a:off x="6309360" y="2227478"/>
            <a:ext cx="2194560" cy="768096"/>
          </a:xfrm>
          <a:prstGeom prst="rect">
            <a:avLst/>
          </a:prstGeom>
          <a:noFill/>
          <a:ln/>
        </p:spPr>
        <p:txBody>
          <a:bodyPr wrap="square" lIns="0" tIns="0" rIns="0" bIns="0" rtlCol="0" anchor="ctr"/>
          <a:lstStyle/>
          <a:p>
            <a:pPr algn="ctr"/>
            <a:r>
              <a:rPr lang="en-US" sz="1740" b="1" dirty="0">
                <a:solidFill>
                  <a:srgbClr val="FFFFFF"/>
                </a:solidFill>
                <a:latin typeface="Arial" pitchFamily="34" charset="0"/>
                <a:ea typeface="Arial" pitchFamily="34" charset="-122"/>
                <a:cs typeface="Arial" pitchFamily="34" charset="-120"/>
              </a:rPr>
              <a:t>Responsive</a:t>
            </a:r>
            <a:endParaRPr lang="en-US" sz="1740" dirty="0"/>
          </a:p>
          <a:p>
            <a:pPr algn="ctr"/>
            <a:r>
              <a:rPr lang="en-US" sz="1740" b="1" dirty="0">
                <a:solidFill>
                  <a:srgbClr val="FFFFFF"/>
                </a:solidFill>
                <a:latin typeface="Arial" pitchFamily="34" charset="0"/>
                <a:ea typeface="Arial" pitchFamily="34" charset="-122"/>
                <a:cs typeface="Arial" pitchFamily="34" charset="-120"/>
              </a:rPr>
              <a:t>Supply Chain</a:t>
            </a:r>
            <a:endParaRPr lang="en-US" sz="1740" dirty="0"/>
          </a:p>
        </p:txBody>
      </p:sp>
      <p:sp>
        <p:nvSpPr>
          <p:cNvPr id="9" name="Text 7"/>
          <p:cNvSpPr/>
          <p:nvPr/>
        </p:nvSpPr>
        <p:spPr>
          <a:xfrm>
            <a:off x="6364224" y="3072384"/>
            <a:ext cx="2084832" cy="1371600"/>
          </a:xfrm>
          <a:prstGeom prst="rect">
            <a:avLst/>
          </a:prstGeom>
          <a:noFill/>
          <a:ln/>
        </p:spPr>
        <p:txBody>
          <a:bodyPr wrap="square" lIns="0" tIns="0" rIns="0" bIns="0" rtlCol="0" anchor="ctr"/>
          <a:lstStyle/>
          <a:p>
            <a:pPr algn="ctr">
              <a:lnSpc>
                <a:spcPct val="115000"/>
              </a:lnSpc>
            </a:pPr>
            <a:r>
              <a:rPr lang="en-US" sz="1400" dirty="0">
                <a:solidFill>
                  <a:srgbClr val="FFFFFF"/>
                </a:solidFill>
                <a:latin typeface="Arial" pitchFamily="34" charset="0"/>
                <a:ea typeface="Arial" pitchFamily="34" charset="-122"/>
                <a:cs typeface="Arial" pitchFamily="34" charset="-120"/>
              </a:rPr>
              <a:t>High demand, low supply uncertainty</a:t>
            </a:r>
            <a:endParaRPr lang="en-US" sz="1400" dirty="0"/>
          </a:p>
          <a:p>
            <a:pPr algn="ctr">
              <a:lnSpc>
                <a:spcPct val="115000"/>
              </a:lnSpc>
            </a:pPr>
            <a:r>
              <a:rPr lang="en-US" sz="1400" dirty="0">
                <a:solidFill>
                  <a:srgbClr val="FFFFFF"/>
                </a:solidFill>
                <a:latin typeface="Arial" pitchFamily="34" charset="0"/>
                <a:ea typeface="Arial" pitchFamily="34" charset="-122"/>
                <a:cs typeface="Arial" pitchFamily="34" charset="-120"/>
              </a:rPr>
              <a:t>(e.g., fashion, seasonal goods)</a:t>
            </a:r>
            <a:endParaRPr lang="en-US" sz="1140" dirty="0"/>
          </a:p>
        </p:txBody>
      </p:sp>
      <p:sp>
        <p:nvSpPr>
          <p:cNvPr id="10" name="Shape 8"/>
          <p:cNvSpPr/>
          <p:nvPr/>
        </p:nvSpPr>
        <p:spPr>
          <a:xfrm>
            <a:off x="3621024" y="4553712"/>
            <a:ext cx="2523744" cy="2523744"/>
          </a:xfrm>
          <a:prstGeom prst="rect">
            <a:avLst/>
          </a:prstGeom>
          <a:solidFill>
            <a:srgbClr val="5B7FA6"/>
          </a:solidFill>
          <a:ln w="19050">
            <a:solidFill>
              <a:srgbClr val="FFFFFF"/>
            </a:solidFill>
            <a:prstDash val="solid"/>
          </a:ln>
        </p:spPr>
        <p:txBody>
          <a:bodyPr/>
          <a:lstStyle/>
          <a:p>
            <a:endParaRPr lang="en-US" sz="2160"/>
          </a:p>
        </p:txBody>
      </p:sp>
      <p:sp>
        <p:nvSpPr>
          <p:cNvPr id="11" name="Text 9"/>
          <p:cNvSpPr/>
          <p:nvPr/>
        </p:nvSpPr>
        <p:spPr>
          <a:xfrm>
            <a:off x="3785616" y="4751222"/>
            <a:ext cx="2194560" cy="768096"/>
          </a:xfrm>
          <a:prstGeom prst="rect">
            <a:avLst/>
          </a:prstGeom>
          <a:noFill/>
          <a:ln/>
        </p:spPr>
        <p:txBody>
          <a:bodyPr wrap="square" lIns="0" tIns="0" rIns="0" bIns="0" rtlCol="0" anchor="ctr"/>
          <a:lstStyle/>
          <a:p>
            <a:pPr algn="ctr"/>
            <a:r>
              <a:rPr lang="en-US" sz="1740" b="1" dirty="0">
                <a:solidFill>
                  <a:srgbClr val="FFFFFF"/>
                </a:solidFill>
                <a:latin typeface="Arial" pitchFamily="34" charset="0"/>
                <a:ea typeface="Arial" pitchFamily="34" charset="-122"/>
                <a:cs typeface="Arial" pitchFamily="34" charset="-120"/>
              </a:rPr>
              <a:t>Risk-Hedging</a:t>
            </a:r>
            <a:endParaRPr lang="en-US" sz="1740" dirty="0"/>
          </a:p>
          <a:p>
            <a:pPr algn="ctr"/>
            <a:r>
              <a:rPr lang="en-US" sz="1740" b="1" dirty="0">
                <a:solidFill>
                  <a:srgbClr val="FFFFFF"/>
                </a:solidFill>
                <a:latin typeface="Arial" pitchFamily="34" charset="0"/>
                <a:ea typeface="Arial" pitchFamily="34" charset="-122"/>
                <a:cs typeface="Arial" pitchFamily="34" charset="-120"/>
              </a:rPr>
              <a:t>Supply Chain</a:t>
            </a:r>
            <a:endParaRPr lang="en-US" sz="1740" dirty="0"/>
          </a:p>
        </p:txBody>
      </p:sp>
      <p:sp>
        <p:nvSpPr>
          <p:cNvPr id="12" name="Text 10"/>
          <p:cNvSpPr/>
          <p:nvPr/>
        </p:nvSpPr>
        <p:spPr>
          <a:xfrm>
            <a:off x="3840480" y="5596128"/>
            <a:ext cx="2084832" cy="1371600"/>
          </a:xfrm>
          <a:prstGeom prst="rect">
            <a:avLst/>
          </a:prstGeom>
          <a:noFill/>
          <a:ln/>
        </p:spPr>
        <p:txBody>
          <a:bodyPr wrap="square" lIns="0" tIns="0" rIns="0" bIns="0" rtlCol="0" anchor="ctr"/>
          <a:lstStyle/>
          <a:p>
            <a:pPr algn="ctr">
              <a:lnSpc>
                <a:spcPct val="115000"/>
              </a:lnSpc>
            </a:pPr>
            <a:r>
              <a:rPr lang="en-US" sz="1400" dirty="0">
                <a:solidFill>
                  <a:srgbClr val="FFFFFF"/>
                </a:solidFill>
                <a:latin typeface="Arial" pitchFamily="34" charset="0"/>
                <a:ea typeface="Arial" pitchFamily="34" charset="-122"/>
                <a:cs typeface="Arial" pitchFamily="34" charset="-120"/>
              </a:rPr>
              <a:t>Low demand, high supply uncertainty</a:t>
            </a:r>
            <a:endParaRPr lang="en-US" sz="1400" dirty="0"/>
          </a:p>
          <a:p>
            <a:pPr algn="ctr">
              <a:lnSpc>
                <a:spcPct val="115000"/>
              </a:lnSpc>
            </a:pPr>
            <a:r>
              <a:rPr lang="en-US" sz="1400" dirty="0">
                <a:solidFill>
                  <a:srgbClr val="FFFFFF"/>
                </a:solidFill>
                <a:latin typeface="Arial" pitchFamily="34" charset="0"/>
                <a:ea typeface="Arial" pitchFamily="34" charset="-122"/>
                <a:cs typeface="Arial" pitchFamily="34" charset="-120"/>
              </a:rPr>
              <a:t>(e.g., hydro-power, some agri-inputs)</a:t>
            </a:r>
            <a:endParaRPr lang="en-US" sz="1400" dirty="0"/>
          </a:p>
        </p:txBody>
      </p:sp>
      <p:sp>
        <p:nvSpPr>
          <p:cNvPr id="13" name="Shape 11"/>
          <p:cNvSpPr/>
          <p:nvPr/>
        </p:nvSpPr>
        <p:spPr>
          <a:xfrm>
            <a:off x="6144768" y="4553712"/>
            <a:ext cx="2523744" cy="2523744"/>
          </a:xfrm>
          <a:prstGeom prst="rect">
            <a:avLst/>
          </a:prstGeom>
          <a:solidFill>
            <a:srgbClr val="8A4B12"/>
          </a:solidFill>
          <a:ln w="19050">
            <a:solidFill>
              <a:srgbClr val="FFFFFF"/>
            </a:solidFill>
            <a:prstDash val="solid"/>
          </a:ln>
        </p:spPr>
        <p:txBody>
          <a:bodyPr/>
          <a:lstStyle/>
          <a:p>
            <a:endParaRPr lang="en-US" sz="2160"/>
          </a:p>
        </p:txBody>
      </p:sp>
      <p:sp>
        <p:nvSpPr>
          <p:cNvPr id="14" name="Text 12"/>
          <p:cNvSpPr/>
          <p:nvPr/>
        </p:nvSpPr>
        <p:spPr>
          <a:xfrm>
            <a:off x="6309360" y="4751222"/>
            <a:ext cx="2194560" cy="768096"/>
          </a:xfrm>
          <a:prstGeom prst="rect">
            <a:avLst/>
          </a:prstGeom>
          <a:noFill/>
          <a:ln/>
        </p:spPr>
        <p:txBody>
          <a:bodyPr wrap="square" lIns="0" tIns="0" rIns="0" bIns="0" rtlCol="0" anchor="ctr"/>
          <a:lstStyle/>
          <a:p>
            <a:pPr algn="ctr"/>
            <a:r>
              <a:rPr lang="en-US" sz="1740" b="1" dirty="0">
                <a:solidFill>
                  <a:srgbClr val="FFFFFF"/>
                </a:solidFill>
                <a:latin typeface="Arial" pitchFamily="34" charset="0"/>
                <a:ea typeface="Arial" pitchFamily="34" charset="-122"/>
                <a:cs typeface="Arial" pitchFamily="34" charset="-120"/>
              </a:rPr>
              <a:t>Agile</a:t>
            </a:r>
            <a:endParaRPr lang="en-US" sz="1740" dirty="0"/>
          </a:p>
          <a:p>
            <a:pPr algn="ctr"/>
            <a:r>
              <a:rPr lang="en-US" sz="1740" b="1" dirty="0">
                <a:solidFill>
                  <a:srgbClr val="FFFFFF"/>
                </a:solidFill>
                <a:latin typeface="Arial" pitchFamily="34" charset="0"/>
                <a:ea typeface="Arial" pitchFamily="34" charset="-122"/>
                <a:cs typeface="Arial" pitchFamily="34" charset="-120"/>
              </a:rPr>
              <a:t>Supply Chain</a:t>
            </a:r>
            <a:endParaRPr lang="en-US" sz="1740" dirty="0"/>
          </a:p>
        </p:txBody>
      </p:sp>
      <p:sp>
        <p:nvSpPr>
          <p:cNvPr id="15" name="Text 13"/>
          <p:cNvSpPr/>
          <p:nvPr/>
        </p:nvSpPr>
        <p:spPr>
          <a:xfrm>
            <a:off x="6364224" y="5596128"/>
            <a:ext cx="2084832" cy="1371600"/>
          </a:xfrm>
          <a:prstGeom prst="rect">
            <a:avLst/>
          </a:prstGeom>
          <a:noFill/>
          <a:ln/>
        </p:spPr>
        <p:txBody>
          <a:bodyPr wrap="square" lIns="0" tIns="0" rIns="0" bIns="0" rtlCol="0" anchor="ctr"/>
          <a:lstStyle/>
          <a:p>
            <a:pPr algn="ctr">
              <a:lnSpc>
                <a:spcPct val="115000"/>
              </a:lnSpc>
            </a:pPr>
            <a:r>
              <a:rPr lang="en-US" sz="1400" dirty="0">
                <a:solidFill>
                  <a:srgbClr val="FFFFFF"/>
                </a:solidFill>
                <a:latin typeface="Arial" pitchFamily="34" charset="0"/>
                <a:ea typeface="Arial" pitchFamily="34" charset="-122"/>
                <a:cs typeface="Arial" pitchFamily="34" charset="-120"/>
              </a:rPr>
              <a:t>High demand &amp; supply uncertainty</a:t>
            </a:r>
            <a:endParaRPr lang="en-US" sz="1400" dirty="0"/>
          </a:p>
          <a:p>
            <a:pPr algn="ctr">
              <a:lnSpc>
                <a:spcPct val="115000"/>
              </a:lnSpc>
            </a:pPr>
            <a:r>
              <a:rPr lang="en-US" sz="1400" dirty="0">
                <a:solidFill>
                  <a:srgbClr val="FFFFFF"/>
                </a:solidFill>
                <a:latin typeface="Arial" pitchFamily="34" charset="0"/>
                <a:ea typeface="Arial" pitchFamily="34" charset="-122"/>
                <a:cs typeface="Arial" pitchFamily="34" charset="-120"/>
              </a:rPr>
              <a:t>(e.g., telecom equipment, semiconductors)</a:t>
            </a:r>
            <a:endParaRPr lang="en-US" sz="1400" dirty="0"/>
          </a:p>
        </p:txBody>
      </p:sp>
      <p:sp>
        <p:nvSpPr>
          <p:cNvPr id="16" name="Shape 14"/>
          <p:cNvSpPr/>
          <p:nvPr/>
        </p:nvSpPr>
        <p:spPr>
          <a:xfrm>
            <a:off x="6144768" y="2029968"/>
            <a:ext cx="2523744" cy="2523744"/>
          </a:xfrm>
          <a:prstGeom prst="rect">
            <a:avLst/>
          </a:prstGeom>
          <a:ln w="38100">
            <a:solidFill>
              <a:srgbClr val="212121"/>
            </a:solidFill>
            <a:prstDash val="solid"/>
          </a:ln>
        </p:spPr>
        <p:txBody>
          <a:bodyPr/>
          <a:lstStyle/>
          <a:p>
            <a:endParaRPr lang="en-US" sz="2160"/>
          </a:p>
        </p:txBody>
      </p:sp>
      <p:sp>
        <p:nvSpPr>
          <p:cNvPr id="17" name="Text 15"/>
          <p:cNvSpPr/>
          <p:nvPr/>
        </p:nvSpPr>
        <p:spPr>
          <a:xfrm>
            <a:off x="3621024" y="7187184"/>
            <a:ext cx="5047488" cy="384048"/>
          </a:xfrm>
          <a:prstGeom prst="rect">
            <a:avLst/>
          </a:prstGeom>
          <a:noFill/>
          <a:ln/>
        </p:spPr>
        <p:txBody>
          <a:bodyPr wrap="square" lIns="0" tIns="0" rIns="0" bIns="0" rtlCol="0" anchor="ctr"/>
          <a:lstStyle/>
          <a:p>
            <a:pPr algn="ctr"/>
            <a:r>
              <a:rPr lang="en-US" sz="1440" b="1" dirty="0">
                <a:solidFill>
                  <a:srgbClr val="1A3868"/>
                </a:solidFill>
                <a:latin typeface="Arial" pitchFamily="34" charset="0"/>
                <a:ea typeface="Arial" pitchFamily="34" charset="-122"/>
                <a:cs typeface="Arial" pitchFamily="34" charset="-120"/>
              </a:rPr>
              <a:t>Demand Uncertainty  →</a:t>
            </a:r>
            <a:endParaRPr lang="en-US" sz="1440" dirty="0"/>
          </a:p>
        </p:txBody>
      </p:sp>
      <p:sp>
        <p:nvSpPr>
          <p:cNvPr id="18" name="Text 16"/>
          <p:cNvSpPr/>
          <p:nvPr/>
        </p:nvSpPr>
        <p:spPr>
          <a:xfrm>
            <a:off x="3621024" y="7538314"/>
            <a:ext cx="5047488" cy="329184"/>
          </a:xfrm>
          <a:prstGeom prst="rect">
            <a:avLst/>
          </a:prstGeom>
          <a:noFill/>
          <a:ln/>
        </p:spPr>
        <p:txBody>
          <a:bodyPr wrap="square" lIns="0" tIns="0" rIns="0" bIns="0" rtlCol="0" anchor="ctr"/>
          <a:lstStyle/>
          <a:p>
            <a:pPr algn="ctr"/>
            <a:r>
              <a:rPr lang="en-US" sz="1200" dirty="0">
                <a:solidFill>
                  <a:srgbClr val="5B6B82"/>
                </a:solidFill>
                <a:latin typeface="Arial" pitchFamily="34" charset="0"/>
                <a:ea typeface="Arial" pitchFamily="34" charset="-122"/>
                <a:cs typeface="Arial" pitchFamily="34" charset="-120"/>
              </a:rPr>
              <a:t>←  Low                                              High  →</a:t>
            </a:r>
            <a:endParaRPr lang="en-US" sz="1200" dirty="0"/>
          </a:p>
        </p:txBody>
      </p:sp>
      <p:sp>
        <p:nvSpPr>
          <p:cNvPr id="19" name="Text 17"/>
          <p:cNvSpPr/>
          <p:nvPr/>
        </p:nvSpPr>
        <p:spPr>
          <a:xfrm>
            <a:off x="1920240" y="4005072"/>
            <a:ext cx="1426464" cy="877824"/>
          </a:xfrm>
          <a:prstGeom prst="rect">
            <a:avLst/>
          </a:prstGeom>
          <a:noFill/>
          <a:ln/>
        </p:spPr>
        <p:txBody>
          <a:bodyPr wrap="square" lIns="0" tIns="0" rIns="0" bIns="0" rtlCol="0" anchor="ctr"/>
          <a:lstStyle/>
          <a:p>
            <a:pPr algn="ctr"/>
            <a:r>
              <a:rPr lang="en-US" sz="1440" b="1" dirty="0">
                <a:solidFill>
                  <a:srgbClr val="1A3868"/>
                </a:solidFill>
                <a:latin typeface="Arial" pitchFamily="34" charset="0"/>
                <a:ea typeface="Arial" pitchFamily="34" charset="-122"/>
                <a:cs typeface="Arial" pitchFamily="34" charset="-120"/>
              </a:rPr>
              <a:t>Supply</a:t>
            </a:r>
            <a:endParaRPr lang="en-US" sz="1440" dirty="0"/>
          </a:p>
          <a:p>
            <a:pPr algn="ctr"/>
            <a:r>
              <a:rPr lang="en-US" sz="1440" b="1" dirty="0">
                <a:solidFill>
                  <a:srgbClr val="1A3868"/>
                </a:solidFill>
                <a:latin typeface="Arial" pitchFamily="34" charset="0"/>
                <a:ea typeface="Arial" pitchFamily="34" charset="-122"/>
                <a:cs typeface="Arial" pitchFamily="34" charset="-120"/>
              </a:rPr>
              <a:t>Uncertainty</a:t>
            </a:r>
            <a:endParaRPr lang="en-US" sz="1440" dirty="0"/>
          </a:p>
        </p:txBody>
      </p:sp>
      <p:sp>
        <p:nvSpPr>
          <p:cNvPr id="20" name="Text 18"/>
          <p:cNvSpPr/>
          <p:nvPr/>
        </p:nvSpPr>
        <p:spPr>
          <a:xfrm>
            <a:off x="2468880" y="1975104"/>
            <a:ext cx="877824" cy="329184"/>
          </a:xfrm>
          <a:prstGeom prst="rect">
            <a:avLst/>
          </a:prstGeom>
          <a:noFill/>
          <a:ln/>
        </p:spPr>
        <p:txBody>
          <a:bodyPr wrap="square" lIns="0" tIns="0" rIns="0" bIns="0" rtlCol="0" anchor="ctr"/>
          <a:lstStyle/>
          <a:p>
            <a:pPr algn="ctr"/>
            <a:r>
              <a:rPr lang="en-US" sz="1200" dirty="0">
                <a:solidFill>
                  <a:srgbClr val="5B6B82"/>
                </a:solidFill>
                <a:latin typeface="Arial" pitchFamily="34" charset="0"/>
                <a:ea typeface="Arial" pitchFamily="34" charset="-122"/>
                <a:cs typeface="Arial" pitchFamily="34" charset="-120"/>
              </a:rPr>
              <a:t>High</a:t>
            </a:r>
            <a:endParaRPr lang="en-US" sz="1200" dirty="0"/>
          </a:p>
        </p:txBody>
      </p:sp>
      <p:sp>
        <p:nvSpPr>
          <p:cNvPr id="21" name="Text 19"/>
          <p:cNvSpPr/>
          <p:nvPr/>
        </p:nvSpPr>
        <p:spPr>
          <a:xfrm>
            <a:off x="2468880" y="6770218"/>
            <a:ext cx="877824" cy="329184"/>
          </a:xfrm>
          <a:prstGeom prst="rect">
            <a:avLst/>
          </a:prstGeom>
          <a:noFill/>
          <a:ln/>
        </p:spPr>
        <p:txBody>
          <a:bodyPr wrap="square" lIns="0" tIns="0" rIns="0" bIns="0" rtlCol="0" anchor="ctr"/>
          <a:lstStyle/>
          <a:p>
            <a:pPr algn="ctr"/>
            <a:r>
              <a:rPr lang="en-US" sz="1200" dirty="0">
                <a:solidFill>
                  <a:srgbClr val="5B6B82"/>
                </a:solidFill>
                <a:latin typeface="Arial" pitchFamily="34" charset="0"/>
                <a:ea typeface="Arial" pitchFamily="34" charset="-122"/>
                <a:cs typeface="Arial" pitchFamily="34" charset="-120"/>
              </a:rPr>
              <a:t>Low</a:t>
            </a:r>
            <a:endParaRPr lang="en-US" sz="1200" dirty="0"/>
          </a:p>
        </p:txBody>
      </p:sp>
      <p:sp>
        <p:nvSpPr>
          <p:cNvPr id="22" name="Text 20"/>
          <p:cNvSpPr/>
          <p:nvPr/>
        </p:nvSpPr>
        <p:spPr>
          <a:xfrm>
            <a:off x="9769068" y="2606040"/>
            <a:ext cx="3106828" cy="2990088"/>
          </a:xfrm>
          <a:prstGeom prst="rect">
            <a:avLst/>
          </a:prstGeom>
          <a:noFill/>
          <a:ln/>
        </p:spPr>
        <p:txBody>
          <a:bodyPr wrap="square" lIns="0" tIns="0" rIns="0" bIns="0" rtlCol="0" anchor="ctr"/>
          <a:lstStyle/>
          <a:p>
            <a:pPr>
              <a:lnSpc>
                <a:spcPct val="110000"/>
              </a:lnSpc>
            </a:pPr>
            <a:r>
              <a:rPr lang="en-US" sz="1600" b="1" dirty="0">
                <a:solidFill>
                  <a:srgbClr val="C9760F"/>
                </a:solidFill>
                <a:latin typeface="Arial" pitchFamily="34" charset="0"/>
                <a:ea typeface="Arial" pitchFamily="34" charset="-122"/>
                <a:cs typeface="Arial" pitchFamily="34" charset="-120"/>
              </a:rPr>
              <a:t>Focus of this session: </a:t>
            </a:r>
            <a:r>
              <a:rPr lang="en-US" sz="1600" dirty="0">
                <a:solidFill>
                  <a:srgbClr val="1F2937"/>
                </a:solidFill>
                <a:latin typeface="Arial" pitchFamily="34" charset="0"/>
                <a:ea typeface="Arial" pitchFamily="34" charset="-122"/>
                <a:cs typeface="Arial" pitchFamily="34" charset="-120"/>
              </a:rPr>
              <a:t>the </a:t>
            </a:r>
            <a:r>
              <a:rPr lang="en-US" sz="1600" b="1" dirty="0">
                <a:solidFill>
                  <a:srgbClr val="1F2937"/>
                </a:solidFill>
                <a:latin typeface="Arial" pitchFamily="34" charset="0"/>
                <a:ea typeface="Arial" pitchFamily="34" charset="-122"/>
                <a:cs typeface="Arial" pitchFamily="34" charset="-120"/>
              </a:rPr>
              <a:t>Responsive Supply Chain</a:t>
            </a:r>
            <a:r>
              <a:rPr lang="en-US" sz="1600" dirty="0">
                <a:solidFill>
                  <a:srgbClr val="1F2937"/>
                </a:solidFill>
                <a:latin typeface="Arial" pitchFamily="34" charset="0"/>
                <a:ea typeface="Arial" pitchFamily="34" charset="-122"/>
                <a:cs typeface="Arial" pitchFamily="34" charset="-120"/>
              </a:rPr>
              <a:t> quadrant — used when demand is volatile/unpredictable but the supply base itself is fairly reliable, requiring speed and flexibility rather than pure cost efficiency (adapted from Fisher, 1997 and Lee, 2002).</a:t>
            </a:r>
            <a:endParaRPr lang="en-US" sz="1600" dirty="0"/>
          </a:p>
        </p:txBody>
      </p:sp>
      <p:sp>
        <p:nvSpPr>
          <p:cNvPr id="23" name="Text 21"/>
          <p:cNvSpPr/>
          <p:nvPr/>
        </p:nvSpPr>
        <p:spPr>
          <a:xfrm>
            <a:off x="548640" y="7812634"/>
            <a:ext cx="8778240" cy="329184"/>
          </a:xfrm>
          <a:prstGeom prst="rect">
            <a:avLst/>
          </a:prstGeom>
          <a:noFill/>
          <a:ln/>
        </p:spPr>
        <p:txBody>
          <a:bodyPr wrap="square" lIns="0" tIns="0" rIns="0" bIns="0" rtlCol="0" anchor="ctr"/>
          <a:lstStyle/>
          <a:p>
            <a:r>
              <a:rPr lang="en-US" sz="1200" dirty="0">
                <a:solidFill>
                  <a:srgbClr val="5B6B82"/>
                </a:solidFill>
                <a:latin typeface="Arial" pitchFamily="34" charset="0"/>
                <a:ea typeface="Arial" pitchFamily="34" charset="-122"/>
                <a:cs typeface="Arial" pitchFamily="34" charset="-120"/>
              </a:rPr>
              <a:t>Supply Chain Management</a:t>
            </a:r>
            <a:endParaRPr lang="en-US" sz="1200" dirty="0"/>
          </a:p>
        </p:txBody>
      </p:sp>
      <p:sp>
        <p:nvSpPr>
          <p:cNvPr id="24" name="Text 22"/>
          <p:cNvSpPr/>
          <p:nvPr/>
        </p:nvSpPr>
        <p:spPr>
          <a:xfrm>
            <a:off x="13529462" y="7812634"/>
            <a:ext cx="548640" cy="329184"/>
          </a:xfrm>
          <a:prstGeom prst="rect">
            <a:avLst/>
          </a:prstGeom>
          <a:noFill/>
          <a:ln/>
        </p:spPr>
        <p:txBody>
          <a:bodyPr wrap="square" lIns="0" tIns="0" rIns="0" bIns="0" rtlCol="0" anchor="ctr"/>
          <a:lstStyle/>
          <a:p>
            <a:pPr algn="r"/>
            <a:r>
              <a:rPr lang="en-US" sz="1200" dirty="0">
                <a:solidFill>
                  <a:srgbClr val="5B6B82"/>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384048"/>
            <a:ext cx="10972800" cy="329184"/>
          </a:xfrm>
          <a:prstGeom prst="rect">
            <a:avLst/>
          </a:prstGeom>
          <a:noFill/>
          <a:ln/>
        </p:spPr>
        <p:txBody>
          <a:bodyPr wrap="square" lIns="0" tIns="0" rIns="0" bIns="0" rtlCol="0" anchor="ctr"/>
          <a:lstStyle/>
          <a:p>
            <a:r>
              <a:rPr lang="en-US" sz="1440" b="1" kern="0" spc="240" dirty="0">
                <a:solidFill>
                  <a:srgbClr val="C9760F"/>
                </a:solidFill>
                <a:latin typeface="Arial" pitchFamily="34" charset="0"/>
                <a:ea typeface="Arial" pitchFamily="34" charset="-122"/>
                <a:cs typeface="Arial" pitchFamily="34" charset="-120"/>
              </a:rPr>
              <a:t>COMPARISON</a:t>
            </a:r>
            <a:endParaRPr lang="en-US" sz="1440" dirty="0"/>
          </a:p>
        </p:txBody>
      </p:sp>
      <p:sp>
        <p:nvSpPr>
          <p:cNvPr id="3" name="Text 1"/>
          <p:cNvSpPr/>
          <p:nvPr/>
        </p:nvSpPr>
        <p:spPr>
          <a:xfrm>
            <a:off x="658368" y="680314"/>
            <a:ext cx="13277088" cy="822960"/>
          </a:xfrm>
          <a:prstGeom prst="rect">
            <a:avLst/>
          </a:prstGeom>
          <a:noFill/>
          <a:ln/>
        </p:spPr>
        <p:txBody>
          <a:bodyPr wrap="square" lIns="0" tIns="0" rIns="0" bIns="0" rtlCol="0" anchor="ctr"/>
          <a:lstStyle/>
          <a:p>
            <a:r>
              <a:rPr lang="en-US" sz="3600" b="1" dirty="0">
                <a:solidFill>
                  <a:srgbClr val="1A3868"/>
                </a:solidFill>
                <a:latin typeface="Arial" pitchFamily="34" charset="0"/>
                <a:ea typeface="Arial" pitchFamily="34" charset="-122"/>
                <a:cs typeface="Arial" pitchFamily="34" charset="-120"/>
              </a:rPr>
              <a:t>Efficient vs Responsive Supply Chain</a:t>
            </a:r>
            <a:endParaRPr lang="en-US" sz="3600" dirty="0"/>
          </a:p>
        </p:txBody>
      </p:sp>
      <p:graphicFrame>
        <p:nvGraphicFramePr>
          <p:cNvPr id="17" name="Table 0"/>
          <p:cNvGraphicFramePr>
            <a:graphicFrameLocks noGrp="1"/>
          </p:cNvGraphicFramePr>
          <p:nvPr/>
        </p:nvGraphicFramePr>
        <p:xfrm>
          <a:off x="658368" y="1755648"/>
          <a:ext cx="13277088" cy="5530294"/>
        </p:xfrm>
        <a:graphic>
          <a:graphicData uri="http://schemas.openxmlformats.org/drawingml/2006/table">
            <a:tbl>
              <a:tblPr/>
              <a:tblGrid>
                <a:gridCol w="2633472">
                  <a:extLst>
                    <a:ext uri="{9D8B030D-6E8A-4147-A177-3AD203B41FA5}">
                      <a16:colId xmlns:a16="http://schemas.microsoft.com/office/drawing/2014/main" val="20000"/>
                    </a:ext>
                  </a:extLst>
                </a:gridCol>
                <a:gridCol w="5321808">
                  <a:extLst>
                    <a:ext uri="{9D8B030D-6E8A-4147-A177-3AD203B41FA5}">
                      <a16:colId xmlns:a16="http://schemas.microsoft.com/office/drawing/2014/main" val="20001"/>
                    </a:ext>
                  </a:extLst>
                </a:gridCol>
                <a:gridCol w="5321808">
                  <a:extLst>
                    <a:ext uri="{9D8B030D-6E8A-4147-A177-3AD203B41FA5}">
                      <a16:colId xmlns:a16="http://schemas.microsoft.com/office/drawing/2014/main" val="20002"/>
                    </a:ext>
                  </a:extLst>
                </a:gridCol>
              </a:tblGrid>
              <a:tr h="790042">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Dimension</a:t>
                      </a:r>
                      <a:endParaRPr lang="en-US" sz="15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1A3868"/>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Efficient Supply Chain</a:t>
                      </a:r>
                      <a:endParaRPr lang="en-US" sz="15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1A3868"/>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Responsive Supply Chain</a:t>
                      </a:r>
                      <a:endParaRPr lang="en-US" sz="15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C9760F"/>
                    </a:solidFill>
                  </a:tcPr>
                </a:tc>
                <a:extLst>
                  <a:ext uri="{0D108BD9-81ED-4DB2-BD59-A6C34878D82A}">
                    <a16:rowId xmlns:a16="http://schemas.microsoft.com/office/drawing/2014/main" val="10000"/>
                  </a:ext>
                </a:extLst>
              </a:tr>
              <a:tr h="790042">
                <a:tc>
                  <a:txBody>
                    <a:bodyPr/>
                    <a:lstStyle/>
                    <a:p>
                      <a:pPr marL="0" indent="0" algn="l">
                        <a:buNone/>
                      </a:pPr>
                      <a:r>
                        <a:rPr lang="en-US" sz="1400" b="1" dirty="0">
                          <a:solidFill>
                            <a:srgbClr val="1A3868"/>
                          </a:solidFill>
                          <a:latin typeface="Arial" pitchFamily="34" charset="0"/>
                          <a:ea typeface="Arial" pitchFamily="34" charset="-122"/>
                          <a:cs typeface="Arial" pitchFamily="34" charset="-120"/>
                        </a:rPr>
                        <a:t>Primary Goal</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Supply demand at the lowest possible cost</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Respond quickly to unpredictable demand</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0042">
                <a:tc>
                  <a:txBody>
                    <a:bodyPr/>
                    <a:lstStyle/>
                    <a:p>
                      <a:pPr marL="0" indent="0" algn="l">
                        <a:buNone/>
                      </a:pPr>
                      <a:r>
                        <a:rPr lang="en-US" sz="1400" b="1" dirty="0">
                          <a:solidFill>
                            <a:srgbClr val="1A3868"/>
                          </a:solidFill>
                          <a:latin typeface="Arial" pitchFamily="34" charset="0"/>
                          <a:ea typeface="Arial" pitchFamily="34" charset="-122"/>
                          <a:cs typeface="Arial" pitchFamily="34" charset="-120"/>
                        </a:rPr>
                        <a:t>Manufacturing Focus</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High utilization, long production runs</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Flexible capacity, quick changeovers</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extLst>
                  <a:ext uri="{0D108BD9-81ED-4DB2-BD59-A6C34878D82A}">
                    <a16:rowId xmlns:a16="http://schemas.microsoft.com/office/drawing/2014/main" val="10002"/>
                  </a:ext>
                </a:extLst>
              </a:tr>
              <a:tr h="790042">
                <a:tc>
                  <a:txBody>
                    <a:bodyPr/>
                    <a:lstStyle/>
                    <a:p>
                      <a:pPr marL="0" indent="0" algn="l">
                        <a:buNone/>
                      </a:pPr>
                      <a:r>
                        <a:rPr lang="en-US" sz="1400" b="1" dirty="0">
                          <a:solidFill>
                            <a:srgbClr val="1A3868"/>
                          </a:solidFill>
                          <a:latin typeface="Arial" pitchFamily="34" charset="0"/>
                          <a:ea typeface="Arial" pitchFamily="34" charset="-122"/>
                          <a:cs typeface="Arial" pitchFamily="34" charset="-120"/>
                        </a:rPr>
                        <a:t>Inventory Strategy</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Minimize inventory to cut cost</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Maintain buffer stock to hedge shortages</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90042">
                <a:tc>
                  <a:txBody>
                    <a:bodyPr/>
                    <a:lstStyle/>
                    <a:p>
                      <a:pPr marL="0" indent="0" algn="l">
                        <a:buNone/>
                      </a:pPr>
                      <a:r>
                        <a:rPr lang="en-US" sz="1400" b="1" dirty="0">
                          <a:solidFill>
                            <a:srgbClr val="1A3868"/>
                          </a:solidFill>
                          <a:latin typeface="Arial" pitchFamily="34" charset="0"/>
                          <a:ea typeface="Arial" pitchFamily="34" charset="-122"/>
                          <a:cs typeface="Arial" pitchFamily="34" charset="-120"/>
                        </a:rPr>
                        <a:t>Lead Time Focus</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Reduce lead time without raising cost</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Aggressively reduce lead time, even at higher cost</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extLst>
                  <a:ext uri="{0D108BD9-81ED-4DB2-BD59-A6C34878D82A}">
                    <a16:rowId xmlns:a16="http://schemas.microsoft.com/office/drawing/2014/main" val="10004"/>
                  </a:ext>
                </a:extLst>
              </a:tr>
              <a:tr h="790042">
                <a:tc>
                  <a:txBody>
                    <a:bodyPr/>
                    <a:lstStyle/>
                    <a:p>
                      <a:pPr marL="0" indent="0" algn="l">
                        <a:buNone/>
                      </a:pPr>
                      <a:r>
                        <a:rPr lang="en-US" sz="1400" b="1" dirty="0">
                          <a:solidFill>
                            <a:srgbClr val="1A3868"/>
                          </a:solidFill>
                          <a:latin typeface="Arial" pitchFamily="34" charset="0"/>
                          <a:ea typeface="Arial" pitchFamily="34" charset="-122"/>
                          <a:cs typeface="Arial" pitchFamily="34" charset="-120"/>
                        </a:rPr>
                        <a:t>Supplier Selection</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Cost and quality first</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Speed, flexibility and quality first</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90042">
                <a:tc>
                  <a:txBody>
                    <a:bodyPr/>
                    <a:lstStyle/>
                    <a:p>
                      <a:pPr marL="0" indent="0" algn="l">
                        <a:buNone/>
                      </a:pPr>
                      <a:r>
                        <a:rPr lang="en-US" sz="1400" b="1" dirty="0">
                          <a:solidFill>
                            <a:srgbClr val="1A3868"/>
                          </a:solidFill>
                          <a:latin typeface="Arial" pitchFamily="34" charset="0"/>
                          <a:ea typeface="Arial" pitchFamily="34" charset="-122"/>
                          <a:cs typeface="Arial" pitchFamily="34" charset="-120"/>
                        </a:rPr>
                        <a:t>Product Design</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Maximize performance, minimize cost</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tc>
                  <a:txBody>
                    <a:bodyPr/>
                    <a:lstStyle/>
                    <a:p>
                      <a:pPr marL="0" indent="0" algn="l">
                        <a:buNone/>
                      </a:pPr>
                      <a:r>
                        <a:rPr lang="en-US" sz="1400" dirty="0">
                          <a:solidFill>
                            <a:srgbClr val="1F2937"/>
                          </a:solidFill>
                          <a:latin typeface="Arial" pitchFamily="34" charset="0"/>
                          <a:ea typeface="Arial" pitchFamily="34" charset="-122"/>
                          <a:cs typeface="Arial" pitchFamily="34" charset="-120"/>
                        </a:rPr>
                        <a:t>Modular design enabling postponement</a:t>
                      </a:r>
                      <a:endParaRPr lang="en-US" sz="1400" dirty="0">
                        <a:latin typeface="Arial" charset="0"/>
                        <a:ea typeface="Arial" charset="0"/>
                        <a:cs typeface="Arial" charset="0"/>
                      </a:endParaRPr>
                    </a:p>
                  </a:txBody>
                  <a:tcPr marL="109728" marR="109728" marT="54864" marB="54864" anchor="ctr">
                    <a:lnL w="9525" cap="flat" cmpd="sng" algn="ctr">
                      <a:solidFill>
                        <a:srgbClr val="D6E3F5"/>
                      </a:solidFill>
                      <a:prstDash val="solid"/>
                      <a:round/>
                      <a:headEnd type="none" w="med" len="med"/>
                      <a:tailEnd type="none" w="med" len="med"/>
                    </a:lnL>
                    <a:lnR w="9525" cap="flat" cmpd="sng" algn="ctr">
                      <a:solidFill>
                        <a:srgbClr val="D6E3F5"/>
                      </a:solidFill>
                      <a:prstDash val="solid"/>
                      <a:round/>
                      <a:headEnd type="none" w="med" len="med"/>
                      <a:tailEnd type="none" w="med" len="med"/>
                    </a:lnR>
                    <a:lnT w="9525" cap="flat" cmpd="sng" algn="ctr">
                      <a:solidFill>
                        <a:srgbClr val="D6E3F5"/>
                      </a:solidFill>
                      <a:prstDash val="solid"/>
                      <a:round/>
                      <a:headEnd type="none" w="med" len="med"/>
                      <a:tailEnd type="none" w="med" len="med"/>
                    </a:lnT>
                    <a:lnB w="9525" cap="flat" cmpd="sng" algn="ctr">
                      <a:solidFill>
                        <a:srgbClr val="D6E3F5"/>
                      </a:solidFill>
                      <a:prstDash val="solid"/>
                      <a:round/>
                      <a:headEnd type="none" w="med" len="med"/>
                      <a:tailEnd type="none" w="med" len="med"/>
                    </a:lnB>
                    <a:solidFill>
                      <a:srgbClr val="EAF1FC"/>
                    </a:solidFill>
                  </a:tcPr>
                </a:tc>
                <a:extLst>
                  <a:ext uri="{0D108BD9-81ED-4DB2-BD59-A6C34878D82A}">
                    <a16:rowId xmlns:a16="http://schemas.microsoft.com/office/drawing/2014/main" val="10006"/>
                  </a:ext>
                </a:extLst>
              </a:tr>
            </a:tbl>
          </a:graphicData>
        </a:graphic>
      </p:graphicFrame>
      <p:sp>
        <p:nvSpPr>
          <p:cNvPr id="5" name="Text 2"/>
          <p:cNvSpPr/>
          <p:nvPr/>
        </p:nvSpPr>
        <p:spPr>
          <a:xfrm>
            <a:off x="548640" y="7812634"/>
            <a:ext cx="8778240" cy="329184"/>
          </a:xfrm>
          <a:prstGeom prst="rect">
            <a:avLst/>
          </a:prstGeom>
          <a:noFill/>
          <a:ln/>
        </p:spPr>
        <p:txBody>
          <a:bodyPr wrap="square" lIns="0" tIns="0" rIns="0" bIns="0" rtlCol="0" anchor="ctr"/>
          <a:lstStyle/>
          <a:p>
            <a:r>
              <a:rPr lang="en-US" sz="1200" dirty="0">
                <a:solidFill>
                  <a:srgbClr val="5B6B82"/>
                </a:solidFill>
                <a:latin typeface="Arial" pitchFamily="34" charset="0"/>
                <a:ea typeface="Arial" pitchFamily="34" charset="-122"/>
                <a:cs typeface="Arial" pitchFamily="34" charset="-120"/>
              </a:rPr>
              <a:t>Supply Chain Management</a:t>
            </a:r>
            <a:endParaRPr lang="en-US" sz="1200" dirty="0"/>
          </a:p>
        </p:txBody>
      </p:sp>
      <p:sp>
        <p:nvSpPr>
          <p:cNvPr id="6" name="Text 3"/>
          <p:cNvSpPr/>
          <p:nvPr/>
        </p:nvSpPr>
        <p:spPr>
          <a:xfrm>
            <a:off x="13529462" y="7812634"/>
            <a:ext cx="548640" cy="329184"/>
          </a:xfrm>
          <a:prstGeom prst="rect">
            <a:avLst/>
          </a:prstGeom>
          <a:noFill/>
          <a:ln/>
        </p:spPr>
        <p:txBody>
          <a:bodyPr wrap="square" lIns="0" tIns="0" rIns="0" bIns="0" rtlCol="0" anchor="ctr"/>
          <a:lstStyle/>
          <a:p>
            <a:pPr algn="r"/>
            <a:r>
              <a:rPr lang="en-US" sz="1200" dirty="0">
                <a:solidFill>
                  <a:srgbClr val="5B6B82"/>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11712" y="-1975104"/>
            <a:ext cx="5486400" cy="5486400"/>
          </a:xfrm>
          <a:prstGeom prst="ellipse">
            <a:avLst/>
          </a:prstGeom>
          <a:solidFill>
            <a:srgbClr val="1A3868">
              <a:alpha val="70000"/>
            </a:srgbClr>
          </a:solidFill>
          <a:ln/>
        </p:spPr>
        <p:txBody>
          <a:bodyPr/>
          <a:lstStyle/>
          <a:p>
            <a:endParaRPr lang="en-US" sz="2160"/>
          </a:p>
        </p:txBody>
      </p:sp>
      <p:sp>
        <p:nvSpPr>
          <p:cNvPr id="3" name="Text 1"/>
          <p:cNvSpPr/>
          <p:nvPr/>
        </p:nvSpPr>
        <p:spPr>
          <a:xfrm>
            <a:off x="987552" y="713232"/>
            <a:ext cx="8778240" cy="438912"/>
          </a:xfrm>
          <a:prstGeom prst="rect">
            <a:avLst/>
          </a:prstGeom>
          <a:noFill/>
          <a:ln/>
        </p:spPr>
        <p:txBody>
          <a:bodyPr wrap="square" lIns="0" tIns="0" rIns="0" bIns="0" rtlCol="0" anchor="ctr"/>
          <a:lstStyle/>
          <a:p>
            <a:r>
              <a:rPr lang="en-US" sz="1680" b="1" kern="0" spc="360" dirty="0">
                <a:solidFill>
                  <a:srgbClr val="C9760F"/>
                </a:solidFill>
                <a:latin typeface="Arial" pitchFamily="34" charset="0"/>
                <a:ea typeface="Arial" pitchFamily="34" charset="-122"/>
                <a:cs typeface="Arial" pitchFamily="34" charset="-120"/>
              </a:rPr>
              <a:t>KEY TAKEAWAYS</a:t>
            </a:r>
            <a:endParaRPr lang="en-US" sz="1680" dirty="0"/>
          </a:p>
        </p:txBody>
      </p:sp>
      <p:sp>
        <p:nvSpPr>
          <p:cNvPr id="4" name="Text 2"/>
          <p:cNvSpPr/>
          <p:nvPr/>
        </p:nvSpPr>
        <p:spPr>
          <a:xfrm>
            <a:off x="987552" y="1152144"/>
            <a:ext cx="10972800" cy="932688"/>
          </a:xfrm>
          <a:prstGeom prst="rect">
            <a:avLst/>
          </a:prstGeom>
          <a:noFill/>
          <a:ln/>
        </p:spPr>
        <p:txBody>
          <a:bodyPr wrap="square" lIns="0" tIns="0" rIns="0" bIns="0" rtlCol="0" anchor="ctr"/>
          <a:lstStyle/>
          <a:p>
            <a:r>
              <a:rPr lang="en-US" sz="3840" b="1" dirty="0">
                <a:solidFill>
                  <a:srgbClr val="FFFFFF"/>
                </a:solidFill>
                <a:latin typeface="Arial" pitchFamily="34" charset="0"/>
                <a:ea typeface="Arial" pitchFamily="34" charset="-122"/>
                <a:cs typeface="Arial" pitchFamily="34" charset="-120"/>
              </a:rPr>
              <a:t>Bringing It Together</a:t>
            </a:r>
            <a:endParaRPr lang="en-US" sz="3840" dirty="0"/>
          </a:p>
        </p:txBody>
      </p:sp>
      <p:sp>
        <p:nvSpPr>
          <p:cNvPr id="5" name="Shape 3"/>
          <p:cNvSpPr/>
          <p:nvPr/>
        </p:nvSpPr>
        <p:spPr>
          <a:xfrm>
            <a:off x="987552" y="2523744"/>
            <a:ext cx="658368" cy="658368"/>
          </a:xfrm>
          <a:prstGeom prst="ellipse">
            <a:avLst/>
          </a:prstGeom>
          <a:solidFill>
            <a:srgbClr val="1A3868"/>
          </a:solidFill>
          <a:ln/>
        </p:spPr>
        <p:txBody>
          <a:bodyPr/>
          <a:lstStyle/>
          <a:p>
            <a:endParaRPr lang="en-US" sz="2160"/>
          </a:p>
        </p:txBody>
      </p:sp>
      <p:pic>
        <p:nvPicPr>
          <p:cNvPr id="6" name="Image 0" descr="icons/chart_white.png"/>
          <p:cNvPicPr>
            <a:picLocks noChangeAspect="1"/>
          </p:cNvPicPr>
          <p:nvPr/>
        </p:nvPicPr>
        <p:blipFill>
          <a:blip r:embed="rId3"/>
          <a:stretch>
            <a:fillRect/>
          </a:stretch>
        </p:blipFill>
        <p:spPr>
          <a:xfrm>
            <a:off x="1130199" y="2666391"/>
            <a:ext cx="373075" cy="373075"/>
          </a:xfrm>
          <a:prstGeom prst="rect">
            <a:avLst/>
          </a:prstGeom>
        </p:spPr>
      </p:pic>
      <p:sp>
        <p:nvSpPr>
          <p:cNvPr id="7" name="Text 4"/>
          <p:cNvSpPr/>
          <p:nvPr/>
        </p:nvSpPr>
        <p:spPr>
          <a:xfrm>
            <a:off x="1920240" y="2468880"/>
            <a:ext cx="11301984" cy="438912"/>
          </a:xfrm>
          <a:prstGeom prst="rect">
            <a:avLst/>
          </a:prstGeom>
          <a:noFill/>
          <a:ln/>
        </p:spPr>
        <p:txBody>
          <a:bodyPr wrap="square" lIns="0" tIns="0" rIns="0" bIns="0" rtlCol="0" anchor="ctr"/>
          <a:lstStyle/>
          <a:p>
            <a:r>
              <a:rPr lang="en-US" sz="1920" b="1" dirty="0">
                <a:solidFill>
                  <a:srgbClr val="FFFFFF"/>
                </a:solidFill>
                <a:latin typeface="Arial" pitchFamily="34" charset="0"/>
                <a:ea typeface="Arial" pitchFamily="34" charset="-122"/>
                <a:cs typeface="Arial" pitchFamily="34" charset="-120"/>
              </a:rPr>
              <a:t>Six drivers, ten metrics</a:t>
            </a:r>
            <a:endParaRPr lang="en-US" sz="1920" dirty="0"/>
          </a:p>
        </p:txBody>
      </p:sp>
      <p:sp>
        <p:nvSpPr>
          <p:cNvPr id="8" name="Text 5"/>
          <p:cNvSpPr/>
          <p:nvPr/>
        </p:nvSpPr>
        <p:spPr>
          <a:xfrm>
            <a:off x="1920240" y="2907792"/>
            <a:ext cx="11301984" cy="713232"/>
          </a:xfrm>
          <a:prstGeom prst="rect">
            <a:avLst/>
          </a:prstGeom>
          <a:noFill/>
          <a:ln/>
        </p:spPr>
        <p:txBody>
          <a:bodyPr wrap="square" lIns="0" tIns="0" rIns="0" bIns="0" rtlCol="0" anchor="ctr"/>
          <a:lstStyle/>
          <a:p>
            <a:pPr>
              <a:lnSpc>
                <a:spcPct val="125000"/>
              </a:lnSpc>
            </a:pPr>
            <a:r>
              <a:rPr lang="en-US" sz="1600" dirty="0">
                <a:solidFill>
                  <a:schemeClr val="tx2"/>
                </a:solidFill>
                <a:latin typeface="Arial" pitchFamily="34" charset="0"/>
                <a:ea typeface="Arial" pitchFamily="34" charset="-122"/>
                <a:cs typeface="Arial" pitchFamily="34" charset="-120"/>
              </a:rPr>
              <a:t>Facilities, inventory, transportation, information, sourcing and pricing shape performance — and 10 numerical metrics let managers track it objectively.</a:t>
            </a:r>
            <a:endParaRPr lang="en-US" sz="1600" dirty="0">
              <a:solidFill>
                <a:schemeClr val="tx2"/>
              </a:solidFill>
            </a:endParaRPr>
          </a:p>
        </p:txBody>
      </p:sp>
      <p:sp>
        <p:nvSpPr>
          <p:cNvPr id="9" name="Shape 6"/>
          <p:cNvSpPr/>
          <p:nvPr/>
        </p:nvSpPr>
        <p:spPr>
          <a:xfrm>
            <a:off x="987552" y="4005072"/>
            <a:ext cx="658368" cy="658368"/>
          </a:xfrm>
          <a:prstGeom prst="ellipse">
            <a:avLst/>
          </a:prstGeom>
          <a:solidFill>
            <a:srgbClr val="1A3868"/>
          </a:solidFill>
          <a:ln/>
        </p:spPr>
        <p:txBody>
          <a:bodyPr/>
          <a:lstStyle/>
          <a:p>
            <a:endParaRPr lang="en-US" sz="2160"/>
          </a:p>
        </p:txBody>
      </p:sp>
      <p:pic>
        <p:nvPicPr>
          <p:cNvPr id="10" name="Image 1" descr="icons/network_white.png"/>
          <p:cNvPicPr>
            <a:picLocks noChangeAspect="1"/>
          </p:cNvPicPr>
          <p:nvPr/>
        </p:nvPicPr>
        <p:blipFill>
          <a:blip r:embed="rId4"/>
          <a:stretch>
            <a:fillRect/>
          </a:stretch>
        </p:blipFill>
        <p:spPr>
          <a:xfrm>
            <a:off x="1130199" y="4147719"/>
            <a:ext cx="373075" cy="373075"/>
          </a:xfrm>
          <a:prstGeom prst="rect">
            <a:avLst/>
          </a:prstGeom>
        </p:spPr>
      </p:pic>
      <p:sp>
        <p:nvSpPr>
          <p:cNvPr id="11" name="Text 7"/>
          <p:cNvSpPr/>
          <p:nvPr/>
        </p:nvSpPr>
        <p:spPr>
          <a:xfrm>
            <a:off x="1920240" y="3950208"/>
            <a:ext cx="11301984" cy="438912"/>
          </a:xfrm>
          <a:prstGeom prst="rect">
            <a:avLst/>
          </a:prstGeom>
          <a:noFill/>
          <a:ln/>
        </p:spPr>
        <p:txBody>
          <a:bodyPr wrap="square" lIns="0" tIns="0" rIns="0" bIns="0" rtlCol="0" anchor="ctr"/>
          <a:lstStyle/>
          <a:p>
            <a:r>
              <a:rPr lang="en-US" sz="1920" b="1" dirty="0">
                <a:solidFill>
                  <a:srgbClr val="FFFFFF"/>
                </a:solidFill>
                <a:latin typeface="Arial" pitchFamily="34" charset="0"/>
                <a:ea typeface="Arial" pitchFamily="34" charset="-122"/>
                <a:cs typeface="Arial" pitchFamily="34" charset="-120"/>
              </a:rPr>
              <a:t>Value over volume</a:t>
            </a:r>
            <a:endParaRPr lang="en-US" sz="1920" dirty="0"/>
          </a:p>
        </p:txBody>
      </p:sp>
      <p:sp>
        <p:nvSpPr>
          <p:cNvPr id="12" name="Text 8"/>
          <p:cNvSpPr/>
          <p:nvPr/>
        </p:nvSpPr>
        <p:spPr>
          <a:xfrm>
            <a:off x="1920240" y="4389120"/>
            <a:ext cx="11301984" cy="713232"/>
          </a:xfrm>
          <a:prstGeom prst="rect">
            <a:avLst/>
          </a:prstGeom>
          <a:noFill/>
          <a:ln/>
        </p:spPr>
        <p:txBody>
          <a:bodyPr wrap="square" lIns="0" tIns="0" rIns="0" bIns="0" rtlCol="0" anchor="ctr"/>
          <a:lstStyle/>
          <a:p>
            <a:pPr>
              <a:lnSpc>
                <a:spcPct val="125000"/>
              </a:lnSpc>
            </a:pPr>
            <a:r>
              <a:rPr lang="en-US" sz="1600" dirty="0">
                <a:solidFill>
                  <a:schemeClr val="tx2"/>
                </a:solidFill>
                <a:latin typeface="Arial" pitchFamily="34" charset="0"/>
                <a:ea typeface="Arial" pitchFamily="34" charset="-122"/>
                <a:cs typeface="Arial" pitchFamily="34" charset="-120"/>
              </a:rPr>
              <a:t>Supply chains are evolving into value chains: integrated, customer-focused networks judged by value created, not just cost avoided.</a:t>
            </a:r>
            <a:endParaRPr lang="en-US" sz="1600" dirty="0">
              <a:solidFill>
                <a:schemeClr val="tx2"/>
              </a:solidFill>
            </a:endParaRPr>
          </a:p>
        </p:txBody>
      </p:sp>
      <p:sp>
        <p:nvSpPr>
          <p:cNvPr id="13" name="Shape 9"/>
          <p:cNvSpPr/>
          <p:nvPr/>
        </p:nvSpPr>
        <p:spPr>
          <a:xfrm>
            <a:off x="987552" y="5486400"/>
            <a:ext cx="658368" cy="658368"/>
          </a:xfrm>
          <a:prstGeom prst="ellipse">
            <a:avLst/>
          </a:prstGeom>
          <a:solidFill>
            <a:srgbClr val="1A3868"/>
          </a:solidFill>
          <a:ln/>
        </p:spPr>
        <p:txBody>
          <a:bodyPr/>
          <a:lstStyle/>
          <a:p>
            <a:endParaRPr lang="en-US" sz="2160"/>
          </a:p>
        </p:txBody>
      </p:sp>
      <p:pic>
        <p:nvPicPr>
          <p:cNvPr id="14" name="Image 2" descr="icons/rocket_amber.png"/>
          <p:cNvPicPr>
            <a:picLocks noChangeAspect="1"/>
          </p:cNvPicPr>
          <p:nvPr/>
        </p:nvPicPr>
        <p:blipFill>
          <a:blip r:embed="rId5"/>
          <a:stretch>
            <a:fillRect/>
          </a:stretch>
        </p:blipFill>
        <p:spPr>
          <a:xfrm>
            <a:off x="1130199" y="5629047"/>
            <a:ext cx="373075" cy="373075"/>
          </a:xfrm>
          <a:prstGeom prst="rect">
            <a:avLst/>
          </a:prstGeom>
        </p:spPr>
      </p:pic>
      <p:sp>
        <p:nvSpPr>
          <p:cNvPr id="15" name="Text 10"/>
          <p:cNvSpPr/>
          <p:nvPr/>
        </p:nvSpPr>
        <p:spPr>
          <a:xfrm>
            <a:off x="1920240" y="5431536"/>
            <a:ext cx="11301984" cy="438912"/>
          </a:xfrm>
          <a:prstGeom prst="rect">
            <a:avLst/>
          </a:prstGeom>
          <a:noFill/>
          <a:ln/>
        </p:spPr>
        <p:txBody>
          <a:bodyPr wrap="square" lIns="0" tIns="0" rIns="0" bIns="0" rtlCol="0" anchor="ctr"/>
          <a:lstStyle/>
          <a:p>
            <a:r>
              <a:rPr lang="en-US" sz="1920" b="1" dirty="0">
                <a:solidFill>
                  <a:srgbClr val="FFFFFF"/>
                </a:solidFill>
                <a:latin typeface="Arial" pitchFamily="34" charset="0"/>
                <a:ea typeface="Arial" pitchFamily="34" charset="-122"/>
                <a:cs typeface="Arial" pitchFamily="34" charset="-120"/>
              </a:rPr>
              <a:t>Responsiveness where it matters</a:t>
            </a:r>
            <a:endParaRPr lang="en-US" sz="1920" dirty="0"/>
          </a:p>
        </p:txBody>
      </p:sp>
      <p:sp>
        <p:nvSpPr>
          <p:cNvPr id="16" name="Text 11"/>
          <p:cNvSpPr/>
          <p:nvPr/>
        </p:nvSpPr>
        <p:spPr>
          <a:xfrm>
            <a:off x="1920240" y="5870448"/>
            <a:ext cx="11301984" cy="713232"/>
          </a:xfrm>
          <a:prstGeom prst="rect">
            <a:avLst/>
          </a:prstGeom>
          <a:noFill/>
          <a:ln/>
        </p:spPr>
        <p:txBody>
          <a:bodyPr wrap="square" lIns="0" tIns="0" rIns="0" bIns="0" rtlCol="0" anchor="ctr"/>
          <a:lstStyle/>
          <a:p>
            <a:pPr>
              <a:lnSpc>
                <a:spcPct val="125000"/>
              </a:lnSpc>
            </a:pPr>
            <a:r>
              <a:rPr lang="en-US" sz="1600" dirty="0">
                <a:solidFill>
                  <a:schemeClr val="tx2"/>
                </a:solidFill>
                <a:latin typeface="Arial" pitchFamily="34" charset="0"/>
                <a:ea typeface="Arial" pitchFamily="34" charset="-122"/>
                <a:cs typeface="Arial" pitchFamily="34" charset="-120"/>
              </a:rPr>
              <a:t>For uncertain, innovative-product demand, a responsive supply chain — fast, flexible, postponed — outperforms a purely cost-efficient one.</a:t>
            </a:r>
            <a:endParaRPr lang="en-US" sz="1600" dirty="0">
              <a:solidFill>
                <a:schemeClr val="tx2"/>
              </a:solidFill>
            </a:endParaRPr>
          </a:p>
        </p:txBody>
      </p:sp>
      <p:sp>
        <p:nvSpPr>
          <p:cNvPr id="17" name="Shape 12"/>
          <p:cNvSpPr/>
          <p:nvPr/>
        </p:nvSpPr>
        <p:spPr>
          <a:xfrm>
            <a:off x="987552" y="7406640"/>
            <a:ext cx="2414016" cy="0"/>
          </a:xfrm>
          <a:prstGeom prst="line">
            <a:avLst/>
          </a:prstGeom>
          <a:noFill/>
          <a:ln w="31750">
            <a:solidFill>
              <a:srgbClr val="C9760F"/>
            </a:solidFill>
            <a:prstDash val="solid"/>
          </a:ln>
        </p:spPr>
        <p:txBody>
          <a:bodyPr/>
          <a:lstStyle/>
          <a:p>
            <a:endParaRPr lang="en-US" sz="2160"/>
          </a:p>
        </p:txBody>
      </p:sp>
      <p:sp>
        <p:nvSpPr>
          <p:cNvPr id="19" name="Text 14"/>
          <p:cNvSpPr/>
          <p:nvPr/>
        </p:nvSpPr>
        <p:spPr>
          <a:xfrm>
            <a:off x="13529462" y="7790688"/>
            <a:ext cx="548640" cy="329184"/>
          </a:xfrm>
          <a:prstGeom prst="rect">
            <a:avLst/>
          </a:prstGeom>
          <a:noFill/>
          <a:ln/>
        </p:spPr>
        <p:txBody>
          <a:bodyPr wrap="square" lIns="0" tIns="0" rIns="0" bIns="0" rtlCol="0" anchor="ctr"/>
          <a:lstStyle/>
          <a:p>
            <a:pPr algn="r"/>
            <a:r>
              <a:rPr lang="en-US" sz="1200" dirty="0">
                <a:solidFill>
                  <a:srgbClr val="8FA8C7"/>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328D0-7BB3-56EE-BBD9-C83CC99110D2}"/>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531A6644-8F6C-6AB3-7025-776A8EBD001C}"/>
              </a:ext>
            </a:extLst>
          </p:cNvPr>
          <p:cNvSpPr txBox="1"/>
          <p:nvPr/>
        </p:nvSpPr>
        <p:spPr>
          <a:xfrm>
            <a:off x="6437870" y="3589950"/>
            <a:ext cx="7216346" cy="500137"/>
          </a:xfrm>
          <a:prstGeom prst="rect">
            <a:avLst/>
          </a:prstGeom>
          <a:noFill/>
        </p:spPr>
        <p:txBody>
          <a:bodyPr wrap="square" rtlCol="0">
            <a:spAutoFit/>
          </a:bodyPr>
          <a:lstStyle/>
          <a:p>
            <a:r>
              <a:rPr lang="en-GB" sz="2650" dirty="0">
                <a:solidFill>
                  <a:srgbClr val="201B18"/>
                </a:solidFill>
                <a:latin typeface="Platypi Medium" pitchFamily="34" charset="0"/>
                <a:cs typeface="Platypi Medium" pitchFamily="34" charset="-120"/>
              </a:rPr>
              <a:t>Thank You</a:t>
            </a:r>
            <a:endParaRPr lang="en-IN" sz="2650" dirty="0">
              <a:solidFill>
                <a:srgbClr val="201B18"/>
              </a:solidFill>
              <a:latin typeface="Platypi Medium" pitchFamily="34" charset="0"/>
              <a:cs typeface="Platypi Medium" pitchFamily="34" charset="-120"/>
            </a:endParaRPr>
          </a:p>
        </p:txBody>
      </p:sp>
    </p:spTree>
    <p:extLst>
      <p:ext uri="{BB962C8B-B14F-4D97-AF65-F5344CB8AC3E}">
        <p14:creationId xmlns:p14="http://schemas.microsoft.com/office/powerpoint/2010/main" val="27260218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367</TotalTime>
  <Words>4936</Words>
  <Application>Microsoft Office PowerPoint</Application>
  <PresentationFormat>Custom</PresentationFormat>
  <Paragraphs>512</Paragraphs>
  <Slides>31</Slides>
  <Notes>28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31</vt:i4>
      </vt:variant>
    </vt:vector>
  </HeadingPairs>
  <TitlesOfParts>
    <vt:vector size="39" baseType="lpstr">
      <vt:lpstr>Source Serif Pro</vt:lpstr>
      <vt:lpstr>Aptos Display</vt:lpstr>
      <vt:lpstr>Platypi Medium</vt:lpstr>
      <vt:lpstr>Times New Roman</vt:lpstr>
      <vt:lpstr>Aptos</vt:lpstr>
      <vt:lpstr>Arial</vt:lpstr>
      <vt:lpstr>Office Theme</vt:lpstr>
      <vt:lpstr>1_Office Theme</vt:lpstr>
      <vt:lpstr>Subject Name: Logistics and Supply Chain Management Session No: 01 Faculty Name: Prof Ajit M Maurya</vt:lpstr>
      <vt:lpstr>PowerPoint Presentation</vt:lpstr>
      <vt:lpstr>Agenda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Ajit Maurya</cp:lastModifiedBy>
  <cp:revision>15</cp:revision>
  <dcterms:created xsi:type="dcterms:W3CDTF">2025-07-08T07:09:51Z</dcterms:created>
  <dcterms:modified xsi:type="dcterms:W3CDTF">2026-07-07T11:29:09Z</dcterms:modified>
</cp:coreProperties>
</file>