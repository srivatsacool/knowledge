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30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0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0A21-9043-B3FD-6EF3-29312DDAC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75792-EE7E-7357-98D1-30CD85538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78FDA-E5CC-6BB2-EDA7-69DB6BAF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8972-1CE9-4618-A565-E31F6D00BDB2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7530F-71DB-54A0-7851-F3E230B6C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D5A05-856F-A25A-DFAD-FA5A8A0F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B5DA-D357-4588-BF01-141D6E84A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1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9.png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1A2C-7F36-CE3F-F177-64E2FA854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968" y="4498257"/>
            <a:ext cx="12535464" cy="1740157"/>
          </a:xfrm>
        </p:spPr>
        <p:txBody>
          <a:bodyPr>
            <a:noAutofit/>
          </a:bodyPr>
          <a:lstStyle/>
          <a:p>
            <a:pPr algn="l"/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Subject Name: Logistics and Supply Chain Management</a:t>
            </a:r>
            <a:b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</a:b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Session No: 04</a:t>
            </a:r>
            <a:b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</a:b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Faculty Name: Prof Ajit M Maurya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296B3A-BD2F-EA29-FBAD-8064B02D3947}"/>
              </a:ext>
            </a:extLst>
          </p:cNvPr>
          <p:cNvSpPr/>
          <p:nvPr/>
        </p:nvSpPr>
        <p:spPr>
          <a:xfrm>
            <a:off x="0" y="1"/>
            <a:ext cx="12192000" cy="56043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3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8CCC77-1165-5D0B-54C1-A6313A68DCF2}"/>
              </a:ext>
            </a:extLst>
          </p:cNvPr>
          <p:cNvSpPr/>
          <p:nvPr/>
        </p:nvSpPr>
        <p:spPr>
          <a:xfrm>
            <a:off x="0" y="6415548"/>
            <a:ext cx="12192000" cy="44245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3"/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6" name="Picture 5" descr="A purple and green logo&#10;&#10;AI-generated content may be incorrect.">
            <a:extLst>
              <a:ext uri="{FF2B5EF4-FFF2-40B4-BE49-F238E27FC236}">
                <a16:creationId xmlns:a16="http://schemas.microsoft.com/office/drawing/2014/main" id="{2AFC1DAF-887C-9C3F-7C38-01CE211F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68" y="525285"/>
            <a:ext cx="4726950" cy="13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502920"/>
            <a:ext cx="1371600" cy="1371600"/>
          </a:xfrm>
          <a:prstGeom prst="ellipse">
            <a:avLst/>
          </a:prstGeom>
          <a:solidFill>
            <a:srgbClr val="141A3D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mand-mgmt-ppt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0" y="845820"/>
            <a:ext cx="685800" cy="685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789920" y="3749040"/>
            <a:ext cx="914400" cy="914400"/>
          </a:xfrm>
          <a:prstGeom prst="ellipse">
            <a:avLst/>
          </a:prstGeom>
          <a:solidFill>
            <a:srgbClr val="141A3D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1" descr="/home/claude/demand-mgmt-ppt/icons/pal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3977640"/>
            <a:ext cx="457200" cy="457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1160" y="5440680"/>
            <a:ext cx="822960" cy="822960"/>
          </a:xfrm>
          <a:prstGeom prst="ellipse">
            <a:avLst/>
          </a:prstGeom>
          <a:solidFill>
            <a:srgbClr val="141A3D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2" descr="/home/claude/demand-mgmt-ppt/icons/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0" y="5646420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OF LOGISTICS &amp; SUPPLY CHAIN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77240" y="196596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Transportation, Unitising &amp;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Costing</a:t>
            </a:r>
            <a:endParaRPr lang="en-US" sz="4200" dirty="0"/>
          </a:p>
        </p:txBody>
      </p:sp>
      <p:sp>
        <p:nvSpPr>
          <p:cNvPr id="10" name="Text 5"/>
          <p:cNvSpPr/>
          <p:nvPr/>
        </p:nvSpPr>
        <p:spPr>
          <a:xfrm>
            <a:off x="822960" y="3794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Secondary Transportation • Unitising • Logistics Costing • Cost as a Ratio of Value Added/Sales • Integrated Supply Chain Performance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841248" y="4663440"/>
            <a:ext cx="1005840" cy="0"/>
          </a:xfrm>
          <a:prstGeom prst="line">
            <a:avLst/>
          </a:prstGeom>
          <a:noFill/>
          <a:ln w="3810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Business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801368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&amp; Secondary Transportation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86600" y="1801368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distinct legs that move goods from factory to final customer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1576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2825496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Unitising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86600" y="2825496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goods into standard load units for efficient handling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739896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3849624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086600" y="3849624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Identifying, classifying and measuring the true cost of logistics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764024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76402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91640" y="4873752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as a Ratio of Value Added / Sales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86600" y="4873752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logistics performance in relative, not just absolute, terms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78815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78815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91640" y="5897880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for Supply Chain Performance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86600" y="5897880"/>
            <a:ext cx="4251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every activity together into one high-performing 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&amp; Secondary Transportation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travels in two very different legs before it reaches a customer — each with its own economics and design rules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Primary Transportation?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transportation is the movement of bulk goods from the point of production (factory or plant) to storage or distribution points — typically a central or regional warehouse. It moves large volumes over longer distances, in as few, large shipments as possible, to minimise cost per unit.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567864" cy="26060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4380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mand-mgmt-ppt/icons/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3947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31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Origin: Plant / Factory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434340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the point of manufacture or a supplier’s facility.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0824" y="3063240"/>
            <a:ext cx="2567864" cy="26060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96564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mand-mgmt-ppt/icons/war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94" y="33947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9424" y="3931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Destination: DC / Warehouse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19424" y="434340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at a central or regional storage and consolidation point.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33008" y="3063240"/>
            <a:ext cx="2567864" cy="26060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38748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mand-mgmt-ppt/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478" y="33947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1608" y="3931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Bulk, Full-Load Shipments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61608" y="434340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full truckloads, rail wagons or containers wherever possible.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75191" y="3063240"/>
            <a:ext cx="2567864" cy="26060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280931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demand-mgmt-ppt/icons/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661" y="339471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03791" y="3931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Long-Haul, Low Frequency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303791" y="434340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larger shipments over longer distances to minimise cost.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CCE7F48-0485-8516-EA56-F6C1229F70B0}"/>
              </a:ext>
            </a:extLst>
          </p:cNvPr>
          <p:cNvSpPr/>
          <p:nvPr/>
        </p:nvSpPr>
        <p:spPr>
          <a:xfrm>
            <a:off x="9002683" y="72888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8DE73F-5B16-4DEE-8C5F-9D1900EE5A2C}"/>
              </a:ext>
            </a:extLst>
          </p:cNvPr>
          <p:cNvSpPr txBox="1"/>
          <p:nvPr/>
        </p:nvSpPr>
        <p:spPr>
          <a:xfrm>
            <a:off x="9343504" y="403484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Secondary Transportation?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transportation is the onward movement of goods from a warehouse or distribution centre to the final point of sale — retail stores, dealers or the end customer’s doorstep. It handles smaller, more frequent shipments across shorter distances, prioritising speed and delivery precision over cost per unit.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567864" cy="26060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4380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mand-mgmt-ppt/icons/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3947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31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Origin: DC / Warehouse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434340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a regional or local distribution point.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0824" y="3063240"/>
            <a:ext cx="2567864" cy="26060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96564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mand-mgmt-ppt/icons/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94" y="33947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9424" y="3931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Destination: Store / Customer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19424" y="434340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at the retail outlet or the customer’s doorstep.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33008" y="3063240"/>
            <a:ext cx="2567864" cy="26060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38748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mand-mgmt-ppt/icons/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478" y="33947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1608" y="3931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Smaller, Mixed Shipments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61608" y="434340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SKUs and part-loads tailored to each destination’s order.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75191" y="3063240"/>
            <a:ext cx="2567864" cy="26060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280931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demand-mgmt-ppt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661" y="339471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03791" y="393192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Short-Haul, High Frequency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303791" y="4343400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Frequent, time-critical deliveries prioritising speed and accuracy.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2BE41B4-6D25-EACC-0E7C-0EBB69BE6FFA}"/>
              </a:ext>
            </a:extLst>
          </p:cNvPr>
          <p:cNvSpPr/>
          <p:nvPr/>
        </p:nvSpPr>
        <p:spPr>
          <a:xfrm>
            <a:off x="9075191" y="12621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F92BCE-2E2E-E9A1-2C5C-03763E7C6E9B}"/>
              </a:ext>
            </a:extLst>
          </p:cNvPr>
          <p:cNvSpPr txBox="1"/>
          <p:nvPr/>
        </p:nvSpPr>
        <p:spPr>
          <a:xfrm>
            <a:off x="9416012" y="343217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vs. Secondary Transportation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Transportation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/ factory to warehouse or DC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truckload, rail or container shipments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distance, low frequency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 is the dominant objective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planned days to weeks in advance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Transportation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/ DC to retail store or customer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Part-load, multi-drop delivery routes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distance, high frequency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delivery precision dominate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planned and adjusted daily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AD299E-2D08-F5FA-FC3D-E2293A166AD8}"/>
              </a:ext>
            </a:extLst>
          </p:cNvPr>
          <p:cNvSpPr/>
          <p:nvPr/>
        </p:nvSpPr>
        <p:spPr>
          <a:xfrm>
            <a:off x="9029262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8FB1E4-6FBE-C1EB-8E80-F2D9EED6A58A}"/>
              </a:ext>
            </a:extLst>
          </p:cNvPr>
          <p:cNvSpPr txBox="1"/>
          <p:nvPr/>
        </p:nvSpPr>
        <p:spPr>
          <a:xfrm>
            <a:off x="9370083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Primary Transportation Well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Consolidation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orders across products and destinations to fill trucks, rail wagons or containers completely.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t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8392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700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Selection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99008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and sea are often used for primary legs where volumes and lead times allow, since they are far cheaper per unit than road.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450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6758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Flow Planning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99592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frequency and routing are planned around production schedules, not customer orders.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calc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6817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Unit Focus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500176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metric is landed cost per case or per tonne-kilometre, not delivery speed.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F461BC2-5D41-A993-82A4-982E8A78DDEE}"/>
              </a:ext>
            </a:extLst>
          </p:cNvPr>
          <p:cNvSpPr/>
          <p:nvPr/>
        </p:nvSpPr>
        <p:spPr>
          <a:xfrm>
            <a:off x="9012784" y="-914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E1E0DA-33BC-0DE5-C6E2-6469B106469F}"/>
              </a:ext>
            </a:extLst>
          </p:cNvPr>
          <p:cNvSpPr txBox="1"/>
          <p:nvPr/>
        </p:nvSpPr>
        <p:spPr>
          <a:xfrm>
            <a:off x="9353605" y="32145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Secondary Transportation Well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Optimisation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Multi-drop delivery routes are sequenced to minimise total distance and delivery time windows.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8392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700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Right-Sizing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99008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vehicles suited to urban access and part-loads replace the large vehicles used upstream.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450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6758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Time-Window Commitments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99592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slots are promised and tracked — lateness has a direct, visible cost to customer service.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6817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Tracking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500176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and proof-of-delivery systems are essential given the volume and frequency of stops.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5A164E-3873-D541-5877-503FF68CB58D}"/>
              </a:ext>
            </a:extLst>
          </p:cNvPr>
          <p:cNvSpPr/>
          <p:nvPr/>
        </p:nvSpPr>
        <p:spPr>
          <a:xfrm>
            <a:off x="9060544" y="114036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E4A5BD-7BC8-46A0-5D43-9435CED80F12}"/>
              </a:ext>
            </a:extLst>
          </p:cNvPr>
          <p:cNvSpPr txBox="1"/>
          <p:nvPr/>
        </p:nvSpPr>
        <p:spPr>
          <a:xfrm>
            <a:off x="9401365" y="44463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Optimisation Opportunities Lie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Optimising Primary Legs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eligible volumes from road to rail or sea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vehicle and container fill rates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shipments across product lines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long-term freight contracts for stable lanes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Optimising Secondary Legs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deliveries by geography and time window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route-optimisation software for daily planning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dedicated fleet vs. on-demand courier capacity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cost-to-serve by customer and channel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107BA9-4C12-0F39-D5C2-B6FE43FC988E}"/>
              </a:ext>
            </a:extLst>
          </p:cNvPr>
          <p:cNvSpPr/>
          <p:nvPr/>
        </p:nvSpPr>
        <p:spPr>
          <a:xfrm>
            <a:off x="9002683" y="7504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DE5D55-BA9A-D61D-CDB7-3FB2029FA037}"/>
              </a:ext>
            </a:extLst>
          </p:cNvPr>
          <p:cNvSpPr txBox="1"/>
          <p:nvPr/>
        </p:nvSpPr>
        <p:spPr>
          <a:xfrm>
            <a:off x="9343504" y="40563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The Two-Leg Journey of a Packaged Snack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snack-food company moves product from its factory in Nashik to a retail shelf in Nagpur through two distinct transportation legs.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45429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58775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17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32-tonne truck moves 20,000 cases from the Nashik factory to the Nagpur regional DC, twice a week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8698" y="2423160"/>
            <a:ext cx="345429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68698" y="258775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05858" y="3291840"/>
            <a:ext cx="317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vans deliver mixed pallets of 50–200 cases from the DC to 60+ retail stores across the city, daily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7317" y="2423160"/>
            <a:ext cx="345429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97317" y="258775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34477" y="3291840"/>
            <a:ext cx="317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cost per case is 70% lower than secondary — exactly why the two legs are planned so differently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881360" cy="1508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50977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23494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54480" y="47457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54480" y="5038344"/>
            <a:ext cx="9692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both legs with the same transportation strategy would either waste capacity on the primary leg or fail delivery precision on the secondary leg — the two must be designed separately.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7E1AE3-B638-BE2A-16F3-45B514F79016}"/>
              </a:ext>
            </a:extLst>
          </p:cNvPr>
          <p:cNvSpPr/>
          <p:nvPr/>
        </p:nvSpPr>
        <p:spPr>
          <a:xfrm>
            <a:off x="9049789" y="-52710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72D0FD-3DBE-1927-DB94-060D6CE11B4D}"/>
              </a:ext>
            </a:extLst>
          </p:cNvPr>
          <p:cNvSpPr txBox="1"/>
          <p:nvPr/>
        </p:nvSpPr>
        <p:spPr>
          <a:xfrm>
            <a:off x="9390610" y="27788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p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Unitising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individual items into standard load units is one of the simplest ideas in logistics — and one of the highest-leverage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Unitising?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Unitising is the practice of grouping individual items, cartons or packages into a single, standard-sized load unit — such as a pallet, container or roll cage — so that goods can be handled, stored and transported as one unit instead of many separate pieces.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0" y="1645920"/>
            <a:ext cx="2377440" cy="237744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p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4" y="2264054"/>
            <a:ext cx="1141171" cy="11411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3263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635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502005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554480" y="5312664"/>
            <a:ext cx="9692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loading 500 individual cartons of biscuits by hand, a warehouse stacks them onto 10 standard pallets — one forklift movement replaces fifty manual carries.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81BC09-AD2D-593C-6C73-27C578A0B0DE}"/>
              </a:ext>
            </a:extLst>
          </p:cNvPr>
          <p:cNvSpPr/>
          <p:nvPr/>
        </p:nvSpPr>
        <p:spPr>
          <a:xfrm>
            <a:off x="8866604" y="6616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8E54D2-9EBC-22C9-E41F-8AE36CB69003}"/>
              </a:ext>
            </a:extLst>
          </p:cNvPr>
          <p:cNvSpPr txBox="1"/>
          <p:nvPr/>
        </p:nvSpPr>
        <p:spPr>
          <a:xfrm>
            <a:off x="9207425" y="3967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Types of Unit Loads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p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Pallets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unit load — wooden or plastic platforms holding stacked cartons, moved by forklift.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contai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Cages / Dollies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Wheeled cages ideal for retail deliveries where goods are rolled straight onto the shop floor.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Containers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steel containers (20ft/40ft) that unitise cargo for sea, rail and road movement.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4380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44919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Cartons &amp; Cases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standard unit — individual items grouped into a single retail-ready case.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43958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mand-mgmt-ppt/icons/cub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688" y="44919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6818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Bulk Containers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66818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containers for liquids, powders or granular material moved and stored as one unit.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3537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demand-mgmt-ppt/icons/co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67" y="44919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Slip Sheets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56397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thin, low-cost alternative to pallets for lighter loads, saving space and weight.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FC6C0D-F5EB-A0C4-C271-3FABF0642BE7}"/>
              </a:ext>
            </a:extLst>
          </p:cNvPr>
          <p:cNvSpPr/>
          <p:nvPr/>
        </p:nvSpPr>
        <p:spPr>
          <a:xfrm>
            <a:off x="8866604" y="11403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012874-46A6-4680-CD4B-FCE77F82B332}"/>
              </a:ext>
            </a:extLst>
          </p:cNvPr>
          <p:cNvSpPr txBox="1"/>
          <p:nvPr/>
        </p:nvSpPr>
        <p:spPr>
          <a:xfrm>
            <a:off x="9207425" y="44463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Unitising Pays for Itself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Handling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pallet move replaces dozens of individual carton movements, cutting labour time sharply at every touchpoint.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74777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786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Damage &amp; Loss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8986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secured as a single unit are far less likely to be dropped, crushed or pilfered in transit.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66217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4930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Space Utilisation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8130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unit sizes stack and store predictably, maximising warehouse cube and truck-load efficiency.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calcula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57657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4074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Handling Cost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47274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touches per shipment directly reduces labour and equipment cost per unit shipped.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53492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emand-mgmt-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49097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53218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Tracking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463040" y="56418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barcode or RFID tag per unit load simplifies inventory counting and shipment tracking.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A11690C-080B-8D96-98B5-268A702451AD}"/>
              </a:ext>
            </a:extLst>
          </p:cNvPr>
          <p:cNvSpPr/>
          <p:nvPr/>
        </p:nvSpPr>
        <p:spPr>
          <a:xfrm>
            <a:off x="9049789" y="-914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321584-6A19-84A7-AB48-817441276187}"/>
              </a:ext>
            </a:extLst>
          </p:cNvPr>
          <p:cNvSpPr txBox="1"/>
          <p:nvPr/>
        </p:nvSpPr>
        <p:spPr>
          <a:xfrm>
            <a:off x="9390610" y="32145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Load Devices &amp; Standards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Unitising only delivers its full benefit when load sizes are standardised across the whole supply chain — otherwise pallets don’t fit trucks, and trucks don’t fit warehouse racking.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4380" y="29946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mand-mgmt-ppt/icons/p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1203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57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Pallet Standard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406908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1200mm × 1000mm (Euro-standard) or 1200mm × 800mm — sized to fit standard truck and container widths.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8218" y="278892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43958" y="29946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mand-mgmt-ppt/icons/contai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312039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6818" y="3657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Shipping Containers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66818" y="406908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20-foot and 40-foot standard containers, sized for interchangeable use across ships, rail and trucks.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27797" y="278892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33537" y="29946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mand-mgmt-ppt/icons/wareho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312039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6397" y="3657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Racking Standards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56397" y="406908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beam widths and heights are designed around standard pallet footprints.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4C78D0-4C10-F5F8-45C9-32E1D4F37F85}"/>
              </a:ext>
            </a:extLst>
          </p:cNvPr>
          <p:cNvSpPr/>
          <p:nvPr/>
        </p:nvSpPr>
        <p:spPr>
          <a:xfrm>
            <a:off x="9002683" y="47874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21ED4-83F5-3A8F-92B8-8FCEB64EB389}"/>
              </a:ext>
            </a:extLst>
          </p:cNvPr>
          <p:cNvSpPr txBox="1"/>
          <p:nvPr/>
        </p:nvSpPr>
        <p:spPr>
          <a:xfrm>
            <a:off x="9343504" y="37847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Unitising Across Different Transport Modes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(Long-Haul) Transport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pallets and containers are the norm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Maximises fill rate on trucks, rail and ships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handling between origin and DC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sizes allow intermodal transfer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(Last-Mile) Transport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cages and smaller unit loads dominate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Mixed-SKU units built to match store orders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unloading at multi-stop delivery routes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units reduce packaging waste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95B45D-F462-5B5A-1F83-AC3F3599553C}"/>
              </a:ext>
            </a:extLst>
          </p:cNvPr>
          <p:cNvSpPr/>
          <p:nvPr/>
        </p:nvSpPr>
        <p:spPr>
          <a:xfrm>
            <a:off x="8866604" y="146133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B5DAB8-F7D3-3078-EAA9-8CF72F3522A9}"/>
              </a:ext>
            </a:extLst>
          </p:cNvPr>
          <p:cNvSpPr txBox="1"/>
          <p:nvPr/>
        </p:nvSpPr>
        <p:spPr>
          <a:xfrm>
            <a:off x="9207425" y="476729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Unitising in a Beverage Distribution Centre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beverage company’s distribution centre handles over 40,000 cases a day. Before unitising, workers manually stacked cartons onto trucks.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58775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4hrs → 45min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load a full truck after switching to standard pallets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8698" y="24231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68698" y="258775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05858" y="329184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transit damage claims within the first quarter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7317" y="24231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97317" y="258775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34477" y="329184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cases fit per truck due to consistent, stackable pallet heights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8056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491490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5206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54480" y="46085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54480" y="4901184"/>
            <a:ext cx="9692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to standard pallets required no change to the product itself — the entire gain came from handling goods as unit loads instead of individual cartons.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EC32FB3-DF64-502C-6402-9A35C6193162}"/>
              </a:ext>
            </a:extLst>
          </p:cNvPr>
          <p:cNvSpPr/>
          <p:nvPr/>
        </p:nvSpPr>
        <p:spPr>
          <a:xfrm>
            <a:off x="9049789" y="0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8B862E-9F7F-723B-5DCE-805FEDDBF2CD}"/>
              </a:ext>
            </a:extLst>
          </p:cNvPr>
          <p:cNvSpPr txBox="1"/>
          <p:nvPr/>
        </p:nvSpPr>
        <p:spPr>
          <a:xfrm>
            <a:off x="9390610" y="33059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manage what you cannot measure — logistics costing gives visibility into where money actually goes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Logistics Costing?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costing is the process of identifying, classifying and measuring all the costs incurred in moving, storing and managing goods through the supply chain — giving managers the visibility needed to make informed trade-offs between cost and service.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2567864" cy="269748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4380" y="31775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mand-mgmt-ppt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30327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8404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425196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exactly where logistics spend goes, function by function.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0824" y="2971800"/>
            <a:ext cx="2567864" cy="269748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96564" y="31775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mand-mgmt-ppt/icons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94" y="33032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9424" y="38404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 Analysis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19424" y="425196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informed cost-vs-service decisions across the network.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33008" y="2971800"/>
            <a:ext cx="2567864" cy="269748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38748" y="31775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mand-mgmt-ppt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478" y="330327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1608" y="38404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Tracking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61608" y="425196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baseline to measure improvement over time.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75191" y="2971800"/>
            <a:ext cx="2567864" cy="269748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280931" y="31775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demand-mgmt-ppt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661" y="330327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03791" y="384048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Budgeting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303791" y="425196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accurate product costing and departmental budgets.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20EDD6C-7A1E-67F7-ADF5-F4C57EE27609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A20C3-4C50-63AC-A612-51E15F2090B1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Major Components of Logistics Cost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Cost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Freight, fuel, tolls and carrier charges across primary and secondary legs.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war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Warehousing Cost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utilities, labour and equipment for storage and handling facilities.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Carrying Cost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capital, insurance, obsolescence and shrinkage on stock held.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4380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44919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Processing &amp; Admin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management, documentation, customer service and IT systems.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43958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mand-mgmt-ppt/icons/bo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688" y="44919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6818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Cost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66818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labour for protective and unitised packaging.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3537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demand-mgmt-ppt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67" y="44919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Loss, Damage &amp; Returns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56397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goods lost, damaged in transit, or returned by customers.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5D2F7C0-175E-1E05-B335-218399BD5E7C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67E363-97B2-D12C-CFB5-C30FD3B363BA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vs. Indirect Logistics Costs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Costs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traceable to a specific shipment or order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charges, fuel surcharges, packaging materials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directly and predictably with volume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allocate accurately to a product or customer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Costs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many shipments, products or customers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rent, IT systems, management overhead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vary directly and immediately with volume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an allocation method to assign fairly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C3008D-E1F3-35AA-1EE3-207BC66F10EE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476E9A-BE36-B926-F0C1-B0C8B65C2D21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Activity-Based Costing (ABC) in Logistics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costing spreads overhead evenly across all products or customers. Activity-based costing instead traces cost to the specific activities — picking, packing, delivering — that each product or customer actually consumes.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567864" cy="2423160"/>
          </a:xfrm>
          <a:prstGeom prst="roundRect">
            <a:avLst>
              <a:gd name="adj" fmla="val 264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990088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3502152"/>
            <a:ext cx="223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Activities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4251960"/>
            <a:ext cx="223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picking, packing, loading, delivering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16504" y="38633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90824" y="2880360"/>
            <a:ext cx="2567864" cy="2423160"/>
          </a:xfrm>
          <a:prstGeom prst="roundRect">
            <a:avLst>
              <a:gd name="adj" fmla="val 2642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7984" y="2990088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55416" y="3502152"/>
            <a:ext cx="223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Cost Drivers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5416" y="4251960"/>
            <a:ext cx="223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number of picks, pallets moved, stops made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58688" y="38633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3008" y="2880360"/>
            <a:ext cx="2567864" cy="2423160"/>
          </a:xfrm>
          <a:prstGeom prst="roundRect">
            <a:avLst>
              <a:gd name="adj" fmla="val 264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70168" y="2990088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97600" y="3502152"/>
            <a:ext cx="223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Costs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97600" y="4251960"/>
            <a:ext cx="223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activity costs to specific orders or customers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00871" y="38633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75191" y="2880360"/>
            <a:ext cx="2567864" cy="2423160"/>
          </a:xfrm>
          <a:prstGeom prst="roundRect">
            <a:avLst>
              <a:gd name="adj" fmla="val 2642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12351" y="2990088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39783" y="3502152"/>
            <a:ext cx="223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Reveal True Cost-to-Serve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9783" y="4251960"/>
            <a:ext cx="223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customers cost far more to serve than others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856FC0-10C7-6929-70E2-1BE90BC74000}"/>
              </a:ext>
            </a:extLst>
          </p:cNvPr>
          <p:cNvSpPr/>
          <p:nvPr/>
        </p:nvSpPr>
        <p:spPr>
          <a:xfrm>
            <a:off x="9002683" y="38917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CB8128-4D24-C6A4-F31A-3A34996F3585}"/>
              </a:ext>
            </a:extLst>
          </p:cNvPr>
          <p:cNvSpPr txBox="1"/>
          <p:nvPr/>
        </p:nvSpPr>
        <p:spPr>
          <a:xfrm>
            <a:off x="9343504" y="369513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Logistics Cost: Looking Beyond Freight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costing mistake is judging logistics decisions on freight rate alone. Total logistics cost captures every cost a decision touches — often reversing what looks like the "cheaper" choice.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86207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Logistics Cost = Transportation + Warehousing + Inventory Carrying + Order Processing + Packaging + Loss/Damage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relevant cost bucket, added together — not just the freight invoice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480060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93776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4256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54480" y="4718304"/>
            <a:ext cx="9692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cheaper overseas supplier with a lower unit price can still raise total logistics cost once longer transit time, higher safety stock, and greater damage risk are added in.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F626E6-79C7-DC47-ED77-89E85BE32E12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5B5154-0CFC-6C8C-F8A1-CA0B14314D12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Approaches to Logistics Costing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Costing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predetermined cost rates per unit or activity, compared against actuals to spot variances.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8392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700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Activity-Based Costing (ABC)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99008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cost to the specific activities each order or customer actually consumes.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450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6758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/ Segment Costing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99592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 specific distribution channel, customer segment or geographic route end-to-end.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6817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Cost of Ownership (TCO)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500176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lifecycle cost of a sourcing or network decision, not just the purchase price.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3B12309-1E45-5EF8-F0F4-20C08022072B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127E05-0A19-399D-24D0-206972078246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Logistics Cost Breakdown for a Retail Chain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 retail chain analyses its full logistics cost structure for the year: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49631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— the single largest cost component, split across primary and secondary legs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8698" y="233172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68698" y="249631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05858" y="320040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 — rent, labour and handling equipment across the DC network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7317" y="233172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97317" y="249631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34477" y="320040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carrying cost — capital, insurance and obsolescence on stock held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881360" cy="1508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482346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96062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54480" y="447141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54480" y="4764024"/>
            <a:ext cx="9692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transportation identified as the largest lever, the company launches a route-optimisation project targeting secondary transportation — the highest-frequency, most controllable cost within that 42%.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EE1821E-3896-5857-D82B-16870289E95F}"/>
              </a:ext>
            </a:extLst>
          </p:cNvPr>
          <p:cNvSpPr/>
          <p:nvPr/>
        </p:nvSpPr>
        <p:spPr>
          <a:xfrm>
            <a:off x="9049789" y="-2554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C28DCB-6995-31B6-A05E-52B98099F77A}"/>
              </a:ext>
            </a:extLst>
          </p:cNvPr>
          <p:cNvSpPr txBox="1"/>
          <p:nvPr/>
        </p:nvSpPr>
        <p:spPr>
          <a:xfrm>
            <a:off x="9390610" y="305054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per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as a Ratio of Value Added or Sales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rupee figure alone tells you little — expressing logistics cost as a ratio makes it comparable across products, years and companies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Express Logistics Cost as a Ratio?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absolute logistics cost figure cannot tell you whether performance is good or bad — a larger company will always spend more in rupee terms. Expressing cost as a ratio of sales or value added makes performance comparable across time, products, business units and competitors.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0" y="1645920"/>
            <a:ext cx="2377440" cy="237744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per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4" y="2264054"/>
            <a:ext cx="1141171" cy="11411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3263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635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502005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554480" y="5312664"/>
            <a:ext cx="9692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 spends ₹50 crore on logistics, Company B spends ₹20 crore. Company A looks worse — until you learn Company A’s sales are ₹1,000 crore (5% ratio) and Company B’s are ₹250 crore (8% ratio).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401BD-D3E3-EE08-77FD-5AF410C2D36D}"/>
              </a:ext>
            </a:extLst>
          </p:cNvPr>
          <p:cNvSpPr/>
          <p:nvPr/>
        </p:nvSpPr>
        <p:spPr>
          <a:xfrm>
            <a:off x="9002683" y="38917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885AF8-4864-32BD-7607-B12912298546}"/>
              </a:ext>
            </a:extLst>
          </p:cNvPr>
          <p:cNvSpPr txBox="1"/>
          <p:nvPr/>
        </p:nvSpPr>
        <p:spPr>
          <a:xfrm>
            <a:off x="9343504" y="369513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 as a Percentage of Sales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 Ratio = (Total Logistics Cost / Net Sales Revenue) × 100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used logistics performance benchmark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0881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calculate and universally understood across finance and operations teams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direct comparison against industry benchmarks and prior-year performance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falling ratio over time signals improving logistics efficiency relative to revenue growth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distorted by pricing changes — a price cut alone worsens the ratio even if logistics is unchanged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C8ED96-0B52-FD7A-966C-556BC52BB23A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89CCA3-66F5-9A95-F745-9407F7455853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 as a Percentage of Value Added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Added = Sales Revenue − Cost of Purchased Materials &amp; Services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itself contributes, after stripping out bought-in inputs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 is then expressed against this value-added base rather than total sales: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737360" y="3611880"/>
            <a:ext cx="8686800" cy="128016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37764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 as % of Value Added = (Total Logistics Cost / Value Added) × 100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measure when comparing companies with very different levels of outsourced input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6C0CB4-C273-795E-9DE7-DB1C531D6EC7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C10026-ABAB-A5EE-5C6D-1733D0ADF8C8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of Sales vs. % of Value Added: When to Use Which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of Sales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to calculate — uses figures every firm reports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tracking one company’s trend over time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Distorted by how much a company outsources or buys in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external benchmarking metric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of Value Added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out the effect of bought-in materials and services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comparing companies with different make-vs-buy mixes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— requires a value-added calculation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preferred metric for cross-industry comparison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6BA60A-1047-484A-1322-4DD4113EE448}"/>
              </a:ext>
            </a:extLst>
          </p:cNvPr>
          <p:cNvSpPr/>
          <p:nvPr/>
        </p:nvSpPr>
        <p:spPr>
          <a:xfrm>
            <a:off x="9049789" y="-43363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44A84-BA82-C9AF-A968-121901A0386F}"/>
              </a:ext>
            </a:extLst>
          </p:cNvPr>
          <p:cNvSpPr txBox="1"/>
          <p:nvPr/>
        </p:nvSpPr>
        <p:spPr>
          <a:xfrm>
            <a:off x="9390610" y="287233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Logistics Cost Ratios by Industry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9339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packaged goods (FMCG) — high volume, dense distribution networks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8698" y="182880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68698" y="199339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05858" y="269748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&amp; heavy manufacturing — bulky, lower-value-density goods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7317" y="182880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97317" y="199339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15–20%+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34477" y="269748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fragmented retail — high last-mile cost per order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vary widely by product weight-to-value density, distribution complexity and geography — a single company should be benchmarked against its own industry, not a generic average.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68680" y="525780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39496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54480" y="49743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54480" y="5266944"/>
            <a:ext cx="9692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low ratio is not always good news — it can also signal under-investment in service levels, leading to lost sales that never show up in the logistics cost line at all.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8A86811-273C-C074-D4A6-34AEF92044F2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6F8CC5-8F77-FFAE-B5FC-7B4ACC658947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RATIOS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Calculating and Interpreting the Ratio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electronics company reports the following for the year: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Logistics Cost = ₹80 crore   |   Net Sales = ₹1,600 crore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figures for the financial year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0" y="3566160"/>
            <a:ext cx="813816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0" y="37307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Cost Ratio = (80 / 1,600) × 100 = 5.0%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286000" y="4297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an industry benchmark of 6–8% for this category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530352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44068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54480" y="50657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554480" y="5358384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5.0%, the company is running more efficiently than its industry peers — a strong signal to protect and study, not automatically a target for further cost-cutting that could hurt service.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23368D-6C84-D119-02E6-CAF4C2177248}"/>
              </a:ext>
            </a:extLst>
          </p:cNvPr>
          <p:cNvSpPr/>
          <p:nvPr/>
        </p:nvSpPr>
        <p:spPr>
          <a:xfrm>
            <a:off x="9049789" y="2044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898E03-B08A-92CA-174A-87BC42E129D7}"/>
              </a:ext>
            </a:extLst>
          </p:cNvPr>
          <p:cNvSpPr txBox="1"/>
          <p:nvPr/>
        </p:nvSpPr>
        <p:spPr>
          <a:xfrm>
            <a:off x="9390610" y="35103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All Activities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Transportation, unitising and costing only deliver their full value when every activity is planned and managed as one connected system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Supply Chain Integration?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integration is the alignment and coordination of all activities — procurement, production, inventory, transportation, warehousing and customer service — across functions and organisations, so they operate toward one shared performance goal rather than optimising in isolation.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1525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4380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mand-mgmt-ppt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3947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319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Cross-Functional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43434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operations, finance and logistics plan together, not in silos.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8218" y="3063240"/>
            <a:ext cx="351525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43958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mand-mgmt-ppt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33947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6818" y="39319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Cross-Organisational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66818" y="43434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and customers are treated as partners in the same system.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27797" y="3063240"/>
            <a:ext cx="351525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33537" y="326898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mand-mgmt-ppt/icons/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339471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6397" y="393192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56397" y="43434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information and financial flows move as one connected process.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959F06-C643-122B-2F7D-16AA00CE8CB3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8388FC-1084-2B00-C51C-4A62CB296892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Dimensions of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Integration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sales, marketing, production, logistics and finance around one shared plan and one set of numbers within the company.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0678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8986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Upstream (Supplier) Integration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3218688"/>
            <a:ext cx="10040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forecasts, capacity plans and quality data with suppliers so they can plan ahead rather than react.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3022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1330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(Customer) Integration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4453128"/>
            <a:ext cx="10040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demand and inventory visibility with distributors and retailers to reduce the bullwhip effect.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C1DB163-3E0A-4627-E1B1-EA5DDAA1F276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89A04-7CA7-052F-4523-5803DCBCEA5D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Barriers to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Silos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are measured on separate goals that can directly conflict with each other.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Systems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IT platforms for sales, production and logistics prevent shared visibility.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Data Sharing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are reluctant to share forecasts or costs with suppliers and customers.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4380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44919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Resistance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 habits and incentive structures resist cross-functional collaboration.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43958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mand-mgmt-ppt/icons/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688" y="44919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6818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Metrics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66818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logistics team rewarded for low cost may work against a sales team rewarded for service.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3537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demand-mgmt-ppt/icons/glo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67" y="44919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&amp; Organisational Distance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56397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business units or countries make coordination structurally harder.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9AD932A-F64E-C15A-2BAC-FED6067EBEB2}"/>
              </a:ext>
            </a:extLst>
          </p:cNvPr>
          <p:cNvSpPr/>
          <p:nvPr/>
        </p:nvSpPr>
        <p:spPr>
          <a:xfrm>
            <a:off x="9002683" y="2958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6C401D-E9A8-64F4-965B-D3087E171C25}"/>
              </a:ext>
            </a:extLst>
          </p:cNvPr>
          <p:cNvSpPr txBox="1"/>
          <p:nvPr/>
        </p:nvSpPr>
        <p:spPr>
          <a:xfrm>
            <a:off x="9343504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Enables Real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Information Systems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ERP, forecasting and tracking platform that every function and partner can see.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74777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786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Planning Processes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8986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S&amp;OP-style forums that force cross-functional trade-offs to be made together, not separately.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66217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4930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Performance Metrics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8130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KPIs (like total logistics cost as % of sales) that make collaboration, not conflict, the rational choice.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57657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4074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Relationships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47274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supplier and customer partnerships built on shared data and shared risk.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53492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emand-mgmt-ppt/icons/personChalk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49097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53218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 Commitment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463040" y="564184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sponsorship that resolves cross-functional conflicts and sustains the change.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B29E28D-0AAB-5C7A-04F9-AA4DEB429FE2}"/>
              </a:ext>
            </a:extLst>
          </p:cNvPr>
          <p:cNvSpPr/>
          <p:nvPr/>
        </p:nvSpPr>
        <p:spPr>
          <a:xfrm>
            <a:off x="9029635" y="82483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9D8B26-34D9-305C-668D-CF14CC55EB47}"/>
              </a:ext>
            </a:extLst>
          </p:cNvPr>
          <p:cNvSpPr txBox="1"/>
          <p:nvPr/>
        </p:nvSpPr>
        <p:spPr>
          <a:xfrm>
            <a:off x="9370456" y="413079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Performance Impact of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9339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Cost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total logistics cost as a % of sales through eliminated duplication and waste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8698" y="182880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68698" y="199339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Service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05858" y="269748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fill rates and on-time delivery from shared visibility across the chain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7317" y="182880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97317" y="199339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Inventory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34477" y="269748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safety stock needed when demand and supply signals are shared, not guessed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in this course connects here: the transportation legs, the unitising decisions, and the cost ratios only reach their full potential when planned as one integrated system, not five separate ones.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385717F-3051-C530-2A6B-C8A6FBCBB508}"/>
              </a:ext>
            </a:extLst>
          </p:cNvPr>
          <p:cNvSpPr/>
          <p:nvPr/>
        </p:nvSpPr>
        <p:spPr>
          <a:xfrm>
            <a:off x="9049789" y="6989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8B2374-4DC7-C41A-B568-CC88F7127344}"/>
              </a:ext>
            </a:extLst>
          </p:cNvPr>
          <p:cNvSpPr txBox="1"/>
          <p:nvPr/>
        </p:nvSpPr>
        <p:spPr>
          <a:xfrm>
            <a:off x="9390610" y="40049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Integration in Practice at a Consumer Goods Company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goods company integrates five previously separate functions into one coordinated system: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shares point-of-sale data directly with production planning, instead of monthly order forecasts alone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and warehousing standardise on the same unit-load (pallet) sizes as procurement’s supplier contracts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logistics-cost-as-%-of-sales metric is reviewed monthly by every function, not just finance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suppliers get visibility into the company’s production schedule to plan their own capacity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10881360" cy="150876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500634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435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6542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4946904"/>
            <a:ext cx="9692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year, total logistics cost as a percentage of sales falls from 7.2% to 5.8%, while on-time delivery improves from 89% to 96% — proof that integration improves cost and service together, not one at the expense of the other.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51D02B2-8833-D804-124B-DB3AE25CB253}"/>
              </a:ext>
            </a:extLst>
          </p:cNvPr>
          <p:cNvSpPr/>
          <p:nvPr/>
        </p:nvSpPr>
        <p:spPr>
          <a:xfrm>
            <a:off x="9036964" y="1604190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D81E4A-F2CB-A3B8-4397-2AD59D51C4D9}"/>
              </a:ext>
            </a:extLst>
          </p:cNvPr>
          <p:cNvSpPr txBox="1"/>
          <p:nvPr/>
        </p:nvSpPr>
        <p:spPr>
          <a:xfrm>
            <a:off x="9377785" y="193478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1097280" cy="109728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mand-mgmt-ppt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2560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Individual Moves to One System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9966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secondary transportation are distinct legs, each needing its own mode, load size and planning approach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Unitising — pallets, containers, roll cages — cuts handling cost, damage and time at every touchpoint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costing gives visibility into true cost, well beyond the freight invoice alone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cost as a ratio of sales or value added makes performance genuinely comparable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reaches full potential without integrating every activity into one connected system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41248" y="6035040"/>
            <a:ext cx="1005840" cy="0"/>
          </a:xfrm>
          <a:prstGeom prst="line">
            <a:avLst/>
          </a:prstGeom>
          <a:noFill/>
          <a:ln w="3810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3552</Words>
  <Application>Microsoft Office PowerPoint</Application>
  <PresentationFormat>Widescreen</PresentationFormat>
  <Paragraphs>494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Platypi Medium</vt:lpstr>
      <vt:lpstr>Aptos</vt:lpstr>
      <vt:lpstr>Arial</vt:lpstr>
      <vt:lpstr>Calibri</vt:lpstr>
      <vt:lpstr>Cambria</vt:lpstr>
      <vt:lpstr>Office Theme</vt:lpstr>
      <vt:lpstr>Subject Name: Logistics and Supply Chain Management Session No: 04 Faculty Name: Prof Ajit M Maurya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Ajit Maurya</cp:lastModifiedBy>
  <cp:revision>3</cp:revision>
  <dcterms:created xsi:type="dcterms:W3CDTF">2026-07-20T06:30:26Z</dcterms:created>
  <dcterms:modified xsi:type="dcterms:W3CDTF">2026-08-08T16:48:19Z</dcterms:modified>
</cp:coreProperties>
</file>