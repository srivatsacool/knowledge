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3"/>
  </p:notesMasterIdLst>
  <p:sldIdLst>
    <p:sldId id="301"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86659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30A21-9043-B3FD-6EF3-29312DDACE6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E275792-EE7E-7357-98D1-30CD855384D8}"/>
              </a:ext>
            </a:extLst>
          </p:cNvPr>
          <p:cNvSpPr>
            <a:spLocks noGrp="1"/>
          </p:cNvSpPr>
          <p:nvPr>
            <p:ph type="subTitle" idx="1"/>
          </p:nvPr>
        </p:nvSpPr>
        <p:spPr>
          <a:xfrm>
            <a:off x="1524000" y="3602038"/>
            <a:ext cx="9144000" cy="1655762"/>
          </a:xfrm>
        </p:spPr>
        <p:txBody>
          <a:bodyPr/>
          <a:lstStyle>
            <a:lvl1pPr marL="0" indent="0" algn="ctr">
              <a:buNone/>
              <a:defRPr sz="2400"/>
            </a:lvl1pPr>
            <a:lvl2pPr marL="457182" indent="0" algn="ctr">
              <a:buNone/>
              <a:defRPr sz="2000"/>
            </a:lvl2pPr>
            <a:lvl3pPr marL="914363" indent="0" algn="ctr">
              <a:buNone/>
              <a:defRPr sz="1800"/>
            </a:lvl3pPr>
            <a:lvl4pPr marL="1371545" indent="0" algn="ctr">
              <a:buNone/>
              <a:defRPr sz="1600"/>
            </a:lvl4pPr>
            <a:lvl5pPr marL="1828727" indent="0" algn="ctr">
              <a:buNone/>
              <a:defRPr sz="1600"/>
            </a:lvl5pPr>
            <a:lvl6pPr marL="2285909" indent="0" algn="ctr">
              <a:buNone/>
              <a:defRPr sz="1600"/>
            </a:lvl6pPr>
            <a:lvl7pPr marL="2743090" indent="0" algn="ctr">
              <a:buNone/>
              <a:defRPr sz="1600"/>
            </a:lvl7pPr>
            <a:lvl8pPr marL="3200272" indent="0" algn="ctr">
              <a:buNone/>
              <a:defRPr sz="1600"/>
            </a:lvl8pPr>
            <a:lvl9pPr marL="3657454"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4A78FDA-E5CC-6BB2-EDA7-69DB6BAFFC39}"/>
              </a:ext>
            </a:extLst>
          </p:cNvPr>
          <p:cNvSpPr>
            <a:spLocks noGrp="1"/>
          </p:cNvSpPr>
          <p:nvPr>
            <p:ph type="dt" sz="half" idx="10"/>
          </p:nvPr>
        </p:nvSpPr>
        <p:spPr/>
        <p:txBody>
          <a:bodyPr/>
          <a:lstStyle/>
          <a:p>
            <a:fld id="{F7F38972-1CE9-4618-A565-E31F6D00BDB2}" type="datetime1">
              <a:rPr lang="en-US" smtClean="0"/>
              <a:t>8/8/2026</a:t>
            </a:fld>
            <a:endParaRPr lang="en-US"/>
          </a:p>
        </p:txBody>
      </p:sp>
      <p:sp>
        <p:nvSpPr>
          <p:cNvPr id="5" name="Footer Placeholder 4">
            <a:extLst>
              <a:ext uri="{FF2B5EF4-FFF2-40B4-BE49-F238E27FC236}">
                <a16:creationId xmlns:a16="http://schemas.microsoft.com/office/drawing/2014/main" id="{7E57530F-71DB-54A0-7851-F3E230B6CC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7D5A05-856F-A25A-DFAD-FA5A8A0F90CF}"/>
              </a:ext>
            </a:extLst>
          </p:cNvPr>
          <p:cNvSpPr>
            <a:spLocks noGrp="1"/>
          </p:cNvSpPr>
          <p:nvPr>
            <p:ph type="sldNum" sz="quarter" idx="12"/>
          </p:nvPr>
        </p:nvSpPr>
        <p:spPr/>
        <p:txBody>
          <a:bodyPr/>
          <a:lstStyle/>
          <a:p>
            <a:fld id="{7FF6B5DA-D357-4588-BF01-141D6E84A90B}" type="slidenum">
              <a:rPr lang="en-US" smtClean="0"/>
              <a:t>‹#›</a:t>
            </a:fld>
            <a:endParaRPr lang="en-US"/>
          </a:p>
        </p:txBody>
      </p:sp>
    </p:spTree>
    <p:extLst>
      <p:ext uri="{BB962C8B-B14F-4D97-AF65-F5344CB8AC3E}">
        <p14:creationId xmlns:p14="http://schemas.microsoft.com/office/powerpoint/2010/main" val="287969196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18.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5.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7.png"/><Relationship Id="rId7"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9.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5.png"/><Relationship Id="rId7"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4.png"/><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4.png"/><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8.png"/><Relationship Id="rId7"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7.png"/><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25.pn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31.png"/><Relationship Id="rId4" Type="http://schemas.openxmlformats.org/officeDocument/2006/relationships/image" Target="../media/image14.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11.png"/></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33.png"/><Relationship Id="rId4" Type="http://schemas.openxmlformats.org/officeDocument/2006/relationships/image" Target="../media/image9.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41A2C-7F36-CE3F-F177-64E2FA854EC5}"/>
              </a:ext>
            </a:extLst>
          </p:cNvPr>
          <p:cNvSpPr>
            <a:spLocks noGrp="1"/>
          </p:cNvSpPr>
          <p:nvPr>
            <p:ph type="ctrTitle"/>
          </p:nvPr>
        </p:nvSpPr>
        <p:spPr>
          <a:xfrm>
            <a:off x="294968" y="4498257"/>
            <a:ext cx="12535464" cy="1740157"/>
          </a:xfrm>
        </p:spPr>
        <p:txBody>
          <a:bodyPr>
            <a:noAutofit/>
          </a:bodyPr>
          <a:lstStyle/>
          <a:p>
            <a:pPr algn="l"/>
            <a:r>
              <a:rPr lang="en-US" sz="3250" dirty="0">
                <a:solidFill>
                  <a:srgbClr val="201B18"/>
                </a:solidFill>
                <a:latin typeface="Platypi Medium" pitchFamily="34" charset="0"/>
                <a:cs typeface="Platypi Medium" pitchFamily="34" charset="-120"/>
              </a:rPr>
              <a:t>Subject Name: Logistics and Supply Chain Management</a:t>
            </a:r>
            <a:br>
              <a:rPr lang="en-US" sz="3250" dirty="0">
                <a:solidFill>
                  <a:srgbClr val="201B18"/>
                </a:solidFill>
                <a:latin typeface="Platypi Medium" pitchFamily="34" charset="0"/>
                <a:cs typeface="Platypi Medium" pitchFamily="34" charset="-120"/>
              </a:rPr>
            </a:br>
            <a:r>
              <a:rPr lang="en-US" sz="3250" dirty="0">
                <a:solidFill>
                  <a:srgbClr val="201B18"/>
                </a:solidFill>
                <a:latin typeface="Platypi Medium" pitchFamily="34" charset="0"/>
                <a:cs typeface="Platypi Medium" pitchFamily="34" charset="-120"/>
              </a:rPr>
              <a:t>Session No</a:t>
            </a:r>
            <a:r>
              <a:rPr lang="en-US" sz="3250">
                <a:solidFill>
                  <a:srgbClr val="201B18"/>
                </a:solidFill>
                <a:latin typeface="Platypi Medium" pitchFamily="34" charset="0"/>
                <a:cs typeface="Platypi Medium" pitchFamily="34" charset="-120"/>
              </a:rPr>
              <a:t>: 03</a:t>
            </a:r>
            <a:br>
              <a:rPr lang="en-US" sz="3250" dirty="0">
                <a:solidFill>
                  <a:srgbClr val="201B18"/>
                </a:solidFill>
                <a:latin typeface="Platypi Medium" pitchFamily="34" charset="0"/>
                <a:cs typeface="Platypi Medium" pitchFamily="34" charset="-120"/>
              </a:rPr>
            </a:br>
            <a:r>
              <a:rPr lang="en-US" sz="3250" dirty="0">
                <a:solidFill>
                  <a:srgbClr val="201B18"/>
                </a:solidFill>
                <a:latin typeface="Platypi Medium" pitchFamily="34" charset="0"/>
                <a:cs typeface="Platypi Medium" pitchFamily="34" charset="-120"/>
              </a:rPr>
              <a:t>Faculty Name: Prof Ajit M Maurya</a:t>
            </a:r>
          </a:p>
        </p:txBody>
      </p:sp>
      <p:sp>
        <p:nvSpPr>
          <p:cNvPr id="4" name="Rectangle 3">
            <a:extLst>
              <a:ext uri="{FF2B5EF4-FFF2-40B4-BE49-F238E27FC236}">
                <a16:creationId xmlns:a16="http://schemas.microsoft.com/office/drawing/2014/main" id="{24296B3A-BD2F-EA29-FBAD-8064B02D3947}"/>
              </a:ext>
            </a:extLst>
          </p:cNvPr>
          <p:cNvSpPr/>
          <p:nvPr/>
        </p:nvSpPr>
        <p:spPr>
          <a:xfrm>
            <a:off x="0" y="1"/>
            <a:ext cx="12192000" cy="560439"/>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63"/>
            <a:endParaRPr lang="en-US">
              <a:solidFill>
                <a:prstClr val="white"/>
              </a:solidFill>
              <a:latin typeface="Aptos" panose="02110004020202020204"/>
            </a:endParaRPr>
          </a:p>
        </p:txBody>
      </p:sp>
      <p:sp>
        <p:nvSpPr>
          <p:cNvPr id="5" name="Rectangle 4">
            <a:extLst>
              <a:ext uri="{FF2B5EF4-FFF2-40B4-BE49-F238E27FC236}">
                <a16:creationId xmlns:a16="http://schemas.microsoft.com/office/drawing/2014/main" id="{8E8CCC77-1165-5D0B-54C1-A6313A68DCF2}"/>
              </a:ext>
            </a:extLst>
          </p:cNvPr>
          <p:cNvSpPr/>
          <p:nvPr/>
        </p:nvSpPr>
        <p:spPr>
          <a:xfrm>
            <a:off x="0" y="6415548"/>
            <a:ext cx="12192000" cy="442452"/>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63"/>
            <a:endParaRPr lang="en-US" dirty="0">
              <a:solidFill>
                <a:prstClr val="white"/>
              </a:solidFill>
              <a:latin typeface="Aptos" panose="02110004020202020204"/>
            </a:endParaRPr>
          </a:p>
        </p:txBody>
      </p:sp>
      <p:pic>
        <p:nvPicPr>
          <p:cNvPr id="6" name="Picture 5" descr="A purple and green logo&#10;&#10;AI-generated content may be incorrect.">
            <a:extLst>
              <a:ext uri="{FF2B5EF4-FFF2-40B4-BE49-F238E27FC236}">
                <a16:creationId xmlns:a16="http://schemas.microsoft.com/office/drawing/2014/main" id="{2AFC1DAF-887C-9C3F-7C38-01CE211F0AAB}"/>
              </a:ext>
            </a:extLst>
          </p:cNvPr>
          <p:cNvPicPr>
            <a:picLocks noChangeAspect="1"/>
          </p:cNvPicPr>
          <p:nvPr/>
        </p:nvPicPr>
        <p:blipFill>
          <a:blip r:embed="rId2"/>
          <a:stretch>
            <a:fillRect/>
          </a:stretch>
        </p:blipFill>
        <p:spPr>
          <a:xfrm>
            <a:off x="7377768" y="525285"/>
            <a:ext cx="4726950" cy="1336043"/>
          </a:xfrm>
          <a:prstGeom prst="rect">
            <a:avLst/>
          </a:prstGeom>
        </p:spPr>
      </p:pic>
    </p:spTree>
    <p:extLst>
      <p:ext uri="{BB962C8B-B14F-4D97-AF65-F5344CB8AC3E}">
        <p14:creationId xmlns:p14="http://schemas.microsoft.com/office/powerpoint/2010/main" val="2618002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738360" y="502920"/>
            <a:ext cx="1371600" cy="1371600"/>
          </a:xfrm>
          <a:prstGeom prst="ellipse">
            <a:avLst/>
          </a:prstGeom>
          <a:solidFill>
            <a:srgbClr val="141A3D"/>
          </a:solidFill>
          <a:ln/>
          <a:effectLst>
            <a:outerShdw blurRad="76200" dist="25400" dir="5400000" algn="bl" rotWithShape="0">
              <a:srgbClr val="1E2761">
                <a:alpha val="18000"/>
              </a:srgbClr>
            </a:outerShdw>
          </a:effectLst>
        </p:spPr>
        <p:txBody>
          <a:bodyPr/>
          <a:lstStyle/>
          <a:p>
            <a:endParaRPr lang="en-US"/>
          </a:p>
        </p:txBody>
      </p:sp>
      <p:pic>
        <p:nvPicPr>
          <p:cNvPr id="3" name="Image 0" descr="/home/claude/demand-mgmt-ppt/icons/network.png"/>
          <p:cNvPicPr>
            <a:picLocks noChangeAspect="1"/>
          </p:cNvPicPr>
          <p:nvPr/>
        </p:nvPicPr>
        <p:blipFill>
          <a:blip r:embed="rId3"/>
          <a:stretch>
            <a:fillRect/>
          </a:stretch>
        </p:blipFill>
        <p:spPr>
          <a:xfrm>
            <a:off x="10081260" y="845820"/>
            <a:ext cx="685800" cy="685800"/>
          </a:xfrm>
          <a:prstGeom prst="rect">
            <a:avLst/>
          </a:prstGeom>
        </p:spPr>
      </p:pic>
      <p:sp>
        <p:nvSpPr>
          <p:cNvPr id="4" name="Shape 1"/>
          <p:cNvSpPr/>
          <p:nvPr/>
        </p:nvSpPr>
        <p:spPr>
          <a:xfrm>
            <a:off x="10789920" y="3749040"/>
            <a:ext cx="914400" cy="914400"/>
          </a:xfrm>
          <a:prstGeom prst="ellipse">
            <a:avLst/>
          </a:prstGeom>
          <a:solidFill>
            <a:srgbClr val="141A3D"/>
          </a:solidFill>
          <a:ln/>
          <a:effectLst>
            <a:outerShdw blurRad="76200" dist="25400" dir="5400000" algn="bl" rotWithShape="0">
              <a:srgbClr val="1E2761">
                <a:alpha val="18000"/>
              </a:srgbClr>
            </a:outerShdw>
          </a:effectLst>
        </p:spPr>
        <p:txBody>
          <a:bodyPr/>
          <a:lstStyle/>
          <a:p>
            <a:endParaRPr lang="en-US"/>
          </a:p>
        </p:txBody>
      </p:sp>
      <p:pic>
        <p:nvPicPr>
          <p:cNvPr id="5" name="Image 1" descr="/home/claude/demand-mgmt-ppt/icons/warehouse.png"/>
          <p:cNvPicPr>
            <a:picLocks noChangeAspect="1"/>
          </p:cNvPicPr>
          <p:nvPr/>
        </p:nvPicPr>
        <p:blipFill>
          <a:blip r:embed="rId4"/>
          <a:stretch>
            <a:fillRect/>
          </a:stretch>
        </p:blipFill>
        <p:spPr>
          <a:xfrm>
            <a:off x="11018520" y="3977640"/>
            <a:ext cx="457200" cy="457200"/>
          </a:xfrm>
          <a:prstGeom prst="rect">
            <a:avLst/>
          </a:prstGeom>
        </p:spPr>
      </p:pic>
      <p:sp>
        <p:nvSpPr>
          <p:cNvPr id="6" name="Shape 2"/>
          <p:cNvSpPr/>
          <p:nvPr/>
        </p:nvSpPr>
        <p:spPr>
          <a:xfrm>
            <a:off x="9281160" y="5440680"/>
            <a:ext cx="822960" cy="822960"/>
          </a:xfrm>
          <a:prstGeom prst="ellipse">
            <a:avLst/>
          </a:prstGeom>
          <a:solidFill>
            <a:srgbClr val="141A3D"/>
          </a:solidFill>
          <a:ln/>
          <a:effectLst>
            <a:outerShdw blurRad="76200" dist="25400" dir="5400000" algn="bl" rotWithShape="0">
              <a:srgbClr val="1E2761">
                <a:alpha val="18000"/>
              </a:srgbClr>
            </a:outerShdw>
          </a:effectLst>
        </p:spPr>
        <p:txBody>
          <a:bodyPr/>
          <a:lstStyle/>
          <a:p>
            <a:endParaRPr lang="en-US"/>
          </a:p>
        </p:txBody>
      </p:sp>
      <p:pic>
        <p:nvPicPr>
          <p:cNvPr id="7" name="Image 2" descr="/home/claude/demand-mgmt-ppt/icons/route.png"/>
          <p:cNvPicPr>
            <a:picLocks noChangeAspect="1"/>
          </p:cNvPicPr>
          <p:nvPr/>
        </p:nvPicPr>
        <p:blipFill>
          <a:blip r:embed="rId5"/>
          <a:stretch>
            <a:fillRect/>
          </a:stretch>
        </p:blipFill>
        <p:spPr>
          <a:xfrm>
            <a:off x="9486900" y="5646420"/>
            <a:ext cx="411480" cy="411480"/>
          </a:xfrm>
          <a:prstGeom prst="rect">
            <a:avLst/>
          </a:prstGeom>
        </p:spPr>
      </p:pic>
      <p:sp>
        <p:nvSpPr>
          <p:cNvPr id="8" name="Text 3"/>
          <p:cNvSpPr/>
          <p:nvPr/>
        </p:nvSpPr>
        <p:spPr>
          <a:xfrm>
            <a:off x="822960" y="1554480"/>
            <a:ext cx="8229600" cy="365760"/>
          </a:xfrm>
          <a:prstGeom prst="rect">
            <a:avLst/>
          </a:prstGeom>
          <a:noFill/>
          <a:ln/>
        </p:spPr>
        <p:txBody>
          <a:bodyPr wrap="square" lIns="0" tIns="0" rIns="0" bIns="0" rtlCol="0" anchor="ctr"/>
          <a:lstStyle/>
          <a:p>
            <a:pPr marL="0" indent="0">
              <a:buNone/>
            </a:pPr>
            <a:r>
              <a:rPr lang="en-US" sz="1400" b="1" kern="0" spc="300" dirty="0">
                <a:solidFill>
                  <a:srgbClr val="C9962C"/>
                </a:solidFill>
                <a:latin typeface="Calibri" pitchFamily="34" charset="0"/>
                <a:ea typeface="Calibri" pitchFamily="34" charset="-122"/>
                <a:cs typeface="Calibri" pitchFamily="34" charset="-120"/>
              </a:rPr>
              <a:t>BASICS OF LOGISTICS &amp; SUPPLY CHAIN</a:t>
            </a:r>
            <a:endParaRPr lang="en-US" sz="1400" dirty="0"/>
          </a:p>
        </p:txBody>
      </p:sp>
      <p:sp>
        <p:nvSpPr>
          <p:cNvPr id="9" name="Text 4"/>
          <p:cNvSpPr/>
          <p:nvPr/>
        </p:nvSpPr>
        <p:spPr>
          <a:xfrm>
            <a:off x="777240" y="1965960"/>
            <a:ext cx="9326880" cy="1828800"/>
          </a:xfrm>
          <a:prstGeom prst="rect">
            <a:avLst/>
          </a:prstGeom>
          <a:noFill/>
          <a:ln/>
        </p:spPr>
        <p:txBody>
          <a:bodyPr wrap="square" lIns="0" tIns="0" rIns="0" bIns="0" rtlCol="0" anchor="ctr"/>
          <a:lstStyle/>
          <a:p>
            <a:pPr marL="0" indent="0">
              <a:lnSpc>
                <a:spcPct val="105000"/>
              </a:lnSpc>
              <a:buNone/>
            </a:pPr>
            <a:r>
              <a:rPr lang="en-US" sz="4200" b="1" dirty="0">
                <a:solidFill>
                  <a:srgbClr val="FFFFFF"/>
                </a:solidFill>
                <a:latin typeface="Cambria" pitchFamily="34" charset="0"/>
                <a:ea typeface="Cambria" pitchFamily="34" charset="-122"/>
                <a:cs typeface="Cambria" pitchFamily="34" charset="-120"/>
              </a:rPr>
              <a:t>Logistics System Design &amp;</a:t>
            </a:r>
            <a:endParaRPr lang="en-US" sz="4200" dirty="0"/>
          </a:p>
          <a:p>
            <a:pPr marL="0" indent="0">
              <a:lnSpc>
                <a:spcPct val="105000"/>
              </a:lnSpc>
              <a:buNone/>
            </a:pPr>
            <a:r>
              <a:rPr lang="en-US" sz="4200" b="1" dirty="0">
                <a:solidFill>
                  <a:srgbClr val="FFFFFF"/>
                </a:solidFill>
                <a:latin typeface="Cambria" pitchFamily="34" charset="0"/>
                <a:ea typeface="Cambria" pitchFamily="34" charset="-122"/>
                <a:cs typeface="Cambria" pitchFamily="34" charset="-120"/>
              </a:rPr>
              <a:t>Distribution Network Strategy</a:t>
            </a:r>
            <a:endParaRPr lang="en-US" sz="4200" dirty="0"/>
          </a:p>
        </p:txBody>
      </p:sp>
      <p:sp>
        <p:nvSpPr>
          <p:cNvPr id="10" name="Text 5"/>
          <p:cNvSpPr/>
          <p:nvPr/>
        </p:nvSpPr>
        <p:spPr>
          <a:xfrm>
            <a:off x="822960" y="3794760"/>
            <a:ext cx="8778240" cy="640080"/>
          </a:xfrm>
          <a:prstGeom prst="rect">
            <a:avLst/>
          </a:prstGeom>
          <a:noFill/>
          <a:ln/>
        </p:spPr>
        <p:txBody>
          <a:bodyPr wrap="square" lIns="0" tIns="0" rIns="0" bIns="0" rtlCol="0" anchor="ctr"/>
          <a:lstStyle/>
          <a:p>
            <a:pPr marL="0" indent="0">
              <a:lnSpc>
                <a:spcPct val="120000"/>
              </a:lnSpc>
              <a:buNone/>
            </a:pPr>
            <a:r>
              <a:rPr lang="en-US" sz="1450" i="1" dirty="0">
                <a:solidFill>
                  <a:srgbClr val="CADCFC"/>
                </a:solidFill>
                <a:latin typeface="Calibri" pitchFamily="34" charset="0"/>
                <a:ea typeface="Calibri" pitchFamily="34" charset="-122"/>
                <a:cs typeface="Calibri" pitchFamily="34" charset="-120"/>
              </a:rPr>
              <a:t>Logistics System Design • Infrastructure Development • Multi-Channel Distribution • Multi-Echelon Systems • Model Development</a:t>
            </a:r>
            <a:endParaRPr lang="en-US" sz="1450" dirty="0"/>
          </a:p>
        </p:txBody>
      </p:sp>
      <p:sp>
        <p:nvSpPr>
          <p:cNvPr id="11" name="Shape 6"/>
          <p:cNvSpPr/>
          <p:nvPr/>
        </p:nvSpPr>
        <p:spPr>
          <a:xfrm>
            <a:off x="841248" y="4526280"/>
            <a:ext cx="1005840" cy="0"/>
          </a:xfrm>
          <a:prstGeom prst="line">
            <a:avLst/>
          </a:prstGeom>
          <a:noFill/>
          <a:ln w="38100">
            <a:solidFill>
              <a:srgbClr val="C9962C"/>
            </a:solidFill>
            <a:prstDash val="solid"/>
          </a:ln>
        </p:spPr>
        <p:txBody>
          <a:bodyPr/>
          <a:lstStyle/>
          <a:p>
            <a:endParaRPr lang="en-US"/>
          </a:p>
        </p:txBody>
      </p:sp>
      <p:sp>
        <p:nvSpPr>
          <p:cNvPr id="12" name="Text 7"/>
          <p:cNvSpPr/>
          <p:nvPr/>
        </p:nvSpPr>
        <p:spPr>
          <a:xfrm>
            <a:off x="822960" y="6035040"/>
            <a:ext cx="7315200" cy="32004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Department of Business Management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EEF3FC"/>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C9962C"/>
                </a:solidFill>
                <a:latin typeface="Calibri" pitchFamily="34" charset="0"/>
                <a:ea typeface="Calibri" pitchFamily="34" charset="-122"/>
                <a:cs typeface="Calibri" pitchFamily="34" charset="-120"/>
              </a:rPr>
              <a:t>COURSE ROADMAP</a:t>
            </a:r>
            <a:endParaRPr lang="en-US" sz="1200" dirty="0"/>
          </a:p>
        </p:txBody>
      </p:sp>
      <p:sp>
        <p:nvSpPr>
          <p:cNvPr id="3" name="Text 1"/>
          <p:cNvSpPr/>
          <p:nvPr/>
        </p:nvSpPr>
        <p:spPr>
          <a:xfrm>
            <a:off x="548640" y="621792"/>
            <a:ext cx="10515600" cy="73152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What We Will Cover</a:t>
            </a:r>
            <a:endParaRPr lang="en-US" sz="3000" dirty="0"/>
          </a:p>
        </p:txBody>
      </p:sp>
      <p:sp>
        <p:nvSpPr>
          <p:cNvPr id="4" name="Shape 2"/>
          <p:cNvSpPr/>
          <p:nvPr/>
        </p:nvSpPr>
        <p:spPr>
          <a:xfrm>
            <a:off x="566928" y="1298448"/>
            <a:ext cx="914400" cy="0"/>
          </a:xfrm>
          <a:prstGeom prst="line">
            <a:avLst/>
          </a:prstGeom>
          <a:noFill/>
          <a:ln w="31750">
            <a:solidFill>
              <a:srgbClr val="C9962C"/>
            </a:solidFill>
            <a:prstDash val="solid"/>
          </a:ln>
        </p:spPr>
        <p:txBody>
          <a:bodyPr/>
          <a:lstStyle/>
          <a:p>
            <a:endParaRPr lang="en-US"/>
          </a:p>
        </p:txBody>
      </p:sp>
      <p:sp>
        <p:nvSpPr>
          <p:cNvPr id="5" name="Shape 3"/>
          <p:cNvSpPr/>
          <p:nvPr/>
        </p:nvSpPr>
        <p:spPr>
          <a:xfrm>
            <a:off x="640080" y="1691640"/>
            <a:ext cx="10881360" cy="914400"/>
          </a:xfrm>
          <a:prstGeom prst="roundRect">
            <a:avLst>
              <a:gd name="adj" fmla="val 7000"/>
            </a:avLst>
          </a:prstGeom>
          <a:solidFill>
            <a:srgbClr val="FFFFFF"/>
          </a:solidFill>
          <a:ln w="12700">
            <a:solidFill>
              <a:srgbClr val="D7E0F5"/>
            </a:solidFill>
            <a:prstDash val="solid"/>
          </a:ln>
        </p:spPr>
        <p:txBody>
          <a:bodyPr/>
          <a:lstStyle/>
          <a:p>
            <a:endParaRPr lang="en-US"/>
          </a:p>
        </p:txBody>
      </p:sp>
      <p:sp>
        <p:nvSpPr>
          <p:cNvPr id="6" name="Text 4"/>
          <p:cNvSpPr/>
          <p:nvPr/>
        </p:nvSpPr>
        <p:spPr>
          <a:xfrm>
            <a:off x="822960" y="1691640"/>
            <a:ext cx="822960" cy="914400"/>
          </a:xfrm>
          <a:prstGeom prst="rect">
            <a:avLst/>
          </a:prstGeom>
          <a:noFill/>
          <a:ln/>
        </p:spPr>
        <p:txBody>
          <a:bodyPr wrap="square" lIns="0" tIns="0" rIns="0" bIns="0" rtlCol="0" anchor="ctr"/>
          <a:lstStyle/>
          <a:p>
            <a:pPr marL="0" indent="0">
              <a:buNone/>
            </a:pPr>
            <a:r>
              <a:rPr lang="en-US" sz="2600" b="1" dirty="0">
                <a:solidFill>
                  <a:srgbClr val="C9962C"/>
                </a:solidFill>
                <a:latin typeface="Cambria" pitchFamily="34" charset="0"/>
                <a:ea typeface="Cambria" pitchFamily="34" charset="-122"/>
                <a:cs typeface="Cambria" pitchFamily="34" charset="-120"/>
              </a:rPr>
              <a:t>01</a:t>
            </a:r>
            <a:endParaRPr lang="en-US" sz="2600" dirty="0"/>
          </a:p>
        </p:txBody>
      </p:sp>
      <p:sp>
        <p:nvSpPr>
          <p:cNvPr id="7" name="Text 5"/>
          <p:cNvSpPr/>
          <p:nvPr/>
        </p:nvSpPr>
        <p:spPr>
          <a:xfrm>
            <a:off x="1691640" y="1801368"/>
            <a:ext cx="5120640" cy="694944"/>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Logistics System Design</a:t>
            </a:r>
            <a:endParaRPr lang="en-US" sz="1600" dirty="0"/>
          </a:p>
        </p:txBody>
      </p:sp>
      <p:sp>
        <p:nvSpPr>
          <p:cNvPr id="8" name="Text 6"/>
          <p:cNvSpPr/>
          <p:nvPr/>
        </p:nvSpPr>
        <p:spPr>
          <a:xfrm>
            <a:off x="6903720" y="1801368"/>
            <a:ext cx="4434840" cy="694944"/>
          </a:xfrm>
          <a:prstGeom prst="rect">
            <a:avLst/>
          </a:prstGeom>
          <a:noFill/>
          <a:ln/>
        </p:spPr>
        <p:txBody>
          <a:bodyPr wrap="square" lIns="0" tIns="0" rIns="0" bIns="0" rtlCol="0" anchor="ctr"/>
          <a:lstStyle/>
          <a:p>
            <a:pPr marL="0" indent="0">
              <a:buNone/>
            </a:pPr>
            <a:r>
              <a:rPr lang="en-US" sz="1150" i="1" dirty="0">
                <a:solidFill>
                  <a:srgbClr val="5A6B8C"/>
                </a:solidFill>
                <a:latin typeface="Calibri" pitchFamily="34" charset="0"/>
                <a:ea typeface="Calibri" pitchFamily="34" charset="-122"/>
                <a:cs typeface="Calibri" pitchFamily="34" charset="-120"/>
              </a:rPr>
              <a:t>Frameworks, components and trade-offs that shape a logistics network</a:t>
            </a:r>
            <a:endParaRPr lang="en-US" sz="1150" dirty="0"/>
          </a:p>
        </p:txBody>
      </p:sp>
      <p:sp>
        <p:nvSpPr>
          <p:cNvPr id="9" name="Shape 7"/>
          <p:cNvSpPr/>
          <p:nvPr/>
        </p:nvSpPr>
        <p:spPr>
          <a:xfrm>
            <a:off x="640080" y="2715768"/>
            <a:ext cx="10881360" cy="914400"/>
          </a:xfrm>
          <a:prstGeom prst="roundRect">
            <a:avLst>
              <a:gd name="adj" fmla="val 7000"/>
            </a:avLst>
          </a:prstGeom>
          <a:solidFill>
            <a:srgbClr val="FFFFFF"/>
          </a:solidFill>
          <a:ln w="12700">
            <a:solidFill>
              <a:srgbClr val="D7E0F5"/>
            </a:solidFill>
            <a:prstDash val="solid"/>
          </a:ln>
        </p:spPr>
        <p:txBody>
          <a:bodyPr/>
          <a:lstStyle/>
          <a:p>
            <a:endParaRPr lang="en-US"/>
          </a:p>
        </p:txBody>
      </p:sp>
      <p:sp>
        <p:nvSpPr>
          <p:cNvPr id="10" name="Text 8"/>
          <p:cNvSpPr/>
          <p:nvPr/>
        </p:nvSpPr>
        <p:spPr>
          <a:xfrm>
            <a:off x="822960" y="2715768"/>
            <a:ext cx="822960" cy="914400"/>
          </a:xfrm>
          <a:prstGeom prst="rect">
            <a:avLst/>
          </a:prstGeom>
          <a:noFill/>
          <a:ln/>
        </p:spPr>
        <p:txBody>
          <a:bodyPr wrap="square" lIns="0" tIns="0" rIns="0" bIns="0" rtlCol="0" anchor="ctr"/>
          <a:lstStyle/>
          <a:p>
            <a:pPr marL="0" indent="0">
              <a:buNone/>
            </a:pPr>
            <a:r>
              <a:rPr lang="en-US" sz="2600" b="1" dirty="0">
                <a:solidFill>
                  <a:srgbClr val="C9962C"/>
                </a:solidFill>
                <a:latin typeface="Cambria" pitchFamily="34" charset="0"/>
                <a:ea typeface="Cambria" pitchFamily="34" charset="-122"/>
                <a:cs typeface="Cambria" pitchFamily="34" charset="-120"/>
              </a:rPr>
              <a:t>02</a:t>
            </a:r>
            <a:endParaRPr lang="en-US" sz="2600" dirty="0"/>
          </a:p>
        </p:txBody>
      </p:sp>
      <p:sp>
        <p:nvSpPr>
          <p:cNvPr id="11" name="Text 9"/>
          <p:cNvSpPr/>
          <p:nvPr/>
        </p:nvSpPr>
        <p:spPr>
          <a:xfrm>
            <a:off x="1691640" y="2825496"/>
            <a:ext cx="5120640" cy="694944"/>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Logistics Infrastructure Development</a:t>
            </a:r>
            <a:endParaRPr lang="en-US" sz="1600" dirty="0"/>
          </a:p>
        </p:txBody>
      </p:sp>
      <p:sp>
        <p:nvSpPr>
          <p:cNvPr id="12" name="Text 10"/>
          <p:cNvSpPr/>
          <p:nvPr/>
        </p:nvSpPr>
        <p:spPr>
          <a:xfrm>
            <a:off x="6903720" y="2825496"/>
            <a:ext cx="4434840" cy="694944"/>
          </a:xfrm>
          <a:prstGeom prst="rect">
            <a:avLst/>
          </a:prstGeom>
          <a:noFill/>
          <a:ln/>
        </p:spPr>
        <p:txBody>
          <a:bodyPr wrap="square" lIns="0" tIns="0" rIns="0" bIns="0" rtlCol="0" anchor="ctr"/>
          <a:lstStyle/>
          <a:p>
            <a:pPr marL="0" indent="0">
              <a:buNone/>
            </a:pPr>
            <a:r>
              <a:rPr lang="en-US" sz="1150" i="1" dirty="0">
                <a:solidFill>
                  <a:srgbClr val="5A6B8C"/>
                </a:solidFill>
                <a:latin typeface="Calibri" pitchFamily="34" charset="0"/>
                <a:ea typeface="Calibri" pitchFamily="34" charset="-122"/>
                <a:cs typeface="Calibri" pitchFamily="34" charset="-120"/>
              </a:rPr>
              <a:t>The physical, digital and institutional backbone logistics runs on</a:t>
            </a:r>
            <a:endParaRPr lang="en-US" sz="1150" dirty="0"/>
          </a:p>
        </p:txBody>
      </p:sp>
      <p:sp>
        <p:nvSpPr>
          <p:cNvPr id="13" name="Shape 11"/>
          <p:cNvSpPr/>
          <p:nvPr/>
        </p:nvSpPr>
        <p:spPr>
          <a:xfrm>
            <a:off x="640080" y="3739896"/>
            <a:ext cx="10881360" cy="914400"/>
          </a:xfrm>
          <a:prstGeom prst="roundRect">
            <a:avLst>
              <a:gd name="adj" fmla="val 7000"/>
            </a:avLst>
          </a:prstGeom>
          <a:solidFill>
            <a:srgbClr val="FFFFFF"/>
          </a:solidFill>
          <a:ln w="12700">
            <a:solidFill>
              <a:srgbClr val="D7E0F5"/>
            </a:solidFill>
            <a:prstDash val="solid"/>
          </a:ln>
        </p:spPr>
        <p:txBody>
          <a:bodyPr/>
          <a:lstStyle/>
          <a:p>
            <a:endParaRPr lang="en-US"/>
          </a:p>
        </p:txBody>
      </p:sp>
      <p:sp>
        <p:nvSpPr>
          <p:cNvPr id="14" name="Text 12"/>
          <p:cNvSpPr/>
          <p:nvPr/>
        </p:nvSpPr>
        <p:spPr>
          <a:xfrm>
            <a:off x="822960" y="3739896"/>
            <a:ext cx="822960" cy="914400"/>
          </a:xfrm>
          <a:prstGeom prst="rect">
            <a:avLst/>
          </a:prstGeom>
          <a:noFill/>
          <a:ln/>
        </p:spPr>
        <p:txBody>
          <a:bodyPr wrap="square" lIns="0" tIns="0" rIns="0" bIns="0" rtlCol="0" anchor="ctr"/>
          <a:lstStyle/>
          <a:p>
            <a:pPr marL="0" indent="0">
              <a:buNone/>
            </a:pPr>
            <a:r>
              <a:rPr lang="en-US" sz="2600" b="1" dirty="0">
                <a:solidFill>
                  <a:srgbClr val="C9962C"/>
                </a:solidFill>
                <a:latin typeface="Cambria" pitchFamily="34" charset="0"/>
                <a:ea typeface="Cambria" pitchFamily="34" charset="-122"/>
                <a:cs typeface="Cambria" pitchFamily="34" charset="-120"/>
              </a:rPr>
              <a:t>03</a:t>
            </a:r>
            <a:endParaRPr lang="en-US" sz="2600" dirty="0"/>
          </a:p>
        </p:txBody>
      </p:sp>
      <p:sp>
        <p:nvSpPr>
          <p:cNvPr id="15" name="Text 13"/>
          <p:cNvSpPr/>
          <p:nvPr/>
        </p:nvSpPr>
        <p:spPr>
          <a:xfrm>
            <a:off x="1691640" y="3849624"/>
            <a:ext cx="5120640" cy="694944"/>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Multiple Channel Distribution</a:t>
            </a:r>
            <a:endParaRPr lang="en-US" sz="1600" dirty="0"/>
          </a:p>
        </p:txBody>
      </p:sp>
      <p:sp>
        <p:nvSpPr>
          <p:cNvPr id="16" name="Text 14"/>
          <p:cNvSpPr/>
          <p:nvPr/>
        </p:nvSpPr>
        <p:spPr>
          <a:xfrm>
            <a:off x="6903720" y="3849624"/>
            <a:ext cx="4434840" cy="694944"/>
          </a:xfrm>
          <a:prstGeom prst="rect">
            <a:avLst/>
          </a:prstGeom>
          <a:noFill/>
          <a:ln/>
        </p:spPr>
        <p:txBody>
          <a:bodyPr wrap="square" lIns="0" tIns="0" rIns="0" bIns="0" rtlCol="0" anchor="ctr"/>
          <a:lstStyle/>
          <a:p>
            <a:pPr marL="0" indent="0">
              <a:buNone/>
            </a:pPr>
            <a:r>
              <a:rPr lang="en-US" sz="1150" i="1" dirty="0">
                <a:solidFill>
                  <a:srgbClr val="5A6B8C"/>
                </a:solidFill>
                <a:latin typeface="Calibri" pitchFamily="34" charset="0"/>
                <a:ea typeface="Calibri" pitchFamily="34" charset="-122"/>
                <a:cs typeface="Calibri" pitchFamily="34" charset="-120"/>
              </a:rPr>
              <a:t>Reaching customers through direct, retail, wholesale and e-commerce channels</a:t>
            </a:r>
            <a:endParaRPr lang="en-US" sz="1150" dirty="0"/>
          </a:p>
        </p:txBody>
      </p:sp>
      <p:sp>
        <p:nvSpPr>
          <p:cNvPr id="17" name="Shape 15"/>
          <p:cNvSpPr/>
          <p:nvPr/>
        </p:nvSpPr>
        <p:spPr>
          <a:xfrm>
            <a:off x="640080" y="4764024"/>
            <a:ext cx="10881360" cy="914400"/>
          </a:xfrm>
          <a:prstGeom prst="roundRect">
            <a:avLst>
              <a:gd name="adj" fmla="val 7000"/>
            </a:avLst>
          </a:prstGeom>
          <a:solidFill>
            <a:srgbClr val="FFFFFF"/>
          </a:solidFill>
          <a:ln w="12700">
            <a:solidFill>
              <a:srgbClr val="D7E0F5"/>
            </a:solidFill>
            <a:prstDash val="solid"/>
          </a:ln>
        </p:spPr>
        <p:txBody>
          <a:bodyPr/>
          <a:lstStyle/>
          <a:p>
            <a:endParaRPr lang="en-US"/>
          </a:p>
        </p:txBody>
      </p:sp>
      <p:sp>
        <p:nvSpPr>
          <p:cNvPr id="18" name="Text 16"/>
          <p:cNvSpPr/>
          <p:nvPr/>
        </p:nvSpPr>
        <p:spPr>
          <a:xfrm>
            <a:off x="822960" y="4764024"/>
            <a:ext cx="822960" cy="914400"/>
          </a:xfrm>
          <a:prstGeom prst="rect">
            <a:avLst/>
          </a:prstGeom>
          <a:noFill/>
          <a:ln/>
        </p:spPr>
        <p:txBody>
          <a:bodyPr wrap="square" lIns="0" tIns="0" rIns="0" bIns="0" rtlCol="0" anchor="ctr"/>
          <a:lstStyle/>
          <a:p>
            <a:pPr marL="0" indent="0">
              <a:buNone/>
            </a:pPr>
            <a:r>
              <a:rPr lang="en-US" sz="2600" b="1" dirty="0">
                <a:solidFill>
                  <a:srgbClr val="C9962C"/>
                </a:solidFill>
                <a:latin typeface="Cambria" pitchFamily="34" charset="0"/>
                <a:ea typeface="Cambria" pitchFamily="34" charset="-122"/>
                <a:cs typeface="Cambria" pitchFamily="34" charset="-120"/>
              </a:rPr>
              <a:t>04</a:t>
            </a:r>
            <a:endParaRPr lang="en-US" sz="2600" dirty="0"/>
          </a:p>
        </p:txBody>
      </p:sp>
      <p:sp>
        <p:nvSpPr>
          <p:cNvPr id="19" name="Text 17"/>
          <p:cNvSpPr/>
          <p:nvPr/>
        </p:nvSpPr>
        <p:spPr>
          <a:xfrm>
            <a:off x="1691640" y="4873752"/>
            <a:ext cx="5120640" cy="694944"/>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Multi-Echelon System</a:t>
            </a:r>
            <a:endParaRPr lang="en-US" sz="1600" dirty="0"/>
          </a:p>
        </p:txBody>
      </p:sp>
      <p:sp>
        <p:nvSpPr>
          <p:cNvPr id="20" name="Text 18"/>
          <p:cNvSpPr/>
          <p:nvPr/>
        </p:nvSpPr>
        <p:spPr>
          <a:xfrm>
            <a:off x="6903720" y="4873752"/>
            <a:ext cx="4434840" cy="694944"/>
          </a:xfrm>
          <a:prstGeom prst="rect">
            <a:avLst/>
          </a:prstGeom>
          <a:noFill/>
          <a:ln/>
        </p:spPr>
        <p:txBody>
          <a:bodyPr wrap="square" lIns="0" tIns="0" rIns="0" bIns="0" rtlCol="0" anchor="ctr"/>
          <a:lstStyle/>
          <a:p>
            <a:pPr marL="0" indent="0">
              <a:buNone/>
            </a:pPr>
            <a:r>
              <a:rPr lang="en-US" sz="1150" i="1" dirty="0">
                <a:solidFill>
                  <a:srgbClr val="5A6B8C"/>
                </a:solidFill>
                <a:latin typeface="Calibri" pitchFamily="34" charset="0"/>
                <a:ea typeface="Calibri" pitchFamily="34" charset="-122"/>
                <a:cs typeface="Calibri" pitchFamily="34" charset="-120"/>
              </a:rPr>
              <a:t>Designing and optimising multi-tier inventory and distribution networks</a:t>
            </a:r>
            <a:endParaRPr lang="en-US" sz="1150" dirty="0"/>
          </a:p>
        </p:txBody>
      </p:sp>
      <p:sp>
        <p:nvSpPr>
          <p:cNvPr id="21" name="Shape 19"/>
          <p:cNvSpPr/>
          <p:nvPr/>
        </p:nvSpPr>
        <p:spPr>
          <a:xfrm>
            <a:off x="640080" y="5788152"/>
            <a:ext cx="10881360" cy="914400"/>
          </a:xfrm>
          <a:prstGeom prst="roundRect">
            <a:avLst>
              <a:gd name="adj" fmla="val 7000"/>
            </a:avLst>
          </a:prstGeom>
          <a:solidFill>
            <a:srgbClr val="FFFFFF"/>
          </a:solidFill>
          <a:ln w="12700">
            <a:solidFill>
              <a:srgbClr val="D7E0F5"/>
            </a:solidFill>
            <a:prstDash val="solid"/>
          </a:ln>
        </p:spPr>
        <p:txBody>
          <a:bodyPr/>
          <a:lstStyle/>
          <a:p>
            <a:endParaRPr lang="en-US"/>
          </a:p>
        </p:txBody>
      </p:sp>
      <p:sp>
        <p:nvSpPr>
          <p:cNvPr id="22" name="Text 20"/>
          <p:cNvSpPr/>
          <p:nvPr/>
        </p:nvSpPr>
        <p:spPr>
          <a:xfrm>
            <a:off x="822960" y="5788152"/>
            <a:ext cx="822960" cy="914400"/>
          </a:xfrm>
          <a:prstGeom prst="rect">
            <a:avLst/>
          </a:prstGeom>
          <a:noFill/>
          <a:ln/>
        </p:spPr>
        <p:txBody>
          <a:bodyPr wrap="square" lIns="0" tIns="0" rIns="0" bIns="0" rtlCol="0" anchor="ctr"/>
          <a:lstStyle/>
          <a:p>
            <a:pPr marL="0" indent="0">
              <a:buNone/>
            </a:pPr>
            <a:r>
              <a:rPr lang="en-US" sz="2600" b="1" dirty="0">
                <a:solidFill>
                  <a:srgbClr val="C9962C"/>
                </a:solidFill>
                <a:latin typeface="Cambria" pitchFamily="34" charset="0"/>
                <a:ea typeface="Cambria" pitchFamily="34" charset="-122"/>
                <a:cs typeface="Cambria" pitchFamily="34" charset="-120"/>
              </a:rPr>
              <a:t>05</a:t>
            </a:r>
            <a:endParaRPr lang="en-US" sz="2600" dirty="0"/>
          </a:p>
        </p:txBody>
      </p:sp>
      <p:sp>
        <p:nvSpPr>
          <p:cNvPr id="23" name="Text 21"/>
          <p:cNvSpPr/>
          <p:nvPr/>
        </p:nvSpPr>
        <p:spPr>
          <a:xfrm>
            <a:off x="1691640" y="5897880"/>
            <a:ext cx="5120640" cy="694944"/>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Model Development</a:t>
            </a:r>
            <a:endParaRPr lang="en-US" sz="1600" dirty="0"/>
          </a:p>
        </p:txBody>
      </p:sp>
      <p:sp>
        <p:nvSpPr>
          <p:cNvPr id="24" name="Text 22"/>
          <p:cNvSpPr/>
          <p:nvPr/>
        </p:nvSpPr>
        <p:spPr>
          <a:xfrm>
            <a:off x="6903720" y="5897880"/>
            <a:ext cx="4434840" cy="694944"/>
          </a:xfrm>
          <a:prstGeom prst="rect">
            <a:avLst/>
          </a:prstGeom>
          <a:noFill/>
          <a:ln/>
        </p:spPr>
        <p:txBody>
          <a:bodyPr wrap="square" lIns="0" tIns="0" rIns="0" bIns="0" rtlCol="0" anchor="ctr"/>
          <a:lstStyle/>
          <a:p>
            <a:pPr marL="0" indent="0">
              <a:buNone/>
            </a:pPr>
            <a:r>
              <a:rPr lang="en-US" sz="1150" i="1" dirty="0">
                <a:solidFill>
                  <a:srgbClr val="5A6B8C"/>
                </a:solidFill>
                <a:latin typeface="Calibri" pitchFamily="34" charset="0"/>
                <a:ea typeface="Calibri" pitchFamily="34" charset="-122"/>
                <a:cs typeface="Calibri" pitchFamily="34" charset="-120"/>
              </a:rPr>
              <a:t>Building analytical models to design and evaluate logistics systems</a:t>
            </a:r>
            <a:endParaRPr lang="en-US" sz="1150" dirty="0"/>
          </a:p>
        </p:txBody>
      </p:sp>
      <p:sp>
        <p:nvSpPr>
          <p:cNvPr id="25" name="Text 23"/>
          <p:cNvSpPr/>
          <p:nvPr/>
        </p:nvSpPr>
        <p:spPr>
          <a:xfrm>
            <a:off x="11551615" y="6446520"/>
            <a:ext cx="457200" cy="274320"/>
          </a:xfrm>
          <a:prstGeom prst="rect">
            <a:avLst/>
          </a:prstGeom>
          <a:noFill/>
          <a:ln/>
        </p:spPr>
        <p:txBody>
          <a:bodyPr wrap="square" lIns="0" tIns="0" rIns="0" bIns="0" rtlCol="0" anchor="ctr"/>
          <a:lstStyle/>
          <a:p>
            <a:pPr marL="0" indent="0" algn="r">
              <a:buNone/>
            </a:pPr>
            <a:r>
              <a:rPr lang="en-US" sz="1000" dirty="0">
                <a:solidFill>
                  <a:srgbClr val="5A6B8C"/>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7863840" y="548640"/>
            <a:ext cx="3840480" cy="5486400"/>
          </a:xfrm>
          <a:prstGeom prst="rect">
            <a:avLst/>
          </a:prstGeom>
          <a:noFill/>
          <a:ln/>
        </p:spPr>
        <p:txBody>
          <a:bodyPr wrap="square" lIns="0" tIns="0" rIns="0" bIns="0" rtlCol="0" anchor="ctr"/>
          <a:lstStyle/>
          <a:p>
            <a:pPr marL="0" indent="0" algn="r">
              <a:buNone/>
            </a:pPr>
            <a:r>
              <a:rPr lang="en-US" sz="34000" b="1" dirty="0">
                <a:solidFill>
                  <a:srgbClr val="141A3D"/>
                </a:solidFill>
                <a:latin typeface="Cambria" pitchFamily="34" charset="0"/>
                <a:ea typeface="Cambria" pitchFamily="34" charset="-122"/>
                <a:cs typeface="Cambria" pitchFamily="34" charset="-120"/>
              </a:rPr>
              <a:t>01</a:t>
            </a:r>
            <a:endParaRPr lang="en-US" sz="34000" dirty="0"/>
          </a:p>
        </p:txBody>
      </p:sp>
      <p:sp>
        <p:nvSpPr>
          <p:cNvPr id="3" name="Shape 1"/>
          <p:cNvSpPr/>
          <p:nvPr/>
        </p:nvSpPr>
        <p:spPr>
          <a:xfrm>
            <a:off x="1005840" y="2057400"/>
            <a:ext cx="1371600" cy="1371600"/>
          </a:xfrm>
          <a:prstGeom prst="ellipse">
            <a:avLst/>
          </a:prstGeom>
          <a:solidFill>
            <a:srgbClr val="C9962C"/>
          </a:solidFill>
          <a:ln/>
          <a:effectLst>
            <a:outerShdw blurRad="76200" dist="25400" dir="5400000" algn="bl" rotWithShape="0">
              <a:srgbClr val="1E2761">
                <a:alpha val="18000"/>
              </a:srgbClr>
            </a:outerShdw>
          </a:effectLst>
        </p:spPr>
        <p:txBody>
          <a:bodyPr/>
          <a:lstStyle/>
          <a:p>
            <a:endParaRPr lang="en-US"/>
          </a:p>
        </p:txBody>
      </p:sp>
      <p:pic>
        <p:nvPicPr>
          <p:cNvPr id="4" name="Image 0" descr="/home/claude/demand-mgmt-ppt/icons/network.png"/>
          <p:cNvPicPr>
            <a:picLocks noChangeAspect="1"/>
          </p:cNvPicPr>
          <p:nvPr/>
        </p:nvPicPr>
        <p:blipFill>
          <a:blip r:embed="rId3"/>
          <a:stretch>
            <a:fillRect/>
          </a:stretch>
        </p:blipFill>
        <p:spPr>
          <a:xfrm>
            <a:off x="1348740" y="2400300"/>
            <a:ext cx="685800" cy="685800"/>
          </a:xfrm>
          <a:prstGeom prst="rect">
            <a:avLst/>
          </a:prstGeom>
        </p:spPr>
      </p:pic>
      <p:sp>
        <p:nvSpPr>
          <p:cNvPr id="5" name="Text 2"/>
          <p:cNvSpPr/>
          <p:nvPr/>
        </p:nvSpPr>
        <p:spPr>
          <a:xfrm>
            <a:off x="822960" y="3703320"/>
            <a:ext cx="7315200" cy="365760"/>
          </a:xfrm>
          <a:prstGeom prst="rect">
            <a:avLst/>
          </a:prstGeom>
          <a:noFill/>
          <a:ln/>
        </p:spPr>
        <p:txBody>
          <a:bodyPr wrap="square" lIns="0" tIns="0" rIns="0" bIns="0" rtlCol="0" anchor="ctr"/>
          <a:lstStyle/>
          <a:p>
            <a:pPr marL="0" indent="0">
              <a:buNone/>
            </a:pPr>
            <a:r>
              <a:rPr lang="en-US" sz="1400" b="1" kern="0" spc="300" dirty="0">
                <a:solidFill>
                  <a:srgbClr val="C9962C"/>
                </a:solidFill>
                <a:latin typeface="Calibri" pitchFamily="34" charset="0"/>
                <a:ea typeface="Calibri" pitchFamily="34" charset="-122"/>
                <a:cs typeface="Calibri" pitchFamily="34" charset="-120"/>
              </a:rPr>
              <a:t>SECTION 01</a:t>
            </a:r>
            <a:endParaRPr lang="en-US" sz="1400" dirty="0"/>
          </a:p>
        </p:txBody>
      </p:sp>
      <p:sp>
        <p:nvSpPr>
          <p:cNvPr id="6" name="Text 3"/>
          <p:cNvSpPr/>
          <p:nvPr/>
        </p:nvSpPr>
        <p:spPr>
          <a:xfrm>
            <a:off x="822960" y="4069080"/>
            <a:ext cx="8686800" cy="118872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Logistics System Design</a:t>
            </a:r>
            <a:endParaRPr lang="en-US" sz="4000" dirty="0"/>
          </a:p>
        </p:txBody>
      </p:sp>
      <p:sp>
        <p:nvSpPr>
          <p:cNvPr id="7" name="Text 4"/>
          <p:cNvSpPr/>
          <p:nvPr/>
        </p:nvSpPr>
        <p:spPr>
          <a:xfrm>
            <a:off x="822960" y="5166360"/>
            <a:ext cx="8046720" cy="731520"/>
          </a:xfrm>
          <a:prstGeom prst="rect">
            <a:avLst/>
          </a:prstGeom>
          <a:noFill/>
          <a:ln/>
        </p:spPr>
        <p:txBody>
          <a:bodyPr wrap="square" lIns="0" tIns="0" rIns="0" bIns="0" rtlCol="0" anchor="ctr"/>
          <a:lstStyle/>
          <a:p>
            <a:pPr marL="0" indent="0">
              <a:buNone/>
            </a:pPr>
            <a:r>
              <a:rPr lang="en-US" sz="1500" i="1" dirty="0">
                <a:solidFill>
                  <a:srgbClr val="CADCFC"/>
                </a:solidFill>
                <a:latin typeface="Calibri" pitchFamily="34" charset="0"/>
                <a:ea typeface="Calibri" pitchFamily="34" charset="-122"/>
                <a:cs typeface="Calibri" pitchFamily="34" charset="-120"/>
              </a:rPr>
              <a:t>How organisations architect the flow of goods, information and money from origin to end customer</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C9962C"/>
                </a:solidFill>
                <a:latin typeface="Calibri" pitchFamily="34" charset="0"/>
                <a:ea typeface="Calibri" pitchFamily="34" charset="-122"/>
                <a:cs typeface="Calibri" pitchFamily="34" charset="-120"/>
              </a:rPr>
              <a:t>SYSTEM DESIGN</a:t>
            </a:r>
            <a:endParaRPr lang="en-US" sz="1200" dirty="0"/>
          </a:p>
        </p:txBody>
      </p:sp>
      <p:sp>
        <p:nvSpPr>
          <p:cNvPr id="3" name="Text 1"/>
          <p:cNvSpPr/>
          <p:nvPr/>
        </p:nvSpPr>
        <p:spPr>
          <a:xfrm>
            <a:off x="548640" y="621792"/>
            <a:ext cx="10515600" cy="73152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What is Logistics System Design?</a:t>
            </a:r>
            <a:endParaRPr lang="en-US" sz="2800" dirty="0"/>
          </a:p>
        </p:txBody>
      </p:sp>
      <p:sp>
        <p:nvSpPr>
          <p:cNvPr id="4" name="Shape 2"/>
          <p:cNvSpPr/>
          <p:nvPr/>
        </p:nvSpPr>
        <p:spPr>
          <a:xfrm>
            <a:off x="566928" y="1298448"/>
            <a:ext cx="914400" cy="0"/>
          </a:xfrm>
          <a:prstGeom prst="line">
            <a:avLst/>
          </a:prstGeom>
          <a:noFill/>
          <a:ln w="31750">
            <a:solidFill>
              <a:srgbClr val="C9962C"/>
            </a:solidFill>
            <a:prstDash val="solid"/>
          </a:ln>
        </p:spPr>
        <p:txBody>
          <a:bodyPr/>
          <a:lstStyle/>
          <a:p>
            <a:endParaRPr lang="en-US"/>
          </a:p>
        </p:txBody>
      </p:sp>
      <p:sp>
        <p:nvSpPr>
          <p:cNvPr id="5" name="Text 3"/>
          <p:cNvSpPr/>
          <p:nvPr/>
        </p:nvSpPr>
        <p:spPr>
          <a:xfrm>
            <a:off x="640080" y="1691640"/>
            <a:ext cx="10881360" cy="1188720"/>
          </a:xfrm>
          <a:prstGeom prst="rect">
            <a:avLst/>
          </a:prstGeom>
          <a:noFill/>
          <a:ln/>
        </p:spPr>
        <p:txBody>
          <a:bodyPr wrap="square" lIns="0" tIns="0" rIns="0" bIns="0" rtlCol="0" anchor="t"/>
          <a:lstStyle/>
          <a:p>
            <a:pPr marL="0" indent="0">
              <a:lnSpc>
                <a:spcPct val="130000"/>
              </a:lnSpc>
              <a:buNone/>
            </a:pPr>
            <a:r>
              <a:rPr lang="en-US" sz="1500" dirty="0">
                <a:solidFill>
                  <a:srgbClr val="1E2761"/>
                </a:solidFill>
                <a:latin typeface="Calibri" pitchFamily="34" charset="0"/>
                <a:ea typeface="Calibri" pitchFamily="34" charset="-122"/>
                <a:cs typeface="Calibri" pitchFamily="34" charset="-120"/>
              </a:rPr>
              <a:t>Logistics system design is the structured process of deciding the network of facilities, transportation links, inventory policies and information flows that will move goods from suppliers to customers at the lowest total cost, for the required level of service.</a:t>
            </a:r>
            <a:endParaRPr lang="en-US" sz="1500" dirty="0"/>
          </a:p>
        </p:txBody>
      </p:sp>
      <p:sp>
        <p:nvSpPr>
          <p:cNvPr id="6" name="Shape 4"/>
          <p:cNvSpPr/>
          <p:nvPr/>
        </p:nvSpPr>
        <p:spPr>
          <a:xfrm>
            <a:off x="548640" y="3063240"/>
            <a:ext cx="2567864" cy="2606040"/>
          </a:xfrm>
          <a:prstGeom prst="roundRect">
            <a:avLst>
              <a:gd name="adj" fmla="val 2849"/>
            </a:avLst>
          </a:prstGeom>
          <a:solidFill>
            <a:srgbClr val="FFFFFF"/>
          </a:solidFill>
          <a:ln w="12700">
            <a:solidFill>
              <a:srgbClr val="D7E0F5"/>
            </a:solidFill>
            <a:prstDash val="solid"/>
          </a:ln>
          <a:effectLst>
            <a:outerShdw blurRad="101600" dist="25400" dir="5400000" algn="bl" rotWithShape="0">
              <a:srgbClr val="1E2761">
                <a:alpha val="10000"/>
              </a:srgbClr>
            </a:outerShdw>
          </a:effectLst>
        </p:spPr>
        <p:txBody>
          <a:bodyPr/>
          <a:lstStyle/>
          <a:p>
            <a:endParaRPr lang="en-US"/>
          </a:p>
        </p:txBody>
      </p:sp>
      <p:sp>
        <p:nvSpPr>
          <p:cNvPr id="7" name="Shape 5"/>
          <p:cNvSpPr/>
          <p:nvPr/>
        </p:nvSpPr>
        <p:spPr>
          <a:xfrm>
            <a:off x="754380" y="3268980"/>
            <a:ext cx="502920" cy="502920"/>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8" name="Image 0" descr="/home/claude/demand-mgmt-ppt/icons/sitemap.png"/>
          <p:cNvPicPr>
            <a:picLocks noChangeAspect="1"/>
          </p:cNvPicPr>
          <p:nvPr/>
        </p:nvPicPr>
        <p:blipFill>
          <a:blip r:embed="rId3"/>
          <a:stretch>
            <a:fillRect/>
          </a:stretch>
        </p:blipFill>
        <p:spPr>
          <a:xfrm>
            <a:off x="880110" y="3394710"/>
            <a:ext cx="251460" cy="251460"/>
          </a:xfrm>
          <a:prstGeom prst="rect">
            <a:avLst/>
          </a:prstGeom>
        </p:spPr>
      </p:pic>
      <p:sp>
        <p:nvSpPr>
          <p:cNvPr id="9" name="Text 6"/>
          <p:cNvSpPr/>
          <p:nvPr/>
        </p:nvSpPr>
        <p:spPr>
          <a:xfrm>
            <a:off x="777240" y="3931920"/>
            <a:ext cx="2110664" cy="41148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Network Structure</a:t>
            </a:r>
            <a:endParaRPr lang="en-US" sz="1450" dirty="0"/>
          </a:p>
        </p:txBody>
      </p:sp>
      <p:sp>
        <p:nvSpPr>
          <p:cNvPr id="10" name="Text 7"/>
          <p:cNvSpPr/>
          <p:nvPr/>
        </p:nvSpPr>
        <p:spPr>
          <a:xfrm>
            <a:off x="777240" y="4343400"/>
            <a:ext cx="2110664" cy="1188720"/>
          </a:xfrm>
          <a:prstGeom prst="rect">
            <a:avLst/>
          </a:prstGeom>
          <a:noFill/>
          <a:ln/>
        </p:spPr>
        <p:txBody>
          <a:bodyPr wrap="square" lIns="0" tIns="0" rIns="0" bIns="0" rtlCol="0" anchor="t"/>
          <a:lstStyle/>
          <a:p>
            <a:pPr marL="0" indent="0">
              <a:lnSpc>
                <a:spcPct val="105000"/>
              </a:lnSpc>
              <a:buNone/>
            </a:pPr>
            <a:r>
              <a:rPr lang="en-US" sz="1150" dirty="0">
                <a:solidFill>
                  <a:srgbClr val="5A6B8C"/>
                </a:solidFill>
                <a:latin typeface="Calibri" pitchFamily="34" charset="0"/>
                <a:ea typeface="Calibri" pitchFamily="34" charset="-122"/>
                <a:cs typeface="Calibri" pitchFamily="34" charset="-120"/>
              </a:rPr>
              <a:t>How many facilities, of what type, connected in what pattern.</a:t>
            </a:r>
            <a:endParaRPr lang="en-US" sz="1150" dirty="0"/>
          </a:p>
        </p:txBody>
      </p:sp>
      <p:sp>
        <p:nvSpPr>
          <p:cNvPr id="11" name="Shape 8"/>
          <p:cNvSpPr/>
          <p:nvPr/>
        </p:nvSpPr>
        <p:spPr>
          <a:xfrm>
            <a:off x="3390824" y="3063240"/>
            <a:ext cx="2567864" cy="2606040"/>
          </a:xfrm>
          <a:prstGeom prst="roundRect">
            <a:avLst>
              <a:gd name="adj" fmla="val 2849"/>
            </a:avLst>
          </a:prstGeom>
          <a:solidFill>
            <a:srgbClr val="FFFFFF"/>
          </a:solidFill>
          <a:ln w="12700">
            <a:solidFill>
              <a:srgbClr val="D7E0F5"/>
            </a:solidFill>
            <a:prstDash val="solid"/>
          </a:ln>
          <a:effectLst>
            <a:outerShdw blurRad="101600" dist="25400" dir="5400000" algn="bl" rotWithShape="0">
              <a:srgbClr val="1E2761">
                <a:alpha val="10000"/>
              </a:srgbClr>
            </a:outerShdw>
          </a:effectLst>
        </p:spPr>
        <p:txBody>
          <a:bodyPr/>
          <a:lstStyle/>
          <a:p>
            <a:endParaRPr lang="en-US"/>
          </a:p>
        </p:txBody>
      </p:sp>
      <p:sp>
        <p:nvSpPr>
          <p:cNvPr id="12" name="Shape 9"/>
          <p:cNvSpPr/>
          <p:nvPr/>
        </p:nvSpPr>
        <p:spPr>
          <a:xfrm>
            <a:off x="3596564" y="3268980"/>
            <a:ext cx="502920" cy="502920"/>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13" name="Image 1" descr="/home/claude/demand-mgmt-ppt/icons/route.png"/>
          <p:cNvPicPr>
            <a:picLocks noChangeAspect="1"/>
          </p:cNvPicPr>
          <p:nvPr/>
        </p:nvPicPr>
        <p:blipFill>
          <a:blip r:embed="rId4"/>
          <a:stretch>
            <a:fillRect/>
          </a:stretch>
        </p:blipFill>
        <p:spPr>
          <a:xfrm>
            <a:off x="3722294" y="3394710"/>
            <a:ext cx="251460" cy="251460"/>
          </a:xfrm>
          <a:prstGeom prst="rect">
            <a:avLst/>
          </a:prstGeom>
        </p:spPr>
      </p:pic>
      <p:sp>
        <p:nvSpPr>
          <p:cNvPr id="14" name="Text 10"/>
          <p:cNvSpPr/>
          <p:nvPr/>
        </p:nvSpPr>
        <p:spPr>
          <a:xfrm>
            <a:off x="3619424" y="3931920"/>
            <a:ext cx="2110664" cy="41148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Flow Design</a:t>
            </a:r>
            <a:endParaRPr lang="en-US" sz="1450" dirty="0"/>
          </a:p>
        </p:txBody>
      </p:sp>
      <p:sp>
        <p:nvSpPr>
          <p:cNvPr id="15" name="Text 11"/>
          <p:cNvSpPr/>
          <p:nvPr/>
        </p:nvSpPr>
        <p:spPr>
          <a:xfrm>
            <a:off x="3619424" y="4343400"/>
            <a:ext cx="2110664" cy="1188720"/>
          </a:xfrm>
          <a:prstGeom prst="rect">
            <a:avLst/>
          </a:prstGeom>
          <a:noFill/>
          <a:ln/>
        </p:spPr>
        <p:txBody>
          <a:bodyPr wrap="square" lIns="0" tIns="0" rIns="0" bIns="0" rtlCol="0" anchor="t"/>
          <a:lstStyle/>
          <a:p>
            <a:pPr marL="0" indent="0">
              <a:lnSpc>
                <a:spcPct val="105000"/>
              </a:lnSpc>
              <a:buNone/>
            </a:pPr>
            <a:r>
              <a:rPr lang="en-US" sz="1150" dirty="0">
                <a:solidFill>
                  <a:srgbClr val="5A6B8C"/>
                </a:solidFill>
                <a:latin typeface="Calibri" pitchFamily="34" charset="0"/>
                <a:ea typeface="Calibri" pitchFamily="34" charset="-122"/>
                <a:cs typeface="Calibri" pitchFamily="34" charset="-120"/>
              </a:rPr>
              <a:t>How goods, information and funds move between nodes.</a:t>
            </a:r>
            <a:endParaRPr lang="en-US" sz="1150" dirty="0"/>
          </a:p>
        </p:txBody>
      </p:sp>
      <p:sp>
        <p:nvSpPr>
          <p:cNvPr id="16" name="Shape 12"/>
          <p:cNvSpPr/>
          <p:nvPr/>
        </p:nvSpPr>
        <p:spPr>
          <a:xfrm>
            <a:off x="6233008" y="3063240"/>
            <a:ext cx="2567864" cy="2606040"/>
          </a:xfrm>
          <a:prstGeom prst="roundRect">
            <a:avLst>
              <a:gd name="adj" fmla="val 2849"/>
            </a:avLst>
          </a:prstGeom>
          <a:solidFill>
            <a:srgbClr val="FFFFFF"/>
          </a:solidFill>
          <a:ln w="12700">
            <a:solidFill>
              <a:srgbClr val="D7E0F5"/>
            </a:solidFill>
            <a:prstDash val="solid"/>
          </a:ln>
          <a:effectLst>
            <a:outerShdw blurRad="101600" dist="25400" dir="5400000" algn="bl" rotWithShape="0">
              <a:srgbClr val="1E2761">
                <a:alpha val="10000"/>
              </a:srgbClr>
            </a:outerShdw>
          </a:effectLst>
        </p:spPr>
        <p:txBody>
          <a:bodyPr/>
          <a:lstStyle/>
          <a:p>
            <a:endParaRPr lang="en-US"/>
          </a:p>
        </p:txBody>
      </p:sp>
      <p:sp>
        <p:nvSpPr>
          <p:cNvPr id="17" name="Shape 13"/>
          <p:cNvSpPr/>
          <p:nvPr/>
        </p:nvSpPr>
        <p:spPr>
          <a:xfrm>
            <a:off x="6438748" y="3268980"/>
            <a:ext cx="502920" cy="502920"/>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18" name="Image 2" descr="/home/claude/demand-mgmt-ppt/icons/target.png"/>
          <p:cNvPicPr>
            <a:picLocks noChangeAspect="1"/>
          </p:cNvPicPr>
          <p:nvPr/>
        </p:nvPicPr>
        <p:blipFill>
          <a:blip r:embed="rId5"/>
          <a:stretch>
            <a:fillRect/>
          </a:stretch>
        </p:blipFill>
        <p:spPr>
          <a:xfrm>
            <a:off x="6564478" y="3394710"/>
            <a:ext cx="251460" cy="251460"/>
          </a:xfrm>
          <a:prstGeom prst="rect">
            <a:avLst/>
          </a:prstGeom>
        </p:spPr>
      </p:pic>
      <p:sp>
        <p:nvSpPr>
          <p:cNvPr id="19" name="Text 14"/>
          <p:cNvSpPr/>
          <p:nvPr/>
        </p:nvSpPr>
        <p:spPr>
          <a:xfrm>
            <a:off x="6461608" y="3931920"/>
            <a:ext cx="2110664" cy="41148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Service Design</a:t>
            </a:r>
            <a:endParaRPr lang="en-US" sz="1450" dirty="0"/>
          </a:p>
        </p:txBody>
      </p:sp>
      <p:sp>
        <p:nvSpPr>
          <p:cNvPr id="20" name="Text 15"/>
          <p:cNvSpPr/>
          <p:nvPr/>
        </p:nvSpPr>
        <p:spPr>
          <a:xfrm>
            <a:off x="6461608" y="4343400"/>
            <a:ext cx="2110664" cy="1188720"/>
          </a:xfrm>
          <a:prstGeom prst="rect">
            <a:avLst/>
          </a:prstGeom>
          <a:noFill/>
          <a:ln/>
        </p:spPr>
        <p:txBody>
          <a:bodyPr wrap="square" lIns="0" tIns="0" rIns="0" bIns="0" rtlCol="0" anchor="t"/>
          <a:lstStyle/>
          <a:p>
            <a:pPr marL="0" indent="0">
              <a:lnSpc>
                <a:spcPct val="105000"/>
              </a:lnSpc>
              <a:buNone/>
            </a:pPr>
            <a:r>
              <a:rPr lang="en-US" sz="1150" dirty="0">
                <a:solidFill>
                  <a:srgbClr val="5A6B8C"/>
                </a:solidFill>
                <a:latin typeface="Calibri" pitchFamily="34" charset="0"/>
                <a:ea typeface="Calibri" pitchFamily="34" charset="-122"/>
                <a:cs typeface="Calibri" pitchFamily="34" charset="-120"/>
              </a:rPr>
              <a:t>The delivery speed and reliability promised to each customer segment.</a:t>
            </a:r>
            <a:endParaRPr lang="en-US" sz="1150" dirty="0"/>
          </a:p>
        </p:txBody>
      </p:sp>
      <p:sp>
        <p:nvSpPr>
          <p:cNvPr id="21" name="Shape 16"/>
          <p:cNvSpPr/>
          <p:nvPr/>
        </p:nvSpPr>
        <p:spPr>
          <a:xfrm>
            <a:off x="9075191" y="3063240"/>
            <a:ext cx="2567864" cy="2606040"/>
          </a:xfrm>
          <a:prstGeom prst="roundRect">
            <a:avLst>
              <a:gd name="adj" fmla="val 2849"/>
            </a:avLst>
          </a:prstGeom>
          <a:solidFill>
            <a:srgbClr val="FFFFFF"/>
          </a:solidFill>
          <a:ln w="12700">
            <a:solidFill>
              <a:srgbClr val="D7E0F5"/>
            </a:solidFill>
            <a:prstDash val="solid"/>
          </a:ln>
          <a:effectLst>
            <a:outerShdw blurRad="101600" dist="25400" dir="5400000" algn="bl" rotWithShape="0">
              <a:srgbClr val="1E2761">
                <a:alpha val="10000"/>
              </a:srgbClr>
            </a:outerShdw>
          </a:effectLst>
        </p:spPr>
        <p:txBody>
          <a:bodyPr/>
          <a:lstStyle/>
          <a:p>
            <a:endParaRPr lang="en-US"/>
          </a:p>
        </p:txBody>
      </p:sp>
      <p:sp>
        <p:nvSpPr>
          <p:cNvPr id="22" name="Shape 17"/>
          <p:cNvSpPr/>
          <p:nvPr/>
        </p:nvSpPr>
        <p:spPr>
          <a:xfrm>
            <a:off x="9280931" y="3268980"/>
            <a:ext cx="502920" cy="502920"/>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23" name="Image 3" descr="/home/claude/demand-mgmt-ppt/icons/balance.png"/>
          <p:cNvPicPr>
            <a:picLocks noChangeAspect="1"/>
          </p:cNvPicPr>
          <p:nvPr/>
        </p:nvPicPr>
        <p:blipFill>
          <a:blip r:embed="rId6"/>
          <a:stretch>
            <a:fillRect/>
          </a:stretch>
        </p:blipFill>
        <p:spPr>
          <a:xfrm>
            <a:off x="9406661" y="3394710"/>
            <a:ext cx="251460" cy="251460"/>
          </a:xfrm>
          <a:prstGeom prst="rect">
            <a:avLst/>
          </a:prstGeom>
        </p:spPr>
      </p:pic>
      <p:sp>
        <p:nvSpPr>
          <p:cNvPr id="24" name="Text 18"/>
          <p:cNvSpPr/>
          <p:nvPr/>
        </p:nvSpPr>
        <p:spPr>
          <a:xfrm>
            <a:off x="9303791" y="3931920"/>
            <a:ext cx="2110664" cy="41148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Cost Design</a:t>
            </a:r>
            <a:endParaRPr lang="en-US" sz="1450" dirty="0"/>
          </a:p>
        </p:txBody>
      </p:sp>
      <p:sp>
        <p:nvSpPr>
          <p:cNvPr id="25" name="Text 19"/>
          <p:cNvSpPr/>
          <p:nvPr/>
        </p:nvSpPr>
        <p:spPr>
          <a:xfrm>
            <a:off x="9303791" y="4343400"/>
            <a:ext cx="2110664" cy="1188720"/>
          </a:xfrm>
          <a:prstGeom prst="rect">
            <a:avLst/>
          </a:prstGeom>
          <a:noFill/>
          <a:ln/>
        </p:spPr>
        <p:txBody>
          <a:bodyPr wrap="square" lIns="0" tIns="0" rIns="0" bIns="0" rtlCol="0" anchor="t"/>
          <a:lstStyle/>
          <a:p>
            <a:pPr marL="0" indent="0">
              <a:lnSpc>
                <a:spcPct val="105000"/>
              </a:lnSpc>
              <a:buNone/>
            </a:pPr>
            <a:r>
              <a:rPr lang="en-US" sz="1150" dirty="0">
                <a:solidFill>
                  <a:srgbClr val="5A6B8C"/>
                </a:solidFill>
                <a:latin typeface="Calibri" pitchFamily="34" charset="0"/>
                <a:ea typeface="Calibri" pitchFamily="34" charset="-122"/>
                <a:cs typeface="Calibri" pitchFamily="34" charset="-120"/>
              </a:rPr>
              <a:t>The total landed cost the network is engineered to achieve.</a:t>
            </a:r>
            <a:endParaRPr lang="en-US" sz="1150" dirty="0"/>
          </a:p>
        </p:txBody>
      </p:sp>
      <p:sp>
        <p:nvSpPr>
          <p:cNvPr id="26" name="Text 20"/>
          <p:cNvSpPr/>
          <p:nvPr/>
        </p:nvSpPr>
        <p:spPr>
          <a:xfrm>
            <a:off x="11551615" y="6446520"/>
            <a:ext cx="457200" cy="274320"/>
          </a:xfrm>
          <a:prstGeom prst="rect">
            <a:avLst/>
          </a:prstGeom>
          <a:noFill/>
          <a:ln/>
        </p:spPr>
        <p:txBody>
          <a:bodyPr wrap="square" lIns="0" tIns="0" rIns="0" bIns="0" rtlCol="0" anchor="ctr"/>
          <a:lstStyle/>
          <a:p>
            <a:pPr marL="0" indent="0" algn="r">
              <a:buNone/>
            </a:pPr>
            <a:r>
              <a:rPr lang="en-US" sz="1000" dirty="0">
                <a:solidFill>
                  <a:srgbClr val="5A6B8C"/>
                </a:solidFill>
                <a:latin typeface="Calibri" pitchFamily="34" charset="0"/>
                <a:ea typeface="Calibri" pitchFamily="34" charset="-122"/>
                <a:cs typeface="Calibri" pitchFamily="34" charset="-120"/>
              </a:rPr>
              <a:t>4</a:t>
            </a:r>
            <a:endParaRPr lang="en-US" sz="1000" dirty="0"/>
          </a:p>
        </p:txBody>
      </p:sp>
      <p:sp>
        <p:nvSpPr>
          <p:cNvPr id="28" name="Oval 27">
            <a:extLst>
              <a:ext uri="{FF2B5EF4-FFF2-40B4-BE49-F238E27FC236}">
                <a16:creationId xmlns:a16="http://schemas.microsoft.com/office/drawing/2014/main" id="{8B61BFFE-1E6C-F222-6011-290F11EE9410}"/>
              </a:ext>
            </a:extLst>
          </p:cNvPr>
          <p:cNvSpPr/>
          <p:nvPr/>
        </p:nvSpPr>
        <p:spPr>
          <a:xfrm>
            <a:off x="8876252" y="114036"/>
            <a:ext cx="3142211" cy="1184412"/>
          </a:xfrm>
          <a:prstGeom prst="ellipse">
            <a:avLst/>
          </a:prstGeom>
          <a:solidFill>
            <a:schemeClr val="accent2">
              <a:lumMod val="60000"/>
              <a:lumOff val="4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19547652-F319-C77B-D2E1-10EFFCA8E7EB}"/>
              </a:ext>
            </a:extLst>
          </p:cNvPr>
          <p:cNvSpPr txBox="1"/>
          <p:nvPr/>
        </p:nvSpPr>
        <p:spPr>
          <a:xfrm>
            <a:off x="9217073" y="444632"/>
            <a:ext cx="2460567" cy="523220"/>
          </a:xfrm>
          <a:prstGeom prst="rect">
            <a:avLst/>
          </a:prstGeom>
          <a:noFill/>
        </p:spPr>
        <p:txBody>
          <a:bodyPr wrap="square" rtlCol="0">
            <a:spAutoFit/>
          </a:bodyPr>
          <a:lstStyle/>
          <a:p>
            <a:r>
              <a:rPr lang="en-US" sz="2800" b="1" dirty="0"/>
              <a:t>Important slide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EEF3FC"/>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C9962C"/>
                </a:solidFill>
                <a:latin typeface="Calibri" pitchFamily="34" charset="0"/>
                <a:ea typeface="Calibri" pitchFamily="34" charset="-122"/>
                <a:cs typeface="Calibri" pitchFamily="34" charset="-120"/>
              </a:rPr>
              <a:t>SYSTEM DESIGN</a:t>
            </a:r>
            <a:endParaRPr lang="en-US" sz="1200" dirty="0"/>
          </a:p>
        </p:txBody>
      </p:sp>
      <p:sp>
        <p:nvSpPr>
          <p:cNvPr id="3" name="Text 1"/>
          <p:cNvSpPr/>
          <p:nvPr/>
        </p:nvSpPr>
        <p:spPr>
          <a:xfrm>
            <a:off x="548640" y="621792"/>
            <a:ext cx="10515600" cy="73152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Objectives of Logistics System Design</a:t>
            </a:r>
            <a:endParaRPr lang="en-US" sz="2800" dirty="0"/>
          </a:p>
        </p:txBody>
      </p:sp>
      <p:sp>
        <p:nvSpPr>
          <p:cNvPr id="4" name="Shape 2"/>
          <p:cNvSpPr/>
          <p:nvPr/>
        </p:nvSpPr>
        <p:spPr>
          <a:xfrm>
            <a:off x="566928" y="1298448"/>
            <a:ext cx="914400" cy="0"/>
          </a:xfrm>
          <a:prstGeom prst="line">
            <a:avLst/>
          </a:prstGeom>
          <a:noFill/>
          <a:ln w="31750">
            <a:solidFill>
              <a:srgbClr val="C9962C"/>
            </a:solidFill>
            <a:prstDash val="solid"/>
          </a:ln>
        </p:spPr>
        <p:txBody>
          <a:bodyPr/>
          <a:lstStyle/>
          <a:p>
            <a:endParaRPr lang="en-US"/>
          </a:p>
        </p:txBody>
      </p:sp>
      <p:sp>
        <p:nvSpPr>
          <p:cNvPr id="5" name="Shape 3"/>
          <p:cNvSpPr/>
          <p:nvPr/>
        </p:nvSpPr>
        <p:spPr>
          <a:xfrm>
            <a:off x="548640" y="1737360"/>
            <a:ext cx="3515258" cy="2148840"/>
          </a:xfrm>
          <a:prstGeom prst="roundRect">
            <a:avLst>
              <a:gd name="adj" fmla="val 3404"/>
            </a:avLst>
          </a:prstGeom>
          <a:solidFill>
            <a:srgbClr val="FFFFFF"/>
          </a:solidFill>
          <a:ln w="12700">
            <a:solidFill>
              <a:srgbClr val="D7E0F5"/>
            </a:solidFill>
            <a:prstDash val="solid"/>
          </a:ln>
          <a:effectLst>
            <a:outerShdw blurRad="101600" dist="25400" dir="5400000" algn="bl" rotWithShape="0">
              <a:srgbClr val="1E2761">
                <a:alpha val="10000"/>
              </a:srgbClr>
            </a:outerShdw>
          </a:effectLst>
        </p:spPr>
        <p:txBody>
          <a:bodyPr/>
          <a:lstStyle/>
          <a:p>
            <a:endParaRPr lang="en-US"/>
          </a:p>
        </p:txBody>
      </p:sp>
      <p:sp>
        <p:nvSpPr>
          <p:cNvPr id="6" name="Shape 4"/>
          <p:cNvSpPr/>
          <p:nvPr/>
        </p:nvSpPr>
        <p:spPr>
          <a:xfrm>
            <a:off x="754380" y="1943100"/>
            <a:ext cx="502920" cy="502920"/>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7" name="Image 0" descr="/home/claude/demand-mgmt-ppt/icons/balance.png"/>
          <p:cNvPicPr>
            <a:picLocks noChangeAspect="1"/>
          </p:cNvPicPr>
          <p:nvPr/>
        </p:nvPicPr>
        <p:blipFill>
          <a:blip r:embed="rId3"/>
          <a:stretch>
            <a:fillRect/>
          </a:stretch>
        </p:blipFill>
        <p:spPr>
          <a:xfrm>
            <a:off x="880110" y="2068830"/>
            <a:ext cx="251460" cy="251460"/>
          </a:xfrm>
          <a:prstGeom prst="rect">
            <a:avLst/>
          </a:prstGeom>
        </p:spPr>
      </p:pic>
      <p:sp>
        <p:nvSpPr>
          <p:cNvPr id="8" name="Text 5"/>
          <p:cNvSpPr/>
          <p:nvPr/>
        </p:nvSpPr>
        <p:spPr>
          <a:xfrm>
            <a:off x="777240" y="2606040"/>
            <a:ext cx="3058058" cy="41148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Minimise Total Cost</a:t>
            </a:r>
            <a:endParaRPr lang="en-US" sz="1450" dirty="0"/>
          </a:p>
        </p:txBody>
      </p:sp>
      <p:sp>
        <p:nvSpPr>
          <p:cNvPr id="9" name="Text 6"/>
          <p:cNvSpPr/>
          <p:nvPr/>
        </p:nvSpPr>
        <p:spPr>
          <a:xfrm>
            <a:off x="777240" y="3017520"/>
            <a:ext cx="3058058" cy="731520"/>
          </a:xfrm>
          <a:prstGeom prst="rect">
            <a:avLst/>
          </a:prstGeom>
          <a:noFill/>
          <a:ln/>
        </p:spPr>
        <p:txBody>
          <a:bodyPr wrap="square" lIns="0" tIns="0" rIns="0" bIns="0" rtlCol="0" anchor="t"/>
          <a:lstStyle/>
          <a:p>
            <a:pPr marL="0" indent="0">
              <a:lnSpc>
                <a:spcPct val="105000"/>
              </a:lnSpc>
              <a:buNone/>
            </a:pPr>
            <a:r>
              <a:rPr lang="en-US" sz="1150" dirty="0">
                <a:solidFill>
                  <a:srgbClr val="5A6B8C"/>
                </a:solidFill>
                <a:latin typeface="Calibri" pitchFamily="34" charset="0"/>
                <a:ea typeface="Calibri" pitchFamily="34" charset="-122"/>
                <a:cs typeface="Calibri" pitchFamily="34" charset="-120"/>
              </a:rPr>
              <a:t>Optimise the combined cost of facilities, inventory, transportation and handling — not any one piece alone.</a:t>
            </a:r>
            <a:endParaRPr lang="en-US" sz="1150" dirty="0"/>
          </a:p>
        </p:txBody>
      </p:sp>
      <p:sp>
        <p:nvSpPr>
          <p:cNvPr id="10" name="Shape 7"/>
          <p:cNvSpPr/>
          <p:nvPr/>
        </p:nvSpPr>
        <p:spPr>
          <a:xfrm>
            <a:off x="4338218" y="1737360"/>
            <a:ext cx="3515258" cy="2148840"/>
          </a:xfrm>
          <a:prstGeom prst="roundRect">
            <a:avLst>
              <a:gd name="adj" fmla="val 3404"/>
            </a:avLst>
          </a:prstGeom>
          <a:solidFill>
            <a:srgbClr val="FFFFFF"/>
          </a:solidFill>
          <a:ln w="12700">
            <a:solidFill>
              <a:srgbClr val="D7E0F5"/>
            </a:solidFill>
            <a:prstDash val="solid"/>
          </a:ln>
          <a:effectLst>
            <a:outerShdw blurRad="101600" dist="25400" dir="5400000" algn="bl" rotWithShape="0">
              <a:srgbClr val="1E2761">
                <a:alpha val="10000"/>
              </a:srgbClr>
            </a:outerShdw>
          </a:effectLst>
        </p:spPr>
        <p:txBody>
          <a:bodyPr/>
          <a:lstStyle/>
          <a:p>
            <a:endParaRPr lang="en-US"/>
          </a:p>
        </p:txBody>
      </p:sp>
      <p:sp>
        <p:nvSpPr>
          <p:cNvPr id="11" name="Shape 8"/>
          <p:cNvSpPr/>
          <p:nvPr/>
        </p:nvSpPr>
        <p:spPr>
          <a:xfrm>
            <a:off x="4543958" y="1943100"/>
            <a:ext cx="502920" cy="502920"/>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12" name="Image 1" descr="/home/claude/demand-mgmt-ppt/icons/check.png"/>
          <p:cNvPicPr>
            <a:picLocks noChangeAspect="1"/>
          </p:cNvPicPr>
          <p:nvPr/>
        </p:nvPicPr>
        <p:blipFill>
          <a:blip r:embed="rId4"/>
          <a:stretch>
            <a:fillRect/>
          </a:stretch>
        </p:blipFill>
        <p:spPr>
          <a:xfrm>
            <a:off x="4669688" y="2068830"/>
            <a:ext cx="251460" cy="251460"/>
          </a:xfrm>
          <a:prstGeom prst="rect">
            <a:avLst/>
          </a:prstGeom>
        </p:spPr>
      </p:pic>
      <p:sp>
        <p:nvSpPr>
          <p:cNvPr id="13" name="Text 9"/>
          <p:cNvSpPr/>
          <p:nvPr/>
        </p:nvSpPr>
        <p:spPr>
          <a:xfrm>
            <a:off x="4566818" y="2606040"/>
            <a:ext cx="3058058" cy="41148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Maximise Service Level</a:t>
            </a:r>
            <a:endParaRPr lang="en-US" sz="1450" dirty="0"/>
          </a:p>
        </p:txBody>
      </p:sp>
      <p:sp>
        <p:nvSpPr>
          <p:cNvPr id="14" name="Text 10"/>
          <p:cNvSpPr/>
          <p:nvPr/>
        </p:nvSpPr>
        <p:spPr>
          <a:xfrm>
            <a:off x="4566818" y="3017520"/>
            <a:ext cx="3058058" cy="731520"/>
          </a:xfrm>
          <a:prstGeom prst="rect">
            <a:avLst/>
          </a:prstGeom>
          <a:noFill/>
          <a:ln/>
        </p:spPr>
        <p:txBody>
          <a:bodyPr wrap="square" lIns="0" tIns="0" rIns="0" bIns="0" rtlCol="0" anchor="t"/>
          <a:lstStyle/>
          <a:p>
            <a:pPr marL="0" indent="0">
              <a:lnSpc>
                <a:spcPct val="105000"/>
              </a:lnSpc>
              <a:buNone/>
            </a:pPr>
            <a:r>
              <a:rPr lang="en-US" sz="1150" dirty="0">
                <a:solidFill>
                  <a:srgbClr val="5A6B8C"/>
                </a:solidFill>
                <a:latin typeface="Calibri" pitchFamily="34" charset="0"/>
                <a:ea typeface="Calibri" pitchFamily="34" charset="-122"/>
                <a:cs typeface="Calibri" pitchFamily="34" charset="-120"/>
              </a:rPr>
              <a:t>Meet delivery-time and fill-rate promises consistently across every customer segment.</a:t>
            </a:r>
            <a:endParaRPr lang="en-US" sz="1150" dirty="0"/>
          </a:p>
        </p:txBody>
      </p:sp>
      <p:sp>
        <p:nvSpPr>
          <p:cNvPr id="15" name="Shape 11"/>
          <p:cNvSpPr/>
          <p:nvPr/>
        </p:nvSpPr>
        <p:spPr>
          <a:xfrm>
            <a:off x="8127797" y="1737360"/>
            <a:ext cx="3515258" cy="2148840"/>
          </a:xfrm>
          <a:prstGeom prst="roundRect">
            <a:avLst>
              <a:gd name="adj" fmla="val 3404"/>
            </a:avLst>
          </a:prstGeom>
          <a:solidFill>
            <a:srgbClr val="FFFFFF"/>
          </a:solidFill>
          <a:ln w="12700">
            <a:solidFill>
              <a:srgbClr val="D7E0F5"/>
            </a:solidFill>
            <a:prstDash val="solid"/>
          </a:ln>
          <a:effectLst>
            <a:outerShdw blurRad="101600" dist="25400" dir="5400000" algn="bl" rotWithShape="0">
              <a:srgbClr val="1E2761">
                <a:alpha val="10000"/>
              </a:srgbClr>
            </a:outerShdw>
          </a:effectLst>
        </p:spPr>
        <p:txBody>
          <a:bodyPr/>
          <a:lstStyle/>
          <a:p>
            <a:endParaRPr lang="en-US"/>
          </a:p>
        </p:txBody>
      </p:sp>
      <p:sp>
        <p:nvSpPr>
          <p:cNvPr id="16" name="Shape 12"/>
          <p:cNvSpPr/>
          <p:nvPr/>
        </p:nvSpPr>
        <p:spPr>
          <a:xfrm>
            <a:off x="8333537" y="1943100"/>
            <a:ext cx="502920" cy="502920"/>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17" name="Image 2" descr="/home/claude/demand-mgmt-ppt/icons/sync.png"/>
          <p:cNvPicPr>
            <a:picLocks noChangeAspect="1"/>
          </p:cNvPicPr>
          <p:nvPr/>
        </p:nvPicPr>
        <p:blipFill>
          <a:blip r:embed="rId5"/>
          <a:stretch>
            <a:fillRect/>
          </a:stretch>
        </p:blipFill>
        <p:spPr>
          <a:xfrm>
            <a:off x="8459267" y="2068830"/>
            <a:ext cx="251460" cy="251460"/>
          </a:xfrm>
          <a:prstGeom prst="rect">
            <a:avLst/>
          </a:prstGeom>
        </p:spPr>
      </p:pic>
      <p:sp>
        <p:nvSpPr>
          <p:cNvPr id="18" name="Text 13"/>
          <p:cNvSpPr/>
          <p:nvPr/>
        </p:nvSpPr>
        <p:spPr>
          <a:xfrm>
            <a:off x="8356397" y="2606040"/>
            <a:ext cx="3058058" cy="41148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Enable Flexibility</a:t>
            </a:r>
            <a:endParaRPr lang="en-US" sz="1450" dirty="0"/>
          </a:p>
        </p:txBody>
      </p:sp>
      <p:sp>
        <p:nvSpPr>
          <p:cNvPr id="19" name="Text 14"/>
          <p:cNvSpPr/>
          <p:nvPr/>
        </p:nvSpPr>
        <p:spPr>
          <a:xfrm>
            <a:off x="8356397" y="3017520"/>
            <a:ext cx="3058058" cy="731520"/>
          </a:xfrm>
          <a:prstGeom prst="rect">
            <a:avLst/>
          </a:prstGeom>
          <a:noFill/>
          <a:ln/>
        </p:spPr>
        <p:txBody>
          <a:bodyPr wrap="square" lIns="0" tIns="0" rIns="0" bIns="0" rtlCol="0" anchor="t"/>
          <a:lstStyle/>
          <a:p>
            <a:pPr marL="0" indent="0">
              <a:lnSpc>
                <a:spcPct val="105000"/>
              </a:lnSpc>
              <a:buNone/>
            </a:pPr>
            <a:r>
              <a:rPr lang="en-US" sz="1150" dirty="0">
                <a:solidFill>
                  <a:srgbClr val="5A6B8C"/>
                </a:solidFill>
                <a:latin typeface="Calibri" pitchFamily="34" charset="0"/>
                <a:ea typeface="Calibri" pitchFamily="34" charset="-122"/>
                <a:cs typeface="Calibri" pitchFamily="34" charset="-120"/>
              </a:rPr>
              <a:t>Absorb demand swings, new products and market entry without redesigning from scratch.</a:t>
            </a:r>
            <a:endParaRPr lang="en-US" sz="1150" dirty="0"/>
          </a:p>
        </p:txBody>
      </p:sp>
      <p:sp>
        <p:nvSpPr>
          <p:cNvPr id="20" name="Shape 15"/>
          <p:cNvSpPr/>
          <p:nvPr/>
        </p:nvSpPr>
        <p:spPr>
          <a:xfrm>
            <a:off x="548640" y="4160520"/>
            <a:ext cx="3515258" cy="2148840"/>
          </a:xfrm>
          <a:prstGeom prst="roundRect">
            <a:avLst>
              <a:gd name="adj" fmla="val 3404"/>
            </a:avLst>
          </a:prstGeom>
          <a:solidFill>
            <a:srgbClr val="FFFFFF"/>
          </a:solidFill>
          <a:ln w="12700">
            <a:solidFill>
              <a:srgbClr val="D7E0F5"/>
            </a:solidFill>
            <a:prstDash val="solid"/>
          </a:ln>
          <a:effectLst>
            <a:outerShdw blurRad="101600" dist="25400" dir="5400000" algn="bl" rotWithShape="0">
              <a:srgbClr val="1E2761">
                <a:alpha val="10000"/>
              </a:srgbClr>
            </a:outerShdw>
          </a:effectLst>
        </p:spPr>
        <p:txBody>
          <a:bodyPr/>
          <a:lstStyle/>
          <a:p>
            <a:endParaRPr lang="en-US"/>
          </a:p>
        </p:txBody>
      </p:sp>
      <p:sp>
        <p:nvSpPr>
          <p:cNvPr id="21" name="Shape 16"/>
          <p:cNvSpPr/>
          <p:nvPr/>
        </p:nvSpPr>
        <p:spPr>
          <a:xfrm>
            <a:off x="754380" y="4366260"/>
            <a:ext cx="502920" cy="502920"/>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22" name="Image 3" descr="/home/claude/demand-mgmt-ppt/icons/globe.png"/>
          <p:cNvPicPr>
            <a:picLocks noChangeAspect="1"/>
          </p:cNvPicPr>
          <p:nvPr/>
        </p:nvPicPr>
        <p:blipFill>
          <a:blip r:embed="rId6"/>
          <a:stretch>
            <a:fillRect/>
          </a:stretch>
        </p:blipFill>
        <p:spPr>
          <a:xfrm>
            <a:off x="880110" y="4491990"/>
            <a:ext cx="251460" cy="251460"/>
          </a:xfrm>
          <a:prstGeom prst="rect">
            <a:avLst/>
          </a:prstGeom>
        </p:spPr>
      </p:pic>
      <p:sp>
        <p:nvSpPr>
          <p:cNvPr id="23" name="Text 17"/>
          <p:cNvSpPr/>
          <p:nvPr/>
        </p:nvSpPr>
        <p:spPr>
          <a:xfrm>
            <a:off x="777240" y="5029200"/>
            <a:ext cx="3058058" cy="41148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Support Scalability</a:t>
            </a:r>
            <a:endParaRPr lang="en-US" sz="1450" dirty="0"/>
          </a:p>
        </p:txBody>
      </p:sp>
      <p:sp>
        <p:nvSpPr>
          <p:cNvPr id="24" name="Text 18"/>
          <p:cNvSpPr/>
          <p:nvPr/>
        </p:nvSpPr>
        <p:spPr>
          <a:xfrm>
            <a:off x="777240" y="5440680"/>
            <a:ext cx="3058058" cy="731520"/>
          </a:xfrm>
          <a:prstGeom prst="rect">
            <a:avLst/>
          </a:prstGeom>
          <a:noFill/>
          <a:ln/>
        </p:spPr>
        <p:txBody>
          <a:bodyPr wrap="square" lIns="0" tIns="0" rIns="0" bIns="0" rtlCol="0" anchor="t"/>
          <a:lstStyle/>
          <a:p>
            <a:pPr marL="0" indent="0">
              <a:lnSpc>
                <a:spcPct val="105000"/>
              </a:lnSpc>
              <a:buNone/>
            </a:pPr>
            <a:r>
              <a:rPr lang="en-US" sz="1150" dirty="0">
                <a:solidFill>
                  <a:srgbClr val="5A6B8C"/>
                </a:solidFill>
                <a:latin typeface="Calibri" pitchFamily="34" charset="0"/>
                <a:ea typeface="Calibri" pitchFamily="34" charset="-122"/>
                <a:cs typeface="Calibri" pitchFamily="34" charset="-120"/>
              </a:rPr>
              <a:t>Allow the network to grow into new geographies and channels smoothly.</a:t>
            </a:r>
            <a:endParaRPr lang="en-US" sz="1150" dirty="0"/>
          </a:p>
        </p:txBody>
      </p:sp>
      <p:sp>
        <p:nvSpPr>
          <p:cNvPr id="25" name="Shape 19"/>
          <p:cNvSpPr/>
          <p:nvPr/>
        </p:nvSpPr>
        <p:spPr>
          <a:xfrm>
            <a:off x="4338218" y="4160520"/>
            <a:ext cx="3515258" cy="2148840"/>
          </a:xfrm>
          <a:prstGeom prst="roundRect">
            <a:avLst>
              <a:gd name="adj" fmla="val 3404"/>
            </a:avLst>
          </a:prstGeom>
          <a:solidFill>
            <a:srgbClr val="FFFFFF"/>
          </a:solidFill>
          <a:ln w="12700">
            <a:solidFill>
              <a:srgbClr val="D7E0F5"/>
            </a:solidFill>
            <a:prstDash val="solid"/>
          </a:ln>
          <a:effectLst>
            <a:outerShdw blurRad="101600" dist="25400" dir="5400000" algn="bl" rotWithShape="0">
              <a:srgbClr val="1E2761">
                <a:alpha val="10000"/>
              </a:srgbClr>
            </a:outerShdw>
          </a:effectLst>
        </p:spPr>
        <p:txBody>
          <a:bodyPr/>
          <a:lstStyle/>
          <a:p>
            <a:endParaRPr lang="en-US"/>
          </a:p>
        </p:txBody>
      </p:sp>
      <p:sp>
        <p:nvSpPr>
          <p:cNvPr id="26" name="Shape 20"/>
          <p:cNvSpPr/>
          <p:nvPr/>
        </p:nvSpPr>
        <p:spPr>
          <a:xfrm>
            <a:off x="4543958" y="4366260"/>
            <a:ext cx="502920" cy="502920"/>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27" name="Image 4" descr="/home/claude/demand-mgmt-ppt/icons/shield.png"/>
          <p:cNvPicPr>
            <a:picLocks noChangeAspect="1"/>
          </p:cNvPicPr>
          <p:nvPr/>
        </p:nvPicPr>
        <p:blipFill>
          <a:blip r:embed="rId7"/>
          <a:stretch>
            <a:fillRect/>
          </a:stretch>
        </p:blipFill>
        <p:spPr>
          <a:xfrm>
            <a:off x="4669688" y="4491990"/>
            <a:ext cx="251460" cy="251460"/>
          </a:xfrm>
          <a:prstGeom prst="rect">
            <a:avLst/>
          </a:prstGeom>
        </p:spPr>
      </p:pic>
      <p:sp>
        <p:nvSpPr>
          <p:cNvPr id="28" name="Text 21"/>
          <p:cNvSpPr/>
          <p:nvPr/>
        </p:nvSpPr>
        <p:spPr>
          <a:xfrm>
            <a:off x="4566818" y="5029200"/>
            <a:ext cx="3058058" cy="41148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Manage Risk</a:t>
            </a:r>
            <a:endParaRPr lang="en-US" sz="1450" dirty="0"/>
          </a:p>
        </p:txBody>
      </p:sp>
      <p:sp>
        <p:nvSpPr>
          <p:cNvPr id="29" name="Text 22"/>
          <p:cNvSpPr/>
          <p:nvPr/>
        </p:nvSpPr>
        <p:spPr>
          <a:xfrm>
            <a:off x="4566818" y="5440680"/>
            <a:ext cx="3058058" cy="731520"/>
          </a:xfrm>
          <a:prstGeom prst="rect">
            <a:avLst/>
          </a:prstGeom>
          <a:noFill/>
          <a:ln/>
        </p:spPr>
        <p:txBody>
          <a:bodyPr wrap="square" lIns="0" tIns="0" rIns="0" bIns="0" rtlCol="0" anchor="t"/>
          <a:lstStyle/>
          <a:p>
            <a:pPr marL="0" indent="0">
              <a:lnSpc>
                <a:spcPct val="105000"/>
              </a:lnSpc>
              <a:buNone/>
            </a:pPr>
            <a:r>
              <a:rPr lang="en-US" sz="1150" dirty="0">
                <a:solidFill>
                  <a:srgbClr val="5A6B8C"/>
                </a:solidFill>
                <a:latin typeface="Calibri" pitchFamily="34" charset="0"/>
                <a:ea typeface="Calibri" pitchFamily="34" charset="-122"/>
                <a:cs typeface="Calibri" pitchFamily="34" charset="-120"/>
              </a:rPr>
              <a:t>Build in resilience against disruption — supplier failure, natural disaster, demand shock.</a:t>
            </a:r>
            <a:endParaRPr lang="en-US" sz="1150" dirty="0"/>
          </a:p>
        </p:txBody>
      </p:sp>
      <p:sp>
        <p:nvSpPr>
          <p:cNvPr id="30" name="Shape 23"/>
          <p:cNvSpPr/>
          <p:nvPr/>
        </p:nvSpPr>
        <p:spPr>
          <a:xfrm>
            <a:off x="8127797" y="4160520"/>
            <a:ext cx="3515258" cy="2148840"/>
          </a:xfrm>
          <a:prstGeom prst="roundRect">
            <a:avLst>
              <a:gd name="adj" fmla="val 3404"/>
            </a:avLst>
          </a:prstGeom>
          <a:solidFill>
            <a:srgbClr val="FFFFFF"/>
          </a:solidFill>
          <a:ln w="12700">
            <a:solidFill>
              <a:srgbClr val="D7E0F5"/>
            </a:solidFill>
            <a:prstDash val="solid"/>
          </a:ln>
          <a:effectLst>
            <a:outerShdw blurRad="101600" dist="25400" dir="5400000" algn="bl" rotWithShape="0">
              <a:srgbClr val="1E2761">
                <a:alpha val="10000"/>
              </a:srgbClr>
            </a:outerShdw>
          </a:effectLst>
        </p:spPr>
        <p:txBody>
          <a:bodyPr/>
          <a:lstStyle/>
          <a:p>
            <a:endParaRPr lang="en-US"/>
          </a:p>
        </p:txBody>
      </p:sp>
      <p:sp>
        <p:nvSpPr>
          <p:cNvPr id="31" name="Shape 24"/>
          <p:cNvSpPr/>
          <p:nvPr/>
        </p:nvSpPr>
        <p:spPr>
          <a:xfrm>
            <a:off x="8333537" y="4366260"/>
            <a:ext cx="502920" cy="502920"/>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32" name="Image 5" descr="/home/claude/demand-mgmt-ppt/icons/lightbulb.png"/>
          <p:cNvPicPr>
            <a:picLocks noChangeAspect="1"/>
          </p:cNvPicPr>
          <p:nvPr/>
        </p:nvPicPr>
        <p:blipFill>
          <a:blip r:embed="rId8"/>
          <a:stretch>
            <a:fillRect/>
          </a:stretch>
        </p:blipFill>
        <p:spPr>
          <a:xfrm>
            <a:off x="8459267" y="4491990"/>
            <a:ext cx="251460" cy="251460"/>
          </a:xfrm>
          <a:prstGeom prst="rect">
            <a:avLst/>
          </a:prstGeom>
        </p:spPr>
      </p:pic>
      <p:sp>
        <p:nvSpPr>
          <p:cNvPr id="33" name="Text 25"/>
          <p:cNvSpPr/>
          <p:nvPr/>
        </p:nvSpPr>
        <p:spPr>
          <a:xfrm>
            <a:off x="8356397" y="5029200"/>
            <a:ext cx="3058058" cy="41148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Enable Visibility</a:t>
            </a:r>
            <a:endParaRPr lang="en-US" sz="1450" dirty="0"/>
          </a:p>
        </p:txBody>
      </p:sp>
      <p:sp>
        <p:nvSpPr>
          <p:cNvPr id="34" name="Text 26"/>
          <p:cNvSpPr/>
          <p:nvPr/>
        </p:nvSpPr>
        <p:spPr>
          <a:xfrm>
            <a:off x="8356397" y="5440680"/>
            <a:ext cx="3058058" cy="731520"/>
          </a:xfrm>
          <a:prstGeom prst="rect">
            <a:avLst/>
          </a:prstGeom>
          <a:noFill/>
          <a:ln/>
        </p:spPr>
        <p:txBody>
          <a:bodyPr wrap="square" lIns="0" tIns="0" rIns="0" bIns="0" rtlCol="0" anchor="t"/>
          <a:lstStyle/>
          <a:p>
            <a:pPr marL="0" indent="0">
              <a:lnSpc>
                <a:spcPct val="105000"/>
              </a:lnSpc>
              <a:buNone/>
            </a:pPr>
            <a:r>
              <a:rPr lang="en-US" sz="1150" dirty="0">
                <a:solidFill>
                  <a:srgbClr val="5A6B8C"/>
                </a:solidFill>
                <a:latin typeface="Calibri" pitchFamily="34" charset="0"/>
                <a:ea typeface="Calibri" pitchFamily="34" charset="-122"/>
                <a:cs typeface="Calibri" pitchFamily="34" charset="-120"/>
              </a:rPr>
              <a:t>Provide the data and tracking needed to manage the network in real time.</a:t>
            </a:r>
            <a:endParaRPr lang="en-US" sz="1150" dirty="0"/>
          </a:p>
        </p:txBody>
      </p:sp>
      <p:sp>
        <p:nvSpPr>
          <p:cNvPr id="35" name="Text 27"/>
          <p:cNvSpPr/>
          <p:nvPr/>
        </p:nvSpPr>
        <p:spPr>
          <a:xfrm>
            <a:off x="11551615" y="6446520"/>
            <a:ext cx="457200" cy="274320"/>
          </a:xfrm>
          <a:prstGeom prst="rect">
            <a:avLst/>
          </a:prstGeom>
          <a:noFill/>
          <a:ln/>
        </p:spPr>
        <p:txBody>
          <a:bodyPr wrap="square" lIns="0" tIns="0" rIns="0" bIns="0" rtlCol="0" anchor="ctr"/>
          <a:lstStyle/>
          <a:p>
            <a:pPr marL="0" indent="0" algn="r">
              <a:buNone/>
            </a:pPr>
            <a:r>
              <a:rPr lang="en-US" sz="1000" dirty="0">
                <a:solidFill>
                  <a:srgbClr val="5A6B8C"/>
                </a:solidFill>
                <a:latin typeface="Calibri" pitchFamily="34" charset="0"/>
                <a:ea typeface="Calibri" pitchFamily="34" charset="-122"/>
                <a:cs typeface="Calibri" pitchFamily="34" charset="-120"/>
              </a:rPr>
              <a:t>5</a:t>
            </a:r>
            <a:endParaRPr lang="en-US" sz="1000" dirty="0"/>
          </a:p>
        </p:txBody>
      </p:sp>
      <p:sp>
        <p:nvSpPr>
          <p:cNvPr id="37" name="Oval 36">
            <a:extLst>
              <a:ext uri="{FF2B5EF4-FFF2-40B4-BE49-F238E27FC236}">
                <a16:creationId xmlns:a16="http://schemas.microsoft.com/office/drawing/2014/main" id="{7E3635EA-E65A-6B1C-3F90-1FD9A86FEAB3}"/>
              </a:ext>
            </a:extLst>
          </p:cNvPr>
          <p:cNvSpPr/>
          <p:nvPr/>
        </p:nvSpPr>
        <p:spPr>
          <a:xfrm>
            <a:off x="9043491" y="93594"/>
            <a:ext cx="3142211" cy="1184412"/>
          </a:xfrm>
          <a:prstGeom prst="ellipse">
            <a:avLst/>
          </a:prstGeom>
          <a:solidFill>
            <a:schemeClr val="accent1">
              <a:lumMod val="40000"/>
              <a:lumOff val="6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8D2B06BD-7712-8074-9D78-CD163E0AA4F2}"/>
              </a:ext>
            </a:extLst>
          </p:cNvPr>
          <p:cNvSpPr txBox="1"/>
          <p:nvPr/>
        </p:nvSpPr>
        <p:spPr>
          <a:xfrm>
            <a:off x="9384312" y="424190"/>
            <a:ext cx="2460567" cy="523220"/>
          </a:xfrm>
          <a:prstGeom prst="rect">
            <a:avLst/>
          </a:prstGeom>
          <a:noFill/>
        </p:spPr>
        <p:txBody>
          <a:bodyPr wrap="square" rtlCol="0">
            <a:spAutoFit/>
          </a:bodyPr>
          <a:lstStyle/>
          <a:p>
            <a:r>
              <a:rPr lang="en-US" sz="2800" b="1" dirty="0"/>
              <a:t>Read this slide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C9962C"/>
                </a:solidFill>
                <a:latin typeface="Calibri" pitchFamily="34" charset="0"/>
                <a:ea typeface="Calibri" pitchFamily="34" charset="-122"/>
                <a:cs typeface="Calibri" pitchFamily="34" charset="-120"/>
              </a:rPr>
              <a:t>SYSTEM DESIGN</a:t>
            </a:r>
            <a:endParaRPr lang="en-US" sz="1200" dirty="0"/>
          </a:p>
        </p:txBody>
      </p:sp>
      <p:sp>
        <p:nvSpPr>
          <p:cNvPr id="3" name="Text 1"/>
          <p:cNvSpPr/>
          <p:nvPr/>
        </p:nvSpPr>
        <p:spPr>
          <a:xfrm>
            <a:off x="548640" y="621792"/>
            <a:ext cx="10515600" cy="73152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Key Components of a Logistics System</a:t>
            </a:r>
            <a:endParaRPr lang="en-US" sz="2800" dirty="0"/>
          </a:p>
        </p:txBody>
      </p:sp>
      <p:sp>
        <p:nvSpPr>
          <p:cNvPr id="4" name="Shape 2"/>
          <p:cNvSpPr/>
          <p:nvPr/>
        </p:nvSpPr>
        <p:spPr>
          <a:xfrm>
            <a:off x="566928" y="1298448"/>
            <a:ext cx="914400" cy="0"/>
          </a:xfrm>
          <a:prstGeom prst="line">
            <a:avLst/>
          </a:prstGeom>
          <a:noFill/>
          <a:ln w="31750">
            <a:solidFill>
              <a:srgbClr val="C9962C"/>
            </a:solidFill>
            <a:prstDash val="solid"/>
          </a:ln>
        </p:spPr>
        <p:txBody>
          <a:bodyPr/>
          <a:lstStyle/>
          <a:p>
            <a:endParaRPr lang="en-US"/>
          </a:p>
        </p:txBody>
      </p:sp>
      <p:sp>
        <p:nvSpPr>
          <p:cNvPr id="5" name="Shape 3"/>
          <p:cNvSpPr/>
          <p:nvPr/>
        </p:nvSpPr>
        <p:spPr>
          <a:xfrm>
            <a:off x="640080" y="1691640"/>
            <a:ext cx="566928" cy="566928"/>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6" name="Image 0" descr="/home/claude/demand-mgmt-ppt/icons/warehouse.png"/>
          <p:cNvPicPr>
            <a:picLocks noChangeAspect="1"/>
          </p:cNvPicPr>
          <p:nvPr/>
        </p:nvPicPr>
        <p:blipFill>
          <a:blip r:embed="rId3"/>
          <a:stretch>
            <a:fillRect/>
          </a:stretch>
        </p:blipFill>
        <p:spPr>
          <a:xfrm>
            <a:off x="781812" y="1833372"/>
            <a:ext cx="283464" cy="283464"/>
          </a:xfrm>
          <a:prstGeom prst="rect">
            <a:avLst/>
          </a:prstGeom>
        </p:spPr>
      </p:pic>
      <p:sp>
        <p:nvSpPr>
          <p:cNvPr id="7" name="Text 4"/>
          <p:cNvSpPr/>
          <p:nvPr/>
        </p:nvSpPr>
        <p:spPr>
          <a:xfrm>
            <a:off x="1463040" y="1664208"/>
            <a:ext cx="10040112" cy="32004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Facility Network</a:t>
            </a:r>
            <a:endParaRPr lang="en-US" sz="1600" dirty="0"/>
          </a:p>
        </p:txBody>
      </p:sp>
      <p:sp>
        <p:nvSpPr>
          <p:cNvPr id="8" name="Text 5"/>
          <p:cNvSpPr/>
          <p:nvPr/>
        </p:nvSpPr>
        <p:spPr>
          <a:xfrm>
            <a:off x="1463040" y="1984248"/>
            <a:ext cx="10040112" cy="548640"/>
          </a:xfrm>
          <a:prstGeom prst="rect">
            <a:avLst/>
          </a:prstGeom>
          <a:noFill/>
          <a:ln/>
        </p:spPr>
        <p:txBody>
          <a:bodyPr wrap="square" lIns="0" tIns="0" rIns="0" bIns="0" rtlCol="0" anchor="t"/>
          <a:lstStyle/>
          <a:p>
            <a:pPr marL="0" indent="0">
              <a:lnSpc>
                <a:spcPct val="105000"/>
              </a:lnSpc>
              <a:buNone/>
            </a:pPr>
            <a:r>
              <a:rPr lang="en-US" sz="1250" dirty="0">
                <a:solidFill>
                  <a:srgbClr val="5A6B8C"/>
                </a:solidFill>
                <a:latin typeface="Calibri" pitchFamily="34" charset="0"/>
                <a:ea typeface="Calibri" pitchFamily="34" charset="-122"/>
                <a:cs typeface="Calibri" pitchFamily="34" charset="-120"/>
              </a:rPr>
              <a:t>Plants, distribution centres, cross-docks and retail points — their number, size, location and role.</a:t>
            </a:r>
            <a:endParaRPr lang="en-US" sz="1250" dirty="0"/>
          </a:p>
        </p:txBody>
      </p:sp>
      <p:sp>
        <p:nvSpPr>
          <p:cNvPr id="9" name="Shape 6"/>
          <p:cNvSpPr/>
          <p:nvPr/>
        </p:nvSpPr>
        <p:spPr>
          <a:xfrm>
            <a:off x="640080" y="2606040"/>
            <a:ext cx="566928" cy="566928"/>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10" name="Image 1" descr="/home/claude/demand-mgmt-ppt/icons/truck.png"/>
          <p:cNvPicPr>
            <a:picLocks noChangeAspect="1"/>
          </p:cNvPicPr>
          <p:nvPr/>
        </p:nvPicPr>
        <p:blipFill>
          <a:blip r:embed="rId4"/>
          <a:stretch>
            <a:fillRect/>
          </a:stretch>
        </p:blipFill>
        <p:spPr>
          <a:xfrm>
            <a:off x="781812" y="2747772"/>
            <a:ext cx="283464" cy="283464"/>
          </a:xfrm>
          <a:prstGeom prst="rect">
            <a:avLst/>
          </a:prstGeom>
        </p:spPr>
      </p:pic>
      <p:sp>
        <p:nvSpPr>
          <p:cNvPr id="11" name="Text 7"/>
          <p:cNvSpPr/>
          <p:nvPr/>
        </p:nvSpPr>
        <p:spPr>
          <a:xfrm>
            <a:off x="1463040" y="2578608"/>
            <a:ext cx="10040112" cy="32004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Transportation</a:t>
            </a:r>
            <a:endParaRPr lang="en-US" sz="1600" dirty="0"/>
          </a:p>
        </p:txBody>
      </p:sp>
      <p:sp>
        <p:nvSpPr>
          <p:cNvPr id="12" name="Text 8"/>
          <p:cNvSpPr/>
          <p:nvPr/>
        </p:nvSpPr>
        <p:spPr>
          <a:xfrm>
            <a:off x="1463040" y="2898648"/>
            <a:ext cx="10040112" cy="548640"/>
          </a:xfrm>
          <a:prstGeom prst="rect">
            <a:avLst/>
          </a:prstGeom>
          <a:noFill/>
          <a:ln/>
        </p:spPr>
        <p:txBody>
          <a:bodyPr wrap="square" lIns="0" tIns="0" rIns="0" bIns="0" rtlCol="0" anchor="t"/>
          <a:lstStyle/>
          <a:p>
            <a:pPr marL="0" indent="0">
              <a:lnSpc>
                <a:spcPct val="105000"/>
              </a:lnSpc>
              <a:buNone/>
            </a:pPr>
            <a:r>
              <a:rPr lang="en-US" sz="1250" dirty="0">
                <a:solidFill>
                  <a:srgbClr val="5A6B8C"/>
                </a:solidFill>
                <a:latin typeface="Calibri" pitchFamily="34" charset="0"/>
                <a:ea typeface="Calibri" pitchFamily="34" charset="-122"/>
                <a:cs typeface="Calibri" pitchFamily="34" charset="-120"/>
              </a:rPr>
              <a:t>The modes, carriers and routes that connect every facility in the network.</a:t>
            </a:r>
            <a:endParaRPr lang="en-US" sz="1250" dirty="0"/>
          </a:p>
        </p:txBody>
      </p:sp>
      <p:sp>
        <p:nvSpPr>
          <p:cNvPr id="13" name="Shape 9"/>
          <p:cNvSpPr/>
          <p:nvPr/>
        </p:nvSpPr>
        <p:spPr>
          <a:xfrm>
            <a:off x="640080" y="3520440"/>
            <a:ext cx="566928" cy="566928"/>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14" name="Image 2" descr="/home/claude/demand-mgmt-ppt/icons/boxes.png"/>
          <p:cNvPicPr>
            <a:picLocks noChangeAspect="1"/>
          </p:cNvPicPr>
          <p:nvPr/>
        </p:nvPicPr>
        <p:blipFill>
          <a:blip r:embed="rId5"/>
          <a:stretch>
            <a:fillRect/>
          </a:stretch>
        </p:blipFill>
        <p:spPr>
          <a:xfrm>
            <a:off x="781812" y="3662172"/>
            <a:ext cx="283464" cy="283464"/>
          </a:xfrm>
          <a:prstGeom prst="rect">
            <a:avLst/>
          </a:prstGeom>
        </p:spPr>
      </p:pic>
      <p:sp>
        <p:nvSpPr>
          <p:cNvPr id="15" name="Text 10"/>
          <p:cNvSpPr/>
          <p:nvPr/>
        </p:nvSpPr>
        <p:spPr>
          <a:xfrm>
            <a:off x="1463040" y="3493008"/>
            <a:ext cx="10040112" cy="32004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Inventory Policy</a:t>
            </a:r>
            <a:endParaRPr lang="en-US" sz="1600" dirty="0"/>
          </a:p>
        </p:txBody>
      </p:sp>
      <p:sp>
        <p:nvSpPr>
          <p:cNvPr id="16" name="Text 11"/>
          <p:cNvSpPr/>
          <p:nvPr/>
        </p:nvSpPr>
        <p:spPr>
          <a:xfrm>
            <a:off x="1463040" y="3813048"/>
            <a:ext cx="10040112" cy="548640"/>
          </a:xfrm>
          <a:prstGeom prst="rect">
            <a:avLst/>
          </a:prstGeom>
          <a:noFill/>
          <a:ln/>
        </p:spPr>
        <p:txBody>
          <a:bodyPr wrap="square" lIns="0" tIns="0" rIns="0" bIns="0" rtlCol="0" anchor="t"/>
          <a:lstStyle/>
          <a:p>
            <a:pPr marL="0" indent="0">
              <a:lnSpc>
                <a:spcPct val="105000"/>
              </a:lnSpc>
              <a:buNone/>
            </a:pPr>
            <a:r>
              <a:rPr lang="en-US" sz="1250" dirty="0">
                <a:solidFill>
                  <a:srgbClr val="5A6B8C"/>
                </a:solidFill>
                <a:latin typeface="Calibri" pitchFamily="34" charset="0"/>
                <a:ea typeface="Calibri" pitchFamily="34" charset="-122"/>
                <a:cs typeface="Calibri" pitchFamily="34" charset="-120"/>
              </a:rPr>
              <a:t>How much stock is held, where, and under what replenishment rules.</a:t>
            </a:r>
            <a:endParaRPr lang="en-US" sz="1250" dirty="0"/>
          </a:p>
        </p:txBody>
      </p:sp>
      <p:sp>
        <p:nvSpPr>
          <p:cNvPr id="17" name="Shape 12"/>
          <p:cNvSpPr/>
          <p:nvPr/>
        </p:nvSpPr>
        <p:spPr>
          <a:xfrm>
            <a:off x="640080" y="4434840"/>
            <a:ext cx="566928" cy="566928"/>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18" name="Image 3" descr="/home/claude/demand-mgmt-ppt/icons/database.png"/>
          <p:cNvPicPr>
            <a:picLocks noChangeAspect="1"/>
          </p:cNvPicPr>
          <p:nvPr/>
        </p:nvPicPr>
        <p:blipFill>
          <a:blip r:embed="rId6"/>
          <a:stretch>
            <a:fillRect/>
          </a:stretch>
        </p:blipFill>
        <p:spPr>
          <a:xfrm>
            <a:off x="781812" y="4576572"/>
            <a:ext cx="283464" cy="283464"/>
          </a:xfrm>
          <a:prstGeom prst="rect">
            <a:avLst/>
          </a:prstGeom>
        </p:spPr>
      </p:pic>
      <p:sp>
        <p:nvSpPr>
          <p:cNvPr id="19" name="Text 13"/>
          <p:cNvSpPr/>
          <p:nvPr/>
        </p:nvSpPr>
        <p:spPr>
          <a:xfrm>
            <a:off x="1463040" y="4407408"/>
            <a:ext cx="10040112" cy="32004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Information Systems</a:t>
            </a:r>
            <a:endParaRPr lang="en-US" sz="1600" dirty="0"/>
          </a:p>
        </p:txBody>
      </p:sp>
      <p:sp>
        <p:nvSpPr>
          <p:cNvPr id="20" name="Text 14"/>
          <p:cNvSpPr/>
          <p:nvPr/>
        </p:nvSpPr>
        <p:spPr>
          <a:xfrm>
            <a:off x="1463040" y="4727448"/>
            <a:ext cx="10040112" cy="548640"/>
          </a:xfrm>
          <a:prstGeom prst="rect">
            <a:avLst/>
          </a:prstGeom>
          <a:noFill/>
          <a:ln/>
        </p:spPr>
        <p:txBody>
          <a:bodyPr wrap="square" lIns="0" tIns="0" rIns="0" bIns="0" rtlCol="0" anchor="t"/>
          <a:lstStyle/>
          <a:p>
            <a:pPr marL="0" indent="0">
              <a:lnSpc>
                <a:spcPct val="105000"/>
              </a:lnSpc>
              <a:buNone/>
            </a:pPr>
            <a:r>
              <a:rPr lang="en-US" sz="1250" dirty="0">
                <a:solidFill>
                  <a:srgbClr val="5A6B8C"/>
                </a:solidFill>
                <a:latin typeface="Calibri" pitchFamily="34" charset="0"/>
                <a:ea typeface="Calibri" pitchFamily="34" charset="-122"/>
                <a:cs typeface="Calibri" pitchFamily="34" charset="-120"/>
              </a:rPr>
              <a:t>The ERP, WMS and TMS platforms that plan, execute and track every movement.</a:t>
            </a:r>
            <a:endParaRPr lang="en-US" sz="1250" dirty="0"/>
          </a:p>
        </p:txBody>
      </p:sp>
      <p:sp>
        <p:nvSpPr>
          <p:cNvPr id="21" name="Shape 15"/>
          <p:cNvSpPr/>
          <p:nvPr/>
        </p:nvSpPr>
        <p:spPr>
          <a:xfrm>
            <a:off x="640080" y="5349240"/>
            <a:ext cx="566928" cy="566928"/>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22" name="Image 4" descr="/home/claude/demand-mgmt-ppt/icons/users.png"/>
          <p:cNvPicPr>
            <a:picLocks noChangeAspect="1"/>
          </p:cNvPicPr>
          <p:nvPr/>
        </p:nvPicPr>
        <p:blipFill>
          <a:blip r:embed="rId7"/>
          <a:stretch>
            <a:fillRect/>
          </a:stretch>
        </p:blipFill>
        <p:spPr>
          <a:xfrm>
            <a:off x="781812" y="5490972"/>
            <a:ext cx="283464" cy="283464"/>
          </a:xfrm>
          <a:prstGeom prst="rect">
            <a:avLst/>
          </a:prstGeom>
        </p:spPr>
      </p:pic>
      <p:sp>
        <p:nvSpPr>
          <p:cNvPr id="23" name="Text 16"/>
          <p:cNvSpPr/>
          <p:nvPr/>
        </p:nvSpPr>
        <p:spPr>
          <a:xfrm>
            <a:off x="1463040" y="5321808"/>
            <a:ext cx="10040112" cy="32004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Organisation &amp; People</a:t>
            </a:r>
            <a:endParaRPr lang="en-US" sz="1600" dirty="0"/>
          </a:p>
        </p:txBody>
      </p:sp>
      <p:sp>
        <p:nvSpPr>
          <p:cNvPr id="24" name="Text 17"/>
          <p:cNvSpPr/>
          <p:nvPr/>
        </p:nvSpPr>
        <p:spPr>
          <a:xfrm>
            <a:off x="1463040" y="5641848"/>
            <a:ext cx="10040112" cy="548640"/>
          </a:xfrm>
          <a:prstGeom prst="rect">
            <a:avLst/>
          </a:prstGeom>
          <a:noFill/>
          <a:ln/>
        </p:spPr>
        <p:txBody>
          <a:bodyPr wrap="square" lIns="0" tIns="0" rIns="0" bIns="0" rtlCol="0" anchor="t"/>
          <a:lstStyle/>
          <a:p>
            <a:pPr marL="0" indent="0">
              <a:lnSpc>
                <a:spcPct val="105000"/>
              </a:lnSpc>
              <a:buNone/>
            </a:pPr>
            <a:r>
              <a:rPr lang="en-US" sz="1250" dirty="0">
                <a:solidFill>
                  <a:srgbClr val="5A6B8C"/>
                </a:solidFill>
                <a:latin typeface="Calibri" pitchFamily="34" charset="0"/>
                <a:ea typeface="Calibri" pitchFamily="34" charset="-122"/>
                <a:cs typeface="Calibri" pitchFamily="34" charset="-120"/>
              </a:rPr>
              <a:t>The teams, roles and decision rights that operate the system day to day.</a:t>
            </a:r>
            <a:endParaRPr lang="en-US" sz="1250" dirty="0"/>
          </a:p>
        </p:txBody>
      </p:sp>
      <p:sp>
        <p:nvSpPr>
          <p:cNvPr id="25" name="Text 18"/>
          <p:cNvSpPr/>
          <p:nvPr/>
        </p:nvSpPr>
        <p:spPr>
          <a:xfrm>
            <a:off x="11551615" y="6446520"/>
            <a:ext cx="457200" cy="274320"/>
          </a:xfrm>
          <a:prstGeom prst="rect">
            <a:avLst/>
          </a:prstGeom>
          <a:noFill/>
          <a:ln/>
        </p:spPr>
        <p:txBody>
          <a:bodyPr wrap="square" lIns="0" tIns="0" rIns="0" bIns="0" rtlCol="0" anchor="ctr"/>
          <a:lstStyle/>
          <a:p>
            <a:pPr marL="0" indent="0" algn="r">
              <a:buNone/>
            </a:pPr>
            <a:r>
              <a:rPr lang="en-US" sz="1000" dirty="0">
                <a:solidFill>
                  <a:srgbClr val="5A6B8C"/>
                </a:solidFill>
                <a:latin typeface="Calibri" pitchFamily="34" charset="0"/>
                <a:ea typeface="Calibri" pitchFamily="34" charset="-122"/>
                <a:cs typeface="Calibri" pitchFamily="34" charset="-120"/>
              </a:rPr>
              <a:t>6</a:t>
            </a:r>
            <a:endParaRPr lang="en-US" sz="1000" dirty="0"/>
          </a:p>
        </p:txBody>
      </p:sp>
      <p:sp>
        <p:nvSpPr>
          <p:cNvPr id="27" name="Oval 26">
            <a:extLst>
              <a:ext uri="{FF2B5EF4-FFF2-40B4-BE49-F238E27FC236}">
                <a16:creationId xmlns:a16="http://schemas.microsoft.com/office/drawing/2014/main" id="{D1D942D9-E2A1-6899-BCC8-C2FBD762C582}"/>
              </a:ext>
            </a:extLst>
          </p:cNvPr>
          <p:cNvSpPr/>
          <p:nvPr/>
        </p:nvSpPr>
        <p:spPr>
          <a:xfrm>
            <a:off x="9002683" y="29586"/>
            <a:ext cx="3142211" cy="1184412"/>
          </a:xfrm>
          <a:prstGeom prst="ellipse">
            <a:avLst/>
          </a:prstGeom>
          <a:solidFill>
            <a:schemeClr val="accent2">
              <a:lumMod val="60000"/>
              <a:lumOff val="4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7EFFADE0-DC42-B1EA-A07E-45A1460D5C81}"/>
              </a:ext>
            </a:extLst>
          </p:cNvPr>
          <p:cNvSpPr txBox="1"/>
          <p:nvPr/>
        </p:nvSpPr>
        <p:spPr>
          <a:xfrm>
            <a:off x="9343504" y="360182"/>
            <a:ext cx="2460567" cy="523220"/>
          </a:xfrm>
          <a:prstGeom prst="rect">
            <a:avLst/>
          </a:prstGeom>
          <a:noFill/>
        </p:spPr>
        <p:txBody>
          <a:bodyPr wrap="square" rtlCol="0">
            <a:spAutoFit/>
          </a:bodyPr>
          <a:lstStyle/>
          <a:p>
            <a:r>
              <a:rPr lang="en-US" sz="2800" b="1" dirty="0"/>
              <a:t>Important slide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EEF3FC"/>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C9962C"/>
                </a:solidFill>
                <a:latin typeface="Calibri" pitchFamily="34" charset="0"/>
                <a:ea typeface="Calibri" pitchFamily="34" charset="-122"/>
                <a:cs typeface="Calibri" pitchFamily="34" charset="-120"/>
              </a:rPr>
              <a:t>SYSTEM DESIGN</a:t>
            </a:r>
            <a:endParaRPr lang="en-US" sz="1200" dirty="0"/>
          </a:p>
        </p:txBody>
      </p:sp>
      <p:sp>
        <p:nvSpPr>
          <p:cNvPr id="3" name="Text 1"/>
          <p:cNvSpPr/>
          <p:nvPr/>
        </p:nvSpPr>
        <p:spPr>
          <a:xfrm>
            <a:off x="548640" y="621792"/>
            <a:ext cx="10515600" cy="73152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The Logistics System Design Process</a:t>
            </a:r>
            <a:endParaRPr lang="en-US" sz="2800" dirty="0"/>
          </a:p>
        </p:txBody>
      </p:sp>
      <p:sp>
        <p:nvSpPr>
          <p:cNvPr id="4" name="Shape 2"/>
          <p:cNvSpPr/>
          <p:nvPr/>
        </p:nvSpPr>
        <p:spPr>
          <a:xfrm>
            <a:off x="566928" y="1298448"/>
            <a:ext cx="914400" cy="0"/>
          </a:xfrm>
          <a:prstGeom prst="line">
            <a:avLst/>
          </a:prstGeom>
          <a:noFill/>
          <a:ln w="31750">
            <a:solidFill>
              <a:srgbClr val="C9962C"/>
            </a:solidFill>
            <a:prstDash val="solid"/>
          </a:ln>
        </p:spPr>
        <p:txBody>
          <a:bodyPr/>
          <a:lstStyle/>
          <a:p>
            <a:endParaRPr lang="en-US"/>
          </a:p>
        </p:txBody>
      </p:sp>
      <p:sp>
        <p:nvSpPr>
          <p:cNvPr id="5" name="Shape 3"/>
          <p:cNvSpPr/>
          <p:nvPr/>
        </p:nvSpPr>
        <p:spPr>
          <a:xfrm>
            <a:off x="548640" y="2103120"/>
            <a:ext cx="2036003" cy="2651760"/>
          </a:xfrm>
          <a:prstGeom prst="roundRect">
            <a:avLst>
              <a:gd name="adj" fmla="val 3144"/>
            </a:avLst>
          </a:prstGeom>
          <a:solidFill>
            <a:srgbClr val="1E2761"/>
          </a:solidFill>
          <a:ln/>
        </p:spPr>
        <p:txBody>
          <a:bodyPr/>
          <a:lstStyle/>
          <a:p>
            <a:endParaRPr lang="en-US"/>
          </a:p>
        </p:txBody>
      </p:sp>
      <p:sp>
        <p:nvSpPr>
          <p:cNvPr id="6" name="Text 4"/>
          <p:cNvSpPr/>
          <p:nvPr/>
        </p:nvSpPr>
        <p:spPr>
          <a:xfrm>
            <a:off x="685800" y="2212848"/>
            <a:ext cx="1761683" cy="457200"/>
          </a:xfrm>
          <a:prstGeom prst="rect">
            <a:avLst/>
          </a:prstGeom>
          <a:noFill/>
          <a:ln/>
        </p:spPr>
        <p:txBody>
          <a:bodyPr wrap="square" lIns="0" tIns="0" rIns="0" bIns="0" rtlCol="0" anchor="ctr"/>
          <a:lstStyle/>
          <a:p>
            <a:pPr marL="0" indent="0">
              <a:buNone/>
            </a:pPr>
            <a:r>
              <a:rPr lang="en-US" sz="2200" b="1" dirty="0">
                <a:solidFill>
                  <a:srgbClr val="C9962C"/>
                </a:solidFill>
                <a:latin typeface="Cambria" pitchFamily="34" charset="0"/>
                <a:ea typeface="Cambria" pitchFamily="34" charset="-122"/>
                <a:cs typeface="Cambria" pitchFamily="34" charset="-120"/>
              </a:rPr>
              <a:t>1</a:t>
            </a:r>
            <a:endParaRPr lang="en-US" sz="2200" dirty="0"/>
          </a:p>
        </p:txBody>
      </p:sp>
      <p:sp>
        <p:nvSpPr>
          <p:cNvPr id="7" name="Text 5"/>
          <p:cNvSpPr/>
          <p:nvPr/>
        </p:nvSpPr>
        <p:spPr>
          <a:xfrm>
            <a:off x="713232" y="2724912"/>
            <a:ext cx="1706819" cy="685800"/>
          </a:xfrm>
          <a:prstGeom prst="rect">
            <a:avLst/>
          </a:prstGeom>
          <a:noFill/>
          <a:ln/>
        </p:spPr>
        <p:txBody>
          <a:bodyPr wrap="square" lIns="0" tIns="0" rIns="0" bIns="0" rtlCol="0" anchor="t"/>
          <a:lstStyle/>
          <a:p>
            <a:pPr marL="0" indent="0">
              <a:buNone/>
            </a:pPr>
            <a:r>
              <a:rPr lang="en-US" sz="1300" b="1" dirty="0">
                <a:solidFill>
                  <a:srgbClr val="FFFFFF"/>
                </a:solidFill>
                <a:latin typeface="Cambria" pitchFamily="34" charset="0"/>
                <a:ea typeface="Cambria" pitchFamily="34" charset="-122"/>
                <a:cs typeface="Cambria" pitchFamily="34" charset="-120"/>
              </a:rPr>
              <a:t>Define Requirements</a:t>
            </a:r>
            <a:endParaRPr lang="en-US" sz="1300" dirty="0"/>
          </a:p>
        </p:txBody>
      </p:sp>
      <p:sp>
        <p:nvSpPr>
          <p:cNvPr id="8" name="Text 6"/>
          <p:cNvSpPr/>
          <p:nvPr/>
        </p:nvSpPr>
        <p:spPr>
          <a:xfrm>
            <a:off x="713232" y="3474720"/>
            <a:ext cx="1706819" cy="1188720"/>
          </a:xfrm>
          <a:prstGeom prst="rect">
            <a:avLst/>
          </a:prstGeom>
          <a:noFill/>
          <a:ln/>
        </p:spPr>
        <p:txBody>
          <a:bodyPr wrap="square" lIns="0" tIns="0" rIns="0" bIns="0" rtlCol="0" anchor="t"/>
          <a:lstStyle/>
          <a:p>
            <a:pPr marL="0" indent="0">
              <a:lnSpc>
                <a:spcPct val="105000"/>
              </a:lnSpc>
              <a:buNone/>
            </a:pPr>
            <a:r>
              <a:rPr lang="en-US" sz="1050" dirty="0">
                <a:solidFill>
                  <a:srgbClr val="CADCFC"/>
                </a:solidFill>
                <a:latin typeface="Calibri" pitchFamily="34" charset="0"/>
                <a:ea typeface="Calibri" pitchFamily="34" charset="-122"/>
                <a:cs typeface="Calibri" pitchFamily="34" charset="-120"/>
              </a:rPr>
              <a:t>Service targets, demand volumes and cost constraints</a:t>
            </a:r>
            <a:endParaRPr lang="en-US" sz="1050" dirty="0"/>
          </a:p>
        </p:txBody>
      </p:sp>
      <p:sp>
        <p:nvSpPr>
          <p:cNvPr id="9" name="Text 7"/>
          <p:cNvSpPr/>
          <p:nvPr/>
        </p:nvSpPr>
        <p:spPr>
          <a:xfrm>
            <a:off x="2584643" y="3200400"/>
            <a:ext cx="228600" cy="457200"/>
          </a:xfrm>
          <a:prstGeom prst="rect">
            <a:avLst/>
          </a:prstGeom>
          <a:noFill/>
          <a:ln/>
        </p:spPr>
        <p:txBody>
          <a:bodyPr wrap="square" lIns="0" tIns="0" rIns="0" bIns="0" rtlCol="0" anchor="ctr"/>
          <a:lstStyle/>
          <a:p>
            <a:pPr marL="0" indent="0" algn="ctr">
              <a:buNone/>
            </a:pPr>
            <a:r>
              <a:rPr lang="en-US" sz="2000" b="1" dirty="0">
                <a:solidFill>
                  <a:srgbClr val="C9962C"/>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2813243" y="2103120"/>
            <a:ext cx="2036003" cy="2651760"/>
          </a:xfrm>
          <a:prstGeom prst="roundRect">
            <a:avLst>
              <a:gd name="adj" fmla="val 3144"/>
            </a:avLst>
          </a:prstGeom>
          <a:solidFill>
            <a:srgbClr val="141A3D"/>
          </a:solidFill>
          <a:ln/>
        </p:spPr>
        <p:txBody>
          <a:bodyPr/>
          <a:lstStyle/>
          <a:p>
            <a:endParaRPr lang="en-US"/>
          </a:p>
        </p:txBody>
      </p:sp>
      <p:sp>
        <p:nvSpPr>
          <p:cNvPr id="11" name="Text 9"/>
          <p:cNvSpPr/>
          <p:nvPr/>
        </p:nvSpPr>
        <p:spPr>
          <a:xfrm>
            <a:off x="2950403" y="2212848"/>
            <a:ext cx="1761683" cy="457200"/>
          </a:xfrm>
          <a:prstGeom prst="rect">
            <a:avLst/>
          </a:prstGeom>
          <a:noFill/>
          <a:ln/>
        </p:spPr>
        <p:txBody>
          <a:bodyPr wrap="square" lIns="0" tIns="0" rIns="0" bIns="0" rtlCol="0" anchor="ctr"/>
          <a:lstStyle/>
          <a:p>
            <a:pPr marL="0" indent="0">
              <a:buNone/>
            </a:pPr>
            <a:r>
              <a:rPr lang="en-US" sz="2200" b="1" dirty="0">
                <a:solidFill>
                  <a:srgbClr val="C9962C"/>
                </a:solidFill>
                <a:latin typeface="Cambria" pitchFamily="34" charset="0"/>
                <a:ea typeface="Cambria" pitchFamily="34" charset="-122"/>
                <a:cs typeface="Cambria" pitchFamily="34" charset="-120"/>
              </a:rPr>
              <a:t>2</a:t>
            </a:r>
            <a:endParaRPr lang="en-US" sz="2200" dirty="0"/>
          </a:p>
        </p:txBody>
      </p:sp>
      <p:sp>
        <p:nvSpPr>
          <p:cNvPr id="12" name="Text 10"/>
          <p:cNvSpPr/>
          <p:nvPr/>
        </p:nvSpPr>
        <p:spPr>
          <a:xfrm>
            <a:off x="2977835" y="2724912"/>
            <a:ext cx="1706819" cy="685800"/>
          </a:xfrm>
          <a:prstGeom prst="rect">
            <a:avLst/>
          </a:prstGeom>
          <a:noFill/>
          <a:ln/>
        </p:spPr>
        <p:txBody>
          <a:bodyPr wrap="square" lIns="0" tIns="0" rIns="0" bIns="0" rtlCol="0" anchor="t"/>
          <a:lstStyle/>
          <a:p>
            <a:pPr marL="0" indent="0">
              <a:buNone/>
            </a:pPr>
            <a:r>
              <a:rPr lang="en-US" sz="1300" b="1" dirty="0">
                <a:solidFill>
                  <a:srgbClr val="FFFFFF"/>
                </a:solidFill>
                <a:latin typeface="Cambria" pitchFamily="34" charset="0"/>
                <a:ea typeface="Cambria" pitchFamily="34" charset="-122"/>
                <a:cs typeface="Cambria" pitchFamily="34" charset="-120"/>
              </a:rPr>
              <a:t>Generate Alternatives</a:t>
            </a:r>
            <a:endParaRPr lang="en-US" sz="1300" dirty="0"/>
          </a:p>
        </p:txBody>
      </p:sp>
      <p:sp>
        <p:nvSpPr>
          <p:cNvPr id="13" name="Text 11"/>
          <p:cNvSpPr/>
          <p:nvPr/>
        </p:nvSpPr>
        <p:spPr>
          <a:xfrm>
            <a:off x="2977835" y="3474720"/>
            <a:ext cx="1706819" cy="1188720"/>
          </a:xfrm>
          <a:prstGeom prst="rect">
            <a:avLst/>
          </a:prstGeom>
          <a:noFill/>
          <a:ln/>
        </p:spPr>
        <p:txBody>
          <a:bodyPr wrap="square" lIns="0" tIns="0" rIns="0" bIns="0" rtlCol="0" anchor="t"/>
          <a:lstStyle/>
          <a:p>
            <a:pPr marL="0" indent="0">
              <a:lnSpc>
                <a:spcPct val="105000"/>
              </a:lnSpc>
              <a:buNone/>
            </a:pPr>
            <a:r>
              <a:rPr lang="en-US" sz="1050" dirty="0">
                <a:solidFill>
                  <a:srgbClr val="CADCFC"/>
                </a:solidFill>
                <a:latin typeface="Calibri" pitchFamily="34" charset="0"/>
                <a:ea typeface="Calibri" pitchFamily="34" charset="-122"/>
                <a:cs typeface="Calibri" pitchFamily="34" charset="-120"/>
              </a:rPr>
              <a:t>Candidate network structures and facility configurations</a:t>
            </a:r>
            <a:endParaRPr lang="en-US" sz="1050" dirty="0"/>
          </a:p>
        </p:txBody>
      </p:sp>
      <p:sp>
        <p:nvSpPr>
          <p:cNvPr id="14" name="Text 12"/>
          <p:cNvSpPr/>
          <p:nvPr/>
        </p:nvSpPr>
        <p:spPr>
          <a:xfrm>
            <a:off x="4849246" y="3200400"/>
            <a:ext cx="228600" cy="457200"/>
          </a:xfrm>
          <a:prstGeom prst="rect">
            <a:avLst/>
          </a:prstGeom>
          <a:noFill/>
          <a:ln/>
        </p:spPr>
        <p:txBody>
          <a:bodyPr wrap="square" lIns="0" tIns="0" rIns="0" bIns="0" rtlCol="0" anchor="ctr"/>
          <a:lstStyle/>
          <a:p>
            <a:pPr marL="0" indent="0" algn="ctr">
              <a:buNone/>
            </a:pPr>
            <a:r>
              <a:rPr lang="en-US" sz="2000" b="1" dirty="0">
                <a:solidFill>
                  <a:srgbClr val="C9962C"/>
                </a:solidFill>
                <a:latin typeface="Calibri" pitchFamily="34" charset="0"/>
                <a:ea typeface="Calibri" pitchFamily="34" charset="-122"/>
                <a:cs typeface="Calibri" pitchFamily="34" charset="-120"/>
              </a:rPr>
              <a:t>›</a:t>
            </a:r>
            <a:endParaRPr lang="en-US" sz="2000" dirty="0"/>
          </a:p>
        </p:txBody>
      </p:sp>
      <p:sp>
        <p:nvSpPr>
          <p:cNvPr id="15" name="Shape 13"/>
          <p:cNvSpPr/>
          <p:nvPr/>
        </p:nvSpPr>
        <p:spPr>
          <a:xfrm>
            <a:off x="5077846" y="2103120"/>
            <a:ext cx="2036003" cy="2651760"/>
          </a:xfrm>
          <a:prstGeom prst="roundRect">
            <a:avLst>
              <a:gd name="adj" fmla="val 3144"/>
            </a:avLst>
          </a:prstGeom>
          <a:solidFill>
            <a:srgbClr val="1E2761"/>
          </a:solidFill>
          <a:ln/>
        </p:spPr>
        <p:txBody>
          <a:bodyPr/>
          <a:lstStyle/>
          <a:p>
            <a:endParaRPr lang="en-US"/>
          </a:p>
        </p:txBody>
      </p:sp>
      <p:sp>
        <p:nvSpPr>
          <p:cNvPr id="16" name="Text 14"/>
          <p:cNvSpPr/>
          <p:nvPr/>
        </p:nvSpPr>
        <p:spPr>
          <a:xfrm>
            <a:off x="5215006" y="2212848"/>
            <a:ext cx="1761683" cy="457200"/>
          </a:xfrm>
          <a:prstGeom prst="rect">
            <a:avLst/>
          </a:prstGeom>
          <a:noFill/>
          <a:ln/>
        </p:spPr>
        <p:txBody>
          <a:bodyPr wrap="square" lIns="0" tIns="0" rIns="0" bIns="0" rtlCol="0" anchor="ctr"/>
          <a:lstStyle/>
          <a:p>
            <a:pPr marL="0" indent="0">
              <a:buNone/>
            </a:pPr>
            <a:r>
              <a:rPr lang="en-US" sz="2200" b="1" dirty="0">
                <a:solidFill>
                  <a:srgbClr val="C9962C"/>
                </a:solidFill>
                <a:latin typeface="Cambria" pitchFamily="34" charset="0"/>
                <a:ea typeface="Cambria" pitchFamily="34" charset="-122"/>
                <a:cs typeface="Cambria" pitchFamily="34" charset="-120"/>
              </a:rPr>
              <a:t>3</a:t>
            </a:r>
            <a:endParaRPr lang="en-US" sz="2200" dirty="0"/>
          </a:p>
        </p:txBody>
      </p:sp>
      <p:sp>
        <p:nvSpPr>
          <p:cNvPr id="17" name="Text 15"/>
          <p:cNvSpPr/>
          <p:nvPr/>
        </p:nvSpPr>
        <p:spPr>
          <a:xfrm>
            <a:off x="5242438" y="2724912"/>
            <a:ext cx="1706819" cy="685800"/>
          </a:xfrm>
          <a:prstGeom prst="rect">
            <a:avLst/>
          </a:prstGeom>
          <a:noFill/>
          <a:ln/>
        </p:spPr>
        <p:txBody>
          <a:bodyPr wrap="square" lIns="0" tIns="0" rIns="0" bIns="0" rtlCol="0" anchor="t"/>
          <a:lstStyle/>
          <a:p>
            <a:pPr marL="0" indent="0">
              <a:buNone/>
            </a:pPr>
            <a:r>
              <a:rPr lang="en-US" sz="1300" b="1" dirty="0">
                <a:solidFill>
                  <a:srgbClr val="FFFFFF"/>
                </a:solidFill>
                <a:latin typeface="Cambria" pitchFamily="34" charset="0"/>
                <a:ea typeface="Cambria" pitchFamily="34" charset="-122"/>
                <a:cs typeface="Cambria" pitchFamily="34" charset="-120"/>
              </a:rPr>
              <a:t>Model &amp; Evaluate</a:t>
            </a:r>
            <a:endParaRPr lang="en-US" sz="1300" dirty="0"/>
          </a:p>
        </p:txBody>
      </p:sp>
      <p:sp>
        <p:nvSpPr>
          <p:cNvPr id="18" name="Text 16"/>
          <p:cNvSpPr/>
          <p:nvPr/>
        </p:nvSpPr>
        <p:spPr>
          <a:xfrm>
            <a:off x="5242438" y="3474720"/>
            <a:ext cx="1706819" cy="1188720"/>
          </a:xfrm>
          <a:prstGeom prst="rect">
            <a:avLst/>
          </a:prstGeom>
          <a:noFill/>
          <a:ln/>
        </p:spPr>
        <p:txBody>
          <a:bodyPr wrap="square" lIns="0" tIns="0" rIns="0" bIns="0" rtlCol="0" anchor="t"/>
          <a:lstStyle/>
          <a:p>
            <a:pPr marL="0" indent="0">
              <a:lnSpc>
                <a:spcPct val="105000"/>
              </a:lnSpc>
              <a:buNone/>
            </a:pPr>
            <a:r>
              <a:rPr lang="en-US" sz="1050" dirty="0">
                <a:solidFill>
                  <a:srgbClr val="CADCFC"/>
                </a:solidFill>
                <a:latin typeface="Calibri" pitchFamily="34" charset="0"/>
                <a:ea typeface="Calibri" pitchFamily="34" charset="-122"/>
                <a:cs typeface="Calibri" pitchFamily="34" charset="-120"/>
              </a:rPr>
              <a:t>Quantify cost and service trade-offs for each alternative</a:t>
            </a:r>
            <a:endParaRPr lang="en-US" sz="1050" dirty="0"/>
          </a:p>
        </p:txBody>
      </p:sp>
      <p:sp>
        <p:nvSpPr>
          <p:cNvPr id="19" name="Text 17"/>
          <p:cNvSpPr/>
          <p:nvPr/>
        </p:nvSpPr>
        <p:spPr>
          <a:xfrm>
            <a:off x="7113849" y="3200400"/>
            <a:ext cx="228600" cy="457200"/>
          </a:xfrm>
          <a:prstGeom prst="rect">
            <a:avLst/>
          </a:prstGeom>
          <a:noFill/>
          <a:ln/>
        </p:spPr>
        <p:txBody>
          <a:bodyPr wrap="square" lIns="0" tIns="0" rIns="0" bIns="0" rtlCol="0" anchor="ctr"/>
          <a:lstStyle/>
          <a:p>
            <a:pPr marL="0" indent="0" algn="ctr">
              <a:buNone/>
            </a:pPr>
            <a:r>
              <a:rPr lang="en-US" sz="2000" b="1" dirty="0">
                <a:solidFill>
                  <a:srgbClr val="C9962C"/>
                </a:solidFill>
                <a:latin typeface="Calibri" pitchFamily="34" charset="0"/>
                <a:ea typeface="Calibri" pitchFamily="34" charset="-122"/>
                <a:cs typeface="Calibri" pitchFamily="34" charset="-120"/>
              </a:rPr>
              <a:t>›</a:t>
            </a:r>
            <a:endParaRPr lang="en-US" sz="2000" dirty="0"/>
          </a:p>
        </p:txBody>
      </p:sp>
      <p:sp>
        <p:nvSpPr>
          <p:cNvPr id="20" name="Shape 18"/>
          <p:cNvSpPr/>
          <p:nvPr/>
        </p:nvSpPr>
        <p:spPr>
          <a:xfrm>
            <a:off x="7342449" y="2103120"/>
            <a:ext cx="2036003" cy="2651760"/>
          </a:xfrm>
          <a:prstGeom prst="roundRect">
            <a:avLst>
              <a:gd name="adj" fmla="val 3144"/>
            </a:avLst>
          </a:prstGeom>
          <a:solidFill>
            <a:srgbClr val="141A3D"/>
          </a:solidFill>
          <a:ln/>
        </p:spPr>
        <p:txBody>
          <a:bodyPr/>
          <a:lstStyle/>
          <a:p>
            <a:endParaRPr lang="en-US"/>
          </a:p>
        </p:txBody>
      </p:sp>
      <p:sp>
        <p:nvSpPr>
          <p:cNvPr id="21" name="Text 19"/>
          <p:cNvSpPr/>
          <p:nvPr/>
        </p:nvSpPr>
        <p:spPr>
          <a:xfrm>
            <a:off x="7479609" y="2212848"/>
            <a:ext cx="1761683" cy="457200"/>
          </a:xfrm>
          <a:prstGeom prst="rect">
            <a:avLst/>
          </a:prstGeom>
          <a:noFill/>
          <a:ln/>
        </p:spPr>
        <p:txBody>
          <a:bodyPr wrap="square" lIns="0" tIns="0" rIns="0" bIns="0" rtlCol="0" anchor="ctr"/>
          <a:lstStyle/>
          <a:p>
            <a:pPr marL="0" indent="0">
              <a:buNone/>
            </a:pPr>
            <a:r>
              <a:rPr lang="en-US" sz="2200" b="1" dirty="0">
                <a:solidFill>
                  <a:srgbClr val="C9962C"/>
                </a:solidFill>
                <a:latin typeface="Cambria" pitchFamily="34" charset="0"/>
                <a:ea typeface="Cambria" pitchFamily="34" charset="-122"/>
                <a:cs typeface="Cambria" pitchFamily="34" charset="-120"/>
              </a:rPr>
              <a:t>4</a:t>
            </a:r>
            <a:endParaRPr lang="en-US" sz="2200" dirty="0"/>
          </a:p>
        </p:txBody>
      </p:sp>
      <p:sp>
        <p:nvSpPr>
          <p:cNvPr id="22" name="Text 20"/>
          <p:cNvSpPr/>
          <p:nvPr/>
        </p:nvSpPr>
        <p:spPr>
          <a:xfrm>
            <a:off x="7507041" y="2724912"/>
            <a:ext cx="1706819" cy="685800"/>
          </a:xfrm>
          <a:prstGeom prst="rect">
            <a:avLst/>
          </a:prstGeom>
          <a:noFill/>
          <a:ln/>
        </p:spPr>
        <p:txBody>
          <a:bodyPr wrap="square" lIns="0" tIns="0" rIns="0" bIns="0" rtlCol="0" anchor="t"/>
          <a:lstStyle/>
          <a:p>
            <a:pPr marL="0" indent="0">
              <a:buNone/>
            </a:pPr>
            <a:r>
              <a:rPr lang="en-US" sz="1300" b="1" dirty="0">
                <a:solidFill>
                  <a:srgbClr val="FFFFFF"/>
                </a:solidFill>
                <a:latin typeface="Cambria" pitchFamily="34" charset="0"/>
                <a:ea typeface="Cambria" pitchFamily="34" charset="-122"/>
                <a:cs typeface="Cambria" pitchFamily="34" charset="-120"/>
              </a:rPr>
              <a:t>Select &amp; Validate</a:t>
            </a:r>
            <a:endParaRPr lang="en-US" sz="1300" dirty="0"/>
          </a:p>
        </p:txBody>
      </p:sp>
      <p:sp>
        <p:nvSpPr>
          <p:cNvPr id="23" name="Text 21"/>
          <p:cNvSpPr/>
          <p:nvPr/>
        </p:nvSpPr>
        <p:spPr>
          <a:xfrm>
            <a:off x="7507041" y="3474720"/>
            <a:ext cx="1706819" cy="1188720"/>
          </a:xfrm>
          <a:prstGeom prst="rect">
            <a:avLst/>
          </a:prstGeom>
          <a:noFill/>
          <a:ln/>
        </p:spPr>
        <p:txBody>
          <a:bodyPr wrap="square" lIns="0" tIns="0" rIns="0" bIns="0" rtlCol="0" anchor="t"/>
          <a:lstStyle/>
          <a:p>
            <a:pPr marL="0" indent="0">
              <a:lnSpc>
                <a:spcPct val="105000"/>
              </a:lnSpc>
              <a:buNone/>
            </a:pPr>
            <a:r>
              <a:rPr lang="en-US" sz="1050" dirty="0">
                <a:solidFill>
                  <a:srgbClr val="CADCFC"/>
                </a:solidFill>
                <a:latin typeface="Calibri" pitchFamily="34" charset="0"/>
                <a:ea typeface="Calibri" pitchFamily="34" charset="-122"/>
                <a:cs typeface="Calibri" pitchFamily="34" charset="-120"/>
              </a:rPr>
              <a:t>Choose the best-fit design and stress-test it</a:t>
            </a:r>
            <a:endParaRPr lang="en-US" sz="1050" dirty="0"/>
          </a:p>
        </p:txBody>
      </p:sp>
      <p:sp>
        <p:nvSpPr>
          <p:cNvPr id="24" name="Text 22"/>
          <p:cNvSpPr/>
          <p:nvPr/>
        </p:nvSpPr>
        <p:spPr>
          <a:xfrm>
            <a:off x="9378452" y="3200400"/>
            <a:ext cx="228600" cy="457200"/>
          </a:xfrm>
          <a:prstGeom prst="rect">
            <a:avLst/>
          </a:prstGeom>
          <a:noFill/>
          <a:ln/>
        </p:spPr>
        <p:txBody>
          <a:bodyPr wrap="square" lIns="0" tIns="0" rIns="0" bIns="0" rtlCol="0" anchor="ctr"/>
          <a:lstStyle/>
          <a:p>
            <a:pPr marL="0" indent="0" algn="ctr">
              <a:buNone/>
            </a:pPr>
            <a:r>
              <a:rPr lang="en-US" sz="2000" b="1" dirty="0">
                <a:solidFill>
                  <a:srgbClr val="C9962C"/>
                </a:solidFill>
                <a:latin typeface="Calibri" pitchFamily="34" charset="0"/>
                <a:ea typeface="Calibri" pitchFamily="34" charset="-122"/>
                <a:cs typeface="Calibri" pitchFamily="34" charset="-120"/>
              </a:rPr>
              <a:t>›</a:t>
            </a:r>
            <a:endParaRPr lang="en-US" sz="2000" dirty="0"/>
          </a:p>
        </p:txBody>
      </p:sp>
      <p:sp>
        <p:nvSpPr>
          <p:cNvPr id="25" name="Shape 23"/>
          <p:cNvSpPr/>
          <p:nvPr/>
        </p:nvSpPr>
        <p:spPr>
          <a:xfrm>
            <a:off x="9607052" y="2103120"/>
            <a:ext cx="2036003" cy="2651760"/>
          </a:xfrm>
          <a:prstGeom prst="roundRect">
            <a:avLst>
              <a:gd name="adj" fmla="val 3144"/>
            </a:avLst>
          </a:prstGeom>
          <a:solidFill>
            <a:srgbClr val="1E2761"/>
          </a:solidFill>
          <a:ln/>
        </p:spPr>
        <p:txBody>
          <a:bodyPr/>
          <a:lstStyle/>
          <a:p>
            <a:endParaRPr lang="en-US"/>
          </a:p>
        </p:txBody>
      </p:sp>
      <p:sp>
        <p:nvSpPr>
          <p:cNvPr id="26" name="Text 24"/>
          <p:cNvSpPr/>
          <p:nvPr/>
        </p:nvSpPr>
        <p:spPr>
          <a:xfrm>
            <a:off x="9744212" y="2212848"/>
            <a:ext cx="1761683" cy="457200"/>
          </a:xfrm>
          <a:prstGeom prst="rect">
            <a:avLst/>
          </a:prstGeom>
          <a:noFill/>
          <a:ln/>
        </p:spPr>
        <p:txBody>
          <a:bodyPr wrap="square" lIns="0" tIns="0" rIns="0" bIns="0" rtlCol="0" anchor="ctr"/>
          <a:lstStyle/>
          <a:p>
            <a:pPr marL="0" indent="0">
              <a:buNone/>
            </a:pPr>
            <a:r>
              <a:rPr lang="en-US" sz="2200" b="1" dirty="0">
                <a:solidFill>
                  <a:srgbClr val="C9962C"/>
                </a:solidFill>
                <a:latin typeface="Cambria" pitchFamily="34" charset="0"/>
                <a:ea typeface="Cambria" pitchFamily="34" charset="-122"/>
                <a:cs typeface="Cambria" pitchFamily="34" charset="-120"/>
              </a:rPr>
              <a:t>5</a:t>
            </a:r>
            <a:endParaRPr lang="en-US" sz="2200" dirty="0"/>
          </a:p>
        </p:txBody>
      </p:sp>
      <p:sp>
        <p:nvSpPr>
          <p:cNvPr id="27" name="Text 25"/>
          <p:cNvSpPr/>
          <p:nvPr/>
        </p:nvSpPr>
        <p:spPr>
          <a:xfrm>
            <a:off x="9771644" y="2724912"/>
            <a:ext cx="1706819" cy="685800"/>
          </a:xfrm>
          <a:prstGeom prst="rect">
            <a:avLst/>
          </a:prstGeom>
          <a:noFill/>
          <a:ln/>
        </p:spPr>
        <p:txBody>
          <a:bodyPr wrap="square" lIns="0" tIns="0" rIns="0" bIns="0" rtlCol="0" anchor="t"/>
          <a:lstStyle/>
          <a:p>
            <a:pPr marL="0" indent="0">
              <a:buNone/>
            </a:pPr>
            <a:r>
              <a:rPr lang="en-US" sz="1300" b="1" dirty="0">
                <a:solidFill>
                  <a:srgbClr val="FFFFFF"/>
                </a:solidFill>
                <a:latin typeface="Cambria" pitchFamily="34" charset="0"/>
                <a:ea typeface="Cambria" pitchFamily="34" charset="-122"/>
                <a:cs typeface="Cambria" pitchFamily="34" charset="-120"/>
              </a:rPr>
              <a:t>Implement &amp; Monitor</a:t>
            </a:r>
            <a:endParaRPr lang="en-US" sz="1300" dirty="0"/>
          </a:p>
        </p:txBody>
      </p:sp>
      <p:sp>
        <p:nvSpPr>
          <p:cNvPr id="28" name="Text 26"/>
          <p:cNvSpPr/>
          <p:nvPr/>
        </p:nvSpPr>
        <p:spPr>
          <a:xfrm>
            <a:off x="9771644" y="3474720"/>
            <a:ext cx="1706819" cy="1188720"/>
          </a:xfrm>
          <a:prstGeom prst="rect">
            <a:avLst/>
          </a:prstGeom>
          <a:noFill/>
          <a:ln/>
        </p:spPr>
        <p:txBody>
          <a:bodyPr wrap="square" lIns="0" tIns="0" rIns="0" bIns="0" rtlCol="0" anchor="t"/>
          <a:lstStyle/>
          <a:p>
            <a:pPr marL="0" indent="0">
              <a:lnSpc>
                <a:spcPct val="105000"/>
              </a:lnSpc>
              <a:buNone/>
            </a:pPr>
            <a:r>
              <a:rPr lang="en-US" sz="1050" dirty="0">
                <a:solidFill>
                  <a:srgbClr val="CADCFC"/>
                </a:solidFill>
                <a:latin typeface="Calibri" pitchFamily="34" charset="0"/>
                <a:ea typeface="Calibri" pitchFamily="34" charset="-122"/>
                <a:cs typeface="Calibri" pitchFamily="34" charset="-120"/>
              </a:rPr>
              <a:t>Roll out the design and track performance against plan</a:t>
            </a:r>
            <a:endParaRPr lang="en-US" sz="1050" dirty="0"/>
          </a:p>
        </p:txBody>
      </p:sp>
      <p:sp>
        <p:nvSpPr>
          <p:cNvPr id="29" name="Text 27"/>
          <p:cNvSpPr/>
          <p:nvPr/>
        </p:nvSpPr>
        <p:spPr>
          <a:xfrm>
            <a:off x="640080" y="5074920"/>
            <a:ext cx="10881360" cy="457200"/>
          </a:xfrm>
          <a:prstGeom prst="rect">
            <a:avLst/>
          </a:prstGeom>
          <a:noFill/>
          <a:ln/>
        </p:spPr>
        <p:txBody>
          <a:bodyPr wrap="square" lIns="0" tIns="0" rIns="0" bIns="0" rtlCol="0" anchor="ctr"/>
          <a:lstStyle/>
          <a:p>
            <a:pPr marL="0" indent="0">
              <a:buNone/>
            </a:pPr>
            <a:r>
              <a:rPr lang="en-US" sz="1250" i="1" dirty="0">
                <a:solidFill>
                  <a:srgbClr val="5A6B8C"/>
                </a:solidFill>
                <a:latin typeface="Calibri" pitchFamily="34" charset="0"/>
                <a:ea typeface="Calibri" pitchFamily="34" charset="-122"/>
                <a:cs typeface="Calibri" pitchFamily="34" charset="-120"/>
              </a:rPr>
              <a:t>Design is never really "finished" — leading firms revisit their network design every 2–3 years, or whenever demand patterns shift materially.</a:t>
            </a:r>
            <a:endParaRPr lang="en-US" sz="1250" dirty="0"/>
          </a:p>
        </p:txBody>
      </p:sp>
      <p:sp>
        <p:nvSpPr>
          <p:cNvPr id="30" name="Text 28"/>
          <p:cNvSpPr/>
          <p:nvPr/>
        </p:nvSpPr>
        <p:spPr>
          <a:xfrm>
            <a:off x="11551615" y="6446520"/>
            <a:ext cx="457200" cy="274320"/>
          </a:xfrm>
          <a:prstGeom prst="rect">
            <a:avLst/>
          </a:prstGeom>
          <a:noFill/>
          <a:ln/>
        </p:spPr>
        <p:txBody>
          <a:bodyPr wrap="square" lIns="0" tIns="0" rIns="0" bIns="0" rtlCol="0" anchor="ctr"/>
          <a:lstStyle/>
          <a:p>
            <a:pPr marL="0" indent="0" algn="r">
              <a:buNone/>
            </a:pPr>
            <a:r>
              <a:rPr lang="en-US" sz="1000" dirty="0">
                <a:solidFill>
                  <a:srgbClr val="5A6B8C"/>
                </a:solidFill>
                <a:latin typeface="Calibri" pitchFamily="34" charset="0"/>
                <a:ea typeface="Calibri" pitchFamily="34" charset="-122"/>
                <a:cs typeface="Calibri" pitchFamily="34" charset="-120"/>
              </a:rPr>
              <a:t>7</a:t>
            </a:r>
            <a:endParaRPr lang="en-US" sz="1000" dirty="0"/>
          </a:p>
        </p:txBody>
      </p:sp>
      <p:sp>
        <p:nvSpPr>
          <p:cNvPr id="32" name="Oval 31">
            <a:extLst>
              <a:ext uri="{FF2B5EF4-FFF2-40B4-BE49-F238E27FC236}">
                <a16:creationId xmlns:a16="http://schemas.microsoft.com/office/drawing/2014/main" id="{39D86DAC-702B-9E16-FB99-D5287B5B8B0B}"/>
              </a:ext>
            </a:extLst>
          </p:cNvPr>
          <p:cNvSpPr/>
          <p:nvPr/>
        </p:nvSpPr>
        <p:spPr>
          <a:xfrm>
            <a:off x="9043491" y="93594"/>
            <a:ext cx="3142211" cy="1184412"/>
          </a:xfrm>
          <a:prstGeom prst="ellipse">
            <a:avLst/>
          </a:prstGeom>
          <a:solidFill>
            <a:schemeClr val="accent1">
              <a:lumMod val="40000"/>
              <a:lumOff val="6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4C302BF1-38F7-DDFA-B75C-3994704B4D31}"/>
              </a:ext>
            </a:extLst>
          </p:cNvPr>
          <p:cNvSpPr txBox="1"/>
          <p:nvPr/>
        </p:nvSpPr>
        <p:spPr>
          <a:xfrm>
            <a:off x="9384312" y="424190"/>
            <a:ext cx="2460567" cy="523220"/>
          </a:xfrm>
          <a:prstGeom prst="rect">
            <a:avLst/>
          </a:prstGeom>
          <a:noFill/>
        </p:spPr>
        <p:txBody>
          <a:bodyPr wrap="square" rtlCol="0">
            <a:spAutoFit/>
          </a:bodyPr>
          <a:lstStyle/>
          <a:p>
            <a:r>
              <a:rPr lang="en-US" sz="2800" b="1" dirty="0"/>
              <a:t>Read this slide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C9962C"/>
                </a:solidFill>
                <a:latin typeface="Calibri" pitchFamily="34" charset="0"/>
                <a:ea typeface="Calibri" pitchFamily="34" charset="-122"/>
                <a:cs typeface="Calibri" pitchFamily="34" charset="-120"/>
              </a:rPr>
              <a:t>SYSTEM DESIGN</a:t>
            </a:r>
            <a:endParaRPr lang="en-US" sz="1200" dirty="0"/>
          </a:p>
        </p:txBody>
      </p:sp>
      <p:sp>
        <p:nvSpPr>
          <p:cNvPr id="3" name="Text 1"/>
          <p:cNvSpPr/>
          <p:nvPr/>
        </p:nvSpPr>
        <p:spPr>
          <a:xfrm>
            <a:off x="548640" y="621792"/>
            <a:ext cx="10515600" cy="73152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The Core Trade-Off: Cost vs. Service</a:t>
            </a:r>
            <a:endParaRPr lang="en-US" sz="2800" dirty="0"/>
          </a:p>
        </p:txBody>
      </p:sp>
      <p:sp>
        <p:nvSpPr>
          <p:cNvPr id="4" name="Shape 2"/>
          <p:cNvSpPr/>
          <p:nvPr/>
        </p:nvSpPr>
        <p:spPr>
          <a:xfrm>
            <a:off x="566928" y="1298448"/>
            <a:ext cx="914400" cy="0"/>
          </a:xfrm>
          <a:prstGeom prst="line">
            <a:avLst/>
          </a:prstGeom>
          <a:noFill/>
          <a:ln w="31750">
            <a:solidFill>
              <a:srgbClr val="C9962C"/>
            </a:solidFill>
            <a:prstDash val="solid"/>
          </a:ln>
        </p:spPr>
        <p:txBody>
          <a:bodyPr/>
          <a:lstStyle/>
          <a:p>
            <a:endParaRPr lang="en-US"/>
          </a:p>
        </p:txBody>
      </p:sp>
      <p:sp>
        <p:nvSpPr>
          <p:cNvPr id="5" name="Shape 3"/>
          <p:cNvSpPr/>
          <p:nvPr/>
        </p:nvSpPr>
        <p:spPr>
          <a:xfrm>
            <a:off x="640080" y="1737360"/>
            <a:ext cx="5295748" cy="3931920"/>
          </a:xfrm>
          <a:prstGeom prst="roundRect">
            <a:avLst>
              <a:gd name="adj" fmla="val 1860"/>
            </a:avLst>
          </a:prstGeom>
          <a:solidFill>
            <a:srgbClr val="1E2761"/>
          </a:solidFill>
          <a:ln w="12700">
            <a:solidFill>
              <a:srgbClr val="1E2761"/>
            </a:solidFill>
            <a:prstDash val="solid"/>
          </a:ln>
        </p:spPr>
        <p:txBody>
          <a:bodyPr/>
          <a:lstStyle/>
          <a:p>
            <a:endParaRPr lang="en-US"/>
          </a:p>
        </p:txBody>
      </p:sp>
      <p:sp>
        <p:nvSpPr>
          <p:cNvPr id="6" name="Text 4"/>
          <p:cNvSpPr/>
          <p:nvPr/>
        </p:nvSpPr>
        <p:spPr>
          <a:xfrm>
            <a:off x="914400" y="1965960"/>
            <a:ext cx="4747108"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Favouring Lower Cost</a:t>
            </a:r>
            <a:endParaRPr lang="en-US" sz="1800" dirty="0"/>
          </a:p>
        </p:txBody>
      </p:sp>
      <p:sp>
        <p:nvSpPr>
          <p:cNvPr id="7" name="Text 5"/>
          <p:cNvSpPr/>
          <p:nvPr/>
        </p:nvSpPr>
        <p:spPr>
          <a:xfrm>
            <a:off x="914400" y="2560320"/>
            <a:ext cx="4747108" cy="2926080"/>
          </a:xfrm>
          <a:prstGeom prst="rect">
            <a:avLst/>
          </a:prstGeom>
          <a:noFill/>
          <a:ln/>
        </p:spPr>
        <p:txBody>
          <a:bodyPr wrap="square" lIns="0" tIns="0" rIns="0" bIns="0" rtlCol="0" anchor="t"/>
          <a:lstStyle/>
          <a:p>
            <a:pPr marL="177800" indent="-177800">
              <a:lnSpc>
                <a:spcPct val="110000"/>
              </a:lnSpc>
              <a:spcAft>
                <a:spcPts val="1000"/>
              </a:spcAft>
              <a:buSzPct val="100000"/>
              <a:buChar char="•"/>
            </a:pPr>
            <a:r>
              <a:rPr lang="en-US" sz="1250" dirty="0">
                <a:solidFill>
                  <a:srgbClr val="CADCFC"/>
                </a:solidFill>
                <a:latin typeface="Calibri" pitchFamily="34" charset="0"/>
                <a:ea typeface="Calibri" pitchFamily="34" charset="-122"/>
                <a:cs typeface="Calibri" pitchFamily="34" charset="-120"/>
              </a:rPr>
              <a:t>Fewer, larger, more centralised facilities</a:t>
            </a:r>
            <a:endParaRPr lang="en-US" sz="1250" dirty="0"/>
          </a:p>
          <a:p>
            <a:pPr marL="177800" indent="-177800">
              <a:lnSpc>
                <a:spcPct val="110000"/>
              </a:lnSpc>
              <a:spcAft>
                <a:spcPts val="1000"/>
              </a:spcAft>
              <a:buSzPct val="100000"/>
              <a:buChar char="•"/>
            </a:pPr>
            <a:r>
              <a:rPr lang="en-US" sz="1250" dirty="0">
                <a:solidFill>
                  <a:srgbClr val="CADCFC"/>
                </a:solidFill>
                <a:latin typeface="Calibri" pitchFamily="34" charset="0"/>
                <a:ea typeface="Calibri" pitchFamily="34" charset="-122"/>
                <a:cs typeface="Calibri" pitchFamily="34" charset="-120"/>
              </a:rPr>
              <a:t>Slower, cheaper transportation modes (rail, sea)</a:t>
            </a:r>
            <a:endParaRPr lang="en-US" sz="1250" dirty="0"/>
          </a:p>
          <a:p>
            <a:pPr marL="177800" indent="-177800">
              <a:lnSpc>
                <a:spcPct val="110000"/>
              </a:lnSpc>
              <a:spcAft>
                <a:spcPts val="1000"/>
              </a:spcAft>
              <a:buSzPct val="100000"/>
              <a:buChar char="•"/>
            </a:pPr>
            <a:r>
              <a:rPr lang="en-US" sz="1250" dirty="0">
                <a:solidFill>
                  <a:srgbClr val="CADCFC"/>
                </a:solidFill>
                <a:latin typeface="Calibri" pitchFamily="34" charset="0"/>
                <a:ea typeface="Calibri" pitchFamily="34" charset="-122"/>
                <a:cs typeface="Calibri" pitchFamily="34" charset="-120"/>
              </a:rPr>
              <a:t>Lower inventory held across the network</a:t>
            </a:r>
            <a:endParaRPr lang="en-US" sz="1250" dirty="0"/>
          </a:p>
          <a:p>
            <a:pPr marL="177800" indent="-177800">
              <a:lnSpc>
                <a:spcPct val="110000"/>
              </a:lnSpc>
              <a:spcAft>
                <a:spcPts val="1000"/>
              </a:spcAft>
              <a:buSzPct val="100000"/>
              <a:buChar char="•"/>
            </a:pPr>
            <a:r>
              <a:rPr lang="en-US" sz="1250" dirty="0">
                <a:solidFill>
                  <a:srgbClr val="CADCFC"/>
                </a:solidFill>
                <a:latin typeface="Calibri" pitchFamily="34" charset="0"/>
                <a:ea typeface="Calibri" pitchFamily="34" charset="-122"/>
                <a:cs typeface="Calibri" pitchFamily="34" charset="-120"/>
              </a:rPr>
              <a:t>Longer delivery lead times to customers</a:t>
            </a:r>
            <a:endParaRPr lang="en-US" sz="1250" dirty="0"/>
          </a:p>
        </p:txBody>
      </p:sp>
      <p:sp>
        <p:nvSpPr>
          <p:cNvPr id="8" name="Shape 6"/>
          <p:cNvSpPr/>
          <p:nvPr/>
        </p:nvSpPr>
        <p:spPr>
          <a:xfrm>
            <a:off x="6255868" y="1737360"/>
            <a:ext cx="5295748" cy="3931920"/>
          </a:xfrm>
          <a:prstGeom prst="roundRect">
            <a:avLst>
              <a:gd name="adj" fmla="val 1860"/>
            </a:avLst>
          </a:prstGeom>
          <a:solidFill>
            <a:srgbClr val="FFFFFF"/>
          </a:solidFill>
          <a:ln w="12700">
            <a:solidFill>
              <a:srgbClr val="D7E0F5"/>
            </a:solidFill>
            <a:prstDash val="solid"/>
          </a:ln>
        </p:spPr>
        <p:txBody>
          <a:bodyPr/>
          <a:lstStyle/>
          <a:p>
            <a:endParaRPr lang="en-US"/>
          </a:p>
        </p:txBody>
      </p:sp>
      <p:sp>
        <p:nvSpPr>
          <p:cNvPr id="9" name="Text 7"/>
          <p:cNvSpPr/>
          <p:nvPr/>
        </p:nvSpPr>
        <p:spPr>
          <a:xfrm>
            <a:off x="6530188" y="1965960"/>
            <a:ext cx="4747108" cy="457200"/>
          </a:xfrm>
          <a:prstGeom prst="rect">
            <a:avLst/>
          </a:prstGeom>
          <a:noFill/>
          <a:ln/>
        </p:spPr>
        <p:txBody>
          <a:bodyPr wrap="square" lIns="0" tIns="0" rIns="0" bIns="0" rtlCol="0" anchor="ctr"/>
          <a:lstStyle/>
          <a:p>
            <a:pPr marL="0" indent="0">
              <a:buNone/>
            </a:pPr>
            <a:r>
              <a:rPr lang="en-US" sz="1800" b="1" dirty="0">
                <a:solidFill>
                  <a:srgbClr val="1E2761"/>
                </a:solidFill>
                <a:latin typeface="Cambria" pitchFamily="34" charset="0"/>
                <a:ea typeface="Cambria" pitchFamily="34" charset="-122"/>
                <a:cs typeface="Cambria" pitchFamily="34" charset="-120"/>
              </a:rPr>
              <a:t>Favouring Higher Service</a:t>
            </a:r>
            <a:endParaRPr lang="en-US" sz="1800" dirty="0"/>
          </a:p>
        </p:txBody>
      </p:sp>
      <p:sp>
        <p:nvSpPr>
          <p:cNvPr id="10" name="Text 8"/>
          <p:cNvSpPr/>
          <p:nvPr/>
        </p:nvSpPr>
        <p:spPr>
          <a:xfrm>
            <a:off x="6530188" y="2560320"/>
            <a:ext cx="4747108" cy="2926080"/>
          </a:xfrm>
          <a:prstGeom prst="rect">
            <a:avLst/>
          </a:prstGeom>
          <a:noFill/>
          <a:ln/>
        </p:spPr>
        <p:txBody>
          <a:bodyPr wrap="square" lIns="0" tIns="0" rIns="0" bIns="0" rtlCol="0" anchor="t"/>
          <a:lstStyle/>
          <a:p>
            <a:pPr marL="177800" indent="-177800">
              <a:lnSpc>
                <a:spcPct val="110000"/>
              </a:lnSpc>
              <a:spcAft>
                <a:spcPts val="1000"/>
              </a:spcAft>
              <a:buSzPct val="100000"/>
              <a:buChar char="•"/>
            </a:pPr>
            <a:r>
              <a:rPr lang="en-US" sz="1250" dirty="0">
                <a:solidFill>
                  <a:srgbClr val="5A6B8C"/>
                </a:solidFill>
                <a:latin typeface="Calibri" pitchFamily="34" charset="0"/>
                <a:ea typeface="Calibri" pitchFamily="34" charset="-122"/>
                <a:cs typeface="Calibri" pitchFamily="34" charset="-120"/>
              </a:rPr>
              <a:t>More, smaller facilities closer to customers</a:t>
            </a:r>
            <a:endParaRPr lang="en-US" sz="1250" dirty="0"/>
          </a:p>
          <a:p>
            <a:pPr marL="177800" indent="-177800">
              <a:lnSpc>
                <a:spcPct val="110000"/>
              </a:lnSpc>
              <a:spcAft>
                <a:spcPts val="1000"/>
              </a:spcAft>
              <a:buSzPct val="100000"/>
              <a:buChar char="•"/>
            </a:pPr>
            <a:r>
              <a:rPr lang="en-US" sz="1250" dirty="0">
                <a:solidFill>
                  <a:srgbClr val="5A6B8C"/>
                </a:solidFill>
                <a:latin typeface="Calibri" pitchFamily="34" charset="0"/>
                <a:ea typeface="Calibri" pitchFamily="34" charset="-122"/>
                <a:cs typeface="Calibri" pitchFamily="34" charset="-120"/>
              </a:rPr>
              <a:t>Faster, costlier transportation modes (air, express road)</a:t>
            </a:r>
            <a:endParaRPr lang="en-US" sz="1250" dirty="0"/>
          </a:p>
          <a:p>
            <a:pPr marL="177800" indent="-177800">
              <a:lnSpc>
                <a:spcPct val="110000"/>
              </a:lnSpc>
              <a:spcAft>
                <a:spcPts val="1000"/>
              </a:spcAft>
              <a:buSzPct val="100000"/>
              <a:buChar char="•"/>
            </a:pPr>
            <a:r>
              <a:rPr lang="en-US" sz="1250" dirty="0">
                <a:solidFill>
                  <a:srgbClr val="5A6B8C"/>
                </a:solidFill>
                <a:latin typeface="Calibri" pitchFamily="34" charset="0"/>
                <a:ea typeface="Calibri" pitchFamily="34" charset="-122"/>
                <a:cs typeface="Calibri" pitchFamily="34" charset="-120"/>
              </a:rPr>
              <a:t>Higher inventory and safety stock everywhere</a:t>
            </a:r>
            <a:endParaRPr lang="en-US" sz="1250" dirty="0"/>
          </a:p>
          <a:p>
            <a:pPr marL="177800" indent="-177800">
              <a:lnSpc>
                <a:spcPct val="110000"/>
              </a:lnSpc>
              <a:spcAft>
                <a:spcPts val="1000"/>
              </a:spcAft>
              <a:buSzPct val="100000"/>
              <a:buChar char="•"/>
            </a:pPr>
            <a:r>
              <a:rPr lang="en-US" sz="1250" dirty="0">
                <a:solidFill>
                  <a:srgbClr val="5A6B8C"/>
                </a:solidFill>
                <a:latin typeface="Calibri" pitchFamily="34" charset="0"/>
                <a:ea typeface="Calibri" pitchFamily="34" charset="-122"/>
                <a:cs typeface="Calibri" pitchFamily="34" charset="-120"/>
              </a:rPr>
              <a:t>Shorter delivery lead times, higher fill rates</a:t>
            </a:r>
            <a:endParaRPr lang="en-US" sz="1250" dirty="0"/>
          </a:p>
        </p:txBody>
      </p:sp>
      <p:sp>
        <p:nvSpPr>
          <p:cNvPr id="11" name="Text 9"/>
          <p:cNvSpPr/>
          <p:nvPr/>
        </p:nvSpPr>
        <p:spPr>
          <a:xfrm>
            <a:off x="11551615" y="6446520"/>
            <a:ext cx="457200" cy="274320"/>
          </a:xfrm>
          <a:prstGeom prst="rect">
            <a:avLst/>
          </a:prstGeom>
          <a:noFill/>
          <a:ln/>
        </p:spPr>
        <p:txBody>
          <a:bodyPr wrap="square" lIns="0" tIns="0" rIns="0" bIns="0" rtlCol="0" anchor="ctr"/>
          <a:lstStyle/>
          <a:p>
            <a:pPr marL="0" indent="0" algn="r">
              <a:buNone/>
            </a:pPr>
            <a:r>
              <a:rPr lang="en-US" sz="1000" dirty="0">
                <a:solidFill>
                  <a:srgbClr val="5A6B8C"/>
                </a:solidFill>
                <a:latin typeface="Calibri" pitchFamily="34" charset="0"/>
                <a:ea typeface="Calibri" pitchFamily="34" charset="-122"/>
                <a:cs typeface="Calibri" pitchFamily="34" charset="-120"/>
              </a:rPr>
              <a:t>8</a:t>
            </a:r>
            <a:endParaRPr lang="en-US" sz="1000" dirty="0"/>
          </a:p>
        </p:txBody>
      </p:sp>
      <p:sp>
        <p:nvSpPr>
          <p:cNvPr id="13" name="Oval 12">
            <a:extLst>
              <a:ext uri="{FF2B5EF4-FFF2-40B4-BE49-F238E27FC236}">
                <a16:creationId xmlns:a16="http://schemas.microsoft.com/office/drawing/2014/main" id="{DCB102E4-0FE4-64E4-35F4-4B1D4FBC879F}"/>
              </a:ext>
            </a:extLst>
          </p:cNvPr>
          <p:cNvSpPr/>
          <p:nvPr/>
        </p:nvSpPr>
        <p:spPr>
          <a:xfrm>
            <a:off x="9043491" y="102925"/>
            <a:ext cx="3142211" cy="1184412"/>
          </a:xfrm>
          <a:prstGeom prst="ellipse">
            <a:avLst/>
          </a:prstGeom>
          <a:solidFill>
            <a:schemeClr val="accent1">
              <a:lumMod val="40000"/>
              <a:lumOff val="6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0900BEC8-99AB-BF04-54D0-67DD0908C070}"/>
              </a:ext>
            </a:extLst>
          </p:cNvPr>
          <p:cNvSpPr txBox="1"/>
          <p:nvPr/>
        </p:nvSpPr>
        <p:spPr>
          <a:xfrm>
            <a:off x="9384312" y="433521"/>
            <a:ext cx="2460567" cy="523220"/>
          </a:xfrm>
          <a:prstGeom prst="rect">
            <a:avLst/>
          </a:prstGeom>
          <a:noFill/>
        </p:spPr>
        <p:txBody>
          <a:bodyPr wrap="square" rtlCol="0">
            <a:spAutoFit/>
          </a:bodyPr>
          <a:lstStyle/>
          <a:p>
            <a:r>
              <a:rPr lang="en-US" sz="2800" b="1" dirty="0"/>
              <a:t>Read this slide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EEF3FC"/>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C9962C"/>
                </a:solidFill>
                <a:latin typeface="Calibri" pitchFamily="34" charset="0"/>
                <a:ea typeface="Calibri" pitchFamily="34" charset="-122"/>
                <a:cs typeface="Calibri" pitchFamily="34" charset="-120"/>
              </a:rPr>
              <a:t>SYSTEM DESIGN</a:t>
            </a:r>
            <a:endParaRPr lang="en-US" sz="1200" dirty="0"/>
          </a:p>
        </p:txBody>
      </p:sp>
      <p:sp>
        <p:nvSpPr>
          <p:cNvPr id="3" name="Text 1"/>
          <p:cNvSpPr/>
          <p:nvPr/>
        </p:nvSpPr>
        <p:spPr>
          <a:xfrm>
            <a:off x="548640" y="621792"/>
            <a:ext cx="10515600" cy="73152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Design Principles That Hold Up in Practice</a:t>
            </a:r>
            <a:endParaRPr lang="en-US" sz="2800" dirty="0"/>
          </a:p>
        </p:txBody>
      </p:sp>
      <p:sp>
        <p:nvSpPr>
          <p:cNvPr id="4" name="Shape 2"/>
          <p:cNvSpPr/>
          <p:nvPr/>
        </p:nvSpPr>
        <p:spPr>
          <a:xfrm>
            <a:off x="566928" y="1298448"/>
            <a:ext cx="914400" cy="0"/>
          </a:xfrm>
          <a:prstGeom prst="line">
            <a:avLst/>
          </a:prstGeom>
          <a:noFill/>
          <a:ln w="31750">
            <a:solidFill>
              <a:srgbClr val="C9962C"/>
            </a:solidFill>
            <a:prstDash val="solid"/>
          </a:ln>
        </p:spPr>
        <p:txBody>
          <a:bodyPr/>
          <a:lstStyle/>
          <a:p>
            <a:endParaRPr lang="en-US"/>
          </a:p>
        </p:txBody>
      </p:sp>
      <p:sp>
        <p:nvSpPr>
          <p:cNvPr id="5" name="Text 3"/>
          <p:cNvSpPr/>
          <p:nvPr/>
        </p:nvSpPr>
        <p:spPr>
          <a:xfrm>
            <a:off x="640080" y="1737360"/>
            <a:ext cx="10881360" cy="4206240"/>
          </a:xfrm>
          <a:prstGeom prst="rect">
            <a:avLst/>
          </a:prstGeom>
          <a:noFill/>
          <a:ln/>
        </p:spPr>
        <p:txBody>
          <a:bodyPr wrap="square" lIns="0" tIns="0" rIns="0" bIns="0" rtlCol="0" anchor="t"/>
          <a:lstStyle/>
          <a:p>
            <a:pPr marL="203200" indent="-203200">
              <a:lnSpc>
                <a:spcPct val="115000"/>
              </a:lnSpc>
              <a:spcAft>
                <a:spcPts val="1600"/>
              </a:spcAft>
              <a:buSzPct val="100000"/>
              <a:buChar char="•"/>
            </a:pPr>
            <a:r>
              <a:rPr lang="en-US" sz="1500" dirty="0">
                <a:solidFill>
                  <a:srgbClr val="1E2761"/>
                </a:solidFill>
                <a:latin typeface="Calibri" pitchFamily="34" charset="0"/>
                <a:ea typeface="Calibri" pitchFamily="34" charset="-122"/>
                <a:cs typeface="Calibri" pitchFamily="34" charset="-120"/>
              </a:rPr>
              <a:t>Design around the customer promise first — let service requirements drive network shape, not the reverse</a:t>
            </a:r>
            <a:endParaRPr lang="en-US" sz="1500" dirty="0"/>
          </a:p>
          <a:p>
            <a:pPr marL="203200" indent="-203200">
              <a:lnSpc>
                <a:spcPct val="115000"/>
              </a:lnSpc>
              <a:spcAft>
                <a:spcPts val="1600"/>
              </a:spcAft>
              <a:buSzPct val="100000"/>
              <a:buChar char="•"/>
            </a:pPr>
            <a:r>
              <a:rPr lang="en-US" sz="1500" dirty="0">
                <a:solidFill>
                  <a:srgbClr val="1E2761"/>
                </a:solidFill>
                <a:latin typeface="Calibri" pitchFamily="34" charset="0"/>
                <a:ea typeface="Calibri" pitchFamily="34" charset="-122"/>
                <a:cs typeface="Calibri" pitchFamily="34" charset="-120"/>
              </a:rPr>
              <a:t>Segment the network: not every product or customer needs the same speed or cost profile</a:t>
            </a:r>
            <a:endParaRPr lang="en-US" sz="1500" dirty="0"/>
          </a:p>
          <a:p>
            <a:pPr marL="203200" indent="-203200">
              <a:lnSpc>
                <a:spcPct val="115000"/>
              </a:lnSpc>
              <a:spcAft>
                <a:spcPts val="1600"/>
              </a:spcAft>
              <a:buSzPct val="100000"/>
              <a:buChar char="•"/>
            </a:pPr>
            <a:r>
              <a:rPr lang="en-US" sz="1500" dirty="0">
                <a:solidFill>
                  <a:srgbClr val="1E2761"/>
                </a:solidFill>
                <a:latin typeface="Calibri" pitchFamily="34" charset="0"/>
                <a:ea typeface="Calibri" pitchFamily="34" charset="-122"/>
                <a:cs typeface="Calibri" pitchFamily="34" charset="-120"/>
              </a:rPr>
              <a:t>Build in postponement — delay final customisation as late in the network as economically possible</a:t>
            </a:r>
            <a:endParaRPr lang="en-US" sz="1500" dirty="0"/>
          </a:p>
          <a:p>
            <a:pPr marL="203200" indent="-203200">
              <a:lnSpc>
                <a:spcPct val="115000"/>
              </a:lnSpc>
              <a:spcAft>
                <a:spcPts val="1600"/>
              </a:spcAft>
              <a:buSzPct val="100000"/>
              <a:buChar char="•"/>
            </a:pPr>
            <a:r>
              <a:rPr lang="en-US" sz="1500" dirty="0">
                <a:solidFill>
                  <a:srgbClr val="1E2761"/>
                </a:solidFill>
                <a:latin typeface="Calibri" pitchFamily="34" charset="0"/>
                <a:ea typeface="Calibri" pitchFamily="34" charset="-122"/>
                <a:cs typeface="Calibri" pitchFamily="34" charset="-120"/>
              </a:rPr>
              <a:t>Avoid over-optimising for today’s volumes; leave room for 20–30% demand growth without a redesign</a:t>
            </a:r>
            <a:endParaRPr lang="en-US" sz="1500" dirty="0"/>
          </a:p>
          <a:p>
            <a:pPr marL="203200" indent="-203200">
              <a:lnSpc>
                <a:spcPct val="115000"/>
              </a:lnSpc>
              <a:spcAft>
                <a:spcPts val="1600"/>
              </a:spcAft>
              <a:buSzPct val="100000"/>
              <a:buChar char="•"/>
            </a:pPr>
            <a:r>
              <a:rPr lang="en-US" sz="1500" dirty="0">
                <a:solidFill>
                  <a:srgbClr val="1E2761"/>
                </a:solidFill>
                <a:latin typeface="Calibri" pitchFamily="34" charset="0"/>
                <a:ea typeface="Calibri" pitchFamily="34" charset="-122"/>
                <a:cs typeface="Calibri" pitchFamily="34" charset="-120"/>
              </a:rPr>
              <a:t>Treat information flow as seriously as physical flow — visibility often costs less than extra inventory</a:t>
            </a:r>
            <a:endParaRPr lang="en-US" sz="1500" dirty="0"/>
          </a:p>
          <a:p>
            <a:pPr marL="203200" indent="-203200">
              <a:lnSpc>
                <a:spcPct val="115000"/>
              </a:lnSpc>
              <a:spcAft>
                <a:spcPts val="1600"/>
              </a:spcAft>
              <a:buSzPct val="100000"/>
              <a:buChar char="•"/>
            </a:pPr>
            <a:r>
              <a:rPr lang="en-US" sz="1500" dirty="0">
                <a:solidFill>
                  <a:srgbClr val="1E2761"/>
                </a:solidFill>
                <a:latin typeface="Calibri" pitchFamily="34" charset="0"/>
                <a:ea typeface="Calibri" pitchFamily="34" charset="-122"/>
                <a:cs typeface="Calibri" pitchFamily="34" charset="-120"/>
              </a:rPr>
              <a:t>Revisit the design whenever a major market, channel or product shift occurs</a:t>
            </a:r>
            <a:endParaRPr lang="en-US" sz="1500" dirty="0"/>
          </a:p>
        </p:txBody>
      </p:sp>
      <p:sp>
        <p:nvSpPr>
          <p:cNvPr id="6" name="Text 4"/>
          <p:cNvSpPr/>
          <p:nvPr/>
        </p:nvSpPr>
        <p:spPr>
          <a:xfrm>
            <a:off x="11551615" y="6446520"/>
            <a:ext cx="457200" cy="274320"/>
          </a:xfrm>
          <a:prstGeom prst="rect">
            <a:avLst/>
          </a:prstGeom>
          <a:noFill/>
          <a:ln/>
        </p:spPr>
        <p:txBody>
          <a:bodyPr wrap="square" lIns="0" tIns="0" rIns="0" bIns="0" rtlCol="0" anchor="ctr"/>
          <a:lstStyle/>
          <a:p>
            <a:pPr marL="0" indent="0" algn="r">
              <a:buNone/>
            </a:pPr>
            <a:r>
              <a:rPr lang="en-US" sz="1000" dirty="0">
                <a:solidFill>
                  <a:srgbClr val="5A6B8C"/>
                </a:solidFill>
                <a:latin typeface="Calibri" pitchFamily="34" charset="0"/>
                <a:ea typeface="Calibri" pitchFamily="34" charset="-122"/>
                <a:cs typeface="Calibri" pitchFamily="34" charset="-120"/>
              </a:rPr>
              <a:t>9</a:t>
            </a:r>
            <a:endParaRPr lang="en-US" sz="1000" dirty="0"/>
          </a:p>
        </p:txBody>
      </p:sp>
      <p:sp>
        <p:nvSpPr>
          <p:cNvPr id="8" name="Oval 7">
            <a:extLst>
              <a:ext uri="{FF2B5EF4-FFF2-40B4-BE49-F238E27FC236}">
                <a16:creationId xmlns:a16="http://schemas.microsoft.com/office/drawing/2014/main" id="{D1722218-CC3E-923C-0A03-A0B67A4869A1}"/>
              </a:ext>
            </a:extLst>
          </p:cNvPr>
          <p:cNvSpPr/>
          <p:nvPr/>
        </p:nvSpPr>
        <p:spPr>
          <a:xfrm>
            <a:off x="9043491" y="93594"/>
            <a:ext cx="3142211" cy="1184412"/>
          </a:xfrm>
          <a:prstGeom prst="ellipse">
            <a:avLst/>
          </a:prstGeom>
          <a:solidFill>
            <a:schemeClr val="accent1">
              <a:lumMod val="40000"/>
              <a:lumOff val="6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013FEF9-CC42-A5E0-6816-16089B235196}"/>
              </a:ext>
            </a:extLst>
          </p:cNvPr>
          <p:cNvSpPr txBox="1"/>
          <p:nvPr/>
        </p:nvSpPr>
        <p:spPr>
          <a:xfrm>
            <a:off x="9384312" y="424190"/>
            <a:ext cx="2460567" cy="523220"/>
          </a:xfrm>
          <a:prstGeom prst="rect">
            <a:avLst/>
          </a:prstGeom>
          <a:noFill/>
        </p:spPr>
        <p:txBody>
          <a:bodyPr wrap="square" rtlCol="0">
            <a:spAutoFit/>
          </a:bodyPr>
          <a:lstStyle/>
          <a:p>
            <a:r>
              <a:rPr lang="en-US" sz="2800" b="1" dirty="0"/>
              <a:t>Read this slide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C9962C"/>
                </a:solidFill>
                <a:latin typeface="Calibri" pitchFamily="34" charset="0"/>
                <a:ea typeface="Calibri" pitchFamily="34" charset="-122"/>
                <a:cs typeface="Calibri" pitchFamily="34" charset="-120"/>
              </a:rPr>
              <a:t>SYSTEM DESIGN</a:t>
            </a:r>
            <a:endParaRPr lang="en-US" sz="1200" dirty="0"/>
          </a:p>
        </p:txBody>
      </p:sp>
      <p:sp>
        <p:nvSpPr>
          <p:cNvPr id="3" name="Text 1"/>
          <p:cNvSpPr/>
          <p:nvPr/>
        </p:nvSpPr>
        <p:spPr>
          <a:xfrm>
            <a:off x="548640" y="621792"/>
            <a:ext cx="10515600" cy="73152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Example: Redesigning the Network for a Growing FMCG Firm</a:t>
            </a:r>
            <a:endParaRPr lang="en-US" sz="2800" dirty="0"/>
          </a:p>
        </p:txBody>
      </p:sp>
      <p:sp>
        <p:nvSpPr>
          <p:cNvPr id="4" name="Shape 2"/>
          <p:cNvSpPr/>
          <p:nvPr/>
        </p:nvSpPr>
        <p:spPr>
          <a:xfrm>
            <a:off x="566928" y="1298448"/>
            <a:ext cx="914400" cy="0"/>
          </a:xfrm>
          <a:prstGeom prst="line">
            <a:avLst/>
          </a:prstGeom>
          <a:noFill/>
          <a:ln w="31750">
            <a:solidFill>
              <a:srgbClr val="C9962C"/>
            </a:solidFill>
            <a:prstDash val="solid"/>
          </a:ln>
        </p:spPr>
        <p:txBody>
          <a:bodyPr/>
          <a:lstStyle/>
          <a:p>
            <a:endParaRPr lang="en-US"/>
          </a:p>
        </p:txBody>
      </p:sp>
      <p:sp>
        <p:nvSpPr>
          <p:cNvPr id="5" name="Text 3"/>
          <p:cNvSpPr/>
          <p:nvPr/>
        </p:nvSpPr>
        <p:spPr>
          <a:xfrm>
            <a:off x="640080" y="1691640"/>
            <a:ext cx="10881360" cy="914400"/>
          </a:xfrm>
          <a:prstGeom prst="rect">
            <a:avLst/>
          </a:prstGeom>
          <a:noFill/>
          <a:ln/>
        </p:spPr>
        <p:txBody>
          <a:bodyPr wrap="square" lIns="0" tIns="0" rIns="0" bIns="0" rtlCol="0" anchor="t"/>
          <a:lstStyle/>
          <a:p>
            <a:pPr marL="0" indent="0">
              <a:lnSpc>
                <a:spcPct val="125000"/>
              </a:lnSpc>
              <a:buNone/>
            </a:pPr>
            <a:r>
              <a:rPr lang="en-US" sz="1400" dirty="0">
                <a:solidFill>
                  <a:srgbClr val="1E2761"/>
                </a:solidFill>
                <a:latin typeface="Calibri" pitchFamily="34" charset="0"/>
                <a:ea typeface="Calibri" pitchFamily="34" charset="-122"/>
                <a:cs typeface="Calibri" pitchFamily="34" charset="-120"/>
              </a:rPr>
              <a:t>A packaged-foods company had grown from one factory and two warehouses to national scale, but was still shipping every order through its original two-warehouse network — delivery times to the south had crept up to 4 days.</a:t>
            </a:r>
            <a:endParaRPr lang="en-US" sz="1400" dirty="0"/>
          </a:p>
        </p:txBody>
      </p:sp>
      <p:sp>
        <p:nvSpPr>
          <p:cNvPr id="6" name="Shape 4"/>
          <p:cNvSpPr/>
          <p:nvPr/>
        </p:nvSpPr>
        <p:spPr>
          <a:xfrm>
            <a:off x="640080" y="2788920"/>
            <a:ext cx="3454298" cy="1737360"/>
          </a:xfrm>
          <a:prstGeom prst="roundRect">
            <a:avLst>
              <a:gd name="adj" fmla="val 4211"/>
            </a:avLst>
          </a:prstGeom>
          <a:solidFill>
            <a:srgbClr val="FFFFFF"/>
          </a:solidFill>
          <a:ln w="12700">
            <a:solidFill>
              <a:srgbClr val="D7E0F5"/>
            </a:solidFill>
            <a:prstDash val="solid"/>
          </a:ln>
          <a:effectLst>
            <a:outerShdw blurRad="76200" dist="25400" dir="5400000" algn="bl" rotWithShape="0">
              <a:srgbClr val="1E2761">
                <a:alpha val="8000"/>
              </a:srgbClr>
            </a:outerShdw>
          </a:effectLst>
        </p:spPr>
        <p:txBody>
          <a:bodyPr/>
          <a:lstStyle/>
          <a:p>
            <a:endParaRPr lang="en-US"/>
          </a:p>
        </p:txBody>
      </p:sp>
      <p:sp>
        <p:nvSpPr>
          <p:cNvPr id="7" name="Text 5"/>
          <p:cNvSpPr/>
          <p:nvPr/>
        </p:nvSpPr>
        <p:spPr>
          <a:xfrm>
            <a:off x="640080" y="2953512"/>
            <a:ext cx="3454298" cy="685800"/>
          </a:xfrm>
          <a:prstGeom prst="rect">
            <a:avLst/>
          </a:prstGeom>
          <a:noFill/>
          <a:ln/>
        </p:spPr>
        <p:txBody>
          <a:bodyPr wrap="square" lIns="0" tIns="0" rIns="0" bIns="0" rtlCol="0" anchor="ctr"/>
          <a:lstStyle/>
          <a:p>
            <a:pPr marL="0" indent="0" algn="ctr">
              <a:buNone/>
            </a:pPr>
            <a:r>
              <a:rPr lang="en-US" sz="3000" b="1" dirty="0">
                <a:solidFill>
                  <a:srgbClr val="C9962C"/>
                </a:solidFill>
                <a:latin typeface="Cambria" pitchFamily="34" charset="0"/>
                <a:ea typeface="Cambria" pitchFamily="34" charset="-122"/>
                <a:cs typeface="Cambria" pitchFamily="34" charset="-120"/>
              </a:rPr>
              <a:t>2 → 5</a:t>
            </a:r>
            <a:endParaRPr lang="en-US" sz="3000" dirty="0"/>
          </a:p>
        </p:txBody>
      </p:sp>
      <p:sp>
        <p:nvSpPr>
          <p:cNvPr id="8" name="Text 6"/>
          <p:cNvSpPr/>
          <p:nvPr/>
        </p:nvSpPr>
        <p:spPr>
          <a:xfrm>
            <a:off x="777240" y="3657600"/>
            <a:ext cx="3179978" cy="777240"/>
          </a:xfrm>
          <a:prstGeom prst="rect">
            <a:avLst/>
          </a:prstGeom>
          <a:noFill/>
          <a:ln/>
        </p:spPr>
        <p:txBody>
          <a:bodyPr wrap="square" lIns="0" tIns="0" rIns="0" bIns="0" rtlCol="0" anchor="t"/>
          <a:lstStyle/>
          <a:p>
            <a:pPr marL="0" indent="0" algn="ctr">
              <a:buNone/>
            </a:pPr>
            <a:r>
              <a:rPr lang="en-US" sz="1100" dirty="0">
                <a:solidFill>
                  <a:srgbClr val="5A6B8C"/>
                </a:solidFill>
                <a:latin typeface="Calibri" pitchFamily="34" charset="0"/>
                <a:ea typeface="Calibri" pitchFamily="34" charset="-122"/>
                <a:cs typeface="Calibri" pitchFamily="34" charset="-120"/>
              </a:rPr>
              <a:t>Regional distribution centres added to the network</a:t>
            </a:r>
            <a:endParaRPr lang="en-US" sz="1100" dirty="0"/>
          </a:p>
        </p:txBody>
      </p:sp>
      <p:sp>
        <p:nvSpPr>
          <p:cNvPr id="9" name="Shape 7"/>
          <p:cNvSpPr/>
          <p:nvPr/>
        </p:nvSpPr>
        <p:spPr>
          <a:xfrm>
            <a:off x="4368698" y="2788920"/>
            <a:ext cx="3454298" cy="1737360"/>
          </a:xfrm>
          <a:prstGeom prst="roundRect">
            <a:avLst>
              <a:gd name="adj" fmla="val 4211"/>
            </a:avLst>
          </a:prstGeom>
          <a:solidFill>
            <a:srgbClr val="FFFFFF"/>
          </a:solidFill>
          <a:ln w="12700">
            <a:solidFill>
              <a:srgbClr val="D7E0F5"/>
            </a:solidFill>
            <a:prstDash val="solid"/>
          </a:ln>
          <a:effectLst>
            <a:outerShdw blurRad="76200" dist="25400" dir="5400000" algn="bl" rotWithShape="0">
              <a:srgbClr val="1E2761">
                <a:alpha val="8000"/>
              </a:srgbClr>
            </a:outerShdw>
          </a:effectLst>
        </p:spPr>
        <p:txBody>
          <a:bodyPr/>
          <a:lstStyle/>
          <a:p>
            <a:endParaRPr lang="en-US"/>
          </a:p>
        </p:txBody>
      </p:sp>
      <p:sp>
        <p:nvSpPr>
          <p:cNvPr id="10" name="Text 8"/>
          <p:cNvSpPr/>
          <p:nvPr/>
        </p:nvSpPr>
        <p:spPr>
          <a:xfrm>
            <a:off x="4368698" y="2953512"/>
            <a:ext cx="3454298" cy="685800"/>
          </a:xfrm>
          <a:prstGeom prst="rect">
            <a:avLst/>
          </a:prstGeom>
          <a:noFill/>
          <a:ln/>
        </p:spPr>
        <p:txBody>
          <a:bodyPr wrap="square" lIns="0" tIns="0" rIns="0" bIns="0" rtlCol="0" anchor="ctr"/>
          <a:lstStyle/>
          <a:p>
            <a:pPr marL="0" indent="0" algn="ctr">
              <a:buNone/>
            </a:pPr>
            <a:r>
              <a:rPr lang="en-US" sz="3000" b="1" dirty="0">
                <a:solidFill>
                  <a:srgbClr val="C9962C"/>
                </a:solidFill>
                <a:latin typeface="Cambria" pitchFamily="34" charset="0"/>
                <a:ea typeface="Cambria" pitchFamily="34" charset="-122"/>
                <a:cs typeface="Cambria" pitchFamily="34" charset="-120"/>
              </a:rPr>
              <a:t>4 → 1.5</a:t>
            </a:r>
            <a:endParaRPr lang="en-US" sz="3000" dirty="0"/>
          </a:p>
        </p:txBody>
      </p:sp>
      <p:sp>
        <p:nvSpPr>
          <p:cNvPr id="11" name="Text 9"/>
          <p:cNvSpPr/>
          <p:nvPr/>
        </p:nvSpPr>
        <p:spPr>
          <a:xfrm>
            <a:off x="4505858" y="3657600"/>
            <a:ext cx="3179978" cy="777240"/>
          </a:xfrm>
          <a:prstGeom prst="rect">
            <a:avLst/>
          </a:prstGeom>
          <a:noFill/>
          <a:ln/>
        </p:spPr>
        <p:txBody>
          <a:bodyPr wrap="square" lIns="0" tIns="0" rIns="0" bIns="0" rtlCol="0" anchor="t"/>
          <a:lstStyle/>
          <a:p>
            <a:pPr marL="0" indent="0" algn="ctr">
              <a:buNone/>
            </a:pPr>
            <a:r>
              <a:rPr lang="en-US" sz="1100" dirty="0">
                <a:solidFill>
                  <a:srgbClr val="5A6B8C"/>
                </a:solidFill>
                <a:latin typeface="Calibri" pitchFamily="34" charset="0"/>
                <a:ea typeface="Calibri" pitchFamily="34" charset="-122"/>
                <a:cs typeface="Calibri" pitchFamily="34" charset="-120"/>
              </a:rPr>
              <a:t>Days average delivery time cut in the southern region</a:t>
            </a:r>
            <a:endParaRPr lang="en-US" sz="1100" dirty="0"/>
          </a:p>
        </p:txBody>
      </p:sp>
      <p:sp>
        <p:nvSpPr>
          <p:cNvPr id="12" name="Shape 10"/>
          <p:cNvSpPr/>
          <p:nvPr/>
        </p:nvSpPr>
        <p:spPr>
          <a:xfrm>
            <a:off x="8097317" y="2788920"/>
            <a:ext cx="3454298" cy="1737360"/>
          </a:xfrm>
          <a:prstGeom prst="roundRect">
            <a:avLst>
              <a:gd name="adj" fmla="val 4211"/>
            </a:avLst>
          </a:prstGeom>
          <a:solidFill>
            <a:srgbClr val="FFFFFF"/>
          </a:solidFill>
          <a:ln w="12700">
            <a:solidFill>
              <a:srgbClr val="D7E0F5"/>
            </a:solidFill>
            <a:prstDash val="solid"/>
          </a:ln>
          <a:effectLst>
            <a:outerShdw blurRad="76200" dist="25400" dir="5400000" algn="bl" rotWithShape="0">
              <a:srgbClr val="1E2761">
                <a:alpha val="8000"/>
              </a:srgbClr>
            </a:outerShdw>
          </a:effectLst>
        </p:spPr>
        <p:txBody>
          <a:bodyPr/>
          <a:lstStyle/>
          <a:p>
            <a:endParaRPr lang="en-US"/>
          </a:p>
        </p:txBody>
      </p:sp>
      <p:sp>
        <p:nvSpPr>
          <p:cNvPr id="13" name="Text 11"/>
          <p:cNvSpPr/>
          <p:nvPr/>
        </p:nvSpPr>
        <p:spPr>
          <a:xfrm>
            <a:off x="8097317" y="2953512"/>
            <a:ext cx="3454298" cy="685800"/>
          </a:xfrm>
          <a:prstGeom prst="rect">
            <a:avLst/>
          </a:prstGeom>
          <a:noFill/>
          <a:ln/>
        </p:spPr>
        <p:txBody>
          <a:bodyPr wrap="square" lIns="0" tIns="0" rIns="0" bIns="0" rtlCol="0" anchor="ctr"/>
          <a:lstStyle/>
          <a:p>
            <a:pPr marL="0" indent="0" algn="ctr">
              <a:buNone/>
            </a:pPr>
            <a:r>
              <a:rPr lang="en-US" sz="3000" b="1" dirty="0">
                <a:solidFill>
                  <a:srgbClr val="C9962C"/>
                </a:solidFill>
                <a:latin typeface="Cambria" pitchFamily="34" charset="0"/>
                <a:ea typeface="Cambria" pitchFamily="34" charset="-122"/>
                <a:cs typeface="Cambria" pitchFamily="34" charset="-120"/>
              </a:rPr>
              <a:t>₹12cr</a:t>
            </a:r>
            <a:endParaRPr lang="en-US" sz="3000" dirty="0"/>
          </a:p>
        </p:txBody>
      </p:sp>
      <p:sp>
        <p:nvSpPr>
          <p:cNvPr id="14" name="Text 12"/>
          <p:cNvSpPr/>
          <p:nvPr/>
        </p:nvSpPr>
        <p:spPr>
          <a:xfrm>
            <a:off x="8234477" y="3657600"/>
            <a:ext cx="3179978" cy="777240"/>
          </a:xfrm>
          <a:prstGeom prst="rect">
            <a:avLst/>
          </a:prstGeom>
          <a:noFill/>
          <a:ln/>
        </p:spPr>
        <p:txBody>
          <a:bodyPr wrap="square" lIns="0" tIns="0" rIns="0" bIns="0" rtlCol="0" anchor="t"/>
          <a:lstStyle/>
          <a:p>
            <a:pPr marL="0" indent="0" algn="ctr">
              <a:buNone/>
            </a:pPr>
            <a:r>
              <a:rPr lang="en-US" sz="1100" dirty="0">
                <a:solidFill>
                  <a:srgbClr val="5A6B8C"/>
                </a:solidFill>
                <a:latin typeface="Calibri" pitchFamily="34" charset="0"/>
                <a:ea typeface="Calibri" pitchFamily="34" charset="-122"/>
                <a:cs typeface="Calibri" pitchFamily="34" charset="-120"/>
              </a:rPr>
              <a:t>Estimated annual savings from reduced expedited freight</a:t>
            </a:r>
            <a:endParaRPr lang="en-US" sz="1100" dirty="0"/>
          </a:p>
        </p:txBody>
      </p:sp>
      <p:sp>
        <p:nvSpPr>
          <p:cNvPr id="15" name="Shape 13"/>
          <p:cNvSpPr/>
          <p:nvPr/>
        </p:nvSpPr>
        <p:spPr>
          <a:xfrm>
            <a:off x="640080" y="4709160"/>
            <a:ext cx="10881360" cy="1600200"/>
          </a:xfrm>
          <a:prstGeom prst="roundRect">
            <a:avLst>
              <a:gd name="adj" fmla="val 5143"/>
            </a:avLst>
          </a:prstGeom>
          <a:solidFill>
            <a:srgbClr val="1E2761"/>
          </a:solidFill>
          <a:ln/>
        </p:spPr>
        <p:txBody>
          <a:bodyPr/>
          <a:lstStyle/>
          <a:p>
            <a:endParaRPr lang="en-US"/>
          </a:p>
        </p:txBody>
      </p:sp>
      <p:sp>
        <p:nvSpPr>
          <p:cNvPr id="16" name="Shape 14"/>
          <p:cNvSpPr/>
          <p:nvPr/>
        </p:nvSpPr>
        <p:spPr>
          <a:xfrm>
            <a:off x="868680" y="5234940"/>
            <a:ext cx="548640" cy="548640"/>
          </a:xfrm>
          <a:prstGeom prst="ellipse">
            <a:avLst/>
          </a:prstGeom>
          <a:solidFill>
            <a:srgbClr val="C9962C"/>
          </a:solidFill>
          <a:ln/>
          <a:effectLst>
            <a:outerShdw blurRad="76200" dist="25400" dir="5400000" algn="bl" rotWithShape="0">
              <a:srgbClr val="1E2761">
                <a:alpha val="18000"/>
              </a:srgbClr>
            </a:outerShdw>
          </a:effectLst>
        </p:spPr>
        <p:txBody>
          <a:bodyPr/>
          <a:lstStyle/>
          <a:p>
            <a:endParaRPr lang="en-US"/>
          </a:p>
        </p:txBody>
      </p:sp>
      <p:pic>
        <p:nvPicPr>
          <p:cNvPr id="17" name="Image 0" descr="/home/claude/demand-mgmt-ppt/icons/lightbulb.png"/>
          <p:cNvPicPr>
            <a:picLocks noChangeAspect="1"/>
          </p:cNvPicPr>
          <p:nvPr/>
        </p:nvPicPr>
        <p:blipFill>
          <a:blip r:embed="rId3"/>
          <a:stretch>
            <a:fillRect/>
          </a:stretch>
        </p:blipFill>
        <p:spPr>
          <a:xfrm>
            <a:off x="1005840" y="5372100"/>
            <a:ext cx="274320" cy="274320"/>
          </a:xfrm>
          <a:prstGeom prst="rect">
            <a:avLst/>
          </a:prstGeom>
        </p:spPr>
      </p:pic>
      <p:sp>
        <p:nvSpPr>
          <p:cNvPr id="18" name="Text 15"/>
          <p:cNvSpPr/>
          <p:nvPr/>
        </p:nvSpPr>
        <p:spPr>
          <a:xfrm>
            <a:off x="1554480" y="4837176"/>
            <a:ext cx="9692640" cy="274320"/>
          </a:xfrm>
          <a:prstGeom prst="rect">
            <a:avLst/>
          </a:prstGeom>
          <a:noFill/>
          <a:ln/>
        </p:spPr>
        <p:txBody>
          <a:bodyPr wrap="square" lIns="0" tIns="0" rIns="0" bIns="0" rtlCol="0" anchor="ctr"/>
          <a:lstStyle/>
          <a:p>
            <a:pPr marL="0" indent="0">
              <a:buNone/>
            </a:pPr>
            <a:r>
              <a:rPr lang="en-US" sz="1100" b="1" kern="0" spc="150" dirty="0">
                <a:solidFill>
                  <a:srgbClr val="C9962C"/>
                </a:solidFill>
                <a:latin typeface="Calibri" pitchFamily="34" charset="0"/>
                <a:ea typeface="Calibri" pitchFamily="34" charset="-122"/>
                <a:cs typeface="Calibri" pitchFamily="34" charset="-120"/>
              </a:rPr>
              <a:t>LESSON</a:t>
            </a:r>
            <a:endParaRPr lang="en-US" sz="1100" dirty="0"/>
          </a:p>
        </p:txBody>
      </p:sp>
      <p:sp>
        <p:nvSpPr>
          <p:cNvPr id="19" name="Text 16"/>
          <p:cNvSpPr/>
          <p:nvPr/>
        </p:nvSpPr>
        <p:spPr>
          <a:xfrm>
            <a:off x="1554480" y="5129784"/>
            <a:ext cx="9692640" cy="1069848"/>
          </a:xfrm>
          <a:prstGeom prst="rect">
            <a:avLst/>
          </a:prstGeom>
          <a:noFill/>
          <a:ln/>
        </p:spPr>
        <p:txBody>
          <a:bodyPr wrap="square" lIns="0" tIns="0" rIns="0" bIns="0" rtlCol="0" anchor="t"/>
          <a:lstStyle/>
          <a:p>
            <a:pPr marL="0" indent="0">
              <a:lnSpc>
                <a:spcPct val="110000"/>
              </a:lnSpc>
              <a:buNone/>
            </a:pPr>
            <a:r>
              <a:rPr lang="en-US" sz="1250" dirty="0">
                <a:solidFill>
                  <a:srgbClr val="FFFFFF"/>
                </a:solidFill>
                <a:latin typeface="Calibri" pitchFamily="34" charset="0"/>
                <a:ea typeface="Calibri" pitchFamily="34" charset="-122"/>
                <a:cs typeface="Calibri" pitchFamily="34" charset="-120"/>
              </a:rPr>
              <a:t>The redesign traded a small increase in facility and inventory cost for a much larger reduction in transportation cost and lost sales from late deliveries — the classic cost-service trade-off resolved with data, not guesswork.</a:t>
            </a:r>
            <a:endParaRPr lang="en-US" sz="1250" dirty="0"/>
          </a:p>
        </p:txBody>
      </p:sp>
      <p:sp>
        <p:nvSpPr>
          <p:cNvPr id="20" name="Text 17"/>
          <p:cNvSpPr/>
          <p:nvPr/>
        </p:nvSpPr>
        <p:spPr>
          <a:xfrm>
            <a:off x="11551615" y="6446520"/>
            <a:ext cx="457200" cy="274320"/>
          </a:xfrm>
          <a:prstGeom prst="rect">
            <a:avLst/>
          </a:prstGeom>
          <a:noFill/>
          <a:ln/>
        </p:spPr>
        <p:txBody>
          <a:bodyPr wrap="square" lIns="0" tIns="0" rIns="0" bIns="0" rtlCol="0" anchor="ctr"/>
          <a:lstStyle/>
          <a:p>
            <a:pPr marL="0" indent="0" algn="r">
              <a:buNone/>
            </a:pPr>
            <a:r>
              <a:rPr lang="en-US" sz="1000" dirty="0">
                <a:solidFill>
                  <a:srgbClr val="5A6B8C"/>
                </a:solidFill>
                <a:latin typeface="Calibri" pitchFamily="34" charset="0"/>
                <a:ea typeface="Calibri" pitchFamily="34" charset="-122"/>
                <a:cs typeface="Calibri" pitchFamily="34" charset="-120"/>
              </a:rPr>
              <a:t>10</a:t>
            </a:r>
            <a:endParaRPr lang="en-US" sz="1000" dirty="0"/>
          </a:p>
        </p:txBody>
      </p:sp>
      <p:sp>
        <p:nvSpPr>
          <p:cNvPr id="22" name="Oval 21">
            <a:extLst>
              <a:ext uri="{FF2B5EF4-FFF2-40B4-BE49-F238E27FC236}">
                <a16:creationId xmlns:a16="http://schemas.microsoft.com/office/drawing/2014/main" id="{8A5953CD-EBF8-C0DF-E3AD-78FB3A80A8DB}"/>
              </a:ext>
            </a:extLst>
          </p:cNvPr>
          <p:cNvSpPr/>
          <p:nvPr/>
        </p:nvSpPr>
        <p:spPr>
          <a:xfrm>
            <a:off x="8409404" y="5664545"/>
            <a:ext cx="3142211" cy="1184412"/>
          </a:xfrm>
          <a:prstGeom prst="ellipse">
            <a:avLst/>
          </a:prstGeom>
          <a:solidFill>
            <a:schemeClr val="accent1">
              <a:lumMod val="40000"/>
              <a:lumOff val="6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932ECA4B-6ED8-8622-1A0F-0457A2BB70A4}"/>
              </a:ext>
            </a:extLst>
          </p:cNvPr>
          <p:cNvSpPr txBox="1"/>
          <p:nvPr/>
        </p:nvSpPr>
        <p:spPr>
          <a:xfrm>
            <a:off x="8750225" y="5995141"/>
            <a:ext cx="2460567" cy="523220"/>
          </a:xfrm>
          <a:prstGeom prst="rect">
            <a:avLst/>
          </a:prstGeom>
          <a:noFill/>
        </p:spPr>
        <p:txBody>
          <a:bodyPr wrap="square" rtlCol="0">
            <a:spAutoFit/>
          </a:bodyPr>
          <a:lstStyle/>
          <a:p>
            <a:r>
              <a:rPr lang="en-US" sz="2800" b="1" dirty="0"/>
              <a:t>Read this slide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7863840" y="548640"/>
            <a:ext cx="3840480" cy="5486400"/>
          </a:xfrm>
          <a:prstGeom prst="rect">
            <a:avLst/>
          </a:prstGeom>
          <a:noFill/>
          <a:ln/>
        </p:spPr>
        <p:txBody>
          <a:bodyPr wrap="square" lIns="0" tIns="0" rIns="0" bIns="0" rtlCol="0" anchor="ctr"/>
          <a:lstStyle/>
          <a:p>
            <a:pPr marL="0" indent="0" algn="r">
              <a:buNone/>
            </a:pPr>
            <a:r>
              <a:rPr lang="en-US" sz="34000" b="1" dirty="0">
                <a:solidFill>
                  <a:srgbClr val="141A3D"/>
                </a:solidFill>
                <a:latin typeface="Cambria" pitchFamily="34" charset="0"/>
                <a:ea typeface="Cambria" pitchFamily="34" charset="-122"/>
                <a:cs typeface="Cambria" pitchFamily="34" charset="-120"/>
              </a:rPr>
              <a:t>02</a:t>
            </a:r>
            <a:endParaRPr lang="en-US" sz="34000" dirty="0"/>
          </a:p>
        </p:txBody>
      </p:sp>
      <p:sp>
        <p:nvSpPr>
          <p:cNvPr id="3" name="Shape 1"/>
          <p:cNvSpPr/>
          <p:nvPr/>
        </p:nvSpPr>
        <p:spPr>
          <a:xfrm>
            <a:off x="1005840" y="2057400"/>
            <a:ext cx="1371600" cy="1371600"/>
          </a:xfrm>
          <a:prstGeom prst="ellipse">
            <a:avLst/>
          </a:prstGeom>
          <a:solidFill>
            <a:srgbClr val="C9962C"/>
          </a:solidFill>
          <a:ln/>
          <a:effectLst>
            <a:outerShdw blurRad="76200" dist="25400" dir="5400000" algn="bl" rotWithShape="0">
              <a:srgbClr val="1E2761">
                <a:alpha val="18000"/>
              </a:srgbClr>
            </a:outerShdw>
          </a:effectLst>
        </p:spPr>
        <p:txBody>
          <a:bodyPr/>
          <a:lstStyle/>
          <a:p>
            <a:endParaRPr lang="en-US"/>
          </a:p>
        </p:txBody>
      </p:sp>
      <p:pic>
        <p:nvPicPr>
          <p:cNvPr id="4" name="Image 0" descr="/home/claude/demand-mgmt-ppt/icons/road.png"/>
          <p:cNvPicPr>
            <a:picLocks noChangeAspect="1"/>
          </p:cNvPicPr>
          <p:nvPr/>
        </p:nvPicPr>
        <p:blipFill>
          <a:blip r:embed="rId3"/>
          <a:stretch>
            <a:fillRect/>
          </a:stretch>
        </p:blipFill>
        <p:spPr>
          <a:xfrm>
            <a:off x="1348740" y="2400300"/>
            <a:ext cx="685800" cy="685800"/>
          </a:xfrm>
          <a:prstGeom prst="rect">
            <a:avLst/>
          </a:prstGeom>
        </p:spPr>
      </p:pic>
      <p:sp>
        <p:nvSpPr>
          <p:cNvPr id="5" name="Text 2"/>
          <p:cNvSpPr/>
          <p:nvPr/>
        </p:nvSpPr>
        <p:spPr>
          <a:xfrm>
            <a:off x="822960" y="3703320"/>
            <a:ext cx="7315200" cy="365760"/>
          </a:xfrm>
          <a:prstGeom prst="rect">
            <a:avLst/>
          </a:prstGeom>
          <a:noFill/>
          <a:ln/>
        </p:spPr>
        <p:txBody>
          <a:bodyPr wrap="square" lIns="0" tIns="0" rIns="0" bIns="0" rtlCol="0" anchor="ctr"/>
          <a:lstStyle/>
          <a:p>
            <a:pPr marL="0" indent="0">
              <a:buNone/>
            </a:pPr>
            <a:r>
              <a:rPr lang="en-US" sz="1400" b="1" kern="0" spc="300" dirty="0">
                <a:solidFill>
                  <a:srgbClr val="C9962C"/>
                </a:solidFill>
                <a:latin typeface="Calibri" pitchFamily="34" charset="0"/>
                <a:ea typeface="Calibri" pitchFamily="34" charset="-122"/>
                <a:cs typeface="Calibri" pitchFamily="34" charset="-120"/>
              </a:rPr>
              <a:t>SECTION 02</a:t>
            </a:r>
            <a:endParaRPr lang="en-US" sz="1400" dirty="0"/>
          </a:p>
        </p:txBody>
      </p:sp>
      <p:sp>
        <p:nvSpPr>
          <p:cNvPr id="6" name="Text 3"/>
          <p:cNvSpPr/>
          <p:nvPr/>
        </p:nvSpPr>
        <p:spPr>
          <a:xfrm>
            <a:off x="822960" y="4069080"/>
            <a:ext cx="8686800" cy="118872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Logistics Infrastructure Development</a:t>
            </a:r>
            <a:endParaRPr lang="en-US" sz="4000" dirty="0"/>
          </a:p>
        </p:txBody>
      </p:sp>
      <p:sp>
        <p:nvSpPr>
          <p:cNvPr id="7" name="Text 4"/>
          <p:cNvSpPr/>
          <p:nvPr/>
        </p:nvSpPr>
        <p:spPr>
          <a:xfrm>
            <a:off x="822960" y="5166360"/>
            <a:ext cx="8046720" cy="731520"/>
          </a:xfrm>
          <a:prstGeom prst="rect">
            <a:avLst/>
          </a:prstGeom>
          <a:noFill/>
          <a:ln/>
        </p:spPr>
        <p:txBody>
          <a:bodyPr wrap="square" lIns="0" tIns="0" rIns="0" bIns="0" rtlCol="0" anchor="ctr"/>
          <a:lstStyle/>
          <a:p>
            <a:pPr marL="0" indent="0">
              <a:buNone/>
            </a:pPr>
            <a:r>
              <a:rPr lang="en-US" sz="1500" i="1" dirty="0">
                <a:solidFill>
                  <a:srgbClr val="CADCFC"/>
                </a:solidFill>
                <a:latin typeface="Calibri" pitchFamily="34" charset="0"/>
                <a:ea typeface="Calibri" pitchFamily="34" charset="-122"/>
                <a:cs typeface="Calibri" pitchFamily="34" charset="-120"/>
              </a:rPr>
              <a:t>The physical, digital and institutional foundations that determine what any logistics network can actually achieve</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C9962C"/>
                </a:solidFill>
                <a:latin typeface="Calibri" pitchFamily="34" charset="0"/>
                <a:ea typeface="Calibri" pitchFamily="34" charset="-122"/>
                <a:cs typeface="Calibri" pitchFamily="34" charset="-120"/>
              </a:rPr>
              <a:t>INFRASTRUCTURE</a:t>
            </a:r>
            <a:endParaRPr lang="en-US" sz="1200" dirty="0"/>
          </a:p>
        </p:txBody>
      </p:sp>
      <p:sp>
        <p:nvSpPr>
          <p:cNvPr id="3" name="Text 1"/>
          <p:cNvSpPr/>
          <p:nvPr/>
        </p:nvSpPr>
        <p:spPr>
          <a:xfrm>
            <a:off x="548640" y="621792"/>
            <a:ext cx="10515600" cy="73152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What is Logistics Infrastructure?</a:t>
            </a:r>
            <a:endParaRPr lang="en-US" sz="2800" dirty="0"/>
          </a:p>
        </p:txBody>
      </p:sp>
      <p:sp>
        <p:nvSpPr>
          <p:cNvPr id="4" name="Shape 2"/>
          <p:cNvSpPr/>
          <p:nvPr/>
        </p:nvSpPr>
        <p:spPr>
          <a:xfrm>
            <a:off x="566928" y="1298448"/>
            <a:ext cx="914400" cy="0"/>
          </a:xfrm>
          <a:prstGeom prst="line">
            <a:avLst/>
          </a:prstGeom>
          <a:noFill/>
          <a:ln w="31750">
            <a:solidFill>
              <a:srgbClr val="C9962C"/>
            </a:solidFill>
            <a:prstDash val="solid"/>
          </a:ln>
        </p:spPr>
        <p:txBody>
          <a:bodyPr/>
          <a:lstStyle/>
          <a:p>
            <a:endParaRPr lang="en-US"/>
          </a:p>
        </p:txBody>
      </p:sp>
      <p:sp>
        <p:nvSpPr>
          <p:cNvPr id="5" name="Text 3"/>
          <p:cNvSpPr/>
          <p:nvPr/>
        </p:nvSpPr>
        <p:spPr>
          <a:xfrm>
            <a:off x="640080" y="1691640"/>
            <a:ext cx="10881360" cy="1234440"/>
          </a:xfrm>
          <a:prstGeom prst="rect">
            <a:avLst/>
          </a:prstGeom>
          <a:noFill/>
          <a:ln/>
        </p:spPr>
        <p:txBody>
          <a:bodyPr wrap="square" lIns="0" tIns="0" rIns="0" bIns="0" rtlCol="0" anchor="t"/>
          <a:lstStyle/>
          <a:p>
            <a:pPr marL="0" indent="0">
              <a:lnSpc>
                <a:spcPct val="130000"/>
              </a:lnSpc>
              <a:buNone/>
            </a:pPr>
            <a:r>
              <a:rPr lang="en-US" sz="1450" dirty="0">
                <a:solidFill>
                  <a:srgbClr val="1E2761"/>
                </a:solidFill>
                <a:latin typeface="Calibri" pitchFamily="34" charset="0"/>
                <a:ea typeface="Calibri" pitchFamily="34" charset="-122"/>
                <a:cs typeface="Calibri" pitchFamily="34" charset="-120"/>
              </a:rPr>
              <a:t>Logistics infrastructure is the set of physical facilities, transport networks, and digital systems that enable goods, information and funds to move efficiently through a supply chain. Strong infrastructure lowers cost and lead time for every company operating on it — weak infrastructure raises both, regardless of how good any single company’s planning is.</a:t>
            </a:r>
            <a:endParaRPr lang="en-US" sz="1450" dirty="0"/>
          </a:p>
        </p:txBody>
      </p:sp>
      <p:sp>
        <p:nvSpPr>
          <p:cNvPr id="6" name="Shape 4"/>
          <p:cNvSpPr/>
          <p:nvPr/>
        </p:nvSpPr>
        <p:spPr>
          <a:xfrm>
            <a:off x="548640" y="3200400"/>
            <a:ext cx="2567864" cy="2468880"/>
          </a:xfrm>
          <a:prstGeom prst="roundRect">
            <a:avLst>
              <a:gd name="adj" fmla="val 2963"/>
            </a:avLst>
          </a:prstGeom>
          <a:solidFill>
            <a:srgbClr val="FFFFFF"/>
          </a:solidFill>
          <a:ln w="12700">
            <a:solidFill>
              <a:srgbClr val="D7E0F5"/>
            </a:solidFill>
            <a:prstDash val="solid"/>
          </a:ln>
          <a:effectLst>
            <a:outerShdw blurRad="101600" dist="25400" dir="5400000" algn="bl" rotWithShape="0">
              <a:srgbClr val="1E2761">
                <a:alpha val="10000"/>
              </a:srgbClr>
            </a:outerShdw>
          </a:effectLst>
        </p:spPr>
        <p:txBody>
          <a:bodyPr/>
          <a:lstStyle/>
          <a:p>
            <a:endParaRPr lang="en-US"/>
          </a:p>
        </p:txBody>
      </p:sp>
      <p:sp>
        <p:nvSpPr>
          <p:cNvPr id="7" name="Shape 5"/>
          <p:cNvSpPr/>
          <p:nvPr/>
        </p:nvSpPr>
        <p:spPr>
          <a:xfrm>
            <a:off x="754380" y="3406140"/>
            <a:ext cx="502920" cy="502920"/>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8" name="Image 0" descr="/home/claude/demand-mgmt-ppt/icons/road.png"/>
          <p:cNvPicPr>
            <a:picLocks noChangeAspect="1"/>
          </p:cNvPicPr>
          <p:nvPr/>
        </p:nvPicPr>
        <p:blipFill>
          <a:blip r:embed="rId3"/>
          <a:stretch>
            <a:fillRect/>
          </a:stretch>
        </p:blipFill>
        <p:spPr>
          <a:xfrm>
            <a:off x="880110" y="3531870"/>
            <a:ext cx="251460" cy="251460"/>
          </a:xfrm>
          <a:prstGeom prst="rect">
            <a:avLst/>
          </a:prstGeom>
        </p:spPr>
      </p:pic>
      <p:sp>
        <p:nvSpPr>
          <p:cNvPr id="9" name="Text 6"/>
          <p:cNvSpPr/>
          <p:nvPr/>
        </p:nvSpPr>
        <p:spPr>
          <a:xfrm>
            <a:off x="777240" y="4069080"/>
            <a:ext cx="2110664" cy="41148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Transport Infrastructure</a:t>
            </a:r>
            <a:endParaRPr lang="en-US" sz="1450" dirty="0"/>
          </a:p>
        </p:txBody>
      </p:sp>
      <p:sp>
        <p:nvSpPr>
          <p:cNvPr id="10" name="Text 7"/>
          <p:cNvSpPr/>
          <p:nvPr/>
        </p:nvSpPr>
        <p:spPr>
          <a:xfrm>
            <a:off x="777240" y="4480560"/>
            <a:ext cx="2110664" cy="1051560"/>
          </a:xfrm>
          <a:prstGeom prst="rect">
            <a:avLst/>
          </a:prstGeom>
          <a:noFill/>
          <a:ln/>
        </p:spPr>
        <p:txBody>
          <a:bodyPr wrap="square" lIns="0" tIns="0" rIns="0" bIns="0" rtlCol="0" anchor="t"/>
          <a:lstStyle/>
          <a:p>
            <a:pPr marL="0" indent="0">
              <a:lnSpc>
                <a:spcPct val="105000"/>
              </a:lnSpc>
              <a:buNone/>
            </a:pPr>
            <a:r>
              <a:rPr lang="en-US" sz="1150" dirty="0">
                <a:solidFill>
                  <a:srgbClr val="5A6B8C"/>
                </a:solidFill>
                <a:latin typeface="Calibri" pitchFamily="34" charset="0"/>
                <a:ea typeface="Calibri" pitchFamily="34" charset="-122"/>
                <a:cs typeface="Calibri" pitchFamily="34" charset="-120"/>
              </a:rPr>
              <a:t>Roads, rail, ports and airports that move freight.</a:t>
            </a:r>
            <a:endParaRPr lang="en-US" sz="1150" dirty="0"/>
          </a:p>
        </p:txBody>
      </p:sp>
      <p:sp>
        <p:nvSpPr>
          <p:cNvPr id="11" name="Shape 8"/>
          <p:cNvSpPr/>
          <p:nvPr/>
        </p:nvSpPr>
        <p:spPr>
          <a:xfrm>
            <a:off x="3390824" y="3200400"/>
            <a:ext cx="2567864" cy="2468880"/>
          </a:xfrm>
          <a:prstGeom prst="roundRect">
            <a:avLst>
              <a:gd name="adj" fmla="val 2963"/>
            </a:avLst>
          </a:prstGeom>
          <a:solidFill>
            <a:srgbClr val="FFFFFF"/>
          </a:solidFill>
          <a:ln w="12700">
            <a:solidFill>
              <a:srgbClr val="D7E0F5"/>
            </a:solidFill>
            <a:prstDash val="solid"/>
          </a:ln>
          <a:effectLst>
            <a:outerShdw blurRad="101600" dist="25400" dir="5400000" algn="bl" rotWithShape="0">
              <a:srgbClr val="1E2761">
                <a:alpha val="10000"/>
              </a:srgbClr>
            </a:outerShdw>
          </a:effectLst>
        </p:spPr>
        <p:txBody>
          <a:bodyPr/>
          <a:lstStyle/>
          <a:p>
            <a:endParaRPr lang="en-US"/>
          </a:p>
        </p:txBody>
      </p:sp>
      <p:sp>
        <p:nvSpPr>
          <p:cNvPr id="12" name="Shape 9"/>
          <p:cNvSpPr/>
          <p:nvPr/>
        </p:nvSpPr>
        <p:spPr>
          <a:xfrm>
            <a:off x="3596564" y="3406140"/>
            <a:ext cx="502920" cy="502920"/>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13" name="Image 1" descr="/home/claude/demand-mgmt-ppt/icons/warehouse.png"/>
          <p:cNvPicPr>
            <a:picLocks noChangeAspect="1"/>
          </p:cNvPicPr>
          <p:nvPr/>
        </p:nvPicPr>
        <p:blipFill>
          <a:blip r:embed="rId4"/>
          <a:stretch>
            <a:fillRect/>
          </a:stretch>
        </p:blipFill>
        <p:spPr>
          <a:xfrm>
            <a:off x="3722294" y="3531870"/>
            <a:ext cx="251460" cy="251460"/>
          </a:xfrm>
          <a:prstGeom prst="rect">
            <a:avLst/>
          </a:prstGeom>
        </p:spPr>
      </p:pic>
      <p:sp>
        <p:nvSpPr>
          <p:cNvPr id="14" name="Text 10"/>
          <p:cNvSpPr/>
          <p:nvPr/>
        </p:nvSpPr>
        <p:spPr>
          <a:xfrm>
            <a:off x="3619424" y="4069080"/>
            <a:ext cx="2110664" cy="41148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Storage Infrastructure</a:t>
            </a:r>
            <a:endParaRPr lang="en-US" sz="1450" dirty="0"/>
          </a:p>
        </p:txBody>
      </p:sp>
      <p:sp>
        <p:nvSpPr>
          <p:cNvPr id="15" name="Text 11"/>
          <p:cNvSpPr/>
          <p:nvPr/>
        </p:nvSpPr>
        <p:spPr>
          <a:xfrm>
            <a:off x="3619424" y="4480560"/>
            <a:ext cx="2110664" cy="1051560"/>
          </a:xfrm>
          <a:prstGeom prst="rect">
            <a:avLst/>
          </a:prstGeom>
          <a:noFill/>
          <a:ln/>
        </p:spPr>
        <p:txBody>
          <a:bodyPr wrap="square" lIns="0" tIns="0" rIns="0" bIns="0" rtlCol="0" anchor="t"/>
          <a:lstStyle/>
          <a:p>
            <a:pPr marL="0" indent="0">
              <a:lnSpc>
                <a:spcPct val="105000"/>
              </a:lnSpc>
              <a:buNone/>
            </a:pPr>
            <a:r>
              <a:rPr lang="en-US" sz="1150" dirty="0">
                <a:solidFill>
                  <a:srgbClr val="5A6B8C"/>
                </a:solidFill>
                <a:latin typeface="Calibri" pitchFamily="34" charset="0"/>
                <a:ea typeface="Calibri" pitchFamily="34" charset="-122"/>
                <a:cs typeface="Calibri" pitchFamily="34" charset="-120"/>
              </a:rPr>
              <a:t>Warehouses, cold chains and distribution centres.</a:t>
            </a:r>
            <a:endParaRPr lang="en-US" sz="1150" dirty="0"/>
          </a:p>
        </p:txBody>
      </p:sp>
      <p:sp>
        <p:nvSpPr>
          <p:cNvPr id="16" name="Shape 12"/>
          <p:cNvSpPr/>
          <p:nvPr/>
        </p:nvSpPr>
        <p:spPr>
          <a:xfrm>
            <a:off x="6233008" y="3200400"/>
            <a:ext cx="2567864" cy="2468880"/>
          </a:xfrm>
          <a:prstGeom prst="roundRect">
            <a:avLst>
              <a:gd name="adj" fmla="val 2963"/>
            </a:avLst>
          </a:prstGeom>
          <a:solidFill>
            <a:srgbClr val="FFFFFF"/>
          </a:solidFill>
          <a:ln w="12700">
            <a:solidFill>
              <a:srgbClr val="D7E0F5"/>
            </a:solidFill>
            <a:prstDash val="solid"/>
          </a:ln>
          <a:effectLst>
            <a:outerShdw blurRad="101600" dist="25400" dir="5400000" algn="bl" rotWithShape="0">
              <a:srgbClr val="1E2761">
                <a:alpha val="10000"/>
              </a:srgbClr>
            </a:outerShdw>
          </a:effectLst>
        </p:spPr>
        <p:txBody>
          <a:bodyPr/>
          <a:lstStyle/>
          <a:p>
            <a:endParaRPr lang="en-US"/>
          </a:p>
        </p:txBody>
      </p:sp>
      <p:sp>
        <p:nvSpPr>
          <p:cNvPr id="17" name="Shape 13"/>
          <p:cNvSpPr/>
          <p:nvPr/>
        </p:nvSpPr>
        <p:spPr>
          <a:xfrm>
            <a:off x="6438748" y="3406140"/>
            <a:ext cx="502920" cy="502920"/>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18" name="Image 2" descr="/home/claude/demand-mgmt-ppt/icons/wifi.png"/>
          <p:cNvPicPr>
            <a:picLocks noChangeAspect="1"/>
          </p:cNvPicPr>
          <p:nvPr/>
        </p:nvPicPr>
        <p:blipFill>
          <a:blip r:embed="rId5"/>
          <a:stretch>
            <a:fillRect/>
          </a:stretch>
        </p:blipFill>
        <p:spPr>
          <a:xfrm>
            <a:off x="6564478" y="3531870"/>
            <a:ext cx="251460" cy="251460"/>
          </a:xfrm>
          <a:prstGeom prst="rect">
            <a:avLst/>
          </a:prstGeom>
        </p:spPr>
      </p:pic>
      <p:sp>
        <p:nvSpPr>
          <p:cNvPr id="19" name="Text 14"/>
          <p:cNvSpPr/>
          <p:nvPr/>
        </p:nvSpPr>
        <p:spPr>
          <a:xfrm>
            <a:off x="6461608" y="4069080"/>
            <a:ext cx="2110664" cy="41148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Digital Infrastructure</a:t>
            </a:r>
            <a:endParaRPr lang="en-US" sz="1450" dirty="0"/>
          </a:p>
        </p:txBody>
      </p:sp>
      <p:sp>
        <p:nvSpPr>
          <p:cNvPr id="20" name="Text 15"/>
          <p:cNvSpPr/>
          <p:nvPr/>
        </p:nvSpPr>
        <p:spPr>
          <a:xfrm>
            <a:off x="6461608" y="4480560"/>
            <a:ext cx="2110664" cy="1051560"/>
          </a:xfrm>
          <a:prstGeom prst="rect">
            <a:avLst/>
          </a:prstGeom>
          <a:noFill/>
          <a:ln/>
        </p:spPr>
        <p:txBody>
          <a:bodyPr wrap="square" lIns="0" tIns="0" rIns="0" bIns="0" rtlCol="0" anchor="t"/>
          <a:lstStyle/>
          <a:p>
            <a:pPr marL="0" indent="0">
              <a:lnSpc>
                <a:spcPct val="105000"/>
              </a:lnSpc>
              <a:buNone/>
            </a:pPr>
            <a:r>
              <a:rPr lang="en-US" sz="1150" dirty="0">
                <a:solidFill>
                  <a:srgbClr val="5A6B8C"/>
                </a:solidFill>
                <a:latin typeface="Calibri" pitchFamily="34" charset="0"/>
                <a:ea typeface="Calibri" pitchFamily="34" charset="-122"/>
                <a:cs typeface="Calibri" pitchFamily="34" charset="-120"/>
              </a:rPr>
              <a:t>Networks, platforms and data systems that coordinate flow.</a:t>
            </a:r>
            <a:endParaRPr lang="en-US" sz="1150" dirty="0"/>
          </a:p>
        </p:txBody>
      </p:sp>
      <p:sp>
        <p:nvSpPr>
          <p:cNvPr id="21" name="Shape 16"/>
          <p:cNvSpPr/>
          <p:nvPr/>
        </p:nvSpPr>
        <p:spPr>
          <a:xfrm>
            <a:off x="9075191" y="3200400"/>
            <a:ext cx="2567864" cy="2468880"/>
          </a:xfrm>
          <a:prstGeom prst="roundRect">
            <a:avLst>
              <a:gd name="adj" fmla="val 2963"/>
            </a:avLst>
          </a:prstGeom>
          <a:solidFill>
            <a:srgbClr val="FFFFFF"/>
          </a:solidFill>
          <a:ln w="12700">
            <a:solidFill>
              <a:srgbClr val="D7E0F5"/>
            </a:solidFill>
            <a:prstDash val="solid"/>
          </a:ln>
          <a:effectLst>
            <a:outerShdw blurRad="101600" dist="25400" dir="5400000" algn="bl" rotWithShape="0">
              <a:srgbClr val="1E2761">
                <a:alpha val="10000"/>
              </a:srgbClr>
            </a:outerShdw>
          </a:effectLst>
        </p:spPr>
        <p:txBody>
          <a:bodyPr/>
          <a:lstStyle/>
          <a:p>
            <a:endParaRPr lang="en-US"/>
          </a:p>
        </p:txBody>
      </p:sp>
      <p:sp>
        <p:nvSpPr>
          <p:cNvPr id="22" name="Shape 17"/>
          <p:cNvSpPr/>
          <p:nvPr/>
        </p:nvSpPr>
        <p:spPr>
          <a:xfrm>
            <a:off x="9280931" y="3406140"/>
            <a:ext cx="502920" cy="502920"/>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23" name="Image 3" descr="/home/claude/demand-mgmt-ppt/icons/sitemap.png"/>
          <p:cNvPicPr>
            <a:picLocks noChangeAspect="1"/>
          </p:cNvPicPr>
          <p:nvPr/>
        </p:nvPicPr>
        <p:blipFill>
          <a:blip r:embed="rId6"/>
          <a:stretch>
            <a:fillRect/>
          </a:stretch>
        </p:blipFill>
        <p:spPr>
          <a:xfrm>
            <a:off x="9406661" y="3531870"/>
            <a:ext cx="251460" cy="251460"/>
          </a:xfrm>
          <a:prstGeom prst="rect">
            <a:avLst/>
          </a:prstGeom>
        </p:spPr>
      </p:pic>
      <p:sp>
        <p:nvSpPr>
          <p:cNvPr id="24" name="Text 18"/>
          <p:cNvSpPr/>
          <p:nvPr/>
        </p:nvSpPr>
        <p:spPr>
          <a:xfrm>
            <a:off x="9303791" y="4069080"/>
            <a:ext cx="2110664" cy="41148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Institutional Infrastructure</a:t>
            </a:r>
            <a:endParaRPr lang="en-US" sz="1450" dirty="0"/>
          </a:p>
        </p:txBody>
      </p:sp>
      <p:sp>
        <p:nvSpPr>
          <p:cNvPr id="25" name="Text 19"/>
          <p:cNvSpPr/>
          <p:nvPr/>
        </p:nvSpPr>
        <p:spPr>
          <a:xfrm>
            <a:off x="9303791" y="4480560"/>
            <a:ext cx="2110664" cy="1051560"/>
          </a:xfrm>
          <a:prstGeom prst="rect">
            <a:avLst/>
          </a:prstGeom>
          <a:noFill/>
          <a:ln/>
        </p:spPr>
        <p:txBody>
          <a:bodyPr wrap="square" lIns="0" tIns="0" rIns="0" bIns="0" rtlCol="0" anchor="t"/>
          <a:lstStyle/>
          <a:p>
            <a:pPr marL="0" indent="0">
              <a:lnSpc>
                <a:spcPct val="105000"/>
              </a:lnSpc>
              <a:buNone/>
            </a:pPr>
            <a:r>
              <a:rPr lang="en-US" sz="1150" dirty="0">
                <a:solidFill>
                  <a:srgbClr val="5A6B8C"/>
                </a:solidFill>
                <a:latin typeface="Calibri" pitchFamily="34" charset="0"/>
                <a:ea typeface="Calibri" pitchFamily="34" charset="-122"/>
                <a:cs typeface="Calibri" pitchFamily="34" charset="-120"/>
              </a:rPr>
              <a:t>Customs, regulation and trade facilitation bodies.</a:t>
            </a:r>
            <a:endParaRPr lang="en-US" sz="1150" dirty="0"/>
          </a:p>
        </p:txBody>
      </p:sp>
      <p:sp>
        <p:nvSpPr>
          <p:cNvPr id="26" name="Text 20"/>
          <p:cNvSpPr/>
          <p:nvPr/>
        </p:nvSpPr>
        <p:spPr>
          <a:xfrm>
            <a:off x="11551615" y="6446520"/>
            <a:ext cx="457200" cy="274320"/>
          </a:xfrm>
          <a:prstGeom prst="rect">
            <a:avLst/>
          </a:prstGeom>
          <a:noFill/>
          <a:ln/>
        </p:spPr>
        <p:txBody>
          <a:bodyPr wrap="square" lIns="0" tIns="0" rIns="0" bIns="0" rtlCol="0" anchor="ctr"/>
          <a:lstStyle/>
          <a:p>
            <a:pPr marL="0" indent="0" algn="r">
              <a:buNone/>
            </a:pPr>
            <a:r>
              <a:rPr lang="en-US" sz="1000" dirty="0">
                <a:solidFill>
                  <a:srgbClr val="5A6B8C"/>
                </a:solidFill>
                <a:latin typeface="Calibri" pitchFamily="34" charset="0"/>
                <a:ea typeface="Calibri" pitchFamily="34" charset="-122"/>
                <a:cs typeface="Calibri" pitchFamily="34" charset="-120"/>
              </a:rPr>
              <a:t>12</a:t>
            </a:r>
            <a:endParaRPr lang="en-US" sz="1000" dirty="0"/>
          </a:p>
        </p:txBody>
      </p:sp>
      <p:sp>
        <p:nvSpPr>
          <p:cNvPr id="28" name="Oval 27">
            <a:extLst>
              <a:ext uri="{FF2B5EF4-FFF2-40B4-BE49-F238E27FC236}">
                <a16:creationId xmlns:a16="http://schemas.microsoft.com/office/drawing/2014/main" id="{59632DD1-6B1B-5742-504F-088D6C468BB2}"/>
              </a:ext>
            </a:extLst>
          </p:cNvPr>
          <p:cNvSpPr/>
          <p:nvPr/>
        </p:nvSpPr>
        <p:spPr>
          <a:xfrm>
            <a:off x="8866604" y="47874"/>
            <a:ext cx="3142211" cy="1184412"/>
          </a:xfrm>
          <a:prstGeom prst="ellipse">
            <a:avLst/>
          </a:prstGeom>
          <a:solidFill>
            <a:schemeClr val="accent2">
              <a:lumMod val="60000"/>
              <a:lumOff val="4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40B15889-E452-9334-5FBE-5DD22BD7E20C}"/>
              </a:ext>
            </a:extLst>
          </p:cNvPr>
          <p:cNvSpPr txBox="1"/>
          <p:nvPr/>
        </p:nvSpPr>
        <p:spPr>
          <a:xfrm>
            <a:off x="9207425" y="378470"/>
            <a:ext cx="2460567" cy="523220"/>
          </a:xfrm>
          <a:prstGeom prst="rect">
            <a:avLst/>
          </a:prstGeom>
          <a:noFill/>
        </p:spPr>
        <p:txBody>
          <a:bodyPr wrap="square" rtlCol="0">
            <a:spAutoFit/>
          </a:bodyPr>
          <a:lstStyle/>
          <a:p>
            <a:r>
              <a:rPr lang="en-US" sz="2800" b="1" dirty="0"/>
              <a:t>Important slide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EEF3FC"/>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C9962C"/>
                </a:solidFill>
                <a:latin typeface="Calibri" pitchFamily="34" charset="0"/>
                <a:ea typeface="Calibri" pitchFamily="34" charset="-122"/>
                <a:cs typeface="Calibri" pitchFamily="34" charset="-120"/>
              </a:rPr>
              <a:t>INFRASTRUCTURE</a:t>
            </a:r>
            <a:endParaRPr lang="en-US" sz="1200" dirty="0"/>
          </a:p>
        </p:txBody>
      </p:sp>
      <p:sp>
        <p:nvSpPr>
          <p:cNvPr id="3" name="Text 1"/>
          <p:cNvSpPr/>
          <p:nvPr/>
        </p:nvSpPr>
        <p:spPr>
          <a:xfrm>
            <a:off x="548640" y="621792"/>
            <a:ext cx="10515600" cy="73152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Hard Infrastructure vs. Soft Infrastructure</a:t>
            </a:r>
            <a:endParaRPr lang="en-US" sz="2800" dirty="0"/>
          </a:p>
        </p:txBody>
      </p:sp>
      <p:sp>
        <p:nvSpPr>
          <p:cNvPr id="4" name="Shape 2"/>
          <p:cNvSpPr/>
          <p:nvPr/>
        </p:nvSpPr>
        <p:spPr>
          <a:xfrm>
            <a:off x="566928" y="1298448"/>
            <a:ext cx="914400" cy="0"/>
          </a:xfrm>
          <a:prstGeom prst="line">
            <a:avLst/>
          </a:prstGeom>
          <a:noFill/>
          <a:ln w="31750">
            <a:solidFill>
              <a:srgbClr val="C9962C"/>
            </a:solidFill>
            <a:prstDash val="solid"/>
          </a:ln>
        </p:spPr>
        <p:txBody>
          <a:bodyPr/>
          <a:lstStyle/>
          <a:p>
            <a:endParaRPr lang="en-US"/>
          </a:p>
        </p:txBody>
      </p:sp>
      <p:sp>
        <p:nvSpPr>
          <p:cNvPr id="5" name="Shape 3"/>
          <p:cNvSpPr/>
          <p:nvPr/>
        </p:nvSpPr>
        <p:spPr>
          <a:xfrm>
            <a:off x="640080" y="1737360"/>
            <a:ext cx="5295748" cy="3931920"/>
          </a:xfrm>
          <a:prstGeom prst="roundRect">
            <a:avLst>
              <a:gd name="adj" fmla="val 1860"/>
            </a:avLst>
          </a:prstGeom>
          <a:solidFill>
            <a:srgbClr val="1E2761"/>
          </a:solidFill>
          <a:ln w="12700">
            <a:solidFill>
              <a:srgbClr val="1E2761"/>
            </a:solidFill>
            <a:prstDash val="solid"/>
          </a:ln>
        </p:spPr>
        <p:txBody>
          <a:bodyPr/>
          <a:lstStyle/>
          <a:p>
            <a:endParaRPr lang="en-US"/>
          </a:p>
        </p:txBody>
      </p:sp>
      <p:sp>
        <p:nvSpPr>
          <p:cNvPr id="6" name="Text 4"/>
          <p:cNvSpPr/>
          <p:nvPr/>
        </p:nvSpPr>
        <p:spPr>
          <a:xfrm>
            <a:off x="914400" y="1965960"/>
            <a:ext cx="4747108"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Hard Infrastructure</a:t>
            </a:r>
            <a:endParaRPr lang="en-US" sz="1800" dirty="0"/>
          </a:p>
        </p:txBody>
      </p:sp>
      <p:sp>
        <p:nvSpPr>
          <p:cNvPr id="7" name="Text 5"/>
          <p:cNvSpPr/>
          <p:nvPr/>
        </p:nvSpPr>
        <p:spPr>
          <a:xfrm>
            <a:off x="914400" y="2560320"/>
            <a:ext cx="4747108" cy="2926080"/>
          </a:xfrm>
          <a:prstGeom prst="rect">
            <a:avLst/>
          </a:prstGeom>
          <a:noFill/>
          <a:ln/>
        </p:spPr>
        <p:txBody>
          <a:bodyPr wrap="square" lIns="0" tIns="0" rIns="0" bIns="0" rtlCol="0" anchor="t"/>
          <a:lstStyle/>
          <a:p>
            <a:pPr marL="177800" indent="-177800">
              <a:lnSpc>
                <a:spcPct val="110000"/>
              </a:lnSpc>
              <a:spcAft>
                <a:spcPts val="1000"/>
              </a:spcAft>
              <a:buSzPct val="100000"/>
              <a:buChar char="•"/>
            </a:pPr>
            <a:r>
              <a:rPr lang="en-US" sz="1250" dirty="0">
                <a:solidFill>
                  <a:srgbClr val="CADCFC"/>
                </a:solidFill>
                <a:latin typeface="Calibri" pitchFamily="34" charset="0"/>
                <a:ea typeface="Calibri" pitchFamily="34" charset="-122"/>
                <a:cs typeface="Calibri" pitchFamily="34" charset="-120"/>
              </a:rPr>
              <a:t>Physical assets: roads, rail lines, ports, airports</a:t>
            </a:r>
            <a:endParaRPr lang="en-US" sz="1250" dirty="0"/>
          </a:p>
          <a:p>
            <a:pPr marL="177800" indent="-177800">
              <a:lnSpc>
                <a:spcPct val="110000"/>
              </a:lnSpc>
              <a:spcAft>
                <a:spcPts val="1000"/>
              </a:spcAft>
              <a:buSzPct val="100000"/>
              <a:buChar char="•"/>
            </a:pPr>
            <a:r>
              <a:rPr lang="en-US" sz="1250" dirty="0">
                <a:solidFill>
                  <a:srgbClr val="CADCFC"/>
                </a:solidFill>
                <a:latin typeface="Calibri" pitchFamily="34" charset="0"/>
                <a:ea typeface="Calibri" pitchFamily="34" charset="-122"/>
                <a:cs typeface="Calibri" pitchFamily="34" charset="-120"/>
              </a:rPr>
              <a:t>Warehouses, cold-storage and container terminals</a:t>
            </a:r>
            <a:endParaRPr lang="en-US" sz="1250" dirty="0"/>
          </a:p>
          <a:p>
            <a:pPr marL="177800" indent="-177800">
              <a:lnSpc>
                <a:spcPct val="110000"/>
              </a:lnSpc>
              <a:spcAft>
                <a:spcPts val="1000"/>
              </a:spcAft>
              <a:buSzPct val="100000"/>
              <a:buChar char="•"/>
            </a:pPr>
            <a:r>
              <a:rPr lang="en-US" sz="1250" dirty="0">
                <a:solidFill>
                  <a:srgbClr val="CADCFC"/>
                </a:solidFill>
                <a:latin typeface="Calibri" pitchFamily="34" charset="0"/>
                <a:ea typeface="Calibri" pitchFamily="34" charset="-122"/>
                <a:cs typeface="Calibri" pitchFamily="34" charset="-120"/>
              </a:rPr>
              <a:t>High capital cost, long build and payback time</a:t>
            </a:r>
            <a:endParaRPr lang="en-US" sz="1250" dirty="0"/>
          </a:p>
          <a:p>
            <a:pPr marL="177800" indent="-177800">
              <a:lnSpc>
                <a:spcPct val="110000"/>
              </a:lnSpc>
              <a:spcAft>
                <a:spcPts val="1000"/>
              </a:spcAft>
              <a:buSzPct val="100000"/>
              <a:buChar char="•"/>
            </a:pPr>
            <a:r>
              <a:rPr lang="en-US" sz="1250" dirty="0">
                <a:solidFill>
                  <a:srgbClr val="CADCFC"/>
                </a:solidFill>
                <a:latin typeface="Calibri" pitchFamily="34" charset="0"/>
                <a:ea typeface="Calibri" pitchFamily="34" charset="-122"/>
                <a:cs typeface="Calibri" pitchFamily="34" charset="-120"/>
              </a:rPr>
              <a:t>Typically developed or funded by government/PPP</a:t>
            </a:r>
            <a:endParaRPr lang="en-US" sz="1250" dirty="0"/>
          </a:p>
        </p:txBody>
      </p:sp>
      <p:sp>
        <p:nvSpPr>
          <p:cNvPr id="8" name="Shape 6"/>
          <p:cNvSpPr/>
          <p:nvPr/>
        </p:nvSpPr>
        <p:spPr>
          <a:xfrm>
            <a:off x="6255868" y="1737360"/>
            <a:ext cx="5295748" cy="3931920"/>
          </a:xfrm>
          <a:prstGeom prst="roundRect">
            <a:avLst>
              <a:gd name="adj" fmla="val 1860"/>
            </a:avLst>
          </a:prstGeom>
          <a:solidFill>
            <a:srgbClr val="FFFFFF"/>
          </a:solidFill>
          <a:ln w="12700">
            <a:solidFill>
              <a:srgbClr val="D7E0F5"/>
            </a:solidFill>
            <a:prstDash val="solid"/>
          </a:ln>
        </p:spPr>
        <p:txBody>
          <a:bodyPr/>
          <a:lstStyle/>
          <a:p>
            <a:endParaRPr lang="en-US"/>
          </a:p>
        </p:txBody>
      </p:sp>
      <p:sp>
        <p:nvSpPr>
          <p:cNvPr id="9" name="Text 7"/>
          <p:cNvSpPr/>
          <p:nvPr/>
        </p:nvSpPr>
        <p:spPr>
          <a:xfrm>
            <a:off x="6530188" y="1965960"/>
            <a:ext cx="4747108" cy="457200"/>
          </a:xfrm>
          <a:prstGeom prst="rect">
            <a:avLst/>
          </a:prstGeom>
          <a:noFill/>
          <a:ln/>
        </p:spPr>
        <p:txBody>
          <a:bodyPr wrap="square" lIns="0" tIns="0" rIns="0" bIns="0" rtlCol="0" anchor="ctr"/>
          <a:lstStyle/>
          <a:p>
            <a:pPr marL="0" indent="0">
              <a:buNone/>
            </a:pPr>
            <a:r>
              <a:rPr lang="en-US" sz="1800" b="1" dirty="0">
                <a:solidFill>
                  <a:srgbClr val="1E2761"/>
                </a:solidFill>
                <a:latin typeface="Cambria" pitchFamily="34" charset="0"/>
                <a:ea typeface="Cambria" pitchFamily="34" charset="-122"/>
                <a:cs typeface="Cambria" pitchFamily="34" charset="-120"/>
              </a:rPr>
              <a:t>Soft Infrastructure</a:t>
            </a:r>
            <a:endParaRPr lang="en-US" sz="1800" dirty="0"/>
          </a:p>
        </p:txBody>
      </p:sp>
      <p:sp>
        <p:nvSpPr>
          <p:cNvPr id="10" name="Text 8"/>
          <p:cNvSpPr/>
          <p:nvPr/>
        </p:nvSpPr>
        <p:spPr>
          <a:xfrm>
            <a:off x="6530188" y="2560320"/>
            <a:ext cx="4747108" cy="2926080"/>
          </a:xfrm>
          <a:prstGeom prst="rect">
            <a:avLst/>
          </a:prstGeom>
          <a:noFill/>
          <a:ln/>
        </p:spPr>
        <p:txBody>
          <a:bodyPr wrap="square" lIns="0" tIns="0" rIns="0" bIns="0" rtlCol="0" anchor="t"/>
          <a:lstStyle/>
          <a:p>
            <a:pPr marL="177800" indent="-177800">
              <a:lnSpc>
                <a:spcPct val="110000"/>
              </a:lnSpc>
              <a:spcAft>
                <a:spcPts val="1000"/>
              </a:spcAft>
              <a:buSzPct val="100000"/>
              <a:buChar char="•"/>
            </a:pPr>
            <a:r>
              <a:rPr lang="en-US" sz="1250" dirty="0">
                <a:solidFill>
                  <a:srgbClr val="5A6B8C"/>
                </a:solidFill>
                <a:latin typeface="Calibri" pitchFamily="34" charset="0"/>
                <a:ea typeface="Calibri" pitchFamily="34" charset="-122"/>
                <a:cs typeface="Calibri" pitchFamily="34" charset="-120"/>
              </a:rPr>
              <a:t>Digital platforms: WMS, TMS, EDI, tracking systems</a:t>
            </a:r>
            <a:endParaRPr lang="en-US" sz="1250" dirty="0"/>
          </a:p>
          <a:p>
            <a:pPr marL="177800" indent="-177800">
              <a:lnSpc>
                <a:spcPct val="110000"/>
              </a:lnSpc>
              <a:spcAft>
                <a:spcPts val="1000"/>
              </a:spcAft>
              <a:buSzPct val="100000"/>
              <a:buChar char="•"/>
            </a:pPr>
            <a:r>
              <a:rPr lang="en-US" sz="1250" dirty="0">
                <a:solidFill>
                  <a:srgbClr val="5A6B8C"/>
                </a:solidFill>
                <a:latin typeface="Calibri" pitchFamily="34" charset="0"/>
                <a:ea typeface="Calibri" pitchFamily="34" charset="-122"/>
                <a:cs typeface="Calibri" pitchFamily="34" charset="-120"/>
              </a:rPr>
              <a:t>Customs procedures, trade documentation, standards</a:t>
            </a:r>
            <a:endParaRPr lang="en-US" sz="1250" dirty="0"/>
          </a:p>
          <a:p>
            <a:pPr marL="177800" indent="-177800">
              <a:lnSpc>
                <a:spcPct val="110000"/>
              </a:lnSpc>
              <a:spcAft>
                <a:spcPts val="1000"/>
              </a:spcAft>
              <a:buSzPct val="100000"/>
              <a:buChar char="•"/>
            </a:pPr>
            <a:r>
              <a:rPr lang="en-US" sz="1250" dirty="0">
                <a:solidFill>
                  <a:srgbClr val="5A6B8C"/>
                </a:solidFill>
                <a:latin typeface="Calibri" pitchFamily="34" charset="0"/>
                <a:ea typeface="Calibri" pitchFamily="34" charset="-122"/>
                <a:cs typeface="Calibri" pitchFamily="34" charset="-120"/>
              </a:rPr>
              <a:t>Faster and cheaper to build than hard infrastructure</a:t>
            </a:r>
            <a:endParaRPr lang="en-US" sz="1250" dirty="0"/>
          </a:p>
          <a:p>
            <a:pPr marL="177800" indent="-177800">
              <a:lnSpc>
                <a:spcPct val="110000"/>
              </a:lnSpc>
              <a:spcAft>
                <a:spcPts val="1000"/>
              </a:spcAft>
              <a:buSzPct val="100000"/>
              <a:buChar char="•"/>
            </a:pPr>
            <a:r>
              <a:rPr lang="en-US" sz="1250" dirty="0">
                <a:solidFill>
                  <a:srgbClr val="5A6B8C"/>
                </a:solidFill>
                <a:latin typeface="Calibri" pitchFamily="34" charset="0"/>
                <a:ea typeface="Calibri" pitchFamily="34" charset="-122"/>
                <a:cs typeface="Calibri" pitchFamily="34" charset="-120"/>
              </a:rPr>
              <a:t>Often the higher-leverage investment for most firms</a:t>
            </a:r>
            <a:endParaRPr lang="en-US" sz="1250" dirty="0"/>
          </a:p>
        </p:txBody>
      </p:sp>
      <p:sp>
        <p:nvSpPr>
          <p:cNvPr id="11" name="Text 9"/>
          <p:cNvSpPr/>
          <p:nvPr/>
        </p:nvSpPr>
        <p:spPr>
          <a:xfrm>
            <a:off x="11551615" y="6446520"/>
            <a:ext cx="457200" cy="274320"/>
          </a:xfrm>
          <a:prstGeom prst="rect">
            <a:avLst/>
          </a:prstGeom>
          <a:noFill/>
          <a:ln/>
        </p:spPr>
        <p:txBody>
          <a:bodyPr wrap="square" lIns="0" tIns="0" rIns="0" bIns="0" rtlCol="0" anchor="ctr"/>
          <a:lstStyle/>
          <a:p>
            <a:pPr marL="0" indent="0" algn="r">
              <a:buNone/>
            </a:pPr>
            <a:r>
              <a:rPr lang="en-US" sz="1000" dirty="0">
                <a:solidFill>
                  <a:srgbClr val="5A6B8C"/>
                </a:solidFill>
                <a:latin typeface="Calibri" pitchFamily="34" charset="0"/>
                <a:ea typeface="Calibri" pitchFamily="34" charset="-122"/>
                <a:cs typeface="Calibri" pitchFamily="34" charset="-120"/>
              </a:rPr>
              <a:t>13</a:t>
            </a:r>
            <a:endParaRPr lang="en-US" sz="1000" dirty="0"/>
          </a:p>
        </p:txBody>
      </p:sp>
      <p:sp>
        <p:nvSpPr>
          <p:cNvPr id="13" name="Oval 12">
            <a:extLst>
              <a:ext uri="{FF2B5EF4-FFF2-40B4-BE49-F238E27FC236}">
                <a16:creationId xmlns:a16="http://schemas.microsoft.com/office/drawing/2014/main" id="{DC4CDB9F-8E4A-3CA8-E6F4-7DA6E91F9175}"/>
              </a:ext>
            </a:extLst>
          </p:cNvPr>
          <p:cNvSpPr/>
          <p:nvPr/>
        </p:nvSpPr>
        <p:spPr>
          <a:xfrm>
            <a:off x="8866604" y="114036"/>
            <a:ext cx="3142211" cy="1184412"/>
          </a:xfrm>
          <a:prstGeom prst="ellipse">
            <a:avLst/>
          </a:prstGeom>
          <a:solidFill>
            <a:schemeClr val="accent2">
              <a:lumMod val="60000"/>
              <a:lumOff val="4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8D4F7F0F-3A16-D62A-7EAA-689E55BCD4E3}"/>
              </a:ext>
            </a:extLst>
          </p:cNvPr>
          <p:cNvSpPr txBox="1"/>
          <p:nvPr/>
        </p:nvSpPr>
        <p:spPr>
          <a:xfrm>
            <a:off x="9207425" y="444632"/>
            <a:ext cx="2460567" cy="523220"/>
          </a:xfrm>
          <a:prstGeom prst="rect">
            <a:avLst/>
          </a:prstGeom>
          <a:noFill/>
        </p:spPr>
        <p:txBody>
          <a:bodyPr wrap="square" rtlCol="0">
            <a:spAutoFit/>
          </a:bodyPr>
          <a:lstStyle/>
          <a:p>
            <a:r>
              <a:rPr lang="en-US" sz="2800" b="1" dirty="0"/>
              <a:t>Important slide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C9962C"/>
                </a:solidFill>
                <a:latin typeface="Calibri" pitchFamily="34" charset="0"/>
                <a:ea typeface="Calibri" pitchFamily="34" charset="-122"/>
                <a:cs typeface="Calibri" pitchFamily="34" charset="-120"/>
              </a:rPr>
              <a:t>INFRASTRUCTURE</a:t>
            </a:r>
            <a:endParaRPr lang="en-US" sz="1200" dirty="0"/>
          </a:p>
        </p:txBody>
      </p:sp>
      <p:sp>
        <p:nvSpPr>
          <p:cNvPr id="3" name="Text 1"/>
          <p:cNvSpPr/>
          <p:nvPr/>
        </p:nvSpPr>
        <p:spPr>
          <a:xfrm>
            <a:off x="548640" y="621792"/>
            <a:ext cx="10515600" cy="73152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Warehouse &amp; Distribution Centre Infrastructure</a:t>
            </a:r>
            <a:endParaRPr lang="en-US" sz="2800" dirty="0"/>
          </a:p>
        </p:txBody>
      </p:sp>
      <p:sp>
        <p:nvSpPr>
          <p:cNvPr id="4" name="Shape 2"/>
          <p:cNvSpPr/>
          <p:nvPr/>
        </p:nvSpPr>
        <p:spPr>
          <a:xfrm>
            <a:off x="566928" y="1298448"/>
            <a:ext cx="914400" cy="0"/>
          </a:xfrm>
          <a:prstGeom prst="line">
            <a:avLst/>
          </a:prstGeom>
          <a:noFill/>
          <a:ln w="31750">
            <a:solidFill>
              <a:srgbClr val="C9962C"/>
            </a:solidFill>
            <a:prstDash val="solid"/>
          </a:ln>
        </p:spPr>
        <p:txBody>
          <a:bodyPr/>
          <a:lstStyle/>
          <a:p>
            <a:endParaRPr lang="en-US"/>
          </a:p>
        </p:txBody>
      </p:sp>
      <p:sp>
        <p:nvSpPr>
          <p:cNvPr id="5" name="Shape 3"/>
          <p:cNvSpPr/>
          <p:nvPr/>
        </p:nvSpPr>
        <p:spPr>
          <a:xfrm>
            <a:off x="640080" y="1691640"/>
            <a:ext cx="566928" cy="566928"/>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6" name="Image 0" descr="/home/claude/demand-mgmt-ppt/icons/warehouse.png"/>
          <p:cNvPicPr>
            <a:picLocks noChangeAspect="1"/>
          </p:cNvPicPr>
          <p:nvPr/>
        </p:nvPicPr>
        <p:blipFill>
          <a:blip r:embed="rId3"/>
          <a:stretch>
            <a:fillRect/>
          </a:stretch>
        </p:blipFill>
        <p:spPr>
          <a:xfrm>
            <a:off x="781812" y="1833372"/>
            <a:ext cx="283464" cy="283464"/>
          </a:xfrm>
          <a:prstGeom prst="rect">
            <a:avLst/>
          </a:prstGeom>
        </p:spPr>
      </p:pic>
      <p:sp>
        <p:nvSpPr>
          <p:cNvPr id="7" name="Text 4"/>
          <p:cNvSpPr/>
          <p:nvPr/>
        </p:nvSpPr>
        <p:spPr>
          <a:xfrm>
            <a:off x="1463040" y="1664208"/>
            <a:ext cx="10040112" cy="32004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Grade-A Warehousing</a:t>
            </a:r>
            <a:endParaRPr lang="en-US" sz="1600" dirty="0"/>
          </a:p>
        </p:txBody>
      </p:sp>
      <p:sp>
        <p:nvSpPr>
          <p:cNvPr id="8" name="Text 5"/>
          <p:cNvSpPr/>
          <p:nvPr/>
        </p:nvSpPr>
        <p:spPr>
          <a:xfrm>
            <a:off x="1463040" y="1984248"/>
            <a:ext cx="10040112" cy="640080"/>
          </a:xfrm>
          <a:prstGeom prst="rect">
            <a:avLst/>
          </a:prstGeom>
          <a:noFill/>
          <a:ln/>
        </p:spPr>
        <p:txBody>
          <a:bodyPr wrap="square" lIns="0" tIns="0" rIns="0" bIns="0" rtlCol="0" anchor="t"/>
          <a:lstStyle/>
          <a:p>
            <a:pPr marL="0" indent="0">
              <a:lnSpc>
                <a:spcPct val="105000"/>
              </a:lnSpc>
              <a:buNone/>
            </a:pPr>
            <a:r>
              <a:rPr lang="en-US" sz="1250" dirty="0">
                <a:solidFill>
                  <a:srgbClr val="5A6B8C"/>
                </a:solidFill>
                <a:latin typeface="Calibri" pitchFamily="34" charset="0"/>
                <a:ea typeface="Calibri" pitchFamily="34" charset="-122"/>
                <a:cs typeface="Calibri" pitchFamily="34" charset="-120"/>
              </a:rPr>
              <a:t>Modern, high-clear-height facilities with automated material handling reduce cost per unit stored and picked.</a:t>
            </a:r>
            <a:endParaRPr lang="en-US" sz="1250" dirty="0"/>
          </a:p>
        </p:txBody>
      </p:sp>
      <p:sp>
        <p:nvSpPr>
          <p:cNvPr id="9" name="Shape 6"/>
          <p:cNvSpPr/>
          <p:nvPr/>
        </p:nvSpPr>
        <p:spPr>
          <a:xfrm>
            <a:off x="640080" y="2697480"/>
            <a:ext cx="566928" cy="566928"/>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10" name="Image 1" descr="/home/claude/demand-mgmt-ppt/icons/cogs.png"/>
          <p:cNvPicPr>
            <a:picLocks noChangeAspect="1"/>
          </p:cNvPicPr>
          <p:nvPr/>
        </p:nvPicPr>
        <p:blipFill>
          <a:blip r:embed="rId4"/>
          <a:stretch>
            <a:fillRect/>
          </a:stretch>
        </p:blipFill>
        <p:spPr>
          <a:xfrm>
            <a:off x="781812" y="2839212"/>
            <a:ext cx="283464" cy="283464"/>
          </a:xfrm>
          <a:prstGeom prst="rect">
            <a:avLst/>
          </a:prstGeom>
        </p:spPr>
      </p:pic>
      <p:sp>
        <p:nvSpPr>
          <p:cNvPr id="11" name="Text 7"/>
          <p:cNvSpPr/>
          <p:nvPr/>
        </p:nvSpPr>
        <p:spPr>
          <a:xfrm>
            <a:off x="1463040" y="2670048"/>
            <a:ext cx="10040112" cy="32004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Automation &amp; Mechanisation</a:t>
            </a:r>
            <a:endParaRPr lang="en-US" sz="1600" dirty="0"/>
          </a:p>
        </p:txBody>
      </p:sp>
      <p:sp>
        <p:nvSpPr>
          <p:cNvPr id="12" name="Text 8"/>
          <p:cNvSpPr/>
          <p:nvPr/>
        </p:nvSpPr>
        <p:spPr>
          <a:xfrm>
            <a:off x="1463040" y="2990088"/>
            <a:ext cx="10040112" cy="640080"/>
          </a:xfrm>
          <a:prstGeom prst="rect">
            <a:avLst/>
          </a:prstGeom>
          <a:noFill/>
          <a:ln/>
        </p:spPr>
        <p:txBody>
          <a:bodyPr wrap="square" lIns="0" tIns="0" rIns="0" bIns="0" rtlCol="0" anchor="t"/>
          <a:lstStyle/>
          <a:p>
            <a:pPr marL="0" indent="0">
              <a:lnSpc>
                <a:spcPct val="105000"/>
              </a:lnSpc>
              <a:buNone/>
            </a:pPr>
            <a:r>
              <a:rPr lang="en-US" sz="1250" dirty="0">
                <a:solidFill>
                  <a:srgbClr val="5A6B8C"/>
                </a:solidFill>
                <a:latin typeface="Calibri" pitchFamily="34" charset="0"/>
                <a:ea typeface="Calibri" pitchFamily="34" charset="-122"/>
                <a:cs typeface="Calibri" pitchFamily="34" charset="-120"/>
              </a:rPr>
              <a:t>Conveyors, sortation systems and robotics increase throughput and cut labour dependency.</a:t>
            </a:r>
            <a:endParaRPr lang="en-US" sz="1250" dirty="0"/>
          </a:p>
        </p:txBody>
      </p:sp>
      <p:sp>
        <p:nvSpPr>
          <p:cNvPr id="13" name="Shape 9"/>
          <p:cNvSpPr/>
          <p:nvPr/>
        </p:nvSpPr>
        <p:spPr>
          <a:xfrm>
            <a:off x="640080" y="3703320"/>
            <a:ext cx="566928" cy="566928"/>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14" name="Image 2" descr="/home/claude/demand-mgmt-ppt/icons/database.png"/>
          <p:cNvPicPr>
            <a:picLocks noChangeAspect="1"/>
          </p:cNvPicPr>
          <p:nvPr/>
        </p:nvPicPr>
        <p:blipFill>
          <a:blip r:embed="rId5"/>
          <a:stretch>
            <a:fillRect/>
          </a:stretch>
        </p:blipFill>
        <p:spPr>
          <a:xfrm>
            <a:off x="781812" y="3845052"/>
            <a:ext cx="283464" cy="283464"/>
          </a:xfrm>
          <a:prstGeom prst="rect">
            <a:avLst/>
          </a:prstGeom>
        </p:spPr>
      </p:pic>
      <p:sp>
        <p:nvSpPr>
          <p:cNvPr id="15" name="Text 10"/>
          <p:cNvSpPr/>
          <p:nvPr/>
        </p:nvSpPr>
        <p:spPr>
          <a:xfrm>
            <a:off x="1463040" y="3675888"/>
            <a:ext cx="10040112" cy="32004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Warehouse Management Systems</a:t>
            </a:r>
            <a:endParaRPr lang="en-US" sz="1600" dirty="0"/>
          </a:p>
        </p:txBody>
      </p:sp>
      <p:sp>
        <p:nvSpPr>
          <p:cNvPr id="16" name="Text 11"/>
          <p:cNvSpPr/>
          <p:nvPr/>
        </p:nvSpPr>
        <p:spPr>
          <a:xfrm>
            <a:off x="1463040" y="3995928"/>
            <a:ext cx="10040112" cy="640080"/>
          </a:xfrm>
          <a:prstGeom prst="rect">
            <a:avLst/>
          </a:prstGeom>
          <a:noFill/>
          <a:ln/>
        </p:spPr>
        <p:txBody>
          <a:bodyPr wrap="square" lIns="0" tIns="0" rIns="0" bIns="0" rtlCol="0" anchor="t"/>
          <a:lstStyle/>
          <a:p>
            <a:pPr marL="0" indent="0">
              <a:lnSpc>
                <a:spcPct val="105000"/>
              </a:lnSpc>
              <a:buNone/>
            </a:pPr>
            <a:r>
              <a:rPr lang="en-US" sz="1250" dirty="0">
                <a:solidFill>
                  <a:srgbClr val="5A6B8C"/>
                </a:solidFill>
                <a:latin typeface="Calibri" pitchFamily="34" charset="0"/>
                <a:ea typeface="Calibri" pitchFamily="34" charset="-122"/>
                <a:cs typeface="Calibri" pitchFamily="34" charset="-120"/>
              </a:rPr>
              <a:t>Real-time inventory visibility and optimised put-away/picking logic.</a:t>
            </a:r>
            <a:endParaRPr lang="en-US" sz="1250" dirty="0"/>
          </a:p>
        </p:txBody>
      </p:sp>
      <p:sp>
        <p:nvSpPr>
          <p:cNvPr id="17" name="Shape 12"/>
          <p:cNvSpPr/>
          <p:nvPr/>
        </p:nvSpPr>
        <p:spPr>
          <a:xfrm>
            <a:off x="640080" y="4709160"/>
            <a:ext cx="566928" cy="566928"/>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18" name="Image 3" descr="/home/claude/demand-mgmt-ppt/icons/shield.png"/>
          <p:cNvPicPr>
            <a:picLocks noChangeAspect="1"/>
          </p:cNvPicPr>
          <p:nvPr/>
        </p:nvPicPr>
        <p:blipFill>
          <a:blip r:embed="rId6"/>
          <a:stretch>
            <a:fillRect/>
          </a:stretch>
        </p:blipFill>
        <p:spPr>
          <a:xfrm>
            <a:off x="781812" y="4850892"/>
            <a:ext cx="283464" cy="283464"/>
          </a:xfrm>
          <a:prstGeom prst="rect">
            <a:avLst/>
          </a:prstGeom>
        </p:spPr>
      </p:pic>
      <p:sp>
        <p:nvSpPr>
          <p:cNvPr id="19" name="Text 13"/>
          <p:cNvSpPr/>
          <p:nvPr/>
        </p:nvSpPr>
        <p:spPr>
          <a:xfrm>
            <a:off x="1463040" y="4681728"/>
            <a:ext cx="10040112" cy="32004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Cold Chain Infrastructure</a:t>
            </a:r>
            <a:endParaRPr lang="en-US" sz="1600" dirty="0"/>
          </a:p>
        </p:txBody>
      </p:sp>
      <p:sp>
        <p:nvSpPr>
          <p:cNvPr id="20" name="Text 14"/>
          <p:cNvSpPr/>
          <p:nvPr/>
        </p:nvSpPr>
        <p:spPr>
          <a:xfrm>
            <a:off x="1463040" y="5001768"/>
            <a:ext cx="10040112" cy="640080"/>
          </a:xfrm>
          <a:prstGeom prst="rect">
            <a:avLst/>
          </a:prstGeom>
          <a:noFill/>
          <a:ln/>
        </p:spPr>
        <p:txBody>
          <a:bodyPr wrap="square" lIns="0" tIns="0" rIns="0" bIns="0" rtlCol="0" anchor="t"/>
          <a:lstStyle/>
          <a:p>
            <a:pPr marL="0" indent="0">
              <a:lnSpc>
                <a:spcPct val="105000"/>
              </a:lnSpc>
              <a:buNone/>
            </a:pPr>
            <a:r>
              <a:rPr lang="en-US" sz="1250" dirty="0">
                <a:solidFill>
                  <a:srgbClr val="5A6B8C"/>
                </a:solidFill>
                <a:latin typeface="Calibri" pitchFamily="34" charset="0"/>
                <a:ea typeface="Calibri" pitchFamily="34" charset="-122"/>
                <a:cs typeface="Calibri" pitchFamily="34" charset="-120"/>
              </a:rPr>
              <a:t>Temperature-controlled storage and transport, critical for pharma and perishables.</a:t>
            </a:r>
            <a:endParaRPr lang="en-US" sz="1250" dirty="0"/>
          </a:p>
        </p:txBody>
      </p:sp>
      <p:sp>
        <p:nvSpPr>
          <p:cNvPr id="21" name="Text 15"/>
          <p:cNvSpPr/>
          <p:nvPr/>
        </p:nvSpPr>
        <p:spPr>
          <a:xfrm>
            <a:off x="11551615" y="6446520"/>
            <a:ext cx="457200" cy="274320"/>
          </a:xfrm>
          <a:prstGeom prst="rect">
            <a:avLst/>
          </a:prstGeom>
          <a:noFill/>
          <a:ln/>
        </p:spPr>
        <p:txBody>
          <a:bodyPr wrap="square" lIns="0" tIns="0" rIns="0" bIns="0" rtlCol="0" anchor="ctr"/>
          <a:lstStyle/>
          <a:p>
            <a:pPr marL="0" indent="0" algn="r">
              <a:buNone/>
            </a:pPr>
            <a:r>
              <a:rPr lang="en-US" sz="1000" dirty="0">
                <a:solidFill>
                  <a:srgbClr val="5A6B8C"/>
                </a:solidFill>
                <a:latin typeface="Calibri" pitchFamily="34" charset="0"/>
                <a:ea typeface="Calibri" pitchFamily="34" charset="-122"/>
                <a:cs typeface="Calibri" pitchFamily="34" charset="-120"/>
              </a:rPr>
              <a:t>14</a:t>
            </a:r>
            <a:endParaRPr lang="en-US" sz="1000" dirty="0"/>
          </a:p>
        </p:txBody>
      </p:sp>
      <p:sp>
        <p:nvSpPr>
          <p:cNvPr id="23" name="Oval 22">
            <a:extLst>
              <a:ext uri="{FF2B5EF4-FFF2-40B4-BE49-F238E27FC236}">
                <a16:creationId xmlns:a16="http://schemas.microsoft.com/office/drawing/2014/main" id="{30D8CE9B-EAD9-39D8-E779-5C802F136B47}"/>
              </a:ext>
            </a:extLst>
          </p:cNvPr>
          <p:cNvSpPr/>
          <p:nvPr/>
        </p:nvSpPr>
        <p:spPr>
          <a:xfrm>
            <a:off x="9049789" y="47874"/>
            <a:ext cx="3142211" cy="1184412"/>
          </a:xfrm>
          <a:prstGeom prst="ellipse">
            <a:avLst/>
          </a:prstGeom>
          <a:solidFill>
            <a:schemeClr val="accent2">
              <a:lumMod val="60000"/>
              <a:lumOff val="4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16FA7368-C5AD-5381-AE02-EF638142D568}"/>
              </a:ext>
            </a:extLst>
          </p:cNvPr>
          <p:cNvSpPr txBox="1"/>
          <p:nvPr/>
        </p:nvSpPr>
        <p:spPr>
          <a:xfrm>
            <a:off x="9390610" y="378470"/>
            <a:ext cx="2460567" cy="523220"/>
          </a:xfrm>
          <a:prstGeom prst="rect">
            <a:avLst/>
          </a:prstGeom>
          <a:noFill/>
        </p:spPr>
        <p:txBody>
          <a:bodyPr wrap="square" rtlCol="0">
            <a:spAutoFit/>
          </a:bodyPr>
          <a:lstStyle/>
          <a:p>
            <a:r>
              <a:rPr lang="en-US" sz="2800" b="1" dirty="0"/>
              <a:t>Important slide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EEF3FC"/>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C9962C"/>
                </a:solidFill>
                <a:latin typeface="Calibri" pitchFamily="34" charset="0"/>
                <a:ea typeface="Calibri" pitchFamily="34" charset="-122"/>
                <a:cs typeface="Calibri" pitchFamily="34" charset="-120"/>
              </a:rPr>
              <a:t>INFRASTRUCTURE</a:t>
            </a:r>
            <a:endParaRPr lang="en-US" sz="1200" dirty="0"/>
          </a:p>
        </p:txBody>
      </p:sp>
      <p:sp>
        <p:nvSpPr>
          <p:cNvPr id="3" name="Text 1"/>
          <p:cNvSpPr/>
          <p:nvPr/>
        </p:nvSpPr>
        <p:spPr>
          <a:xfrm>
            <a:off x="548640" y="621792"/>
            <a:ext cx="10515600" cy="73152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Transportation Infrastructure Development</a:t>
            </a:r>
            <a:endParaRPr lang="en-US" sz="2800" dirty="0"/>
          </a:p>
        </p:txBody>
      </p:sp>
      <p:sp>
        <p:nvSpPr>
          <p:cNvPr id="4" name="Shape 2"/>
          <p:cNvSpPr/>
          <p:nvPr/>
        </p:nvSpPr>
        <p:spPr>
          <a:xfrm>
            <a:off x="566928" y="1298448"/>
            <a:ext cx="914400" cy="0"/>
          </a:xfrm>
          <a:prstGeom prst="line">
            <a:avLst/>
          </a:prstGeom>
          <a:noFill/>
          <a:ln w="31750">
            <a:solidFill>
              <a:srgbClr val="C9962C"/>
            </a:solidFill>
            <a:prstDash val="solid"/>
          </a:ln>
        </p:spPr>
        <p:txBody>
          <a:bodyPr/>
          <a:lstStyle/>
          <a:p>
            <a:endParaRPr lang="en-US"/>
          </a:p>
        </p:txBody>
      </p:sp>
      <p:sp>
        <p:nvSpPr>
          <p:cNvPr id="5" name="Shape 3"/>
          <p:cNvSpPr/>
          <p:nvPr/>
        </p:nvSpPr>
        <p:spPr>
          <a:xfrm>
            <a:off x="548640" y="1737360"/>
            <a:ext cx="3515258" cy="2148840"/>
          </a:xfrm>
          <a:prstGeom prst="roundRect">
            <a:avLst>
              <a:gd name="adj" fmla="val 3404"/>
            </a:avLst>
          </a:prstGeom>
          <a:solidFill>
            <a:srgbClr val="FFFFFF"/>
          </a:solidFill>
          <a:ln w="12700">
            <a:solidFill>
              <a:srgbClr val="D7E0F5"/>
            </a:solidFill>
            <a:prstDash val="solid"/>
          </a:ln>
          <a:effectLst>
            <a:outerShdw blurRad="101600" dist="25400" dir="5400000" algn="bl" rotWithShape="0">
              <a:srgbClr val="1E2761">
                <a:alpha val="10000"/>
              </a:srgbClr>
            </a:outerShdw>
          </a:effectLst>
        </p:spPr>
        <p:txBody>
          <a:bodyPr/>
          <a:lstStyle/>
          <a:p>
            <a:endParaRPr lang="en-US"/>
          </a:p>
        </p:txBody>
      </p:sp>
      <p:sp>
        <p:nvSpPr>
          <p:cNvPr id="6" name="Shape 4"/>
          <p:cNvSpPr/>
          <p:nvPr/>
        </p:nvSpPr>
        <p:spPr>
          <a:xfrm>
            <a:off x="754380" y="1943100"/>
            <a:ext cx="502920" cy="502920"/>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7" name="Image 0" descr="/home/claude/demand-mgmt-ppt/icons/road.png"/>
          <p:cNvPicPr>
            <a:picLocks noChangeAspect="1"/>
          </p:cNvPicPr>
          <p:nvPr/>
        </p:nvPicPr>
        <p:blipFill>
          <a:blip r:embed="rId3"/>
          <a:stretch>
            <a:fillRect/>
          </a:stretch>
        </p:blipFill>
        <p:spPr>
          <a:xfrm>
            <a:off x="880110" y="2068830"/>
            <a:ext cx="251460" cy="251460"/>
          </a:xfrm>
          <a:prstGeom prst="rect">
            <a:avLst/>
          </a:prstGeom>
        </p:spPr>
      </p:pic>
      <p:sp>
        <p:nvSpPr>
          <p:cNvPr id="8" name="Text 5"/>
          <p:cNvSpPr/>
          <p:nvPr/>
        </p:nvSpPr>
        <p:spPr>
          <a:xfrm>
            <a:off x="777240" y="2606040"/>
            <a:ext cx="3058058" cy="41148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Roads &amp; Highways</a:t>
            </a:r>
            <a:endParaRPr lang="en-US" sz="1450" dirty="0"/>
          </a:p>
        </p:txBody>
      </p:sp>
      <p:sp>
        <p:nvSpPr>
          <p:cNvPr id="9" name="Text 6"/>
          <p:cNvSpPr/>
          <p:nvPr/>
        </p:nvSpPr>
        <p:spPr>
          <a:xfrm>
            <a:off x="777240" y="3017520"/>
            <a:ext cx="3058058" cy="731520"/>
          </a:xfrm>
          <a:prstGeom prst="rect">
            <a:avLst/>
          </a:prstGeom>
          <a:noFill/>
          <a:ln/>
        </p:spPr>
        <p:txBody>
          <a:bodyPr wrap="square" lIns="0" tIns="0" rIns="0" bIns="0" rtlCol="0" anchor="t"/>
          <a:lstStyle/>
          <a:p>
            <a:pPr marL="0" indent="0">
              <a:lnSpc>
                <a:spcPct val="105000"/>
              </a:lnSpc>
              <a:buNone/>
            </a:pPr>
            <a:r>
              <a:rPr lang="en-US" sz="1150" dirty="0">
                <a:solidFill>
                  <a:srgbClr val="5A6B8C"/>
                </a:solidFill>
                <a:latin typeface="Calibri" pitchFamily="34" charset="0"/>
                <a:ea typeface="Calibri" pitchFamily="34" charset="-122"/>
                <a:cs typeface="Calibri" pitchFamily="34" charset="-120"/>
              </a:rPr>
              <a:t>The backbone of last-mile and regional freight movement in most economies.</a:t>
            </a:r>
            <a:endParaRPr lang="en-US" sz="1150" dirty="0"/>
          </a:p>
        </p:txBody>
      </p:sp>
      <p:sp>
        <p:nvSpPr>
          <p:cNvPr id="10" name="Shape 7"/>
          <p:cNvSpPr/>
          <p:nvPr/>
        </p:nvSpPr>
        <p:spPr>
          <a:xfrm>
            <a:off x="4338218" y="1737360"/>
            <a:ext cx="3515258" cy="2148840"/>
          </a:xfrm>
          <a:prstGeom prst="roundRect">
            <a:avLst>
              <a:gd name="adj" fmla="val 3404"/>
            </a:avLst>
          </a:prstGeom>
          <a:solidFill>
            <a:srgbClr val="FFFFFF"/>
          </a:solidFill>
          <a:ln w="12700">
            <a:solidFill>
              <a:srgbClr val="D7E0F5"/>
            </a:solidFill>
            <a:prstDash val="solid"/>
          </a:ln>
          <a:effectLst>
            <a:outerShdw blurRad="101600" dist="25400" dir="5400000" algn="bl" rotWithShape="0">
              <a:srgbClr val="1E2761">
                <a:alpha val="10000"/>
              </a:srgbClr>
            </a:outerShdw>
          </a:effectLst>
        </p:spPr>
        <p:txBody>
          <a:bodyPr/>
          <a:lstStyle/>
          <a:p>
            <a:endParaRPr lang="en-US"/>
          </a:p>
        </p:txBody>
      </p:sp>
      <p:sp>
        <p:nvSpPr>
          <p:cNvPr id="11" name="Shape 8"/>
          <p:cNvSpPr/>
          <p:nvPr/>
        </p:nvSpPr>
        <p:spPr>
          <a:xfrm>
            <a:off x="4543958" y="1943100"/>
            <a:ext cx="502920" cy="502920"/>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12" name="Image 1" descr="/home/claude/demand-mgmt-ppt/icons/train.png"/>
          <p:cNvPicPr>
            <a:picLocks noChangeAspect="1"/>
          </p:cNvPicPr>
          <p:nvPr/>
        </p:nvPicPr>
        <p:blipFill>
          <a:blip r:embed="rId4"/>
          <a:stretch>
            <a:fillRect/>
          </a:stretch>
        </p:blipFill>
        <p:spPr>
          <a:xfrm>
            <a:off x="4669688" y="2068830"/>
            <a:ext cx="251460" cy="251460"/>
          </a:xfrm>
          <a:prstGeom prst="rect">
            <a:avLst/>
          </a:prstGeom>
        </p:spPr>
      </p:pic>
      <p:sp>
        <p:nvSpPr>
          <p:cNvPr id="13" name="Text 9"/>
          <p:cNvSpPr/>
          <p:nvPr/>
        </p:nvSpPr>
        <p:spPr>
          <a:xfrm>
            <a:off x="4566818" y="2606040"/>
            <a:ext cx="3058058" cy="41148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Dedicated Freight Corridors</a:t>
            </a:r>
            <a:endParaRPr lang="en-US" sz="1450" dirty="0"/>
          </a:p>
        </p:txBody>
      </p:sp>
      <p:sp>
        <p:nvSpPr>
          <p:cNvPr id="14" name="Text 10"/>
          <p:cNvSpPr/>
          <p:nvPr/>
        </p:nvSpPr>
        <p:spPr>
          <a:xfrm>
            <a:off x="4566818" y="3017520"/>
            <a:ext cx="3058058" cy="731520"/>
          </a:xfrm>
          <a:prstGeom prst="rect">
            <a:avLst/>
          </a:prstGeom>
          <a:noFill/>
          <a:ln/>
        </p:spPr>
        <p:txBody>
          <a:bodyPr wrap="square" lIns="0" tIns="0" rIns="0" bIns="0" rtlCol="0" anchor="t"/>
          <a:lstStyle/>
          <a:p>
            <a:pPr marL="0" indent="0">
              <a:lnSpc>
                <a:spcPct val="105000"/>
              </a:lnSpc>
              <a:buNone/>
            </a:pPr>
            <a:r>
              <a:rPr lang="en-US" sz="1150" dirty="0">
                <a:solidFill>
                  <a:srgbClr val="5A6B8C"/>
                </a:solidFill>
                <a:latin typeface="Calibri" pitchFamily="34" charset="0"/>
                <a:ea typeface="Calibri" pitchFamily="34" charset="-122"/>
                <a:cs typeface="Calibri" pitchFamily="34" charset="-120"/>
              </a:rPr>
              <a:t>High-capacity rail lines built specifically for cargo, bypassing passenger congestion.</a:t>
            </a:r>
            <a:endParaRPr lang="en-US" sz="1150" dirty="0"/>
          </a:p>
        </p:txBody>
      </p:sp>
      <p:sp>
        <p:nvSpPr>
          <p:cNvPr id="15" name="Shape 11"/>
          <p:cNvSpPr/>
          <p:nvPr/>
        </p:nvSpPr>
        <p:spPr>
          <a:xfrm>
            <a:off x="8127797" y="1737360"/>
            <a:ext cx="3515258" cy="2148840"/>
          </a:xfrm>
          <a:prstGeom prst="roundRect">
            <a:avLst>
              <a:gd name="adj" fmla="val 3404"/>
            </a:avLst>
          </a:prstGeom>
          <a:solidFill>
            <a:srgbClr val="FFFFFF"/>
          </a:solidFill>
          <a:ln w="12700">
            <a:solidFill>
              <a:srgbClr val="D7E0F5"/>
            </a:solidFill>
            <a:prstDash val="solid"/>
          </a:ln>
          <a:effectLst>
            <a:outerShdw blurRad="101600" dist="25400" dir="5400000" algn="bl" rotWithShape="0">
              <a:srgbClr val="1E2761">
                <a:alpha val="10000"/>
              </a:srgbClr>
            </a:outerShdw>
          </a:effectLst>
        </p:spPr>
        <p:txBody>
          <a:bodyPr/>
          <a:lstStyle/>
          <a:p>
            <a:endParaRPr lang="en-US"/>
          </a:p>
        </p:txBody>
      </p:sp>
      <p:sp>
        <p:nvSpPr>
          <p:cNvPr id="16" name="Shape 12"/>
          <p:cNvSpPr/>
          <p:nvPr/>
        </p:nvSpPr>
        <p:spPr>
          <a:xfrm>
            <a:off x="8333537" y="1943100"/>
            <a:ext cx="502920" cy="502920"/>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17" name="Image 2" descr="/home/claude/demand-mgmt-ppt/icons/anchor.png"/>
          <p:cNvPicPr>
            <a:picLocks noChangeAspect="1"/>
          </p:cNvPicPr>
          <p:nvPr/>
        </p:nvPicPr>
        <p:blipFill>
          <a:blip r:embed="rId5"/>
          <a:stretch>
            <a:fillRect/>
          </a:stretch>
        </p:blipFill>
        <p:spPr>
          <a:xfrm>
            <a:off x="8459267" y="2068830"/>
            <a:ext cx="251460" cy="251460"/>
          </a:xfrm>
          <a:prstGeom prst="rect">
            <a:avLst/>
          </a:prstGeom>
        </p:spPr>
      </p:pic>
      <p:sp>
        <p:nvSpPr>
          <p:cNvPr id="18" name="Text 13"/>
          <p:cNvSpPr/>
          <p:nvPr/>
        </p:nvSpPr>
        <p:spPr>
          <a:xfrm>
            <a:off x="8356397" y="2606040"/>
            <a:ext cx="3058058" cy="41148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Ports &amp; Inland Waterways</a:t>
            </a:r>
            <a:endParaRPr lang="en-US" sz="1450" dirty="0"/>
          </a:p>
        </p:txBody>
      </p:sp>
      <p:sp>
        <p:nvSpPr>
          <p:cNvPr id="19" name="Text 14"/>
          <p:cNvSpPr/>
          <p:nvPr/>
        </p:nvSpPr>
        <p:spPr>
          <a:xfrm>
            <a:off x="8356397" y="3017520"/>
            <a:ext cx="3058058" cy="731520"/>
          </a:xfrm>
          <a:prstGeom prst="rect">
            <a:avLst/>
          </a:prstGeom>
          <a:noFill/>
          <a:ln/>
        </p:spPr>
        <p:txBody>
          <a:bodyPr wrap="square" lIns="0" tIns="0" rIns="0" bIns="0" rtlCol="0" anchor="t"/>
          <a:lstStyle/>
          <a:p>
            <a:pPr marL="0" indent="0">
              <a:lnSpc>
                <a:spcPct val="105000"/>
              </a:lnSpc>
              <a:buNone/>
            </a:pPr>
            <a:r>
              <a:rPr lang="en-US" sz="1150" dirty="0">
                <a:solidFill>
                  <a:srgbClr val="5A6B8C"/>
                </a:solidFill>
                <a:latin typeface="Calibri" pitchFamily="34" charset="0"/>
                <a:ea typeface="Calibri" pitchFamily="34" charset="-122"/>
                <a:cs typeface="Calibri" pitchFamily="34" charset="-120"/>
              </a:rPr>
              <a:t>Gateway infrastructure for international trade and low-cost bulk movement.</a:t>
            </a:r>
            <a:endParaRPr lang="en-US" sz="1150" dirty="0"/>
          </a:p>
        </p:txBody>
      </p:sp>
      <p:sp>
        <p:nvSpPr>
          <p:cNvPr id="20" name="Shape 15"/>
          <p:cNvSpPr/>
          <p:nvPr/>
        </p:nvSpPr>
        <p:spPr>
          <a:xfrm>
            <a:off x="548640" y="4160520"/>
            <a:ext cx="3515258" cy="2148840"/>
          </a:xfrm>
          <a:prstGeom prst="roundRect">
            <a:avLst>
              <a:gd name="adj" fmla="val 3404"/>
            </a:avLst>
          </a:prstGeom>
          <a:solidFill>
            <a:srgbClr val="FFFFFF"/>
          </a:solidFill>
          <a:ln w="12700">
            <a:solidFill>
              <a:srgbClr val="D7E0F5"/>
            </a:solidFill>
            <a:prstDash val="solid"/>
          </a:ln>
          <a:effectLst>
            <a:outerShdw blurRad="101600" dist="25400" dir="5400000" algn="bl" rotWithShape="0">
              <a:srgbClr val="1E2761">
                <a:alpha val="10000"/>
              </a:srgbClr>
            </a:outerShdw>
          </a:effectLst>
        </p:spPr>
        <p:txBody>
          <a:bodyPr/>
          <a:lstStyle/>
          <a:p>
            <a:endParaRPr lang="en-US"/>
          </a:p>
        </p:txBody>
      </p:sp>
      <p:sp>
        <p:nvSpPr>
          <p:cNvPr id="21" name="Shape 16"/>
          <p:cNvSpPr/>
          <p:nvPr/>
        </p:nvSpPr>
        <p:spPr>
          <a:xfrm>
            <a:off x="754380" y="4366260"/>
            <a:ext cx="502920" cy="502920"/>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22" name="Image 3" descr="/home/claude/demand-mgmt-ppt/icons/plane.png"/>
          <p:cNvPicPr>
            <a:picLocks noChangeAspect="1"/>
          </p:cNvPicPr>
          <p:nvPr/>
        </p:nvPicPr>
        <p:blipFill>
          <a:blip r:embed="rId6"/>
          <a:stretch>
            <a:fillRect/>
          </a:stretch>
        </p:blipFill>
        <p:spPr>
          <a:xfrm>
            <a:off x="880110" y="4491990"/>
            <a:ext cx="251460" cy="251460"/>
          </a:xfrm>
          <a:prstGeom prst="rect">
            <a:avLst/>
          </a:prstGeom>
        </p:spPr>
      </p:pic>
      <p:sp>
        <p:nvSpPr>
          <p:cNvPr id="23" name="Text 17"/>
          <p:cNvSpPr/>
          <p:nvPr/>
        </p:nvSpPr>
        <p:spPr>
          <a:xfrm>
            <a:off x="777240" y="5029200"/>
            <a:ext cx="3058058" cy="41148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Air Cargo Hubs</a:t>
            </a:r>
            <a:endParaRPr lang="en-US" sz="1450" dirty="0"/>
          </a:p>
        </p:txBody>
      </p:sp>
      <p:sp>
        <p:nvSpPr>
          <p:cNvPr id="24" name="Text 18"/>
          <p:cNvSpPr/>
          <p:nvPr/>
        </p:nvSpPr>
        <p:spPr>
          <a:xfrm>
            <a:off x="777240" y="5440680"/>
            <a:ext cx="3058058" cy="731520"/>
          </a:xfrm>
          <a:prstGeom prst="rect">
            <a:avLst/>
          </a:prstGeom>
          <a:noFill/>
          <a:ln/>
        </p:spPr>
        <p:txBody>
          <a:bodyPr wrap="square" lIns="0" tIns="0" rIns="0" bIns="0" rtlCol="0" anchor="t"/>
          <a:lstStyle/>
          <a:p>
            <a:pPr marL="0" indent="0">
              <a:lnSpc>
                <a:spcPct val="105000"/>
              </a:lnSpc>
              <a:buNone/>
            </a:pPr>
            <a:r>
              <a:rPr lang="en-US" sz="1150" dirty="0">
                <a:solidFill>
                  <a:srgbClr val="5A6B8C"/>
                </a:solidFill>
                <a:latin typeface="Calibri" pitchFamily="34" charset="0"/>
                <a:ea typeface="Calibri" pitchFamily="34" charset="-122"/>
                <a:cs typeface="Calibri" pitchFamily="34" charset="-120"/>
              </a:rPr>
              <a:t>Dedicated cargo terminals enabling fast, high-value international shipments.</a:t>
            </a:r>
            <a:endParaRPr lang="en-US" sz="1150" dirty="0"/>
          </a:p>
        </p:txBody>
      </p:sp>
      <p:sp>
        <p:nvSpPr>
          <p:cNvPr id="25" name="Shape 19"/>
          <p:cNvSpPr/>
          <p:nvPr/>
        </p:nvSpPr>
        <p:spPr>
          <a:xfrm>
            <a:off x="4338218" y="4160520"/>
            <a:ext cx="3515258" cy="2148840"/>
          </a:xfrm>
          <a:prstGeom prst="roundRect">
            <a:avLst>
              <a:gd name="adj" fmla="val 3404"/>
            </a:avLst>
          </a:prstGeom>
          <a:solidFill>
            <a:srgbClr val="FFFFFF"/>
          </a:solidFill>
          <a:ln w="12700">
            <a:solidFill>
              <a:srgbClr val="D7E0F5"/>
            </a:solidFill>
            <a:prstDash val="solid"/>
          </a:ln>
          <a:effectLst>
            <a:outerShdw blurRad="101600" dist="25400" dir="5400000" algn="bl" rotWithShape="0">
              <a:srgbClr val="1E2761">
                <a:alpha val="10000"/>
              </a:srgbClr>
            </a:outerShdw>
          </a:effectLst>
        </p:spPr>
        <p:txBody>
          <a:bodyPr/>
          <a:lstStyle/>
          <a:p>
            <a:endParaRPr lang="en-US"/>
          </a:p>
        </p:txBody>
      </p:sp>
      <p:sp>
        <p:nvSpPr>
          <p:cNvPr id="26" name="Shape 20"/>
          <p:cNvSpPr/>
          <p:nvPr/>
        </p:nvSpPr>
        <p:spPr>
          <a:xfrm>
            <a:off x="4543958" y="4366260"/>
            <a:ext cx="502920" cy="502920"/>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27" name="Image 4" descr="/home/claude/demand-mgmt-ppt/icons/truck.png"/>
          <p:cNvPicPr>
            <a:picLocks noChangeAspect="1"/>
          </p:cNvPicPr>
          <p:nvPr/>
        </p:nvPicPr>
        <p:blipFill>
          <a:blip r:embed="rId7"/>
          <a:stretch>
            <a:fillRect/>
          </a:stretch>
        </p:blipFill>
        <p:spPr>
          <a:xfrm>
            <a:off x="4669688" y="4491990"/>
            <a:ext cx="251460" cy="251460"/>
          </a:xfrm>
          <a:prstGeom prst="rect">
            <a:avLst/>
          </a:prstGeom>
        </p:spPr>
      </p:pic>
      <p:sp>
        <p:nvSpPr>
          <p:cNvPr id="28" name="Text 21"/>
          <p:cNvSpPr/>
          <p:nvPr/>
        </p:nvSpPr>
        <p:spPr>
          <a:xfrm>
            <a:off x="4566818" y="5029200"/>
            <a:ext cx="3058058" cy="41148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Multi-Modal Logistics Parks</a:t>
            </a:r>
            <a:endParaRPr lang="en-US" sz="1450" dirty="0"/>
          </a:p>
        </p:txBody>
      </p:sp>
      <p:sp>
        <p:nvSpPr>
          <p:cNvPr id="29" name="Text 22"/>
          <p:cNvSpPr/>
          <p:nvPr/>
        </p:nvSpPr>
        <p:spPr>
          <a:xfrm>
            <a:off x="4566818" y="5440680"/>
            <a:ext cx="3058058" cy="731520"/>
          </a:xfrm>
          <a:prstGeom prst="rect">
            <a:avLst/>
          </a:prstGeom>
          <a:noFill/>
          <a:ln/>
        </p:spPr>
        <p:txBody>
          <a:bodyPr wrap="square" lIns="0" tIns="0" rIns="0" bIns="0" rtlCol="0" anchor="t"/>
          <a:lstStyle/>
          <a:p>
            <a:pPr marL="0" indent="0">
              <a:lnSpc>
                <a:spcPct val="105000"/>
              </a:lnSpc>
              <a:buNone/>
            </a:pPr>
            <a:r>
              <a:rPr lang="en-US" sz="1150" dirty="0">
                <a:solidFill>
                  <a:srgbClr val="5A6B8C"/>
                </a:solidFill>
                <a:latin typeface="Calibri" pitchFamily="34" charset="0"/>
                <a:ea typeface="Calibri" pitchFamily="34" charset="-122"/>
                <a:cs typeface="Calibri" pitchFamily="34" charset="-120"/>
              </a:rPr>
              <a:t>Integrated hubs where road, rail and warehousing meet to cut transfer time.</a:t>
            </a:r>
            <a:endParaRPr lang="en-US" sz="1150" dirty="0"/>
          </a:p>
        </p:txBody>
      </p:sp>
      <p:sp>
        <p:nvSpPr>
          <p:cNvPr id="30" name="Shape 23"/>
          <p:cNvSpPr/>
          <p:nvPr/>
        </p:nvSpPr>
        <p:spPr>
          <a:xfrm>
            <a:off x="8127797" y="4160520"/>
            <a:ext cx="3515258" cy="2148840"/>
          </a:xfrm>
          <a:prstGeom prst="roundRect">
            <a:avLst>
              <a:gd name="adj" fmla="val 3404"/>
            </a:avLst>
          </a:prstGeom>
          <a:solidFill>
            <a:srgbClr val="FFFFFF"/>
          </a:solidFill>
          <a:ln w="12700">
            <a:solidFill>
              <a:srgbClr val="D7E0F5"/>
            </a:solidFill>
            <a:prstDash val="solid"/>
          </a:ln>
          <a:effectLst>
            <a:outerShdw blurRad="101600" dist="25400" dir="5400000" algn="bl" rotWithShape="0">
              <a:srgbClr val="1E2761">
                <a:alpha val="10000"/>
              </a:srgbClr>
            </a:outerShdw>
          </a:effectLst>
        </p:spPr>
        <p:txBody>
          <a:bodyPr/>
          <a:lstStyle/>
          <a:p>
            <a:endParaRPr lang="en-US"/>
          </a:p>
        </p:txBody>
      </p:sp>
      <p:sp>
        <p:nvSpPr>
          <p:cNvPr id="31" name="Shape 24"/>
          <p:cNvSpPr/>
          <p:nvPr/>
        </p:nvSpPr>
        <p:spPr>
          <a:xfrm>
            <a:off x="8333537" y="4366260"/>
            <a:ext cx="502920" cy="502920"/>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32" name="Image 5" descr="/home/claude/demand-mgmt-ppt/icons/sitemap.png"/>
          <p:cNvPicPr>
            <a:picLocks noChangeAspect="1"/>
          </p:cNvPicPr>
          <p:nvPr/>
        </p:nvPicPr>
        <p:blipFill>
          <a:blip r:embed="rId8"/>
          <a:stretch>
            <a:fillRect/>
          </a:stretch>
        </p:blipFill>
        <p:spPr>
          <a:xfrm>
            <a:off x="8459267" y="4491990"/>
            <a:ext cx="251460" cy="251460"/>
          </a:xfrm>
          <a:prstGeom prst="rect">
            <a:avLst/>
          </a:prstGeom>
        </p:spPr>
      </p:pic>
      <p:sp>
        <p:nvSpPr>
          <p:cNvPr id="33" name="Text 25"/>
          <p:cNvSpPr/>
          <p:nvPr/>
        </p:nvSpPr>
        <p:spPr>
          <a:xfrm>
            <a:off x="8356397" y="5029200"/>
            <a:ext cx="3058058" cy="41148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Last-Mile Networks</a:t>
            </a:r>
            <a:endParaRPr lang="en-US" sz="1450" dirty="0"/>
          </a:p>
        </p:txBody>
      </p:sp>
      <p:sp>
        <p:nvSpPr>
          <p:cNvPr id="34" name="Text 26"/>
          <p:cNvSpPr/>
          <p:nvPr/>
        </p:nvSpPr>
        <p:spPr>
          <a:xfrm>
            <a:off x="8356397" y="5440680"/>
            <a:ext cx="3058058" cy="731520"/>
          </a:xfrm>
          <a:prstGeom prst="rect">
            <a:avLst/>
          </a:prstGeom>
          <a:noFill/>
          <a:ln/>
        </p:spPr>
        <p:txBody>
          <a:bodyPr wrap="square" lIns="0" tIns="0" rIns="0" bIns="0" rtlCol="0" anchor="t"/>
          <a:lstStyle/>
          <a:p>
            <a:pPr marL="0" indent="0">
              <a:lnSpc>
                <a:spcPct val="105000"/>
              </a:lnSpc>
              <a:buNone/>
            </a:pPr>
            <a:r>
              <a:rPr lang="en-US" sz="1150" dirty="0">
                <a:solidFill>
                  <a:srgbClr val="5A6B8C"/>
                </a:solidFill>
                <a:latin typeface="Calibri" pitchFamily="34" charset="0"/>
                <a:ea typeface="Calibri" pitchFamily="34" charset="-122"/>
                <a:cs typeface="Calibri" pitchFamily="34" charset="-120"/>
              </a:rPr>
              <a:t>Urban delivery infrastructure built to handle e-commerce-scale parcel volumes.</a:t>
            </a:r>
            <a:endParaRPr lang="en-US" sz="1150" dirty="0"/>
          </a:p>
        </p:txBody>
      </p:sp>
      <p:sp>
        <p:nvSpPr>
          <p:cNvPr id="35" name="Text 27"/>
          <p:cNvSpPr/>
          <p:nvPr/>
        </p:nvSpPr>
        <p:spPr>
          <a:xfrm>
            <a:off x="11551615" y="6446520"/>
            <a:ext cx="457200" cy="274320"/>
          </a:xfrm>
          <a:prstGeom prst="rect">
            <a:avLst/>
          </a:prstGeom>
          <a:noFill/>
          <a:ln/>
        </p:spPr>
        <p:txBody>
          <a:bodyPr wrap="square" lIns="0" tIns="0" rIns="0" bIns="0" rtlCol="0" anchor="ctr"/>
          <a:lstStyle/>
          <a:p>
            <a:pPr marL="0" indent="0" algn="r">
              <a:buNone/>
            </a:pPr>
            <a:r>
              <a:rPr lang="en-US" sz="1000" dirty="0">
                <a:solidFill>
                  <a:srgbClr val="5A6B8C"/>
                </a:solidFill>
                <a:latin typeface="Calibri" pitchFamily="34" charset="0"/>
                <a:ea typeface="Calibri" pitchFamily="34" charset="-122"/>
                <a:cs typeface="Calibri" pitchFamily="34" charset="-120"/>
              </a:rPr>
              <a:t>15</a:t>
            </a:r>
            <a:endParaRPr lang="en-US" sz="1000" dirty="0"/>
          </a:p>
        </p:txBody>
      </p:sp>
      <p:sp>
        <p:nvSpPr>
          <p:cNvPr id="37" name="Oval 36">
            <a:extLst>
              <a:ext uri="{FF2B5EF4-FFF2-40B4-BE49-F238E27FC236}">
                <a16:creationId xmlns:a16="http://schemas.microsoft.com/office/drawing/2014/main" id="{2C4CC9FB-C1C0-3F30-20B2-4C565995D411}"/>
              </a:ext>
            </a:extLst>
          </p:cNvPr>
          <p:cNvSpPr/>
          <p:nvPr/>
        </p:nvSpPr>
        <p:spPr>
          <a:xfrm>
            <a:off x="9002683" y="114036"/>
            <a:ext cx="3142211" cy="1184412"/>
          </a:xfrm>
          <a:prstGeom prst="ellipse">
            <a:avLst/>
          </a:prstGeom>
          <a:solidFill>
            <a:schemeClr val="accent2">
              <a:lumMod val="60000"/>
              <a:lumOff val="4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81F28F05-E561-E718-2BCE-B4C4A8320518}"/>
              </a:ext>
            </a:extLst>
          </p:cNvPr>
          <p:cNvSpPr txBox="1"/>
          <p:nvPr/>
        </p:nvSpPr>
        <p:spPr>
          <a:xfrm>
            <a:off x="9343504" y="444632"/>
            <a:ext cx="2460567" cy="523220"/>
          </a:xfrm>
          <a:prstGeom prst="rect">
            <a:avLst/>
          </a:prstGeom>
          <a:noFill/>
        </p:spPr>
        <p:txBody>
          <a:bodyPr wrap="square" rtlCol="0">
            <a:spAutoFit/>
          </a:bodyPr>
          <a:lstStyle/>
          <a:p>
            <a:r>
              <a:rPr lang="en-US" sz="2800" b="1" dirty="0"/>
              <a:t>Important slide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C9962C"/>
                </a:solidFill>
                <a:latin typeface="Calibri" pitchFamily="34" charset="0"/>
                <a:ea typeface="Calibri" pitchFamily="34" charset="-122"/>
                <a:cs typeface="Calibri" pitchFamily="34" charset="-120"/>
              </a:rPr>
              <a:t>INFRASTRUCTURE</a:t>
            </a:r>
            <a:endParaRPr lang="en-US" sz="1200" dirty="0"/>
          </a:p>
        </p:txBody>
      </p:sp>
      <p:sp>
        <p:nvSpPr>
          <p:cNvPr id="3" name="Text 1"/>
          <p:cNvSpPr/>
          <p:nvPr/>
        </p:nvSpPr>
        <p:spPr>
          <a:xfrm>
            <a:off x="548640" y="621792"/>
            <a:ext cx="10515600" cy="73152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ICT &amp; Digital Infrastructure</a:t>
            </a:r>
            <a:endParaRPr lang="en-US" sz="2800" dirty="0"/>
          </a:p>
        </p:txBody>
      </p:sp>
      <p:sp>
        <p:nvSpPr>
          <p:cNvPr id="4" name="Shape 2"/>
          <p:cNvSpPr/>
          <p:nvPr/>
        </p:nvSpPr>
        <p:spPr>
          <a:xfrm>
            <a:off x="566928" y="1298448"/>
            <a:ext cx="914400" cy="0"/>
          </a:xfrm>
          <a:prstGeom prst="line">
            <a:avLst/>
          </a:prstGeom>
          <a:noFill/>
          <a:ln w="31750">
            <a:solidFill>
              <a:srgbClr val="C9962C"/>
            </a:solidFill>
            <a:prstDash val="solid"/>
          </a:ln>
        </p:spPr>
        <p:txBody>
          <a:bodyPr/>
          <a:lstStyle/>
          <a:p>
            <a:endParaRPr lang="en-US"/>
          </a:p>
        </p:txBody>
      </p:sp>
      <p:sp>
        <p:nvSpPr>
          <p:cNvPr id="5" name="Shape 3"/>
          <p:cNvSpPr/>
          <p:nvPr/>
        </p:nvSpPr>
        <p:spPr>
          <a:xfrm>
            <a:off x="640080" y="1691640"/>
            <a:ext cx="566928" cy="566928"/>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6" name="Image 0" descr="/home/claude/demand-mgmt-ppt/icons/database.png"/>
          <p:cNvPicPr>
            <a:picLocks noChangeAspect="1"/>
          </p:cNvPicPr>
          <p:nvPr/>
        </p:nvPicPr>
        <p:blipFill>
          <a:blip r:embed="rId3"/>
          <a:stretch>
            <a:fillRect/>
          </a:stretch>
        </p:blipFill>
        <p:spPr>
          <a:xfrm>
            <a:off x="781812" y="1833372"/>
            <a:ext cx="283464" cy="283464"/>
          </a:xfrm>
          <a:prstGeom prst="rect">
            <a:avLst/>
          </a:prstGeom>
        </p:spPr>
      </p:pic>
      <p:sp>
        <p:nvSpPr>
          <p:cNvPr id="7" name="Text 4"/>
          <p:cNvSpPr/>
          <p:nvPr/>
        </p:nvSpPr>
        <p:spPr>
          <a:xfrm>
            <a:off x="1463040" y="1664208"/>
            <a:ext cx="10040112" cy="32004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Transportation Management Systems (TMS)</a:t>
            </a:r>
            <a:endParaRPr lang="en-US" sz="1600" dirty="0"/>
          </a:p>
        </p:txBody>
      </p:sp>
      <p:sp>
        <p:nvSpPr>
          <p:cNvPr id="8" name="Text 5"/>
          <p:cNvSpPr/>
          <p:nvPr/>
        </p:nvSpPr>
        <p:spPr>
          <a:xfrm>
            <a:off x="1463040" y="1984248"/>
            <a:ext cx="10040112" cy="640080"/>
          </a:xfrm>
          <a:prstGeom prst="rect">
            <a:avLst/>
          </a:prstGeom>
          <a:noFill/>
          <a:ln/>
        </p:spPr>
        <p:txBody>
          <a:bodyPr wrap="square" lIns="0" tIns="0" rIns="0" bIns="0" rtlCol="0" anchor="t"/>
          <a:lstStyle/>
          <a:p>
            <a:pPr marL="0" indent="0">
              <a:lnSpc>
                <a:spcPct val="105000"/>
              </a:lnSpc>
              <a:buNone/>
            </a:pPr>
            <a:r>
              <a:rPr lang="en-US" sz="1250" dirty="0">
                <a:solidFill>
                  <a:srgbClr val="5A6B8C"/>
                </a:solidFill>
                <a:latin typeface="Calibri" pitchFamily="34" charset="0"/>
                <a:ea typeface="Calibri" pitchFamily="34" charset="-122"/>
                <a:cs typeface="Calibri" pitchFamily="34" charset="-120"/>
              </a:rPr>
              <a:t>Plan, execute and track shipments across every mode and carrier.</a:t>
            </a:r>
            <a:endParaRPr lang="en-US" sz="1250" dirty="0"/>
          </a:p>
        </p:txBody>
      </p:sp>
      <p:sp>
        <p:nvSpPr>
          <p:cNvPr id="9" name="Shape 6"/>
          <p:cNvSpPr/>
          <p:nvPr/>
        </p:nvSpPr>
        <p:spPr>
          <a:xfrm>
            <a:off x="640080" y="2697480"/>
            <a:ext cx="566928" cy="566928"/>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10" name="Image 1" descr="/home/claude/demand-mgmt-ppt/icons/satellite.png"/>
          <p:cNvPicPr>
            <a:picLocks noChangeAspect="1"/>
          </p:cNvPicPr>
          <p:nvPr/>
        </p:nvPicPr>
        <p:blipFill>
          <a:blip r:embed="rId4"/>
          <a:stretch>
            <a:fillRect/>
          </a:stretch>
        </p:blipFill>
        <p:spPr>
          <a:xfrm>
            <a:off x="781812" y="2839212"/>
            <a:ext cx="283464" cy="283464"/>
          </a:xfrm>
          <a:prstGeom prst="rect">
            <a:avLst/>
          </a:prstGeom>
        </p:spPr>
      </p:pic>
      <p:sp>
        <p:nvSpPr>
          <p:cNvPr id="11" name="Text 7"/>
          <p:cNvSpPr/>
          <p:nvPr/>
        </p:nvSpPr>
        <p:spPr>
          <a:xfrm>
            <a:off x="1463040" y="2670048"/>
            <a:ext cx="10040112" cy="32004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IoT &amp; GPS Tracking</a:t>
            </a:r>
            <a:endParaRPr lang="en-US" sz="1600" dirty="0"/>
          </a:p>
        </p:txBody>
      </p:sp>
      <p:sp>
        <p:nvSpPr>
          <p:cNvPr id="12" name="Text 8"/>
          <p:cNvSpPr/>
          <p:nvPr/>
        </p:nvSpPr>
        <p:spPr>
          <a:xfrm>
            <a:off x="1463040" y="2990088"/>
            <a:ext cx="10040112" cy="640080"/>
          </a:xfrm>
          <a:prstGeom prst="rect">
            <a:avLst/>
          </a:prstGeom>
          <a:noFill/>
          <a:ln/>
        </p:spPr>
        <p:txBody>
          <a:bodyPr wrap="square" lIns="0" tIns="0" rIns="0" bIns="0" rtlCol="0" anchor="t"/>
          <a:lstStyle/>
          <a:p>
            <a:pPr marL="0" indent="0">
              <a:lnSpc>
                <a:spcPct val="105000"/>
              </a:lnSpc>
              <a:buNone/>
            </a:pPr>
            <a:r>
              <a:rPr lang="en-US" sz="1250" dirty="0">
                <a:solidFill>
                  <a:srgbClr val="5A6B8C"/>
                </a:solidFill>
                <a:latin typeface="Calibri" pitchFamily="34" charset="0"/>
                <a:ea typeface="Calibri" pitchFamily="34" charset="-122"/>
                <a:cs typeface="Calibri" pitchFamily="34" charset="-120"/>
              </a:rPr>
              <a:t>Real-time visibility of vehicle location, temperature and cargo condition.</a:t>
            </a:r>
            <a:endParaRPr lang="en-US" sz="1250" dirty="0"/>
          </a:p>
        </p:txBody>
      </p:sp>
      <p:sp>
        <p:nvSpPr>
          <p:cNvPr id="13" name="Shape 9"/>
          <p:cNvSpPr/>
          <p:nvPr/>
        </p:nvSpPr>
        <p:spPr>
          <a:xfrm>
            <a:off x="640080" y="3703320"/>
            <a:ext cx="566928" cy="566928"/>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14" name="Image 2" descr="/home/claude/demand-mgmt-ppt/icons/sync.png"/>
          <p:cNvPicPr>
            <a:picLocks noChangeAspect="1"/>
          </p:cNvPicPr>
          <p:nvPr/>
        </p:nvPicPr>
        <p:blipFill>
          <a:blip r:embed="rId5"/>
          <a:stretch>
            <a:fillRect/>
          </a:stretch>
        </p:blipFill>
        <p:spPr>
          <a:xfrm>
            <a:off x="781812" y="3845052"/>
            <a:ext cx="283464" cy="283464"/>
          </a:xfrm>
          <a:prstGeom prst="rect">
            <a:avLst/>
          </a:prstGeom>
        </p:spPr>
      </p:pic>
      <p:sp>
        <p:nvSpPr>
          <p:cNvPr id="15" name="Text 10"/>
          <p:cNvSpPr/>
          <p:nvPr/>
        </p:nvSpPr>
        <p:spPr>
          <a:xfrm>
            <a:off x="1463040" y="3675888"/>
            <a:ext cx="10040112" cy="32004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EDI &amp; System Integration</a:t>
            </a:r>
            <a:endParaRPr lang="en-US" sz="1600" dirty="0"/>
          </a:p>
        </p:txBody>
      </p:sp>
      <p:sp>
        <p:nvSpPr>
          <p:cNvPr id="16" name="Text 11"/>
          <p:cNvSpPr/>
          <p:nvPr/>
        </p:nvSpPr>
        <p:spPr>
          <a:xfrm>
            <a:off x="1463040" y="3995928"/>
            <a:ext cx="10040112" cy="640080"/>
          </a:xfrm>
          <a:prstGeom prst="rect">
            <a:avLst/>
          </a:prstGeom>
          <a:noFill/>
          <a:ln/>
        </p:spPr>
        <p:txBody>
          <a:bodyPr wrap="square" lIns="0" tIns="0" rIns="0" bIns="0" rtlCol="0" anchor="t"/>
          <a:lstStyle/>
          <a:p>
            <a:pPr marL="0" indent="0">
              <a:lnSpc>
                <a:spcPct val="105000"/>
              </a:lnSpc>
              <a:buNone/>
            </a:pPr>
            <a:r>
              <a:rPr lang="en-US" sz="1250" dirty="0">
                <a:solidFill>
                  <a:srgbClr val="5A6B8C"/>
                </a:solidFill>
                <a:latin typeface="Calibri" pitchFamily="34" charset="0"/>
                <a:ea typeface="Calibri" pitchFamily="34" charset="-122"/>
                <a:cs typeface="Calibri" pitchFamily="34" charset="-120"/>
              </a:rPr>
              <a:t>Automated data exchange between suppliers, carriers and customers.</a:t>
            </a:r>
            <a:endParaRPr lang="en-US" sz="1250" dirty="0"/>
          </a:p>
        </p:txBody>
      </p:sp>
      <p:sp>
        <p:nvSpPr>
          <p:cNvPr id="17" name="Shape 12"/>
          <p:cNvSpPr/>
          <p:nvPr/>
        </p:nvSpPr>
        <p:spPr>
          <a:xfrm>
            <a:off x="640080" y="4709160"/>
            <a:ext cx="566928" cy="566928"/>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18" name="Image 3" descr="/home/claude/demand-mgmt-ppt/icons/chart.png"/>
          <p:cNvPicPr>
            <a:picLocks noChangeAspect="1"/>
          </p:cNvPicPr>
          <p:nvPr/>
        </p:nvPicPr>
        <p:blipFill>
          <a:blip r:embed="rId6"/>
          <a:stretch>
            <a:fillRect/>
          </a:stretch>
        </p:blipFill>
        <p:spPr>
          <a:xfrm>
            <a:off x="781812" y="4850892"/>
            <a:ext cx="283464" cy="283464"/>
          </a:xfrm>
          <a:prstGeom prst="rect">
            <a:avLst/>
          </a:prstGeom>
        </p:spPr>
      </p:pic>
      <p:sp>
        <p:nvSpPr>
          <p:cNvPr id="19" name="Text 13"/>
          <p:cNvSpPr/>
          <p:nvPr/>
        </p:nvSpPr>
        <p:spPr>
          <a:xfrm>
            <a:off x="1463040" y="4681728"/>
            <a:ext cx="10040112" cy="32004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Analytics &amp; Control Towers</a:t>
            </a:r>
            <a:endParaRPr lang="en-US" sz="1600" dirty="0"/>
          </a:p>
        </p:txBody>
      </p:sp>
      <p:sp>
        <p:nvSpPr>
          <p:cNvPr id="20" name="Text 14"/>
          <p:cNvSpPr/>
          <p:nvPr/>
        </p:nvSpPr>
        <p:spPr>
          <a:xfrm>
            <a:off x="1463040" y="5001768"/>
            <a:ext cx="10040112" cy="640080"/>
          </a:xfrm>
          <a:prstGeom prst="rect">
            <a:avLst/>
          </a:prstGeom>
          <a:noFill/>
          <a:ln/>
        </p:spPr>
        <p:txBody>
          <a:bodyPr wrap="square" lIns="0" tIns="0" rIns="0" bIns="0" rtlCol="0" anchor="t"/>
          <a:lstStyle/>
          <a:p>
            <a:pPr marL="0" indent="0">
              <a:lnSpc>
                <a:spcPct val="105000"/>
              </a:lnSpc>
              <a:buNone/>
            </a:pPr>
            <a:r>
              <a:rPr lang="en-US" sz="1250" dirty="0">
                <a:solidFill>
                  <a:srgbClr val="5A6B8C"/>
                </a:solidFill>
                <a:latin typeface="Calibri" pitchFamily="34" charset="0"/>
                <a:ea typeface="Calibri" pitchFamily="34" charset="-122"/>
                <a:cs typeface="Calibri" pitchFamily="34" charset="-120"/>
              </a:rPr>
              <a:t>Dashboards that turn infrastructure data into proactive decisions.</a:t>
            </a:r>
            <a:endParaRPr lang="en-US" sz="1250" dirty="0"/>
          </a:p>
        </p:txBody>
      </p:sp>
      <p:sp>
        <p:nvSpPr>
          <p:cNvPr id="21" name="Text 15"/>
          <p:cNvSpPr/>
          <p:nvPr/>
        </p:nvSpPr>
        <p:spPr>
          <a:xfrm>
            <a:off x="11551615" y="6446520"/>
            <a:ext cx="457200" cy="274320"/>
          </a:xfrm>
          <a:prstGeom prst="rect">
            <a:avLst/>
          </a:prstGeom>
          <a:noFill/>
          <a:ln/>
        </p:spPr>
        <p:txBody>
          <a:bodyPr wrap="square" lIns="0" tIns="0" rIns="0" bIns="0" rtlCol="0" anchor="ctr"/>
          <a:lstStyle/>
          <a:p>
            <a:pPr marL="0" indent="0" algn="r">
              <a:buNone/>
            </a:pPr>
            <a:r>
              <a:rPr lang="en-US" sz="1000" dirty="0">
                <a:solidFill>
                  <a:srgbClr val="5A6B8C"/>
                </a:solidFill>
                <a:latin typeface="Calibri" pitchFamily="34" charset="0"/>
                <a:ea typeface="Calibri" pitchFamily="34" charset="-122"/>
                <a:cs typeface="Calibri" pitchFamily="34" charset="-120"/>
              </a:rPr>
              <a:t>16</a:t>
            </a:r>
            <a:endParaRPr lang="en-US" sz="1000" dirty="0"/>
          </a:p>
        </p:txBody>
      </p:sp>
      <p:sp>
        <p:nvSpPr>
          <p:cNvPr id="23" name="Oval 22">
            <a:extLst>
              <a:ext uri="{FF2B5EF4-FFF2-40B4-BE49-F238E27FC236}">
                <a16:creationId xmlns:a16="http://schemas.microsoft.com/office/drawing/2014/main" id="{A45BCAA1-B140-3AFE-31C7-E8089CB09DAC}"/>
              </a:ext>
            </a:extLst>
          </p:cNvPr>
          <p:cNvSpPr/>
          <p:nvPr/>
        </p:nvSpPr>
        <p:spPr>
          <a:xfrm>
            <a:off x="9002683" y="114036"/>
            <a:ext cx="3142211" cy="1184412"/>
          </a:xfrm>
          <a:prstGeom prst="ellipse">
            <a:avLst/>
          </a:prstGeom>
          <a:solidFill>
            <a:schemeClr val="accent2">
              <a:lumMod val="60000"/>
              <a:lumOff val="4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713C0EB7-5C90-9225-6220-CC44A2B96678}"/>
              </a:ext>
            </a:extLst>
          </p:cNvPr>
          <p:cNvSpPr txBox="1"/>
          <p:nvPr/>
        </p:nvSpPr>
        <p:spPr>
          <a:xfrm>
            <a:off x="9343504" y="444632"/>
            <a:ext cx="2460567" cy="523220"/>
          </a:xfrm>
          <a:prstGeom prst="rect">
            <a:avLst/>
          </a:prstGeom>
          <a:noFill/>
        </p:spPr>
        <p:txBody>
          <a:bodyPr wrap="square" rtlCol="0">
            <a:spAutoFit/>
          </a:bodyPr>
          <a:lstStyle/>
          <a:p>
            <a:r>
              <a:rPr lang="en-US" sz="2800" b="1" dirty="0"/>
              <a:t>Important slide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EEF3FC"/>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C9962C"/>
                </a:solidFill>
                <a:latin typeface="Calibri" pitchFamily="34" charset="0"/>
                <a:ea typeface="Calibri" pitchFamily="34" charset="-122"/>
                <a:cs typeface="Calibri" pitchFamily="34" charset="-120"/>
              </a:rPr>
              <a:t>INFRASTRUCTURE</a:t>
            </a:r>
            <a:endParaRPr lang="en-US" sz="1200" dirty="0"/>
          </a:p>
        </p:txBody>
      </p:sp>
      <p:sp>
        <p:nvSpPr>
          <p:cNvPr id="3" name="Text 1"/>
          <p:cNvSpPr/>
          <p:nvPr/>
        </p:nvSpPr>
        <p:spPr>
          <a:xfrm>
            <a:off x="548640" y="621792"/>
            <a:ext cx="10515600" cy="73152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The Role of Government &amp; Public-Private Partnerships</a:t>
            </a:r>
            <a:endParaRPr lang="en-US" sz="2800" dirty="0"/>
          </a:p>
        </p:txBody>
      </p:sp>
      <p:sp>
        <p:nvSpPr>
          <p:cNvPr id="4" name="Shape 2"/>
          <p:cNvSpPr/>
          <p:nvPr/>
        </p:nvSpPr>
        <p:spPr>
          <a:xfrm>
            <a:off x="566928" y="1298448"/>
            <a:ext cx="914400" cy="0"/>
          </a:xfrm>
          <a:prstGeom prst="line">
            <a:avLst/>
          </a:prstGeom>
          <a:noFill/>
          <a:ln w="31750">
            <a:solidFill>
              <a:srgbClr val="C9962C"/>
            </a:solidFill>
            <a:prstDash val="solid"/>
          </a:ln>
        </p:spPr>
        <p:txBody>
          <a:bodyPr/>
          <a:lstStyle/>
          <a:p>
            <a:endParaRPr lang="en-US"/>
          </a:p>
        </p:txBody>
      </p:sp>
      <p:sp>
        <p:nvSpPr>
          <p:cNvPr id="5" name="Text 3"/>
          <p:cNvSpPr/>
          <p:nvPr/>
        </p:nvSpPr>
        <p:spPr>
          <a:xfrm>
            <a:off x="640080" y="1691640"/>
            <a:ext cx="10881360" cy="640080"/>
          </a:xfrm>
          <a:prstGeom prst="rect">
            <a:avLst/>
          </a:prstGeom>
          <a:noFill/>
          <a:ln/>
        </p:spPr>
        <p:txBody>
          <a:bodyPr wrap="square" lIns="0" tIns="0" rIns="0" bIns="0" rtlCol="0" anchor="t"/>
          <a:lstStyle/>
          <a:p>
            <a:pPr marL="0" indent="0">
              <a:lnSpc>
                <a:spcPct val="125000"/>
              </a:lnSpc>
              <a:buNone/>
            </a:pPr>
            <a:r>
              <a:rPr lang="en-US" sz="1400" dirty="0">
                <a:solidFill>
                  <a:srgbClr val="1E2761"/>
                </a:solidFill>
                <a:latin typeface="Calibri" pitchFamily="34" charset="0"/>
                <a:ea typeface="Calibri" pitchFamily="34" charset="-122"/>
                <a:cs typeface="Calibri" pitchFamily="34" charset="-120"/>
              </a:rPr>
              <a:t>Large-scale logistics infrastructure is capital-intensive and slow to build — most economies rely on a mix of public investment and private participation to develop it.</a:t>
            </a:r>
            <a:endParaRPr lang="en-US" sz="1400" dirty="0"/>
          </a:p>
        </p:txBody>
      </p:sp>
      <p:sp>
        <p:nvSpPr>
          <p:cNvPr id="6" name="Text 4"/>
          <p:cNvSpPr/>
          <p:nvPr/>
        </p:nvSpPr>
        <p:spPr>
          <a:xfrm>
            <a:off x="640080" y="2468880"/>
            <a:ext cx="10881360" cy="2377440"/>
          </a:xfrm>
          <a:prstGeom prst="rect">
            <a:avLst/>
          </a:prstGeom>
          <a:noFill/>
          <a:ln/>
        </p:spPr>
        <p:txBody>
          <a:bodyPr wrap="square" lIns="0" tIns="0" rIns="0" bIns="0" rtlCol="0" anchor="t"/>
          <a:lstStyle/>
          <a:p>
            <a:pPr marL="203200" indent="-203200">
              <a:lnSpc>
                <a:spcPct val="115000"/>
              </a:lnSpc>
              <a:spcAft>
                <a:spcPts val="1400"/>
              </a:spcAft>
              <a:buSzPct val="100000"/>
              <a:buChar char="•"/>
            </a:pPr>
            <a:r>
              <a:rPr lang="en-US" sz="1350" dirty="0">
                <a:solidFill>
                  <a:srgbClr val="1E2761"/>
                </a:solidFill>
                <a:latin typeface="Calibri" pitchFamily="34" charset="0"/>
                <a:ea typeface="Calibri" pitchFamily="34" charset="-122"/>
                <a:cs typeface="Calibri" pitchFamily="34" charset="-120"/>
              </a:rPr>
              <a:t>National logistics policies set standards, funding priorities and single-window clearances</a:t>
            </a:r>
            <a:endParaRPr lang="en-US" sz="1350" dirty="0"/>
          </a:p>
          <a:p>
            <a:pPr marL="203200" indent="-203200">
              <a:lnSpc>
                <a:spcPct val="115000"/>
              </a:lnSpc>
              <a:spcAft>
                <a:spcPts val="1400"/>
              </a:spcAft>
              <a:buSzPct val="100000"/>
              <a:buChar char="•"/>
            </a:pPr>
            <a:r>
              <a:rPr lang="en-US" sz="1350" dirty="0">
                <a:solidFill>
                  <a:srgbClr val="1E2761"/>
                </a:solidFill>
                <a:latin typeface="Calibri" pitchFamily="34" charset="0"/>
                <a:ea typeface="Calibri" pitchFamily="34" charset="-122"/>
                <a:cs typeface="Calibri" pitchFamily="34" charset="-120"/>
              </a:rPr>
              <a:t>Dedicated freight corridors and industrial corridors are typically government-anchored, multi-year investments</a:t>
            </a:r>
            <a:endParaRPr lang="en-US" sz="1350" dirty="0"/>
          </a:p>
          <a:p>
            <a:pPr marL="203200" indent="-203200">
              <a:lnSpc>
                <a:spcPct val="115000"/>
              </a:lnSpc>
              <a:spcAft>
                <a:spcPts val="1400"/>
              </a:spcAft>
              <a:buSzPct val="100000"/>
              <a:buChar char="•"/>
            </a:pPr>
            <a:r>
              <a:rPr lang="en-US" sz="1350" dirty="0">
                <a:solidFill>
                  <a:srgbClr val="1E2761"/>
                </a:solidFill>
                <a:latin typeface="Calibri" pitchFamily="34" charset="0"/>
                <a:ea typeface="Calibri" pitchFamily="34" charset="-122"/>
                <a:cs typeface="Calibri" pitchFamily="34" charset="-120"/>
              </a:rPr>
              <a:t>Public-Private Partnerships (PPP) fund ports, logistics parks and highways with private capital and public land/approvals</a:t>
            </a:r>
            <a:endParaRPr lang="en-US" sz="1350" dirty="0"/>
          </a:p>
          <a:p>
            <a:pPr marL="203200" indent="-203200">
              <a:lnSpc>
                <a:spcPct val="115000"/>
              </a:lnSpc>
              <a:spcAft>
                <a:spcPts val="1400"/>
              </a:spcAft>
              <a:buSzPct val="100000"/>
              <a:buChar char="•"/>
            </a:pPr>
            <a:r>
              <a:rPr lang="en-US" sz="1350" dirty="0">
                <a:solidFill>
                  <a:srgbClr val="1E2761"/>
                </a:solidFill>
                <a:latin typeface="Calibri" pitchFamily="34" charset="0"/>
                <a:ea typeface="Calibri" pitchFamily="34" charset="-122"/>
                <a:cs typeface="Calibri" pitchFamily="34" charset="-120"/>
              </a:rPr>
              <a:t>Digital public infrastructure (unified tracking, e-way bills, single-window customs) cuts documentation delays sharply</a:t>
            </a:r>
            <a:endParaRPr lang="en-US" sz="1350" dirty="0"/>
          </a:p>
        </p:txBody>
      </p:sp>
      <p:sp>
        <p:nvSpPr>
          <p:cNvPr id="7" name="Shape 5"/>
          <p:cNvSpPr/>
          <p:nvPr/>
        </p:nvSpPr>
        <p:spPr>
          <a:xfrm>
            <a:off x="640080" y="5029200"/>
            <a:ext cx="10881360" cy="1280160"/>
          </a:xfrm>
          <a:prstGeom prst="roundRect">
            <a:avLst>
              <a:gd name="adj" fmla="val 6429"/>
            </a:avLst>
          </a:prstGeom>
          <a:solidFill>
            <a:srgbClr val="1E2761"/>
          </a:solidFill>
          <a:ln/>
        </p:spPr>
        <p:txBody>
          <a:bodyPr/>
          <a:lstStyle/>
          <a:p>
            <a:endParaRPr lang="en-US"/>
          </a:p>
        </p:txBody>
      </p:sp>
      <p:sp>
        <p:nvSpPr>
          <p:cNvPr id="8" name="Shape 6"/>
          <p:cNvSpPr/>
          <p:nvPr/>
        </p:nvSpPr>
        <p:spPr>
          <a:xfrm>
            <a:off x="868680" y="5394960"/>
            <a:ext cx="548640" cy="548640"/>
          </a:xfrm>
          <a:prstGeom prst="ellipse">
            <a:avLst/>
          </a:prstGeom>
          <a:solidFill>
            <a:srgbClr val="C9962C"/>
          </a:solidFill>
          <a:ln/>
          <a:effectLst>
            <a:outerShdw blurRad="76200" dist="25400" dir="5400000" algn="bl" rotWithShape="0">
              <a:srgbClr val="1E2761">
                <a:alpha val="18000"/>
              </a:srgbClr>
            </a:outerShdw>
          </a:effectLst>
        </p:spPr>
        <p:txBody>
          <a:bodyPr/>
          <a:lstStyle/>
          <a:p>
            <a:endParaRPr lang="en-US"/>
          </a:p>
        </p:txBody>
      </p:sp>
      <p:pic>
        <p:nvPicPr>
          <p:cNvPr id="9" name="Image 0" descr="/home/claude/demand-mgmt-ppt/icons/lightbulb.png"/>
          <p:cNvPicPr>
            <a:picLocks noChangeAspect="1"/>
          </p:cNvPicPr>
          <p:nvPr/>
        </p:nvPicPr>
        <p:blipFill>
          <a:blip r:embed="rId3"/>
          <a:stretch>
            <a:fillRect/>
          </a:stretch>
        </p:blipFill>
        <p:spPr>
          <a:xfrm>
            <a:off x="1005840" y="5532120"/>
            <a:ext cx="274320" cy="274320"/>
          </a:xfrm>
          <a:prstGeom prst="rect">
            <a:avLst/>
          </a:prstGeom>
        </p:spPr>
      </p:pic>
      <p:sp>
        <p:nvSpPr>
          <p:cNvPr id="10" name="Text 7"/>
          <p:cNvSpPr/>
          <p:nvPr/>
        </p:nvSpPr>
        <p:spPr>
          <a:xfrm>
            <a:off x="1554480" y="5157216"/>
            <a:ext cx="9692640" cy="274320"/>
          </a:xfrm>
          <a:prstGeom prst="rect">
            <a:avLst/>
          </a:prstGeom>
          <a:noFill/>
          <a:ln/>
        </p:spPr>
        <p:txBody>
          <a:bodyPr wrap="square" lIns="0" tIns="0" rIns="0" bIns="0" rtlCol="0" anchor="ctr"/>
          <a:lstStyle/>
          <a:p>
            <a:pPr marL="0" indent="0">
              <a:buNone/>
            </a:pPr>
            <a:r>
              <a:rPr lang="en-US" sz="1100" b="1" kern="0" spc="150" dirty="0">
                <a:solidFill>
                  <a:srgbClr val="C9962C"/>
                </a:solidFill>
                <a:latin typeface="Calibri" pitchFamily="34" charset="0"/>
                <a:ea typeface="Calibri" pitchFamily="34" charset="-122"/>
                <a:cs typeface="Calibri" pitchFamily="34" charset="-120"/>
              </a:rPr>
              <a:t>INDIA EXAMPLE</a:t>
            </a:r>
            <a:endParaRPr lang="en-US" sz="1100" dirty="0"/>
          </a:p>
        </p:txBody>
      </p:sp>
      <p:sp>
        <p:nvSpPr>
          <p:cNvPr id="11" name="Text 8"/>
          <p:cNvSpPr/>
          <p:nvPr/>
        </p:nvSpPr>
        <p:spPr>
          <a:xfrm>
            <a:off x="1554480" y="5449824"/>
            <a:ext cx="9692640" cy="749808"/>
          </a:xfrm>
          <a:prstGeom prst="rect">
            <a:avLst/>
          </a:prstGeom>
          <a:noFill/>
          <a:ln/>
        </p:spPr>
        <p:txBody>
          <a:bodyPr wrap="square" lIns="0" tIns="0" rIns="0" bIns="0" rtlCol="0" anchor="t"/>
          <a:lstStyle/>
          <a:p>
            <a:pPr marL="0" indent="0">
              <a:lnSpc>
                <a:spcPct val="110000"/>
              </a:lnSpc>
              <a:buNone/>
            </a:pPr>
            <a:r>
              <a:rPr lang="en-US" sz="1250" dirty="0">
                <a:solidFill>
                  <a:srgbClr val="FFFFFF"/>
                </a:solidFill>
                <a:latin typeface="Calibri" pitchFamily="34" charset="0"/>
                <a:ea typeface="Calibri" pitchFamily="34" charset="-122"/>
                <a:cs typeface="Calibri" pitchFamily="34" charset="-120"/>
              </a:rPr>
              <a:t>India’s National Logistics Policy and PM Gati Shakti initiative aim to integrate rail, road, port and digital infrastructure planning, targeting a reduction in logistics cost as a share of GDP.</a:t>
            </a:r>
            <a:endParaRPr lang="en-US" sz="1250" dirty="0"/>
          </a:p>
        </p:txBody>
      </p:sp>
      <p:sp>
        <p:nvSpPr>
          <p:cNvPr id="12" name="Text 9"/>
          <p:cNvSpPr/>
          <p:nvPr/>
        </p:nvSpPr>
        <p:spPr>
          <a:xfrm>
            <a:off x="11551615" y="6446520"/>
            <a:ext cx="457200" cy="274320"/>
          </a:xfrm>
          <a:prstGeom prst="rect">
            <a:avLst/>
          </a:prstGeom>
          <a:noFill/>
          <a:ln/>
        </p:spPr>
        <p:txBody>
          <a:bodyPr wrap="square" lIns="0" tIns="0" rIns="0" bIns="0" rtlCol="0" anchor="ctr"/>
          <a:lstStyle/>
          <a:p>
            <a:pPr marL="0" indent="0" algn="r">
              <a:buNone/>
            </a:pPr>
            <a:r>
              <a:rPr lang="en-US" sz="1000" dirty="0">
                <a:solidFill>
                  <a:srgbClr val="5A6B8C"/>
                </a:solidFill>
                <a:latin typeface="Calibri" pitchFamily="34" charset="0"/>
                <a:ea typeface="Calibri" pitchFamily="34" charset="-122"/>
                <a:cs typeface="Calibri" pitchFamily="34" charset="-120"/>
              </a:rPr>
              <a:t>17</a:t>
            </a:r>
            <a:endParaRPr lang="en-US" sz="1000" dirty="0"/>
          </a:p>
        </p:txBody>
      </p:sp>
      <p:sp>
        <p:nvSpPr>
          <p:cNvPr id="14" name="Oval 13">
            <a:extLst>
              <a:ext uri="{FF2B5EF4-FFF2-40B4-BE49-F238E27FC236}">
                <a16:creationId xmlns:a16="http://schemas.microsoft.com/office/drawing/2014/main" id="{B0AA6FAE-240E-0E4F-A61E-4A0E87B3C35C}"/>
              </a:ext>
            </a:extLst>
          </p:cNvPr>
          <p:cNvSpPr/>
          <p:nvPr/>
        </p:nvSpPr>
        <p:spPr>
          <a:xfrm>
            <a:off x="9043491" y="2207266"/>
            <a:ext cx="3142211" cy="1184412"/>
          </a:xfrm>
          <a:prstGeom prst="ellipse">
            <a:avLst/>
          </a:prstGeom>
          <a:solidFill>
            <a:schemeClr val="accent1">
              <a:lumMod val="40000"/>
              <a:lumOff val="6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4C0E3A2C-8BAA-649C-EDE2-17EEDAFAED04}"/>
              </a:ext>
            </a:extLst>
          </p:cNvPr>
          <p:cNvSpPr txBox="1"/>
          <p:nvPr/>
        </p:nvSpPr>
        <p:spPr>
          <a:xfrm>
            <a:off x="9384312" y="2537862"/>
            <a:ext cx="2460567" cy="523220"/>
          </a:xfrm>
          <a:prstGeom prst="rect">
            <a:avLst/>
          </a:prstGeom>
          <a:noFill/>
        </p:spPr>
        <p:txBody>
          <a:bodyPr wrap="square" rtlCol="0">
            <a:spAutoFit/>
          </a:bodyPr>
          <a:lstStyle/>
          <a:p>
            <a:r>
              <a:rPr lang="en-US" sz="2800" b="1" dirty="0"/>
              <a:t>Read this slide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C9962C"/>
                </a:solidFill>
                <a:latin typeface="Calibri" pitchFamily="34" charset="0"/>
                <a:ea typeface="Calibri" pitchFamily="34" charset="-122"/>
                <a:cs typeface="Calibri" pitchFamily="34" charset="-120"/>
              </a:rPr>
              <a:t>INFRASTRUCTURE</a:t>
            </a:r>
            <a:endParaRPr lang="en-US" sz="1200" dirty="0"/>
          </a:p>
        </p:txBody>
      </p:sp>
      <p:sp>
        <p:nvSpPr>
          <p:cNvPr id="3" name="Text 1"/>
          <p:cNvSpPr/>
          <p:nvPr/>
        </p:nvSpPr>
        <p:spPr>
          <a:xfrm>
            <a:off x="548640" y="621792"/>
            <a:ext cx="10515600" cy="73152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Example: Infrastructure Behind an E-Commerce Fulfilment Network</a:t>
            </a:r>
            <a:endParaRPr lang="en-US" sz="2800" dirty="0"/>
          </a:p>
        </p:txBody>
      </p:sp>
      <p:sp>
        <p:nvSpPr>
          <p:cNvPr id="4" name="Shape 2"/>
          <p:cNvSpPr/>
          <p:nvPr/>
        </p:nvSpPr>
        <p:spPr>
          <a:xfrm>
            <a:off x="566928" y="1298448"/>
            <a:ext cx="914400" cy="0"/>
          </a:xfrm>
          <a:prstGeom prst="line">
            <a:avLst/>
          </a:prstGeom>
          <a:noFill/>
          <a:ln w="31750">
            <a:solidFill>
              <a:srgbClr val="C9962C"/>
            </a:solidFill>
            <a:prstDash val="solid"/>
          </a:ln>
        </p:spPr>
        <p:txBody>
          <a:bodyPr/>
          <a:lstStyle/>
          <a:p>
            <a:endParaRPr lang="en-US"/>
          </a:p>
        </p:txBody>
      </p:sp>
      <p:sp>
        <p:nvSpPr>
          <p:cNvPr id="5" name="Text 3"/>
          <p:cNvSpPr/>
          <p:nvPr/>
        </p:nvSpPr>
        <p:spPr>
          <a:xfrm>
            <a:off x="640080" y="1691640"/>
            <a:ext cx="10881360" cy="640080"/>
          </a:xfrm>
          <a:prstGeom prst="rect">
            <a:avLst/>
          </a:prstGeom>
          <a:noFill/>
          <a:ln/>
        </p:spPr>
        <p:txBody>
          <a:bodyPr wrap="square" lIns="0" tIns="0" rIns="0" bIns="0" rtlCol="0" anchor="t"/>
          <a:lstStyle/>
          <a:p>
            <a:pPr marL="0" indent="0">
              <a:lnSpc>
                <a:spcPct val="125000"/>
              </a:lnSpc>
              <a:buNone/>
            </a:pPr>
            <a:r>
              <a:rPr lang="en-US" sz="1400" dirty="0">
                <a:solidFill>
                  <a:srgbClr val="1E2761"/>
                </a:solidFill>
                <a:latin typeface="Calibri" pitchFamily="34" charset="0"/>
                <a:ea typeface="Calibri" pitchFamily="34" charset="-122"/>
                <a:cs typeface="Calibri" pitchFamily="34" charset="-120"/>
              </a:rPr>
              <a:t>A major e-commerce player expanding into Tier-2 and Tier-3 Indian cities had to build infrastructure most competitors take for granted in metros.</a:t>
            </a:r>
            <a:endParaRPr lang="en-US" sz="1400" dirty="0"/>
          </a:p>
        </p:txBody>
      </p:sp>
      <p:sp>
        <p:nvSpPr>
          <p:cNvPr id="6" name="Text 4"/>
          <p:cNvSpPr/>
          <p:nvPr/>
        </p:nvSpPr>
        <p:spPr>
          <a:xfrm>
            <a:off x="640080" y="2468880"/>
            <a:ext cx="10881360" cy="1737360"/>
          </a:xfrm>
          <a:prstGeom prst="rect">
            <a:avLst/>
          </a:prstGeom>
          <a:noFill/>
          <a:ln/>
        </p:spPr>
        <p:txBody>
          <a:bodyPr wrap="square" lIns="0" tIns="0" rIns="0" bIns="0" rtlCol="0" anchor="t"/>
          <a:lstStyle/>
          <a:p>
            <a:pPr marL="203200" indent="-203200">
              <a:lnSpc>
                <a:spcPct val="115000"/>
              </a:lnSpc>
              <a:spcAft>
                <a:spcPts val="1400"/>
              </a:spcAft>
              <a:buSzPct val="100000"/>
              <a:buChar char="•"/>
            </a:pPr>
            <a:r>
              <a:rPr lang="en-US" sz="1350" dirty="0">
                <a:solidFill>
                  <a:srgbClr val="1E2761"/>
                </a:solidFill>
                <a:latin typeface="Calibri" pitchFamily="34" charset="0"/>
                <a:ea typeface="Calibri" pitchFamily="34" charset="-122"/>
                <a:cs typeface="Calibri" pitchFamily="34" charset="-120"/>
              </a:rPr>
              <a:t>Built regional sortation centres near highway junctions rather than city centres, cutting land cost</a:t>
            </a:r>
            <a:endParaRPr lang="en-US" sz="1350" dirty="0"/>
          </a:p>
          <a:p>
            <a:pPr marL="203200" indent="-203200">
              <a:lnSpc>
                <a:spcPct val="115000"/>
              </a:lnSpc>
              <a:spcAft>
                <a:spcPts val="1400"/>
              </a:spcAft>
              <a:buSzPct val="100000"/>
              <a:buChar char="•"/>
            </a:pPr>
            <a:r>
              <a:rPr lang="en-US" sz="1350" dirty="0">
                <a:solidFill>
                  <a:srgbClr val="1E2761"/>
                </a:solidFill>
                <a:latin typeface="Calibri" pitchFamily="34" charset="0"/>
                <a:ea typeface="Calibri" pitchFamily="34" charset="-122"/>
                <a:cs typeface="Calibri" pitchFamily="34" charset="-120"/>
              </a:rPr>
              <a:t>Partnered with local kirana stores as last-mile pickup points where formal delivery infrastructure was thin</a:t>
            </a:r>
            <a:endParaRPr lang="en-US" sz="1350" dirty="0"/>
          </a:p>
          <a:p>
            <a:pPr marL="203200" indent="-203200">
              <a:lnSpc>
                <a:spcPct val="115000"/>
              </a:lnSpc>
              <a:spcAft>
                <a:spcPts val="1400"/>
              </a:spcAft>
              <a:buSzPct val="100000"/>
              <a:buChar char="•"/>
            </a:pPr>
            <a:r>
              <a:rPr lang="en-US" sz="1350" dirty="0">
                <a:solidFill>
                  <a:srgbClr val="1E2761"/>
                </a:solidFill>
                <a:latin typeface="Calibri" pitchFamily="34" charset="0"/>
                <a:ea typeface="Calibri" pitchFamily="34" charset="-122"/>
                <a:cs typeface="Calibri" pitchFamily="34" charset="-120"/>
              </a:rPr>
              <a:t>Invested in a proprietary address-geocoding system to overcome inconsistent postal addressing</a:t>
            </a:r>
            <a:endParaRPr lang="en-US" sz="1350" dirty="0"/>
          </a:p>
        </p:txBody>
      </p:sp>
      <p:sp>
        <p:nvSpPr>
          <p:cNvPr id="7" name="Shape 5"/>
          <p:cNvSpPr/>
          <p:nvPr/>
        </p:nvSpPr>
        <p:spPr>
          <a:xfrm>
            <a:off x="640080" y="4434840"/>
            <a:ext cx="10881360" cy="1417320"/>
          </a:xfrm>
          <a:prstGeom prst="roundRect">
            <a:avLst>
              <a:gd name="adj" fmla="val 5806"/>
            </a:avLst>
          </a:prstGeom>
          <a:solidFill>
            <a:srgbClr val="1E2761"/>
          </a:solidFill>
          <a:ln/>
        </p:spPr>
        <p:txBody>
          <a:bodyPr/>
          <a:lstStyle/>
          <a:p>
            <a:endParaRPr lang="en-US"/>
          </a:p>
        </p:txBody>
      </p:sp>
      <p:sp>
        <p:nvSpPr>
          <p:cNvPr id="8" name="Shape 6"/>
          <p:cNvSpPr/>
          <p:nvPr/>
        </p:nvSpPr>
        <p:spPr>
          <a:xfrm>
            <a:off x="868680" y="4869180"/>
            <a:ext cx="548640" cy="548640"/>
          </a:xfrm>
          <a:prstGeom prst="ellipse">
            <a:avLst/>
          </a:prstGeom>
          <a:solidFill>
            <a:srgbClr val="C9962C"/>
          </a:solidFill>
          <a:ln/>
          <a:effectLst>
            <a:outerShdw blurRad="76200" dist="25400" dir="5400000" algn="bl" rotWithShape="0">
              <a:srgbClr val="1E2761">
                <a:alpha val="18000"/>
              </a:srgbClr>
            </a:outerShdw>
          </a:effectLst>
        </p:spPr>
        <p:txBody>
          <a:bodyPr/>
          <a:lstStyle/>
          <a:p>
            <a:endParaRPr lang="en-US"/>
          </a:p>
        </p:txBody>
      </p:sp>
      <p:pic>
        <p:nvPicPr>
          <p:cNvPr id="9" name="Image 0" descr="/home/claude/demand-mgmt-ppt/icons/lightbulb.png"/>
          <p:cNvPicPr>
            <a:picLocks noChangeAspect="1"/>
          </p:cNvPicPr>
          <p:nvPr/>
        </p:nvPicPr>
        <p:blipFill>
          <a:blip r:embed="rId3"/>
          <a:stretch>
            <a:fillRect/>
          </a:stretch>
        </p:blipFill>
        <p:spPr>
          <a:xfrm>
            <a:off x="1005840" y="5006340"/>
            <a:ext cx="274320" cy="274320"/>
          </a:xfrm>
          <a:prstGeom prst="rect">
            <a:avLst/>
          </a:prstGeom>
        </p:spPr>
      </p:pic>
      <p:sp>
        <p:nvSpPr>
          <p:cNvPr id="10" name="Text 7"/>
          <p:cNvSpPr/>
          <p:nvPr/>
        </p:nvSpPr>
        <p:spPr>
          <a:xfrm>
            <a:off x="1554480" y="4562856"/>
            <a:ext cx="9692640" cy="274320"/>
          </a:xfrm>
          <a:prstGeom prst="rect">
            <a:avLst/>
          </a:prstGeom>
          <a:noFill/>
          <a:ln/>
        </p:spPr>
        <p:txBody>
          <a:bodyPr wrap="square" lIns="0" tIns="0" rIns="0" bIns="0" rtlCol="0" anchor="ctr"/>
          <a:lstStyle/>
          <a:p>
            <a:pPr marL="0" indent="0">
              <a:buNone/>
            </a:pPr>
            <a:r>
              <a:rPr lang="en-US" sz="1100" b="1" kern="0" spc="150" dirty="0">
                <a:solidFill>
                  <a:srgbClr val="C9962C"/>
                </a:solidFill>
                <a:latin typeface="Calibri" pitchFamily="34" charset="0"/>
                <a:ea typeface="Calibri" pitchFamily="34" charset="-122"/>
                <a:cs typeface="Calibri" pitchFamily="34" charset="-120"/>
              </a:rPr>
              <a:t>OUTCOME</a:t>
            </a:r>
            <a:endParaRPr lang="en-US" sz="1100" dirty="0"/>
          </a:p>
        </p:txBody>
      </p:sp>
      <p:sp>
        <p:nvSpPr>
          <p:cNvPr id="11" name="Text 8"/>
          <p:cNvSpPr/>
          <p:nvPr/>
        </p:nvSpPr>
        <p:spPr>
          <a:xfrm>
            <a:off x="1554480" y="4855464"/>
            <a:ext cx="9692640" cy="886968"/>
          </a:xfrm>
          <a:prstGeom prst="rect">
            <a:avLst/>
          </a:prstGeom>
          <a:noFill/>
          <a:ln/>
        </p:spPr>
        <p:txBody>
          <a:bodyPr wrap="square" lIns="0" tIns="0" rIns="0" bIns="0" rtlCol="0" anchor="t"/>
          <a:lstStyle/>
          <a:p>
            <a:pPr marL="0" indent="0">
              <a:lnSpc>
                <a:spcPct val="110000"/>
              </a:lnSpc>
              <a:buNone/>
            </a:pPr>
            <a:r>
              <a:rPr lang="en-US" sz="1250" dirty="0">
                <a:solidFill>
                  <a:srgbClr val="FFFFFF"/>
                </a:solidFill>
                <a:latin typeface="Calibri" pitchFamily="34" charset="0"/>
                <a:ea typeface="Calibri" pitchFamily="34" charset="-122"/>
                <a:cs typeface="Calibri" pitchFamily="34" charset="-120"/>
              </a:rPr>
              <a:t>Same-day and next-day delivery coverage expanded to over 700 additional towns within 18 months — proving that infrastructure investment, not just network design, was the real constraint on growth.</a:t>
            </a:r>
            <a:endParaRPr lang="en-US" sz="1250" dirty="0"/>
          </a:p>
        </p:txBody>
      </p:sp>
      <p:sp>
        <p:nvSpPr>
          <p:cNvPr id="12" name="Text 9"/>
          <p:cNvSpPr/>
          <p:nvPr/>
        </p:nvSpPr>
        <p:spPr>
          <a:xfrm>
            <a:off x="11551615" y="6446520"/>
            <a:ext cx="457200" cy="274320"/>
          </a:xfrm>
          <a:prstGeom prst="rect">
            <a:avLst/>
          </a:prstGeom>
          <a:noFill/>
          <a:ln/>
        </p:spPr>
        <p:txBody>
          <a:bodyPr wrap="square" lIns="0" tIns="0" rIns="0" bIns="0" rtlCol="0" anchor="ctr"/>
          <a:lstStyle/>
          <a:p>
            <a:pPr marL="0" indent="0" algn="r">
              <a:buNone/>
            </a:pPr>
            <a:r>
              <a:rPr lang="en-US" sz="1000" dirty="0">
                <a:solidFill>
                  <a:srgbClr val="5A6B8C"/>
                </a:solidFill>
                <a:latin typeface="Calibri" pitchFamily="34" charset="0"/>
                <a:ea typeface="Calibri" pitchFamily="34" charset="-122"/>
                <a:cs typeface="Calibri" pitchFamily="34" charset="-120"/>
              </a:rPr>
              <a:t>18</a:t>
            </a:r>
            <a:endParaRPr lang="en-US" sz="1000" dirty="0"/>
          </a:p>
        </p:txBody>
      </p:sp>
      <p:sp>
        <p:nvSpPr>
          <p:cNvPr id="14" name="Oval 13">
            <a:extLst>
              <a:ext uri="{FF2B5EF4-FFF2-40B4-BE49-F238E27FC236}">
                <a16:creationId xmlns:a16="http://schemas.microsoft.com/office/drawing/2014/main" id="{B57F4C29-9252-41AC-C980-BD3849746AC3}"/>
              </a:ext>
            </a:extLst>
          </p:cNvPr>
          <p:cNvSpPr/>
          <p:nvPr/>
        </p:nvSpPr>
        <p:spPr>
          <a:xfrm>
            <a:off x="8866604" y="2541947"/>
            <a:ext cx="3142211" cy="1184412"/>
          </a:xfrm>
          <a:prstGeom prst="ellipse">
            <a:avLst/>
          </a:prstGeom>
          <a:solidFill>
            <a:schemeClr val="accent1">
              <a:lumMod val="40000"/>
              <a:lumOff val="6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587AAB5B-CDF0-32C8-28AF-2FD24BA3A4DA}"/>
              </a:ext>
            </a:extLst>
          </p:cNvPr>
          <p:cNvSpPr txBox="1"/>
          <p:nvPr/>
        </p:nvSpPr>
        <p:spPr>
          <a:xfrm>
            <a:off x="9207425" y="2872543"/>
            <a:ext cx="2460567" cy="523220"/>
          </a:xfrm>
          <a:prstGeom prst="rect">
            <a:avLst/>
          </a:prstGeom>
          <a:noFill/>
        </p:spPr>
        <p:txBody>
          <a:bodyPr wrap="square" rtlCol="0">
            <a:spAutoFit/>
          </a:bodyPr>
          <a:lstStyle/>
          <a:p>
            <a:r>
              <a:rPr lang="en-US" sz="2800" b="1" dirty="0"/>
              <a:t>Read this slide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7863840" y="548640"/>
            <a:ext cx="3840480" cy="5486400"/>
          </a:xfrm>
          <a:prstGeom prst="rect">
            <a:avLst/>
          </a:prstGeom>
          <a:noFill/>
          <a:ln/>
        </p:spPr>
        <p:txBody>
          <a:bodyPr wrap="square" lIns="0" tIns="0" rIns="0" bIns="0" rtlCol="0" anchor="ctr"/>
          <a:lstStyle/>
          <a:p>
            <a:pPr marL="0" indent="0" algn="r">
              <a:buNone/>
            </a:pPr>
            <a:r>
              <a:rPr lang="en-US" sz="34000" b="1" dirty="0">
                <a:solidFill>
                  <a:srgbClr val="141A3D"/>
                </a:solidFill>
                <a:latin typeface="Cambria" pitchFamily="34" charset="0"/>
                <a:ea typeface="Cambria" pitchFamily="34" charset="-122"/>
                <a:cs typeface="Cambria" pitchFamily="34" charset="-120"/>
              </a:rPr>
              <a:t>03</a:t>
            </a:r>
            <a:endParaRPr lang="en-US" sz="34000" dirty="0"/>
          </a:p>
        </p:txBody>
      </p:sp>
      <p:sp>
        <p:nvSpPr>
          <p:cNvPr id="3" name="Shape 1"/>
          <p:cNvSpPr/>
          <p:nvPr/>
        </p:nvSpPr>
        <p:spPr>
          <a:xfrm>
            <a:off x="1005840" y="2057400"/>
            <a:ext cx="1371600" cy="1371600"/>
          </a:xfrm>
          <a:prstGeom prst="ellipse">
            <a:avLst/>
          </a:prstGeom>
          <a:solidFill>
            <a:srgbClr val="C9962C"/>
          </a:solidFill>
          <a:ln/>
          <a:effectLst>
            <a:outerShdw blurRad="76200" dist="25400" dir="5400000" algn="bl" rotWithShape="0">
              <a:srgbClr val="1E2761">
                <a:alpha val="18000"/>
              </a:srgbClr>
            </a:outerShdw>
          </a:effectLst>
        </p:spPr>
        <p:txBody>
          <a:bodyPr/>
          <a:lstStyle/>
          <a:p>
            <a:endParaRPr lang="en-US"/>
          </a:p>
        </p:txBody>
      </p:sp>
      <p:pic>
        <p:nvPicPr>
          <p:cNvPr id="4" name="Image 0" descr="/home/claude/demand-mgmt-ppt/icons/route.png"/>
          <p:cNvPicPr>
            <a:picLocks noChangeAspect="1"/>
          </p:cNvPicPr>
          <p:nvPr/>
        </p:nvPicPr>
        <p:blipFill>
          <a:blip r:embed="rId3"/>
          <a:stretch>
            <a:fillRect/>
          </a:stretch>
        </p:blipFill>
        <p:spPr>
          <a:xfrm>
            <a:off x="1348740" y="2400300"/>
            <a:ext cx="685800" cy="685800"/>
          </a:xfrm>
          <a:prstGeom prst="rect">
            <a:avLst/>
          </a:prstGeom>
        </p:spPr>
      </p:pic>
      <p:sp>
        <p:nvSpPr>
          <p:cNvPr id="5" name="Text 2"/>
          <p:cNvSpPr/>
          <p:nvPr/>
        </p:nvSpPr>
        <p:spPr>
          <a:xfrm>
            <a:off x="822960" y="3703320"/>
            <a:ext cx="7315200" cy="365760"/>
          </a:xfrm>
          <a:prstGeom prst="rect">
            <a:avLst/>
          </a:prstGeom>
          <a:noFill/>
          <a:ln/>
        </p:spPr>
        <p:txBody>
          <a:bodyPr wrap="square" lIns="0" tIns="0" rIns="0" bIns="0" rtlCol="0" anchor="ctr"/>
          <a:lstStyle/>
          <a:p>
            <a:pPr marL="0" indent="0">
              <a:buNone/>
            </a:pPr>
            <a:r>
              <a:rPr lang="en-US" sz="1400" b="1" kern="0" spc="300" dirty="0">
                <a:solidFill>
                  <a:srgbClr val="C9962C"/>
                </a:solidFill>
                <a:latin typeface="Calibri" pitchFamily="34" charset="0"/>
                <a:ea typeface="Calibri" pitchFamily="34" charset="-122"/>
                <a:cs typeface="Calibri" pitchFamily="34" charset="-120"/>
              </a:rPr>
              <a:t>SECTION 03</a:t>
            </a:r>
            <a:endParaRPr lang="en-US" sz="1400" dirty="0"/>
          </a:p>
        </p:txBody>
      </p:sp>
      <p:sp>
        <p:nvSpPr>
          <p:cNvPr id="6" name="Text 3"/>
          <p:cNvSpPr/>
          <p:nvPr/>
        </p:nvSpPr>
        <p:spPr>
          <a:xfrm>
            <a:off x="822960" y="4069080"/>
            <a:ext cx="8686800" cy="118872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Multiple Channel Distribution</a:t>
            </a:r>
            <a:endParaRPr lang="en-US" sz="4000" dirty="0"/>
          </a:p>
        </p:txBody>
      </p:sp>
      <p:sp>
        <p:nvSpPr>
          <p:cNvPr id="7" name="Text 4"/>
          <p:cNvSpPr/>
          <p:nvPr/>
        </p:nvSpPr>
        <p:spPr>
          <a:xfrm>
            <a:off x="822960" y="5166360"/>
            <a:ext cx="8046720" cy="731520"/>
          </a:xfrm>
          <a:prstGeom prst="rect">
            <a:avLst/>
          </a:prstGeom>
          <a:noFill/>
          <a:ln/>
        </p:spPr>
        <p:txBody>
          <a:bodyPr wrap="square" lIns="0" tIns="0" rIns="0" bIns="0" rtlCol="0" anchor="ctr"/>
          <a:lstStyle/>
          <a:p>
            <a:pPr marL="0" indent="0">
              <a:buNone/>
            </a:pPr>
            <a:r>
              <a:rPr lang="en-US" sz="1500" i="1" dirty="0">
                <a:solidFill>
                  <a:srgbClr val="CADCFC"/>
                </a:solidFill>
                <a:latin typeface="Calibri" pitchFamily="34" charset="0"/>
                <a:ea typeface="Calibri" pitchFamily="34" charset="-122"/>
                <a:cs typeface="Calibri" pitchFamily="34" charset="-120"/>
              </a:rPr>
              <a:t>Reaching the same customer through many different paths — and making sure those paths work together, not against each other</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C9962C"/>
                </a:solidFill>
                <a:latin typeface="Calibri" pitchFamily="34" charset="0"/>
                <a:ea typeface="Calibri" pitchFamily="34" charset="-122"/>
                <a:cs typeface="Calibri" pitchFamily="34" charset="-120"/>
              </a:rPr>
              <a:t>MULTI-CHANNEL</a:t>
            </a:r>
            <a:endParaRPr lang="en-US" sz="1200" dirty="0"/>
          </a:p>
        </p:txBody>
      </p:sp>
      <p:sp>
        <p:nvSpPr>
          <p:cNvPr id="3" name="Text 1"/>
          <p:cNvSpPr/>
          <p:nvPr/>
        </p:nvSpPr>
        <p:spPr>
          <a:xfrm>
            <a:off x="548640" y="621792"/>
            <a:ext cx="10515600" cy="73152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What is Multiple Channel Distribution?</a:t>
            </a:r>
            <a:endParaRPr lang="en-US" sz="2800" dirty="0"/>
          </a:p>
        </p:txBody>
      </p:sp>
      <p:sp>
        <p:nvSpPr>
          <p:cNvPr id="4" name="Shape 2"/>
          <p:cNvSpPr/>
          <p:nvPr/>
        </p:nvSpPr>
        <p:spPr>
          <a:xfrm>
            <a:off x="566928" y="1298448"/>
            <a:ext cx="914400" cy="0"/>
          </a:xfrm>
          <a:prstGeom prst="line">
            <a:avLst/>
          </a:prstGeom>
          <a:noFill/>
          <a:ln w="31750">
            <a:solidFill>
              <a:srgbClr val="C9962C"/>
            </a:solidFill>
            <a:prstDash val="solid"/>
          </a:ln>
        </p:spPr>
        <p:txBody>
          <a:bodyPr/>
          <a:lstStyle/>
          <a:p>
            <a:endParaRPr lang="en-US"/>
          </a:p>
        </p:txBody>
      </p:sp>
      <p:sp>
        <p:nvSpPr>
          <p:cNvPr id="5" name="Text 3"/>
          <p:cNvSpPr/>
          <p:nvPr/>
        </p:nvSpPr>
        <p:spPr>
          <a:xfrm>
            <a:off x="640080" y="1691640"/>
            <a:ext cx="6400800" cy="2103120"/>
          </a:xfrm>
          <a:prstGeom prst="rect">
            <a:avLst/>
          </a:prstGeom>
          <a:noFill/>
          <a:ln/>
        </p:spPr>
        <p:txBody>
          <a:bodyPr wrap="square" lIns="0" tIns="0" rIns="0" bIns="0" rtlCol="0" anchor="t"/>
          <a:lstStyle/>
          <a:p>
            <a:pPr marL="0" indent="0">
              <a:lnSpc>
                <a:spcPct val="130000"/>
              </a:lnSpc>
              <a:buNone/>
            </a:pPr>
            <a:r>
              <a:rPr lang="en-US" sz="1450" dirty="0">
                <a:solidFill>
                  <a:srgbClr val="1E2761"/>
                </a:solidFill>
                <a:latin typeface="Calibri" pitchFamily="34" charset="0"/>
                <a:ea typeface="Calibri" pitchFamily="34" charset="-122"/>
                <a:cs typeface="Calibri" pitchFamily="34" charset="-120"/>
              </a:rPr>
              <a:t>Multiple channel distribution means selling and delivering products to customers through more than one distribution path at the same time — retail stores, wholesalers, direct sales, e-commerce and marketplaces — each serving different customer needs, geographies or price points.</a:t>
            </a:r>
            <a:endParaRPr lang="en-US" sz="1450" dirty="0"/>
          </a:p>
        </p:txBody>
      </p:sp>
      <p:sp>
        <p:nvSpPr>
          <p:cNvPr id="6" name="Shape 4"/>
          <p:cNvSpPr/>
          <p:nvPr/>
        </p:nvSpPr>
        <p:spPr>
          <a:xfrm>
            <a:off x="8229600" y="1645920"/>
            <a:ext cx="2377440" cy="2377440"/>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7" name="Image 0" descr="/home/claude/demand-mgmt-ppt/icons/route.png"/>
          <p:cNvPicPr>
            <a:picLocks noChangeAspect="1"/>
          </p:cNvPicPr>
          <p:nvPr/>
        </p:nvPicPr>
        <p:blipFill>
          <a:blip r:embed="rId3"/>
          <a:stretch>
            <a:fillRect/>
          </a:stretch>
        </p:blipFill>
        <p:spPr>
          <a:xfrm>
            <a:off x="8847734" y="2264054"/>
            <a:ext cx="1141171" cy="1141171"/>
          </a:xfrm>
          <a:prstGeom prst="rect">
            <a:avLst/>
          </a:prstGeom>
        </p:spPr>
      </p:pic>
      <p:sp>
        <p:nvSpPr>
          <p:cNvPr id="8" name="Shape 5"/>
          <p:cNvSpPr/>
          <p:nvPr/>
        </p:nvSpPr>
        <p:spPr>
          <a:xfrm>
            <a:off x="640080" y="4892040"/>
            <a:ext cx="10881360" cy="1417320"/>
          </a:xfrm>
          <a:prstGeom prst="roundRect">
            <a:avLst>
              <a:gd name="adj" fmla="val 5806"/>
            </a:avLst>
          </a:prstGeom>
          <a:solidFill>
            <a:srgbClr val="1E2761"/>
          </a:solidFill>
          <a:ln/>
        </p:spPr>
        <p:txBody>
          <a:bodyPr/>
          <a:lstStyle/>
          <a:p>
            <a:endParaRPr lang="en-US"/>
          </a:p>
        </p:txBody>
      </p:sp>
      <p:sp>
        <p:nvSpPr>
          <p:cNvPr id="9" name="Shape 6"/>
          <p:cNvSpPr/>
          <p:nvPr/>
        </p:nvSpPr>
        <p:spPr>
          <a:xfrm>
            <a:off x="868680" y="5326380"/>
            <a:ext cx="548640" cy="548640"/>
          </a:xfrm>
          <a:prstGeom prst="ellipse">
            <a:avLst/>
          </a:prstGeom>
          <a:solidFill>
            <a:srgbClr val="C9962C"/>
          </a:solidFill>
          <a:ln/>
          <a:effectLst>
            <a:outerShdw blurRad="76200" dist="25400" dir="5400000" algn="bl" rotWithShape="0">
              <a:srgbClr val="1E2761">
                <a:alpha val="18000"/>
              </a:srgbClr>
            </a:outerShdw>
          </a:effectLst>
        </p:spPr>
        <p:txBody>
          <a:bodyPr/>
          <a:lstStyle/>
          <a:p>
            <a:endParaRPr lang="en-US"/>
          </a:p>
        </p:txBody>
      </p:sp>
      <p:pic>
        <p:nvPicPr>
          <p:cNvPr id="10" name="Image 1" descr="/home/claude/demand-mgmt-ppt/icons/lightbulb.png"/>
          <p:cNvPicPr>
            <a:picLocks noChangeAspect="1"/>
          </p:cNvPicPr>
          <p:nvPr/>
        </p:nvPicPr>
        <p:blipFill>
          <a:blip r:embed="rId4"/>
          <a:stretch>
            <a:fillRect/>
          </a:stretch>
        </p:blipFill>
        <p:spPr>
          <a:xfrm>
            <a:off x="1005840" y="5463540"/>
            <a:ext cx="274320" cy="274320"/>
          </a:xfrm>
          <a:prstGeom prst="rect">
            <a:avLst/>
          </a:prstGeom>
        </p:spPr>
      </p:pic>
      <p:sp>
        <p:nvSpPr>
          <p:cNvPr id="11" name="Text 7"/>
          <p:cNvSpPr/>
          <p:nvPr/>
        </p:nvSpPr>
        <p:spPr>
          <a:xfrm>
            <a:off x="1554480" y="5020056"/>
            <a:ext cx="9692640" cy="274320"/>
          </a:xfrm>
          <a:prstGeom prst="rect">
            <a:avLst/>
          </a:prstGeom>
          <a:noFill/>
          <a:ln/>
        </p:spPr>
        <p:txBody>
          <a:bodyPr wrap="square" lIns="0" tIns="0" rIns="0" bIns="0" rtlCol="0" anchor="ctr"/>
          <a:lstStyle/>
          <a:p>
            <a:pPr marL="0" indent="0">
              <a:buNone/>
            </a:pPr>
            <a:r>
              <a:rPr lang="en-US" sz="1100" b="1" kern="0" spc="150" dirty="0">
                <a:solidFill>
                  <a:srgbClr val="C9962C"/>
                </a:solidFill>
                <a:latin typeface="Calibri" pitchFamily="34" charset="0"/>
                <a:ea typeface="Calibri" pitchFamily="34" charset="-122"/>
                <a:cs typeface="Calibri" pitchFamily="34" charset="-120"/>
              </a:rPr>
              <a:t>EXAMPLE</a:t>
            </a:r>
            <a:endParaRPr lang="en-US" sz="1100" dirty="0"/>
          </a:p>
        </p:txBody>
      </p:sp>
      <p:sp>
        <p:nvSpPr>
          <p:cNvPr id="12" name="Text 8"/>
          <p:cNvSpPr/>
          <p:nvPr/>
        </p:nvSpPr>
        <p:spPr>
          <a:xfrm>
            <a:off x="1554480" y="5312664"/>
            <a:ext cx="9692640" cy="886968"/>
          </a:xfrm>
          <a:prstGeom prst="rect">
            <a:avLst/>
          </a:prstGeom>
          <a:noFill/>
          <a:ln/>
        </p:spPr>
        <p:txBody>
          <a:bodyPr wrap="square" lIns="0" tIns="0" rIns="0" bIns="0" rtlCol="0" anchor="t"/>
          <a:lstStyle/>
          <a:p>
            <a:pPr marL="0" indent="0">
              <a:lnSpc>
                <a:spcPct val="110000"/>
              </a:lnSpc>
              <a:buNone/>
            </a:pPr>
            <a:r>
              <a:rPr lang="en-US" sz="1250" dirty="0">
                <a:solidFill>
                  <a:srgbClr val="FFFFFF"/>
                </a:solidFill>
                <a:latin typeface="Calibri" pitchFamily="34" charset="0"/>
                <a:ea typeface="Calibri" pitchFamily="34" charset="-122"/>
                <a:cs typeface="Calibri" pitchFamily="34" charset="-120"/>
              </a:rPr>
              <a:t>A footwear brand sells through its own retail stores, large-format department stores, independent dealers, its own website, and third-party marketplaces — five channels, one brand.</a:t>
            </a:r>
            <a:endParaRPr lang="en-US" sz="1250" dirty="0"/>
          </a:p>
        </p:txBody>
      </p:sp>
      <p:sp>
        <p:nvSpPr>
          <p:cNvPr id="13" name="Text 9"/>
          <p:cNvSpPr/>
          <p:nvPr/>
        </p:nvSpPr>
        <p:spPr>
          <a:xfrm>
            <a:off x="11551615" y="6446520"/>
            <a:ext cx="457200" cy="274320"/>
          </a:xfrm>
          <a:prstGeom prst="rect">
            <a:avLst/>
          </a:prstGeom>
          <a:noFill/>
          <a:ln/>
        </p:spPr>
        <p:txBody>
          <a:bodyPr wrap="square" lIns="0" tIns="0" rIns="0" bIns="0" rtlCol="0" anchor="ctr"/>
          <a:lstStyle/>
          <a:p>
            <a:pPr marL="0" indent="0" algn="r">
              <a:buNone/>
            </a:pPr>
            <a:r>
              <a:rPr lang="en-US" sz="1000" dirty="0">
                <a:solidFill>
                  <a:srgbClr val="5A6B8C"/>
                </a:solidFill>
                <a:latin typeface="Calibri" pitchFamily="34" charset="0"/>
                <a:ea typeface="Calibri" pitchFamily="34" charset="-122"/>
                <a:cs typeface="Calibri" pitchFamily="34" charset="-120"/>
              </a:rPr>
              <a:t>20</a:t>
            </a:r>
            <a:endParaRPr lang="en-US" sz="1000" dirty="0"/>
          </a:p>
        </p:txBody>
      </p:sp>
      <p:sp>
        <p:nvSpPr>
          <p:cNvPr id="15" name="Oval 14">
            <a:extLst>
              <a:ext uri="{FF2B5EF4-FFF2-40B4-BE49-F238E27FC236}">
                <a16:creationId xmlns:a16="http://schemas.microsoft.com/office/drawing/2014/main" id="{B4E3EFA3-87A7-9693-EFAC-8066450BC81A}"/>
              </a:ext>
            </a:extLst>
          </p:cNvPr>
          <p:cNvSpPr/>
          <p:nvPr/>
        </p:nvSpPr>
        <p:spPr>
          <a:xfrm>
            <a:off x="9002683" y="114036"/>
            <a:ext cx="3142211" cy="1184412"/>
          </a:xfrm>
          <a:prstGeom prst="ellipse">
            <a:avLst/>
          </a:prstGeom>
          <a:solidFill>
            <a:schemeClr val="accent2">
              <a:lumMod val="60000"/>
              <a:lumOff val="4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CD4CC30B-8F5F-3EBA-2AD2-996B8ADC1166}"/>
              </a:ext>
            </a:extLst>
          </p:cNvPr>
          <p:cNvSpPr txBox="1"/>
          <p:nvPr/>
        </p:nvSpPr>
        <p:spPr>
          <a:xfrm>
            <a:off x="9343504" y="444632"/>
            <a:ext cx="2460567" cy="523220"/>
          </a:xfrm>
          <a:prstGeom prst="rect">
            <a:avLst/>
          </a:prstGeom>
          <a:noFill/>
        </p:spPr>
        <p:txBody>
          <a:bodyPr wrap="square" rtlCol="0">
            <a:spAutoFit/>
          </a:bodyPr>
          <a:lstStyle/>
          <a:p>
            <a:r>
              <a:rPr lang="en-US" sz="2800" b="1" dirty="0"/>
              <a:t>Important slide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EEF3FC"/>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C9962C"/>
                </a:solidFill>
                <a:latin typeface="Calibri" pitchFamily="34" charset="0"/>
                <a:ea typeface="Calibri" pitchFamily="34" charset="-122"/>
                <a:cs typeface="Calibri" pitchFamily="34" charset="-120"/>
              </a:rPr>
              <a:t>MULTI-CHANNEL</a:t>
            </a:r>
            <a:endParaRPr lang="en-US" sz="1200" dirty="0"/>
          </a:p>
        </p:txBody>
      </p:sp>
      <p:sp>
        <p:nvSpPr>
          <p:cNvPr id="3" name="Text 1"/>
          <p:cNvSpPr/>
          <p:nvPr/>
        </p:nvSpPr>
        <p:spPr>
          <a:xfrm>
            <a:off x="548640" y="621792"/>
            <a:ext cx="10515600" cy="73152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The Common Distribution Channels</a:t>
            </a:r>
            <a:endParaRPr lang="en-US" sz="2800" dirty="0"/>
          </a:p>
        </p:txBody>
      </p:sp>
      <p:sp>
        <p:nvSpPr>
          <p:cNvPr id="4" name="Shape 2"/>
          <p:cNvSpPr/>
          <p:nvPr/>
        </p:nvSpPr>
        <p:spPr>
          <a:xfrm>
            <a:off x="566928" y="1298448"/>
            <a:ext cx="914400" cy="0"/>
          </a:xfrm>
          <a:prstGeom prst="line">
            <a:avLst/>
          </a:prstGeom>
          <a:noFill/>
          <a:ln w="31750">
            <a:solidFill>
              <a:srgbClr val="C9962C"/>
            </a:solidFill>
            <a:prstDash val="solid"/>
          </a:ln>
        </p:spPr>
        <p:txBody>
          <a:bodyPr/>
          <a:lstStyle/>
          <a:p>
            <a:endParaRPr lang="en-US"/>
          </a:p>
        </p:txBody>
      </p:sp>
      <p:sp>
        <p:nvSpPr>
          <p:cNvPr id="5" name="Shape 3"/>
          <p:cNvSpPr/>
          <p:nvPr/>
        </p:nvSpPr>
        <p:spPr>
          <a:xfrm>
            <a:off x="548640" y="1737360"/>
            <a:ext cx="3515258" cy="2148840"/>
          </a:xfrm>
          <a:prstGeom prst="roundRect">
            <a:avLst>
              <a:gd name="adj" fmla="val 3404"/>
            </a:avLst>
          </a:prstGeom>
          <a:solidFill>
            <a:srgbClr val="FFFFFF"/>
          </a:solidFill>
          <a:ln w="12700">
            <a:solidFill>
              <a:srgbClr val="D7E0F5"/>
            </a:solidFill>
            <a:prstDash val="solid"/>
          </a:ln>
          <a:effectLst>
            <a:outerShdw blurRad="101600" dist="25400" dir="5400000" algn="bl" rotWithShape="0">
              <a:srgbClr val="1E2761">
                <a:alpha val="10000"/>
              </a:srgbClr>
            </a:outerShdw>
          </a:effectLst>
        </p:spPr>
        <p:txBody>
          <a:bodyPr/>
          <a:lstStyle/>
          <a:p>
            <a:endParaRPr lang="en-US"/>
          </a:p>
        </p:txBody>
      </p:sp>
      <p:sp>
        <p:nvSpPr>
          <p:cNvPr id="6" name="Shape 4"/>
          <p:cNvSpPr/>
          <p:nvPr/>
        </p:nvSpPr>
        <p:spPr>
          <a:xfrm>
            <a:off x="754380" y="1943100"/>
            <a:ext cx="502920" cy="502920"/>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7" name="Image 0" descr="/home/claude/demand-mgmt-ppt/icons/store.png"/>
          <p:cNvPicPr>
            <a:picLocks noChangeAspect="1"/>
          </p:cNvPicPr>
          <p:nvPr/>
        </p:nvPicPr>
        <p:blipFill>
          <a:blip r:embed="rId3"/>
          <a:stretch>
            <a:fillRect/>
          </a:stretch>
        </p:blipFill>
        <p:spPr>
          <a:xfrm>
            <a:off x="880110" y="2068830"/>
            <a:ext cx="251460" cy="251460"/>
          </a:xfrm>
          <a:prstGeom prst="rect">
            <a:avLst/>
          </a:prstGeom>
        </p:spPr>
      </p:pic>
      <p:sp>
        <p:nvSpPr>
          <p:cNvPr id="8" name="Text 5"/>
          <p:cNvSpPr/>
          <p:nvPr/>
        </p:nvSpPr>
        <p:spPr>
          <a:xfrm>
            <a:off x="777240" y="2606040"/>
            <a:ext cx="3058058" cy="41148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Direct / Company-Owned Retail</a:t>
            </a:r>
            <a:endParaRPr lang="en-US" sz="1450" dirty="0"/>
          </a:p>
        </p:txBody>
      </p:sp>
      <p:sp>
        <p:nvSpPr>
          <p:cNvPr id="9" name="Text 6"/>
          <p:cNvSpPr/>
          <p:nvPr/>
        </p:nvSpPr>
        <p:spPr>
          <a:xfrm>
            <a:off x="777240" y="3017520"/>
            <a:ext cx="3058058" cy="731520"/>
          </a:xfrm>
          <a:prstGeom prst="rect">
            <a:avLst/>
          </a:prstGeom>
          <a:noFill/>
          <a:ln/>
        </p:spPr>
        <p:txBody>
          <a:bodyPr wrap="square" lIns="0" tIns="0" rIns="0" bIns="0" rtlCol="0" anchor="t"/>
          <a:lstStyle/>
          <a:p>
            <a:pPr marL="0" indent="0">
              <a:lnSpc>
                <a:spcPct val="105000"/>
              </a:lnSpc>
              <a:buNone/>
            </a:pPr>
            <a:r>
              <a:rPr lang="en-US" sz="1150" dirty="0">
                <a:solidFill>
                  <a:srgbClr val="5A6B8C"/>
                </a:solidFill>
                <a:latin typeface="Calibri" pitchFamily="34" charset="0"/>
                <a:ea typeface="Calibri" pitchFamily="34" charset="-122"/>
                <a:cs typeface="Calibri" pitchFamily="34" charset="-120"/>
              </a:rPr>
              <a:t>Full control of experience and margin; higher fixed cost.</a:t>
            </a:r>
            <a:endParaRPr lang="en-US" sz="1150" dirty="0"/>
          </a:p>
        </p:txBody>
      </p:sp>
      <p:sp>
        <p:nvSpPr>
          <p:cNvPr id="10" name="Shape 7"/>
          <p:cNvSpPr/>
          <p:nvPr/>
        </p:nvSpPr>
        <p:spPr>
          <a:xfrm>
            <a:off x="4338218" y="1737360"/>
            <a:ext cx="3515258" cy="2148840"/>
          </a:xfrm>
          <a:prstGeom prst="roundRect">
            <a:avLst>
              <a:gd name="adj" fmla="val 3404"/>
            </a:avLst>
          </a:prstGeom>
          <a:solidFill>
            <a:srgbClr val="FFFFFF"/>
          </a:solidFill>
          <a:ln w="12700">
            <a:solidFill>
              <a:srgbClr val="D7E0F5"/>
            </a:solidFill>
            <a:prstDash val="solid"/>
          </a:ln>
          <a:effectLst>
            <a:outerShdw blurRad="101600" dist="25400" dir="5400000" algn="bl" rotWithShape="0">
              <a:srgbClr val="1E2761">
                <a:alpha val="10000"/>
              </a:srgbClr>
            </a:outerShdw>
          </a:effectLst>
        </p:spPr>
        <p:txBody>
          <a:bodyPr/>
          <a:lstStyle/>
          <a:p>
            <a:endParaRPr lang="en-US"/>
          </a:p>
        </p:txBody>
      </p:sp>
      <p:sp>
        <p:nvSpPr>
          <p:cNvPr id="11" name="Shape 8"/>
          <p:cNvSpPr/>
          <p:nvPr/>
        </p:nvSpPr>
        <p:spPr>
          <a:xfrm>
            <a:off x="4543958" y="1943100"/>
            <a:ext cx="502920" cy="502920"/>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12" name="Image 1" descr="/home/claude/demand-mgmt-ppt/icons/handshake.png"/>
          <p:cNvPicPr>
            <a:picLocks noChangeAspect="1"/>
          </p:cNvPicPr>
          <p:nvPr/>
        </p:nvPicPr>
        <p:blipFill>
          <a:blip r:embed="rId4"/>
          <a:stretch>
            <a:fillRect/>
          </a:stretch>
        </p:blipFill>
        <p:spPr>
          <a:xfrm>
            <a:off x="4669688" y="2068830"/>
            <a:ext cx="251460" cy="251460"/>
          </a:xfrm>
          <a:prstGeom prst="rect">
            <a:avLst/>
          </a:prstGeom>
        </p:spPr>
      </p:pic>
      <p:sp>
        <p:nvSpPr>
          <p:cNvPr id="13" name="Text 9"/>
          <p:cNvSpPr/>
          <p:nvPr/>
        </p:nvSpPr>
        <p:spPr>
          <a:xfrm>
            <a:off x="4566818" y="2606040"/>
            <a:ext cx="3058058" cy="41148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Wholesale / Distributor</a:t>
            </a:r>
            <a:endParaRPr lang="en-US" sz="1450" dirty="0"/>
          </a:p>
        </p:txBody>
      </p:sp>
      <p:sp>
        <p:nvSpPr>
          <p:cNvPr id="14" name="Text 10"/>
          <p:cNvSpPr/>
          <p:nvPr/>
        </p:nvSpPr>
        <p:spPr>
          <a:xfrm>
            <a:off x="4566818" y="3017520"/>
            <a:ext cx="3058058" cy="731520"/>
          </a:xfrm>
          <a:prstGeom prst="rect">
            <a:avLst/>
          </a:prstGeom>
          <a:noFill/>
          <a:ln/>
        </p:spPr>
        <p:txBody>
          <a:bodyPr wrap="square" lIns="0" tIns="0" rIns="0" bIns="0" rtlCol="0" anchor="t"/>
          <a:lstStyle/>
          <a:p>
            <a:pPr marL="0" indent="0">
              <a:lnSpc>
                <a:spcPct val="105000"/>
              </a:lnSpc>
              <a:buNone/>
            </a:pPr>
            <a:r>
              <a:rPr lang="en-US" sz="1150" dirty="0">
                <a:solidFill>
                  <a:srgbClr val="5A6B8C"/>
                </a:solidFill>
                <a:latin typeface="Calibri" pitchFamily="34" charset="0"/>
                <a:ea typeface="Calibri" pitchFamily="34" charset="-122"/>
                <a:cs typeface="Calibri" pitchFamily="34" charset="-120"/>
              </a:rPr>
              <a:t>Rapid geographic reach through third-party networks.</a:t>
            </a:r>
            <a:endParaRPr lang="en-US" sz="1150" dirty="0"/>
          </a:p>
        </p:txBody>
      </p:sp>
      <p:sp>
        <p:nvSpPr>
          <p:cNvPr id="15" name="Shape 11"/>
          <p:cNvSpPr/>
          <p:nvPr/>
        </p:nvSpPr>
        <p:spPr>
          <a:xfrm>
            <a:off x="8127797" y="1737360"/>
            <a:ext cx="3515258" cy="2148840"/>
          </a:xfrm>
          <a:prstGeom prst="roundRect">
            <a:avLst>
              <a:gd name="adj" fmla="val 3404"/>
            </a:avLst>
          </a:prstGeom>
          <a:solidFill>
            <a:srgbClr val="FFFFFF"/>
          </a:solidFill>
          <a:ln w="12700">
            <a:solidFill>
              <a:srgbClr val="D7E0F5"/>
            </a:solidFill>
            <a:prstDash val="solid"/>
          </a:ln>
          <a:effectLst>
            <a:outerShdw blurRad="101600" dist="25400" dir="5400000" algn="bl" rotWithShape="0">
              <a:srgbClr val="1E2761">
                <a:alpha val="10000"/>
              </a:srgbClr>
            </a:outerShdw>
          </a:effectLst>
        </p:spPr>
        <p:txBody>
          <a:bodyPr/>
          <a:lstStyle/>
          <a:p>
            <a:endParaRPr lang="en-US"/>
          </a:p>
        </p:txBody>
      </p:sp>
      <p:sp>
        <p:nvSpPr>
          <p:cNvPr id="16" name="Shape 12"/>
          <p:cNvSpPr/>
          <p:nvPr/>
        </p:nvSpPr>
        <p:spPr>
          <a:xfrm>
            <a:off x="8333537" y="1943100"/>
            <a:ext cx="502920" cy="502920"/>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17" name="Image 2" descr="/home/claude/demand-mgmt-ppt/icons/boxes.png"/>
          <p:cNvPicPr>
            <a:picLocks noChangeAspect="1"/>
          </p:cNvPicPr>
          <p:nvPr/>
        </p:nvPicPr>
        <p:blipFill>
          <a:blip r:embed="rId5"/>
          <a:stretch>
            <a:fillRect/>
          </a:stretch>
        </p:blipFill>
        <p:spPr>
          <a:xfrm>
            <a:off x="8459267" y="2068830"/>
            <a:ext cx="251460" cy="251460"/>
          </a:xfrm>
          <a:prstGeom prst="rect">
            <a:avLst/>
          </a:prstGeom>
        </p:spPr>
      </p:pic>
      <p:sp>
        <p:nvSpPr>
          <p:cNvPr id="18" name="Text 13"/>
          <p:cNvSpPr/>
          <p:nvPr/>
        </p:nvSpPr>
        <p:spPr>
          <a:xfrm>
            <a:off x="8356397" y="2606040"/>
            <a:ext cx="3058058" cy="41148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Modern Trade / Large Retail</a:t>
            </a:r>
            <a:endParaRPr lang="en-US" sz="1450" dirty="0"/>
          </a:p>
        </p:txBody>
      </p:sp>
      <p:sp>
        <p:nvSpPr>
          <p:cNvPr id="19" name="Text 14"/>
          <p:cNvSpPr/>
          <p:nvPr/>
        </p:nvSpPr>
        <p:spPr>
          <a:xfrm>
            <a:off x="8356397" y="3017520"/>
            <a:ext cx="3058058" cy="731520"/>
          </a:xfrm>
          <a:prstGeom prst="rect">
            <a:avLst/>
          </a:prstGeom>
          <a:noFill/>
          <a:ln/>
        </p:spPr>
        <p:txBody>
          <a:bodyPr wrap="square" lIns="0" tIns="0" rIns="0" bIns="0" rtlCol="0" anchor="t"/>
          <a:lstStyle/>
          <a:p>
            <a:pPr marL="0" indent="0">
              <a:lnSpc>
                <a:spcPct val="105000"/>
              </a:lnSpc>
              <a:buNone/>
            </a:pPr>
            <a:r>
              <a:rPr lang="en-US" sz="1150" dirty="0">
                <a:solidFill>
                  <a:srgbClr val="5A6B8C"/>
                </a:solidFill>
                <a:latin typeface="Calibri" pitchFamily="34" charset="0"/>
                <a:ea typeface="Calibri" pitchFamily="34" charset="-122"/>
                <a:cs typeface="Calibri" pitchFamily="34" charset="-120"/>
              </a:rPr>
              <a:t>High-volume access through supermarket and hypermarket chains.</a:t>
            </a:r>
            <a:endParaRPr lang="en-US" sz="1150" dirty="0"/>
          </a:p>
        </p:txBody>
      </p:sp>
      <p:sp>
        <p:nvSpPr>
          <p:cNvPr id="20" name="Shape 15"/>
          <p:cNvSpPr/>
          <p:nvPr/>
        </p:nvSpPr>
        <p:spPr>
          <a:xfrm>
            <a:off x="548640" y="4160520"/>
            <a:ext cx="3515258" cy="2148840"/>
          </a:xfrm>
          <a:prstGeom prst="roundRect">
            <a:avLst>
              <a:gd name="adj" fmla="val 3404"/>
            </a:avLst>
          </a:prstGeom>
          <a:solidFill>
            <a:srgbClr val="FFFFFF"/>
          </a:solidFill>
          <a:ln w="12700">
            <a:solidFill>
              <a:srgbClr val="D7E0F5"/>
            </a:solidFill>
            <a:prstDash val="solid"/>
          </a:ln>
          <a:effectLst>
            <a:outerShdw blurRad="101600" dist="25400" dir="5400000" algn="bl" rotWithShape="0">
              <a:srgbClr val="1E2761">
                <a:alpha val="10000"/>
              </a:srgbClr>
            </a:outerShdw>
          </a:effectLst>
        </p:spPr>
        <p:txBody>
          <a:bodyPr/>
          <a:lstStyle/>
          <a:p>
            <a:endParaRPr lang="en-US"/>
          </a:p>
        </p:txBody>
      </p:sp>
      <p:sp>
        <p:nvSpPr>
          <p:cNvPr id="21" name="Shape 16"/>
          <p:cNvSpPr/>
          <p:nvPr/>
        </p:nvSpPr>
        <p:spPr>
          <a:xfrm>
            <a:off x="754380" y="4366260"/>
            <a:ext cx="502920" cy="502920"/>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22" name="Image 3" descr="/home/claude/demand-mgmt-ppt/icons/route.png"/>
          <p:cNvPicPr>
            <a:picLocks noChangeAspect="1"/>
          </p:cNvPicPr>
          <p:nvPr/>
        </p:nvPicPr>
        <p:blipFill>
          <a:blip r:embed="rId6"/>
          <a:stretch>
            <a:fillRect/>
          </a:stretch>
        </p:blipFill>
        <p:spPr>
          <a:xfrm>
            <a:off x="880110" y="4491990"/>
            <a:ext cx="251460" cy="251460"/>
          </a:xfrm>
          <a:prstGeom prst="rect">
            <a:avLst/>
          </a:prstGeom>
        </p:spPr>
      </p:pic>
      <p:sp>
        <p:nvSpPr>
          <p:cNvPr id="23" name="Text 17"/>
          <p:cNvSpPr/>
          <p:nvPr/>
        </p:nvSpPr>
        <p:spPr>
          <a:xfrm>
            <a:off x="777240" y="5029200"/>
            <a:ext cx="3058058" cy="41148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E-Commerce (Own Site)</a:t>
            </a:r>
            <a:endParaRPr lang="en-US" sz="1450" dirty="0"/>
          </a:p>
        </p:txBody>
      </p:sp>
      <p:sp>
        <p:nvSpPr>
          <p:cNvPr id="24" name="Text 18"/>
          <p:cNvSpPr/>
          <p:nvPr/>
        </p:nvSpPr>
        <p:spPr>
          <a:xfrm>
            <a:off x="777240" y="5440680"/>
            <a:ext cx="3058058" cy="731520"/>
          </a:xfrm>
          <a:prstGeom prst="rect">
            <a:avLst/>
          </a:prstGeom>
          <a:noFill/>
          <a:ln/>
        </p:spPr>
        <p:txBody>
          <a:bodyPr wrap="square" lIns="0" tIns="0" rIns="0" bIns="0" rtlCol="0" anchor="t"/>
          <a:lstStyle/>
          <a:p>
            <a:pPr marL="0" indent="0">
              <a:lnSpc>
                <a:spcPct val="105000"/>
              </a:lnSpc>
              <a:buNone/>
            </a:pPr>
            <a:r>
              <a:rPr lang="en-US" sz="1150" dirty="0">
                <a:solidFill>
                  <a:srgbClr val="5A6B8C"/>
                </a:solidFill>
                <a:latin typeface="Calibri" pitchFamily="34" charset="0"/>
                <a:ea typeface="Calibri" pitchFamily="34" charset="-122"/>
                <a:cs typeface="Calibri" pitchFamily="34" charset="-120"/>
              </a:rPr>
              <a:t>Direct-to-consumer online sales with full data ownership.</a:t>
            </a:r>
            <a:endParaRPr lang="en-US" sz="1150" dirty="0"/>
          </a:p>
        </p:txBody>
      </p:sp>
      <p:sp>
        <p:nvSpPr>
          <p:cNvPr id="25" name="Shape 19"/>
          <p:cNvSpPr/>
          <p:nvPr/>
        </p:nvSpPr>
        <p:spPr>
          <a:xfrm>
            <a:off x="4338218" y="4160520"/>
            <a:ext cx="3515258" cy="2148840"/>
          </a:xfrm>
          <a:prstGeom prst="roundRect">
            <a:avLst>
              <a:gd name="adj" fmla="val 3404"/>
            </a:avLst>
          </a:prstGeom>
          <a:solidFill>
            <a:srgbClr val="FFFFFF"/>
          </a:solidFill>
          <a:ln w="12700">
            <a:solidFill>
              <a:srgbClr val="D7E0F5"/>
            </a:solidFill>
            <a:prstDash val="solid"/>
          </a:ln>
          <a:effectLst>
            <a:outerShdw blurRad="101600" dist="25400" dir="5400000" algn="bl" rotWithShape="0">
              <a:srgbClr val="1E2761">
                <a:alpha val="10000"/>
              </a:srgbClr>
            </a:outerShdw>
          </a:effectLst>
        </p:spPr>
        <p:txBody>
          <a:bodyPr/>
          <a:lstStyle/>
          <a:p>
            <a:endParaRPr lang="en-US"/>
          </a:p>
        </p:txBody>
      </p:sp>
      <p:sp>
        <p:nvSpPr>
          <p:cNvPr id="26" name="Shape 20"/>
          <p:cNvSpPr/>
          <p:nvPr/>
        </p:nvSpPr>
        <p:spPr>
          <a:xfrm>
            <a:off x="4543958" y="4366260"/>
            <a:ext cx="502920" cy="502920"/>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27" name="Image 4" descr="/home/claude/demand-mgmt-ppt/icons/globe.png"/>
          <p:cNvPicPr>
            <a:picLocks noChangeAspect="1"/>
          </p:cNvPicPr>
          <p:nvPr/>
        </p:nvPicPr>
        <p:blipFill>
          <a:blip r:embed="rId7"/>
          <a:stretch>
            <a:fillRect/>
          </a:stretch>
        </p:blipFill>
        <p:spPr>
          <a:xfrm>
            <a:off x="4669688" y="4491990"/>
            <a:ext cx="251460" cy="251460"/>
          </a:xfrm>
          <a:prstGeom prst="rect">
            <a:avLst/>
          </a:prstGeom>
        </p:spPr>
      </p:pic>
      <p:sp>
        <p:nvSpPr>
          <p:cNvPr id="28" name="Text 21"/>
          <p:cNvSpPr/>
          <p:nvPr/>
        </p:nvSpPr>
        <p:spPr>
          <a:xfrm>
            <a:off x="4566818" y="5029200"/>
            <a:ext cx="3058058" cy="41148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Online Marketplaces</a:t>
            </a:r>
            <a:endParaRPr lang="en-US" sz="1450" dirty="0"/>
          </a:p>
        </p:txBody>
      </p:sp>
      <p:sp>
        <p:nvSpPr>
          <p:cNvPr id="29" name="Text 22"/>
          <p:cNvSpPr/>
          <p:nvPr/>
        </p:nvSpPr>
        <p:spPr>
          <a:xfrm>
            <a:off x="4566818" y="5440680"/>
            <a:ext cx="3058058" cy="731520"/>
          </a:xfrm>
          <a:prstGeom prst="rect">
            <a:avLst/>
          </a:prstGeom>
          <a:noFill/>
          <a:ln/>
        </p:spPr>
        <p:txBody>
          <a:bodyPr wrap="square" lIns="0" tIns="0" rIns="0" bIns="0" rtlCol="0" anchor="t"/>
          <a:lstStyle/>
          <a:p>
            <a:pPr marL="0" indent="0">
              <a:lnSpc>
                <a:spcPct val="105000"/>
              </a:lnSpc>
              <a:buNone/>
            </a:pPr>
            <a:r>
              <a:rPr lang="en-US" sz="1150" dirty="0">
                <a:solidFill>
                  <a:srgbClr val="5A6B8C"/>
                </a:solidFill>
                <a:latin typeface="Calibri" pitchFamily="34" charset="0"/>
                <a:ea typeface="Calibri" pitchFamily="34" charset="-122"/>
                <a:cs typeface="Calibri" pitchFamily="34" charset="-120"/>
              </a:rPr>
              <a:t>Fast reach and scale via third-party platforms, with less brand control.</a:t>
            </a:r>
            <a:endParaRPr lang="en-US" sz="1150" dirty="0"/>
          </a:p>
        </p:txBody>
      </p:sp>
      <p:sp>
        <p:nvSpPr>
          <p:cNvPr id="30" name="Shape 23"/>
          <p:cNvSpPr/>
          <p:nvPr/>
        </p:nvSpPr>
        <p:spPr>
          <a:xfrm>
            <a:off x="8127797" y="4160520"/>
            <a:ext cx="3515258" cy="2148840"/>
          </a:xfrm>
          <a:prstGeom prst="roundRect">
            <a:avLst>
              <a:gd name="adj" fmla="val 3404"/>
            </a:avLst>
          </a:prstGeom>
          <a:solidFill>
            <a:srgbClr val="FFFFFF"/>
          </a:solidFill>
          <a:ln w="12700">
            <a:solidFill>
              <a:srgbClr val="D7E0F5"/>
            </a:solidFill>
            <a:prstDash val="solid"/>
          </a:ln>
          <a:effectLst>
            <a:outerShdw blurRad="101600" dist="25400" dir="5400000" algn="bl" rotWithShape="0">
              <a:srgbClr val="1E2761">
                <a:alpha val="10000"/>
              </a:srgbClr>
            </a:outerShdw>
          </a:effectLst>
        </p:spPr>
        <p:txBody>
          <a:bodyPr/>
          <a:lstStyle/>
          <a:p>
            <a:endParaRPr lang="en-US"/>
          </a:p>
        </p:txBody>
      </p:sp>
      <p:sp>
        <p:nvSpPr>
          <p:cNvPr id="31" name="Shape 24"/>
          <p:cNvSpPr/>
          <p:nvPr/>
        </p:nvSpPr>
        <p:spPr>
          <a:xfrm>
            <a:off x="8333537" y="4366260"/>
            <a:ext cx="502920" cy="502920"/>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32" name="Image 5" descr="/home/claude/demand-mgmt-ppt/icons/users.png"/>
          <p:cNvPicPr>
            <a:picLocks noChangeAspect="1"/>
          </p:cNvPicPr>
          <p:nvPr/>
        </p:nvPicPr>
        <p:blipFill>
          <a:blip r:embed="rId8"/>
          <a:stretch>
            <a:fillRect/>
          </a:stretch>
        </p:blipFill>
        <p:spPr>
          <a:xfrm>
            <a:off x="8459267" y="4491990"/>
            <a:ext cx="251460" cy="251460"/>
          </a:xfrm>
          <a:prstGeom prst="rect">
            <a:avLst/>
          </a:prstGeom>
        </p:spPr>
      </p:pic>
      <p:sp>
        <p:nvSpPr>
          <p:cNvPr id="33" name="Text 25"/>
          <p:cNvSpPr/>
          <p:nvPr/>
        </p:nvSpPr>
        <p:spPr>
          <a:xfrm>
            <a:off x="8356397" y="5029200"/>
            <a:ext cx="3058058" cy="41148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Business-to-Business (B2B)</a:t>
            </a:r>
            <a:endParaRPr lang="en-US" sz="1450" dirty="0"/>
          </a:p>
        </p:txBody>
      </p:sp>
      <p:sp>
        <p:nvSpPr>
          <p:cNvPr id="34" name="Text 26"/>
          <p:cNvSpPr/>
          <p:nvPr/>
        </p:nvSpPr>
        <p:spPr>
          <a:xfrm>
            <a:off x="8356397" y="5440680"/>
            <a:ext cx="3058058" cy="731520"/>
          </a:xfrm>
          <a:prstGeom prst="rect">
            <a:avLst/>
          </a:prstGeom>
          <a:noFill/>
          <a:ln/>
        </p:spPr>
        <p:txBody>
          <a:bodyPr wrap="square" lIns="0" tIns="0" rIns="0" bIns="0" rtlCol="0" anchor="t"/>
          <a:lstStyle/>
          <a:p>
            <a:pPr marL="0" indent="0">
              <a:lnSpc>
                <a:spcPct val="105000"/>
              </a:lnSpc>
              <a:buNone/>
            </a:pPr>
            <a:r>
              <a:rPr lang="en-US" sz="1150" dirty="0">
                <a:solidFill>
                  <a:srgbClr val="5A6B8C"/>
                </a:solidFill>
                <a:latin typeface="Calibri" pitchFamily="34" charset="0"/>
                <a:ea typeface="Calibri" pitchFamily="34" charset="-122"/>
                <a:cs typeface="Calibri" pitchFamily="34" charset="-120"/>
              </a:rPr>
              <a:t>Direct supply to institutional and corporate buyers.</a:t>
            </a:r>
            <a:endParaRPr lang="en-US" sz="1150" dirty="0"/>
          </a:p>
        </p:txBody>
      </p:sp>
      <p:sp>
        <p:nvSpPr>
          <p:cNvPr id="35" name="Text 27"/>
          <p:cNvSpPr/>
          <p:nvPr/>
        </p:nvSpPr>
        <p:spPr>
          <a:xfrm>
            <a:off x="11551615" y="6446520"/>
            <a:ext cx="457200" cy="274320"/>
          </a:xfrm>
          <a:prstGeom prst="rect">
            <a:avLst/>
          </a:prstGeom>
          <a:noFill/>
          <a:ln/>
        </p:spPr>
        <p:txBody>
          <a:bodyPr wrap="square" lIns="0" tIns="0" rIns="0" bIns="0" rtlCol="0" anchor="ctr"/>
          <a:lstStyle/>
          <a:p>
            <a:pPr marL="0" indent="0" algn="r">
              <a:buNone/>
            </a:pPr>
            <a:r>
              <a:rPr lang="en-US" sz="1000" dirty="0">
                <a:solidFill>
                  <a:srgbClr val="5A6B8C"/>
                </a:solidFill>
                <a:latin typeface="Calibri" pitchFamily="34" charset="0"/>
                <a:ea typeface="Calibri" pitchFamily="34" charset="-122"/>
                <a:cs typeface="Calibri" pitchFamily="34" charset="-120"/>
              </a:rPr>
              <a:t>21</a:t>
            </a:r>
            <a:endParaRPr lang="en-US" sz="1000" dirty="0"/>
          </a:p>
        </p:txBody>
      </p:sp>
      <p:sp>
        <p:nvSpPr>
          <p:cNvPr id="37" name="Oval 36">
            <a:extLst>
              <a:ext uri="{FF2B5EF4-FFF2-40B4-BE49-F238E27FC236}">
                <a16:creationId xmlns:a16="http://schemas.microsoft.com/office/drawing/2014/main" id="{06778FA0-BF84-5DEE-8205-874C895A842B}"/>
              </a:ext>
            </a:extLst>
          </p:cNvPr>
          <p:cNvSpPr/>
          <p:nvPr/>
        </p:nvSpPr>
        <p:spPr>
          <a:xfrm>
            <a:off x="9002683" y="12621"/>
            <a:ext cx="3142211" cy="1184412"/>
          </a:xfrm>
          <a:prstGeom prst="ellipse">
            <a:avLst/>
          </a:prstGeom>
          <a:solidFill>
            <a:schemeClr val="accent2">
              <a:lumMod val="60000"/>
              <a:lumOff val="4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F6466064-8539-8160-1F64-1CE3D17581F1}"/>
              </a:ext>
            </a:extLst>
          </p:cNvPr>
          <p:cNvSpPr txBox="1"/>
          <p:nvPr/>
        </p:nvSpPr>
        <p:spPr>
          <a:xfrm>
            <a:off x="9343504" y="343217"/>
            <a:ext cx="2460567" cy="523220"/>
          </a:xfrm>
          <a:prstGeom prst="rect">
            <a:avLst/>
          </a:prstGeom>
          <a:noFill/>
        </p:spPr>
        <p:txBody>
          <a:bodyPr wrap="square" rtlCol="0">
            <a:spAutoFit/>
          </a:bodyPr>
          <a:lstStyle/>
          <a:p>
            <a:r>
              <a:rPr lang="en-US" sz="2800" b="1" dirty="0"/>
              <a:t>Important slide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C9962C"/>
                </a:solidFill>
                <a:latin typeface="Calibri" pitchFamily="34" charset="0"/>
                <a:ea typeface="Calibri" pitchFamily="34" charset="-122"/>
                <a:cs typeface="Calibri" pitchFamily="34" charset="-120"/>
              </a:rPr>
              <a:t>MULTI-CHANNEL</a:t>
            </a:r>
            <a:endParaRPr lang="en-US" sz="1200" dirty="0"/>
          </a:p>
        </p:txBody>
      </p:sp>
      <p:sp>
        <p:nvSpPr>
          <p:cNvPr id="3" name="Text 1"/>
          <p:cNvSpPr/>
          <p:nvPr/>
        </p:nvSpPr>
        <p:spPr>
          <a:xfrm>
            <a:off x="548640" y="621792"/>
            <a:ext cx="10515600" cy="73152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Why Companies Distribute Through Multiple Channels</a:t>
            </a:r>
            <a:endParaRPr lang="en-US" sz="2800" dirty="0"/>
          </a:p>
        </p:txBody>
      </p:sp>
      <p:sp>
        <p:nvSpPr>
          <p:cNvPr id="4" name="Shape 2"/>
          <p:cNvSpPr/>
          <p:nvPr/>
        </p:nvSpPr>
        <p:spPr>
          <a:xfrm>
            <a:off x="566928" y="1298448"/>
            <a:ext cx="914400" cy="0"/>
          </a:xfrm>
          <a:prstGeom prst="line">
            <a:avLst/>
          </a:prstGeom>
          <a:noFill/>
          <a:ln w="31750">
            <a:solidFill>
              <a:srgbClr val="C9962C"/>
            </a:solidFill>
            <a:prstDash val="solid"/>
          </a:ln>
        </p:spPr>
        <p:txBody>
          <a:bodyPr/>
          <a:lstStyle/>
          <a:p>
            <a:endParaRPr lang="en-US"/>
          </a:p>
        </p:txBody>
      </p:sp>
      <p:sp>
        <p:nvSpPr>
          <p:cNvPr id="5" name="Shape 3"/>
          <p:cNvSpPr/>
          <p:nvPr/>
        </p:nvSpPr>
        <p:spPr>
          <a:xfrm>
            <a:off x="640080" y="1691640"/>
            <a:ext cx="566928" cy="566928"/>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6" name="Image 0" descr="/home/claude/demand-mgmt-ppt/icons/globe.png"/>
          <p:cNvPicPr>
            <a:picLocks noChangeAspect="1"/>
          </p:cNvPicPr>
          <p:nvPr/>
        </p:nvPicPr>
        <p:blipFill>
          <a:blip r:embed="rId3"/>
          <a:stretch>
            <a:fillRect/>
          </a:stretch>
        </p:blipFill>
        <p:spPr>
          <a:xfrm>
            <a:off x="781812" y="1833372"/>
            <a:ext cx="283464" cy="283464"/>
          </a:xfrm>
          <a:prstGeom prst="rect">
            <a:avLst/>
          </a:prstGeom>
        </p:spPr>
      </p:pic>
      <p:sp>
        <p:nvSpPr>
          <p:cNvPr id="7" name="Text 4"/>
          <p:cNvSpPr/>
          <p:nvPr/>
        </p:nvSpPr>
        <p:spPr>
          <a:xfrm>
            <a:off x="1463040" y="1664208"/>
            <a:ext cx="10040112" cy="32004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Wider Market Reach</a:t>
            </a:r>
            <a:endParaRPr lang="en-US" sz="1600" dirty="0"/>
          </a:p>
        </p:txBody>
      </p:sp>
      <p:sp>
        <p:nvSpPr>
          <p:cNvPr id="8" name="Text 5"/>
          <p:cNvSpPr/>
          <p:nvPr/>
        </p:nvSpPr>
        <p:spPr>
          <a:xfrm>
            <a:off x="1463040" y="1984248"/>
            <a:ext cx="10040112" cy="640080"/>
          </a:xfrm>
          <a:prstGeom prst="rect">
            <a:avLst/>
          </a:prstGeom>
          <a:noFill/>
          <a:ln/>
        </p:spPr>
        <p:txBody>
          <a:bodyPr wrap="square" lIns="0" tIns="0" rIns="0" bIns="0" rtlCol="0" anchor="t"/>
          <a:lstStyle/>
          <a:p>
            <a:pPr marL="0" indent="0">
              <a:lnSpc>
                <a:spcPct val="105000"/>
              </a:lnSpc>
              <a:buNone/>
            </a:pPr>
            <a:r>
              <a:rPr lang="en-US" sz="1250" dirty="0">
                <a:solidFill>
                  <a:srgbClr val="5A6B8C"/>
                </a:solidFill>
                <a:latin typeface="Calibri" pitchFamily="34" charset="0"/>
                <a:ea typeface="Calibri" pitchFamily="34" charset="-122"/>
                <a:cs typeface="Calibri" pitchFamily="34" charset="-120"/>
              </a:rPr>
              <a:t>Different channels reach different customer segments and geographies that a single channel cannot.</a:t>
            </a:r>
            <a:endParaRPr lang="en-US" sz="1250" dirty="0"/>
          </a:p>
        </p:txBody>
      </p:sp>
      <p:sp>
        <p:nvSpPr>
          <p:cNvPr id="9" name="Shape 6"/>
          <p:cNvSpPr/>
          <p:nvPr/>
        </p:nvSpPr>
        <p:spPr>
          <a:xfrm>
            <a:off x="640080" y="2697480"/>
            <a:ext cx="566928" cy="566928"/>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10" name="Image 1" descr="/home/claude/demand-mgmt-ppt/icons/shield.png"/>
          <p:cNvPicPr>
            <a:picLocks noChangeAspect="1"/>
          </p:cNvPicPr>
          <p:nvPr/>
        </p:nvPicPr>
        <p:blipFill>
          <a:blip r:embed="rId4"/>
          <a:stretch>
            <a:fillRect/>
          </a:stretch>
        </p:blipFill>
        <p:spPr>
          <a:xfrm>
            <a:off x="781812" y="2839212"/>
            <a:ext cx="283464" cy="283464"/>
          </a:xfrm>
          <a:prstGeom prst="rect">
            <a:avLst/>
          </a:prstGeom>
        </p:spPr>
      </p:pic>
      <p:sp>
        <p:nvSpPr>
          <p:cNvPr id="11" name="Text 7"/>
          <p:cNvSpPr/>
          <p:nvPr/>
        </p:nvSpPr>
        <p:spPr>
          <a:xfrm>
            <a:off x="1463040" y="2670048"/>
            <a:ext cx="10040112" cy="32004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Reduced Dependence Risk</a:t>
            </a:r>
            <a:endParaRPr lang="en-US" sz="1600" dirty="0"/>
          </a:p>
        </p:txBody>
      </p:sp>
      <p:sp>
        <p:nvSpPr>
          <p:cNvPr id="12" name="Text 8"/>
          <p:cNvSpPr/>
          <p:nvPr/>
        </p:nvSpPr>
        <p:spPr>
          <a:xfrm>
            <a:off x="1463040" y="2990088"/>
            <a:ext cx="10040112" cy="640080"/>
          </a:xfrm>
          <a:prstGeom prst="rect">
            <a:avLst/>
          </a:prstGeom>
          <a:noFill/>
          <a:ln/>
        </p:spPr>
        <p:txBody>
          <a:bodyPr wrap="square" lIns="0" tIns="0" rIns="0" bIns="0" rtlCol="0" anchor="t"/>
          <a:lstStyle/>
          <a:p>
            <a:pPr marL="0" indent="0">
              <a:lnSpc>
                <a:spcPct val="105000"/>
              </a:lnSpc>
              <a:buNone/>
            </a:pPr>
            <a:r>
              <a:rPr lang="en-US" sz="1250" dirty="0">
                <a:solidFill>
                  <a:srgbClr val="5A6B8C"/>
                </a:solidFill>
                <a:latin typeface="Calibri" pitchFamily="34" charset="0"/>
                <a:ea typeface="Calibri" pitchFamily="34" charset="-122"/>
                <a:cs typeface="Calibri" pitchFamily="34" charset="-120"/>
              </a:rPr>
              <a:t>No single retailer, distributor or platform can hold the business hostage on terms or shelf space.</a:t>
            </a:r>
            <a:endParaRPr lang="en-US" sz="1250" dirty="0"/>
          </a:p>
        </p:txBody>
      </p:sp>
      <p:sp>
        <p:nvSpPr>
          <p:cNvPr id="13" name="Shape 9"/>
          <p:cNvSpPr/>
          <p:nvPr/>
        </p:nvSpPr>
        <p:spPr>
          <a:xfrm>
            <a:off x="640080" y="3703320"/>
            <a:ext cx="566928" cy="566928"/>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14" name="Image 2" descr="/home/claude/demand-mgmt-ppt/icons/chart.png"/>
          <p:cNvPicPr>
            <a:picLocks noChangeAspect="1"/>
          </p:cNvPicPr>
          <p:nvPr/>
        </p:nvPicPr>
        <p:blipFill>
          <a:blip r:embed="rId5"/>
          <a:stretch>
            <a:fillRect/>
          </a:stretch>
        </p:blipFill>
        <p:spPr>
          <a:xfrm>
            <a:off x="781812" y="3845052"/>
            <a:ext cx="283464" cy="283464"/>
          </a:xfrm>
          <a:prstGeom prst="rect">
            <a:avLst/>
          </a:prstGeom>
        </p:spPr>
      </p:pic>
      <p:sp>
        <p:nvSpPr>
          <p:cNvPr id="15" name="Text 10"/>
          <p:cNvSpPr/>
          <p:nvPr/>
        </p:nvSpPr>
        <p:spPr>
          <a:xfrm>
            <a:off x="1463040" y="3675888"/>
            <a:ext cx="10040112" cy="32004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Revenue Growth</a:t>
            </a:r>
            <a:endParaRPr lang="en-US" sz="1600" dirty="0"/>
          </a:p>
        </p:txBody>
      </p:sp>
      <p:sp>
        <p:nvSpPr>
          <p:cNvPr id="16" name="Text 11"/>
          <p:cNvSpPr/>
          <p:nvPr/>
        </p:nvSpPr>
        <p:spPr>
          <a:xfrm>
            <a:off x="1463040" y="3995928"/>
            <a:ext cx="10040112" cy="640080"/>
          </a:xfrm>
          <a:prstGeom prst="rect">
            <a:avLst/>
          </a:prstGeom>
          <a:noFill/>
          <a:ln/>
        </p:spPr>
        <p:txBody>
          <a:bodyPr wrap="square" lIns="0" tIns="0" rIns="0" bIns="0" rtlCol="0" anchor="t"/>
          <a:lstStyle/>
          <a:p>
            <a:pPr marL="0" indent="0">
              <a:lnSpc>
                <a:spcPct val="105000"/>
              </a:lnSpc>
              <a:buNone/>
            </a:pPr>
            <a:r>
              <a:rPr lang="en-US" sz="1250" dirty="0">
                <a:solidFill>
                  <a:srgbClr val="5A6B8C"/>
                </a:solidFill>
                <a:latin typeface="Calibri" pitchFamily="34" charset="0"/>
                <a:ea typeface="Calibri" pitchFamily="34" charset="-122"/>
                <a:cs typeface="Calibri" pitchFamily="34" charset="-120"/>
              </a:rPr>
              <a:t>Each additional well-managed channel typically expands total addressable demand.</a:t>
            </a:r>
            <a:endParaRPr lang="en-US" sz="1250" dirty="0"/>
          </a:p>
        </p:txBody>
      </p:sp>
      <p:sp>
        <p:nvSpPr>
          <p:cNvPr id="17" name="Shape 12"/>
          <p:cNvSpPr/>
          <p:nvPr/>
        </p:nvSpPr>
        <p:spPr>
          <a:xfrm>
            <a:off x="640080" y="4709160"/>
            <a:ext cx="566928" cy="566928"/>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18" name="Image 3" descr="/home/claude/demand-mgmt-ppt/icons/eye.png"/>
          <p:cNvPicPr>
            <a:picLocks noChangeAspect="1"/>
          </p:cNvPicPr>
          <p:nvPr/>
        </p:nvPicPr>
        <p:blipFill>
          <a:blip r:embed="rId6"/>
          <a:stretch>
            <a:fillRect/>
          </a:stretch>
        </p:blipFill>
        <p:spPr>
          <a:xfrm>
            <a:off x="781812" y="4850892"/>
            <a:ext cx="283464" cy="283464"/>
          </a:xfrm>
          <a:prstGeom prst="rect">
            <a:avLst/>
          </a:prstGeom>
        </p:spPr>
      </p:pic>
      <p:sp>
        <p:nvSpPr>
          <p:cNvPr id="19" name="Text 13"/>
          <p:cNvSpPr/>
          <p:nvPr/>
        </p:nvSpPr>
        <p:spPr>
          <a:xfrm>
            <a:off x="1463040" y="4681728"/>
            <a:ext cx="10040112" cy="32004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Richer Customer Data</a:t>
            </a:r>
            <a:endParaRPr lang="en-US" sz="1600" dirty="0"/>
          </a:p>
        </p:txBody>
      </p:sp>
      <p:sp>
        <p:nvSpPr>
          <p:cNvPr id="20" name="Text 14"/>
          <p:cNvSpPr/>
          <p:nvPr/>
        </p:nvSpPr>
        <p:spPr>
          <a:xfrm>
            <a:off x="1463040" y="5001768"/>
            <a:ext cx="10040112" cy="640080"/>
          </a:xfrm>
          <a:prstGeom prst="rect">
            <a:avLst/>
          </a:prstGeom>
          <a:noFill/>
          <a:ln/>
        </p:spPr>
        <p:txBody>
          <a:bodyPr wrap="square" lIns="0" tIns="0" rIns="0" bIns="0" rtlCol="0" anchor="t"/>
          <a:lstStyle/>
          <a:p>
            <a:pPr marL="0" indent="0">
              <a:lnSpc>
                <a:spcPct val="105000"/>
              </a:lnSpc>
              <a:buNone/>
            </a:pPr>
            <a:r>
              <a:rPr lang="en-US" sz="1250" dirty="0">
                <a:solidFill>
                  <a:srgbClr val="5A6B8C"/>
                </a:solidFill>
                <a:latin typeface="Calibri" pitchFamily="34" charset="0"/>
                <a:ea typeface="Calibri" pitchFamily="34" charset="-122"/>
                <a:cs typeface="Calibri" pitchFamily="34" charset="-120"/>
              </a:rPr>
              <a:t>Owned channels (direct retail, e-commerce) provide first-party data other channels cannot.</a:t>
            </a:r>
            <a:endParaRPr lang="en-US" sz="1250" dirty="0"/>
          </a:p>
        </p:txBody>
      </p:sp>
      <p:sp>
        <p:nvSpPr>
          <p:cNvPr id="21" name="Text 15"/>
          <p:cNvSpPr/>
          <p:nvPr/>
        </p:nvSpPr>
        <p:spPr>
          <a:xfrm>
            <a:off x="11551615" y="6446520"/>
            <a:ext cx="457200" cy="274320"/>
          </a:xfrm>
          <a:prstGeom prst="rect">
            <a:avLst/>
          </a:prstGeom>
          <a:noFill/>
          <a:ln/>
        </p:spPr>
        <p:txBody>
          <a:bodyPr wrap="square" lIns="0" tIns="0" rIns="0" bIns="0" rtlCol="0" anchor="ctr"/>
          <a:lstStyle/>
          <a:p>
            <a:pPr marL="0" indent="0" algn="r">
              <a:buNone/>
            </a:pPr>
            <a:r>
              <a:rPr lang="en-US" sz="1000" dirty="0">
                <a:solidFill>
                  <a:srgbClr val="5A6B8C"/>
                </a:solidFill>
                <a:latin typeface="Calibri" pitchFamily="34" charset="0"/>
                <a:ea typeface="Calibri" pitchFamily="34" charset="-122"/>
                <a:cs typeface="Calibri" pitchFamily="34" charset="-120"/>
              </a:rPr>
              <a:t>22</a:t>
            </a:r>
            <a:endParaRPr lang="en-US" sz="1000" dirty="0"/>
          </a:p>
        </p:txBody>
      </p:sp>
      <p:sp>
        <p:nvSpPr>
          <p:cNvPr id="23" name="Oval 22">
            <a:extLst>
              <a:ext uri="{FF2B5EF4-FFF2-40B4-BE49-F238E27FC236}">
                <a16:creationId xmlns:a16="http://schemas.microsoft.com/office/drawing/2014/main" id="{B5550DD9-5D36-4A85-4E99-FC3C1F6C8889}"/>
              </a:ext>
            </a:extLst>
          </p:cNvPr>
          <p:cNvSpPr/>
          <p:nvPr/>
        </p:nvSpPr>
        <p:spPr>
          <a:xfrm>
            <a:off x="9049789" y="1236330"/>
            <a:ext cx="3142211" cy="1184412"/>
          </a:xfrm>
          <a:prstGeom prst="ellipse">
            <a:avLst/>
          </a:prstGeom>
          <a:solidFill>
            <a:schemeClr val="accent2">
              <a:lumMod val="60000"/>
              <a:lumOff val="4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3EC33D56-51A3-8F42-CC97-B019AE016013}"/>
              </a:ext>
            </a:extLst>
          </p:cNvPr>
          <p:cNvSpPr txBox="1"/>
          <p:nvPr/>
        </p:nvSpPr>
        <p:spPr>
          <a:xfrm>
            <a:off x="9390610" y="1566926"/>
            <a:ext cx="2460567" cy="523220"/>
          </a:xfrm>
          <a:prstGeom prst="rect">
            <a:avLst/>
          </a:prstGeom>
          <a:noFill/>
        </p:spPr>
        <p:txBody>
          <a:bodyPr wrap="square" rtlCol="0">
            <a:spAutoFit/>
          </a:bodyPr>
          <a:lstStyle/>
          <a:p>
            <a:r>
              <a:rPr lang="en-US" sz="2800" b="1" dirty="0"/>
              <a:t>Important slide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EEF3FC"/>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C9962C"/>
                </a:solidFill>
                <a:latin typeface="Calibri" pitchFamily="34" charset="0"/>
                <a:ea typeface="Calibri" pitchFamily="34" charset="-122"/>
                <a:cs typeface="Calibri" pitchFamily="34" charset="-120"/>
              </a:rPr>
              <a:t>MULTI-CHANNEL</a:t>
            </a:r>
            <a:endParaRPr lang="en-US" sz="1200" dirty="0"/>
          </a:p>
        </p:txBody>
      </p:sp>
      <p:sp>
        <p:nvSpPr>
          <p:cNvPr id="3" name="Text 1"/>
          <p:cNvSpPr/>
          <p:nvPr/>
        </p:nvSpPr>
        <p:spPr>
          <a:xfrm>
            <a:off x="548640" y="621792"/>
            <a:ext cx="10515600" cy="73152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The Challenges Multiple Channels Create</a:t>
            </a:r>
            <a:endParaRPr lang="en-US" sz="2800" dirty="0"/>
          </a:p>
        </p:txBody>
      </p:sp>
      <p:sp>
        <p:nvSpPr>
          <p:cNvPr id="4" name="Shape 2"/>
          <p:cNvSpPr/>
          <p:nvPr/>
        </p:nvSpPr>
        <p:spPr>
          <a:xfrm>
            <a:off x="566928" y="1298448"/>
            <a:ext cx="914400" cy="0"/>
          </a:xfrm>
          <a:prstGeom prst="line">
            <a:avLst/>
          </a:prstGeom>
          <a:noFill/>
          <a:ln w="31750">
            <a:solidFill>
              <a:srgbClr val="C9962C"/>
            </a:solidFill>
            <a:prstDash val="solid"/>
          </a:ln>
        </p:spPr>
        <p:txBody>
          <a:bodyPr/>
          <a:lstStyle/>
          <a:p>
            <a:endParaRPr lang="en-US"/>
          </a:p>
        </p:txBody>
      </p:sp>
      <p:sp>
        <p:nvSpPr>
          <p:cNvPr id="5" name="Shape 3"/>
          <p:cNvSpPr/>
          <p:nvPr/>
        </p:nvSpPr>
        <p:spPr>
          <a:xfrm>
            <a:off x="548640" y="1737360"/>
            <a:ext cx="3515258" cy="2148840"/>
          </a:xfrm>
          <a:prstGeom prst="roundRect">
            <a:avLst>
              <a:gd name="adj" fmla="val 3404"/>
            </a:avLst>
          </a:prstGeom>
          <a:solidFill>
            <a:srgbClr val="FFFFFF"/>
          </a:solidFill>
          <a:ln w="12700">
            <a:solidFill>
              <a:srgbClr val="D7E0F5"/>
            </a:solidFill>
            <a:prstDash val="solid"/>
          </a:ln>
          <a:effectLst>
            <a:outerShdw blurRad="101600" dist="25400" dir="5400000" algn="bl" rotWithShape="0">
              <a:srgbClr val="1E2761">
                <a:alpha val="10000"/>
              </a:srgbClr>
            </a:outerShdw>
          </a:effectLst>
        </p:spPr>
        <p:txBody>
          <a:bodyPr/>
          <a:lstStyle/>
          <a:p>
            <a:endParaRPr lang="en-US"/>
          </a:p>
        </p:txBody>
      </p:sp>
      <p:sp>
        <p:nvSpPr>
          <p:cNvPr id="6" name="Shape 4"/>
          <p:cNvSpPr/>
          <p:nvPr/>
        </p:nvSpPr>
        <p:spPr>
          <a:xfrm>
            <a:off x="754380" y="1943100"/>
            <a:ext cx="502920" cy="502920"/>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7" name="Image 0" descr="/home/claude/demand-mgmt-ppt/icons/exclamation.png"/>
          <p:cNvPicPr>
            <a:picLocks noChangeAspect="1"/>
          </p:cNvPicPr>
          <p:nvPr/>
        </p:nvPicPr>
        <p:blipFill>
          <a:blip r:embed="rId3"/>
          <a:stretch>
            <a:fillRect/>
          </a:stretch>
        </p:blipFill>
        <p:spPr>
          <a:xfrm>
            <a:off x="880110" y="2068830"/>
            <a:ext cx="251460" cy="251460"/>
          </a:xfrm>
          <a:prstGeom prst="rect">
            <a:avLst/>
          </a:prstGeom>
        </p:spPr>
      </p:pic>
      <p:sp>
        <p:nvSpPr>
          <p:cNvPr id="8" name="Text 5"/>
          <p:cNvSpPr/>
          <p:nvPr/>
        </p:nvSpPr>
        <p:spPr>
          <a:xfrm>
            <a:off x="777240" y="2606040"/>
            <a:ext cx="3058058" cy="41148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Channel Conflict</a:t>
            </a:r>
            <a:endParaRPr lang="en-US" sz="1450" dirty="0"/>
          </a:p>
        </p:txBody>
      </p:sp>
      <p:sp>
        <p:nvSpPr>
          <p:cNvPr id="9" name="Text 6"/>
          <p:cNvSpPr/>
          <p:nvPr/>
        </p:nvSpPr>
        <p:spPr>
          <a:xfrm>
            <a:off x="777240" y="3017520"/>
            <a:ext cx="3058058" cy="731520"/>
          </a:xfrm>
          <a:prstGeom prst="rect">
            <a:avLst/>
          </a:prstGeom>
          <a:noFill/>
          <a:ln/>
        </p:spPr>
        <p:txBody>
          <a:bodyPr wrap="square" lIns="0" tIns="0" rIns="0" bIns="0" rtlCol="0" anchor="t"/>
          <a:lstStyle/>
          <a:p>
            <a:pPr marL="0" indent="0">
              <a:lnSpc>
                <a:spcPct val="105000"/>
              </a:lnSpc>
              <a:buNone/>
            </a:pPr>
            <a:r>
              <a:rPr lang="en-US" sz="1150" dirty="0">
                <a:solidFill>
                  <a:srgbClr val="5A6B8C"/>
                </a:solidFill>
                <a:latin typeface="Calibri" pitchFamily="34" charset="0"/>
                <a:ea typeface="Calibri" pitchFamily="34" charset="-122"/>
                <a:cs typeface="Calibri" pitchFamily="34" charset="-120"/>
              </a:rPr>
              <a:t>Direct online sales can undercut and anger wholesale and retail partners.</a:t>
            </a:r>
            <a:endParaRPr lang="en-US" sz="1150" dirty="0"/>
          </a:p>
        </p:txBody>
      </p:sp>
      <p:sp>
        <p:nvSpPr>
          <p:cNvPr id="10" name="Shape 7"/>
          <p:cNvSpPr/>
          <p:nvPr/>
        </p:nvSpPr>
        <p:spPr>
          <a:xfrm>
            <a:off x="4338218" y="1737360"/>
            <a:ext cx="3515258" cy="2148840"/>
          </a:xfrm>
          <a:prstGeom prst="roundRect">
            <a:avLst>
              <a:gd name="adj" fmla="val 3404"/>
            </a:avLst>
          </a:prstGeom>
          <a:solidFill>
            <a:srgbClr val="FFFFFF"/>
          </a:solidFill>
          <a:ln w="12700">
            <a:solidFill>
              <a:srgbClr val="D7E0F5"/>
            </a:solidFill>
            <a:prstDash val="solid"/>
          </a:ln>
          <a:effectLst>
            <a:outerShdw blurRad="101600" dist="25400" dir="5400000" algn="bl" rotWithShape="0">
              <a:srgbClr val="1E2761">
                <a:alpha val="10000"/>
              </a:srgbClr>
            </a:outerShdw>
          </a:effectLst>
        </p:spPr>
        <p:txBody>
          <a:bodyPr/>
          <a:lstStyle/>
          <a:p>
            <a:endParaRPr lang="en-US"/>
          </a:p>
        </p:txBody>
      </p:sp>
      <p:sp>
        <p:nvSpPr>
          <p:cNvPr id="11" name="Shape 8"/>
          <p:cNvSpPr/>
          <p:nvPr/>
        </p:nvSpPr>
        <p:spPr>
          <a:xfrm>
            <a:off x="4543958" y="1943100"/>
            <a:ext cx="502920" cy="502920"/>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12" name="Image 1" descr="/home/claude/demand-mgmt-ppt/icons/boxes.png"/>
          <p:cNvPicPr>
            <a:picLocks noChangeAspect="1"/>
          </p:cNvPicPr>
          <p:nvPr/>
        </p:nvPicPr>
        <p:blipFill>
          <a:blip r:embed="rId4"/>
          <a:stretch>
            <a:fillRect/>
          </a:stretch>
        </p:blipFill>
        <p:spPr>
          <a:xfrm>
            <a:off x="4669688" y="2068830"/>
            <a:ext cx="251460" cy="251460"/>
          </a:xfrm>
          <a:prstGeom prst="rect">
            <a:avLst/>
          </a:prstGeom>
        </p:spPr>
      </p:pic>
      <p:sp>
        <p:nvSpPr>
          <p:cNvPr id="13" name="Text 9"/>
          <p:cNvSpPr/>
          <p:nvPr/>
        </p:nvSpPr>
        <p:spPr>
          <a:xfrm>
            <a:off x="4566818" y="2606040"/>
            <a:ext cx="3058058" cy="41148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Inventory Visibility</a:t>
            </a:r>
            <a:endParaRPr lang="en-US" sz="1450" dirty="0"/>
          </a:p>
        </p:txBody>
      </p:sp>
      <p:sp>
        <p:nvSpPr>
          <p:cNvPr id="14" name="Text 10"/>
          <p:cNvSpPr/>
          <p:nvPr/>
        </p:nvSpPr>
        <p:spPr>
          <a:xfrm>
            <a:off x="4566818" y="3017520"/>
            <a:ext cx="3058058" cy="731520"/>
          </a:xfrm>
          <a:prstGeom prst="rect">
            <a:avLst/>
          </a:prstGeom>
          <a:noFill/>
          <a:ln/>
        </p:spPr>
        <p:txBody>
          <a:bodyPr wrap="square" lIns="0" tIns="0" rIns="0" bIns="0" rtlCol="0" anchor="t"/>
          <a:lstStyle/>
          <a:p>
            <a:pPr marL="0" indent="0">
              <a:lnSpc>
                <a:spcPct val="105000"/>
              </a:lnSpc>
              <a:buNone/>
            </a:pPr>
            <a:r>
              <a:rPr lang="en-US" sz="1150" dirty="0">
                <a:solidFill>
                  <a:srgbClr val="5A6B8C"/>
                </a:solidFill>
                <a:latin typeface="Calibri" pitchFamily="34" charset="0"/>
                <a:ea typeface="Calibri" pitchFamily="34" charset="-122"/>
                <a:cs typeface="Calibri" pitchFamily="34" charset="-120"/>
              </a:rPr>
              <a:t>Stock gets siloed by channel, causing stockouts in one and excess in another.</a:t>
            </a:r>
            <a:endParaRPr lang="en-US" sz="1150" dirty="0"/>
          </a:p>
        </p:txBody>
      </p:sp>
      <p:sp>
        <p:nvSpPr>
          <p:cNvPr id="15" name="Shape 11"/>
          <p:cNvSpPr/>
          <p:nvPr/>
        </p:nvSpPr>
        <p:spPr>
          <a:xfrm>
            <a:off x="8127797" y="1737360"/>
            <a:ext cx="3515258" cy="2148840"/>
          </a:xfrm>
          <a:prstGeom prst="roundRect">
            <a:avLst>
              <a:gd name="adj" fmla="val 3404"/>
            </a:avLst>
          </a:prstGeom>
          <a:solidFill>
            <a:srgbClr val="FFFFFF"/>
          </a:solidFill>
          <a:ln w="12700">
            <a:solidFill>
              <a:srgbClr val="D7E0F5"/>
            </a:solidFill>
            <a:prstDash val="solid"/>
          </a:ln>
          <a:effectLst>
            <a:outerShdw blurRad="101600" dist="25400" dir="5400000" algn="bl" rotWithShape="0">
              <a:srgbClr val="1E2761">
                <a:alpha val="10000"/>
              </a:srgbClr>
            </a:outerShdw>
          </a:effectLst>
        </p:spPr>
        <p:txBody>
          <a:bodyPr/>
          <a:lstStyle/>
          <a:p>
            <a:endParaRPr lang="en-US"/>
          </a:p>
        </p:txBody>
      </p:sp>
      <p:sp>
        <p:nvSpPr>
          <p:cNvPr id="16" name="Shape 12"/>
          <p:cNvSpPr/>
          <p:nvPr/>
        </p:nvSpPr>
        <p:spPr>
          <a:xfrm>
            <a:off x="8333537" y="1943100"/>
            <a:ext cx="502920" cy="502920"/>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17" name="Image 2" descr="/home/claude/demand-mgmt-ppt/icons/balance.png"/>
          <p:cNvPicPr>
            <a:picLocks noChangeAspect="1"/>
          </p:cNvPicPr>
          <p:nvPr/>
        </p:nvPicPr>
        <p:blipFill>
          <a:blip r:embed="rId5"/>
          <a:stretch>
            <a:fillRect/>
          </a:stretch>
        </p:blipFill>
        <p:spPr>
          <a:xfrm>
            <a:off x="8459267" y="2068830"/>
            <a:ext cx="251460" cy="251460"/>
          </a:xfrm>
          <a:prstGeom prst="rect">
            <a:avLst/>
          </a:prstGeom>
        </p:spPr>
      </p:pic>
      <p:sp>
        <p:nvSpPr>
          <p:cNvPr id="18" name="Text 13"/>
          <p:cNvSpPr/>
          <p:nvPr/>
        </p:nvSpPr>
        <p:spPr>
          <a:xfrm>
            <a:off x="8356397" y="2606040"/>
            <a:ext cx="3058058" cy="41148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Pricing Inconsistency</a:t>
            </a:r>
            <a:endParaRPr lang="en-US" sz="1450" dirty="0"/>
          </a:p>
        </p:txBody>
      </p:sp>
      <p:sp>
        <p:nvSpPr>
          <p:cNvPr id="19" name="Text 14"/>
          <p:cNvSpPr/>
          <p:nvPr/>
        </p:nvSpPr>
        <p:spPr>
          <a:xfrm>
            <a:off x="8356397" y="3017520"/>
            <a:ext cx="3058058" cy="731520"/>
          </a:xfrm>
          <a:prstGeom prst="rect">
            <a:avLst/>
          </a:prstGeom>
          <a:noFill/>
          <a:ln/>
        </p:spPr>
        <p:txBody>
          <a:bodyPr wrap="square" lIns="0" tIns="0" rIns="0" bIns="0" rtlCol="0" anchor="t"/>
          <a:lstStyle/>
          <a:p>
            <a:pPr marL="0" indent="0">
              <a:lnSpc>
                <a:spcPct val="105000"/>
              </a:lnSpc>
              <a:buNone/>
            </a:pPr>
            <a:r>
              <a:rPr lang="en-US" sz="1150" dirty="0">
                <a:solidFill>
                  <a:srgbClr val="5A6B8C"/>
                </a:solidFill>
                <a:latin typeface="Calibri" pitchFamily="34" charset="0"/>
                <a:ea typeface="Calibri" pitchFamily="34" charset="-122"/>
                <a:cs typeface="Calibri" pitchFamily="34" charset="-120"/>
              </a:rPr>
              <a:t>Different margins and discounts per channel confuse customers and erode trust.</a:t>
            </a:r>
            <a:endParaRPr lang="en-US" sz="1150" dirty="0"/>
          </a:p>
        </p:txBody>
      </p:sp>
      <p:sp>
        <p:nvSpPr>
          <p:cNvPr id="20" name="Shape 15"/>
          <p:cNvSpPr/>
          <p:nvPr/>
        </p:nvSpPr>
        <p:spPr>
          <a:xfrm>
            <a:off x="548640" y="4160520"/>
            <a:ext cx="3515258" cy="2148840"/>
          </a:xfrm>
          <a:prstGeom prst="roundRect">
            <a:avLst>
              <a:gd name="adj" fmla="val 3404"/>
            </a:avLst>
          </a:prstGeom>
          <a:solidFill>
            <a:srgbClr val="FFFFFF"/>
          </a:solidFill>
          <a:ln w="12700">
            <a:solidFill>
              <a:srgbClr val="D7E0F5"/>
            </a:solidFill>
            <a:prstDash val="solid"/>
          </a:ln>
          <a:effectLst>
            <a:outerShdw blurRad="101600" dist="25400" dir="5400000" algn="bl" rotWithShape="0">
              <a:srgbClr val="1E2761">
                <a:alpha val="10000"/>
              </a:srgbClr>
            </a:outerShdw>
          </a:effectLst>
        </p:spPr>
        <p:txBody>
          <a:bodyPr/>
          <a:lstStyle/>
          <a:p>
            <a:endParaRPr lang="en-US"/>
          </a:p>
        </p:txBody>
      </p:sp>
      <p:sp>
        <p:nvSpPr>
          <p:cNvPr id="21" name="Shape 16"/>
          <p:cNvSpPr/>
          <p:nvPr/>
        </p:nvSpPr>
        <p:spPr>
          <a:xfrm>
            <a:off x="754380" y="4366260"/>
            <a:ext cx="502920" cy="502920"/>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22" name="Image 3" descr="/home/claude/demand-mgmt-ppt/icons/route.png"/>
          <p:cNvPicPr>
            <a:picLocks noChangeAspect="1"/>
          </p:cNvPicPr>
          <p:nvPr/>
        </p:nvPicPr>
        <p:blipFill>
          <a:blip r:embed="rId6"/>
          <a:stretch>
            <a:fillRect/>
          </a:stretch>
        </p:blipFill>
        <p:spPr>
          <a:xfrm>
            <a:off x="880110" y="4491990"/>
            <a:ext cx="251460" cy="251460"/>
          </a:xfrm>
          <a:prstGeom prst="rect">
            <a:avLst/>
          </a:prstGeom>
        </p:spPr>
      </p:pic>
      <p:sp>
        <p:nvSpPr>
          <p:cNvPr id="23" name="Text 17"/>
          <p:cNvSpPr/>
          <p:nvPr/>
        </p:nvSpPr>
        <p:spPr>
          <a:xfrm>
            <a:off x="777240" y="5029200"/>
            <a:ext cx="3058058" cy="41148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Fulfilment Complexity</a:t>
            </a:r>
            <a:endParaRPr lang="en-US" sz="1450" dirty="0"/>
          </a:p>
        </p:txBody>
      </p:sp>
      <p:sp>
        <p:nvSpPr>
          <p:cNvPr id="24" name="Text 18"/>
          <p:cNvSpPr/>
          <p:nvPr/>
        </p:nvSpPr>
        <p:spPr>
          <a:xfrm>
            <a:off x="777240" y="5440680"/>
            <a:ext cx="3058058" cy="731520"/>
          </a:xfrm>
          <a:prstGeom prst="rect">
            <a:avLst/>
          </a:prstGeom>
          <a:noFill/>
          <a:ln/>
        </p:spPr>
        <p:txBody>
          <a:bodyPr wrap="square" lIns="0" tIns="0" rIns="0" bIns="0" rtlCol="0" anchor="t"/>
          <a:lstStyle/>
          <a:p>
            <a:pPr marL="0" indent="0">
              <a:lnSpc>
                <a:spcPct val="105000"/>
              </a:lnSpc>
              <a:buNone/>
            </a:pPr>
            <a:r>
              <a:rPr lang="en-US" sz="1150" dirty="0">
                <a:solidFill>
                  <a:srgbClr val="5A6B8C"/>
                </a:solidFill>
                <a:latin typeface="Calibri" pitchFamily="34" charset="0"/>
                <a:ea typeface="Calibri" pitchFamily="34" charset="-122"/>
                <a:cs typeface="Calibri" pitchFamily="34" charset="-120"/>
              </a:rPr>
              <a:t>Each channel may demand different packaging, labelling and delivery speed.</a:t>
            </a:r>
            <a:endParaRPr lang="en-US" sz="1150" dirty="0"/>
          </a:p>
        </p:txBody>
      </p:sp>
      <p:sp>
        <p:nvSpPr>
          <p:cNvPr id="25" name="Shape 19"/>
          <p:cNvSpPr/>
          <p:nvPr/>
        </p:nvSpPr>
        <p:spPr>
          <a:xfrm>
            <a:off x="4338218" y="4160520"/>
            <a:ext cx="3515258" cy="2148840"/>
          </a:xfrm>
          <a:prstGeom prst="roundRect">
            <a:avLst>
              <a:gd name="adj" fmla="val 3404"/>
            </a:avLst>
          </a:prstGeom>
          <a:solidFill>
            <a:srgbClr val="FFFFFF"/>
          </a:solidFill>
          <a:ln w="12700">
            <a:solidFill>
              <a:srgbClr val="D7E0F5"/>
            </a:solidFill>
            <a:prstDash val="solid"/>
          </a:ln>
          <a:effectLst>
            <a:outerShdw blurRad="101600" dist="25400" dir="5400000" algn="bl" rotWithShape="0">
              <a:srgbClr val="1E2761">
                <a:alpha val="10000"/>
              </a:srgbClr>
            </a:outerShdw>
          </a:effectLst>
        </p:spPr>
        <p:txBody>
          <a:bodyPr/>
          <a:lstStyle/>
          <a:p>
            <a:endParaRPr lang="en-US"/>
          </a:p>
        </p:txBody>
      </p:sp>
      <p:sp>
        <p:nvSpPr>
          <p:cNvPr id="26" name="Shape 20"/>
          <p:cNvSpPr/>
          <p:nvPr/>
        </p:nvSpPr>
        <p:spPr>
          <a:xfrm>
            <a:off x="4543958" y="4366260"/>
            <a:ext cx="502920" cy="502920"/>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27" name="Image 4" descr="/home/claude/demand-mgmt-ppt/icons/chart.png"/>
          <p:cNvPicPr>
            <a:picLocks noChangeAspect="1"/>
          </p:cNvPicPr>
          <p:nvPr/>
        </p:nvPicPr>
        <p:blipFill>
          <a:blip r:embed="rId7"/>
          <a:stretch>
            <a:fillRect/>
          </a:stretch>
        </p:blipFill>
        <p:spPr>
          <a:xfrm>
            <a:off x="4669688" y="4491990"/>
            <a:ext cx="251460" cy="251460"/>
          </a:xfrm>
          <a:prstGeom prst="rect">
            <a:avLst/>
          </a:prstGeom>
        </p:spPr>
      </p:pic>
      <p:sp>
        <p:nvSpPr>
          <p:cNvPr id="28" name="Text 21"/>
          <p:cNvSpPr/>
          <p:nvPr/>
        </p:nvSpPr>
        <p:spPr>
          <a:xfrm>
            <a:off x="4566818" y="5029200"/>
            <a:ext cx="3058058" cy="41148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Fragmented Data</a:t>
            </a:r>
            <a:endParaRPr lang="en-US" sz="1450" dirty="0"/>
          </a:p>
        </p:txBody>
      </p:sp>
      <p:sp>
        <p:nvSpPr>
          <p:cNvPr id="29" name="Text 22"/>
          <p:cNvSpPr/>
          <p:nvPr/>
        </p:nvSpPr>
        <p:spPr>
          <a:xfrm>
            <a:off x="4566818" y="5440680"/>
            <a:ext cx="3058058" cy="731520"/>
          </a:xfrm>
          <a:prstGeom prst="rect">
            <a:avLst/>
          </a:prstGeom>
          <a:noFill/>
          <a:ln/>
        </p:spPr>
        <p:txBody>
          <a:bodyPr wrap="square" lIns="0" tIns="0" rIns="0" bIns="0" rtlCol="0" anchor="t"/>
          <a:lstStyle/>
          <a:p>
            <a:pPr marL="0" indent="0">
              <a:lnSpc>
                <a:spcPct val="105000"/>
              </a:lnSpc>
              <a:buNone/>
            </a:pPr>
            <a:r>
              <a:rPr lang="en-US" sz="1150" dirty="0">
                <a:solidFill>
                  <a:srgbClr val="5A6B8C"/>
                </a:solidFill>
                <a:latin typeface="Calibri" pitchFamily="34" charset="0"/>
                <a:ea typeface="Calibri" pitchFamily="34" charset="-122"/>
                <a:cs typeface="Calibri" pitchFamily="34" charset="-120"/>
              </a:rPr>
              <a:t>Sales and customer data scattered across systems makes one forecast hard to build.</a:t>
            </a:r>
            <a:endParaRPr lang="en-US" sz="1150" dirty="0"/>
          </a:p>
        </p:txBody>
      </p:sp>
      <p:sp>
        <p:nvSpPr>
          <p:cNvPr id="30" name="Shape 23"/>
          <p:cNvSpPr/>
          <p:nvPr/>
        </p:nvSpPr>
        <p:spPr>
          <a:xfrm>
            <a:off x="8127797" y="4160520"/>
            <a:ext cx="3515258" cy="2148840"/>
          </a:xfrm>
          <a:prstGeom prst="roundRect">
            <a:avLst>
              <a:gd name="adj" fmla="val 3404"/>
            </a:avLst>
          </a:prstGeom>
          <a:solidFill>
            <a:srgbClr val="FFFFFF"/>
          </a:solidFill>
          <a:ln w="12700">
            <a:solidFill>
              <a:srgbClr val="D7E0F5"/>
            </a:solidFill>
            <a:prstDash val="solid"/>
          </a:ln>
          <a:effectLst>
            <a:outerShdw blurRad="101600" dist="25400" dir="5400000" algn="bl" rotWithShape="0">
              <a:srgbClr val="1E2761">
                <a:alpha val="10000"/>
              </a:srgbClr>
            </a:outerShdw>
          </a:effectLst>
        </p:spPr>
        <p:txBody>
          <a:bodyPr/>
          <a:lstStyle/>
          <a:p>
            <a:endParaRPr lang="en-US"/>
          </a:p>
        </p:txBody>
      </p:sp>
      <p:sp>
        <p:nvSpPr>
          <p:cNvPr id="31" name="Shape 24"/>
          <p:cNvSpPr/>
          <p:nvPr/>
        </p:nvSpPr>
        <p:spPr>
          <a:xfrm>
            <a:off x="8333537" y="4366260"/>
            <a:ext cx="502920" cy="502920"/>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32" name="Image 5" descr="/home/claude/demand-mgmt-ppt/icons/cogs.png"/>
          <p:cNvPicPr>
            <a:picLocks noChangeAspect="1"/>
          </p:cNvPicPr>
          <p:nvPr/>
        </p:nvPicPr>
        <p:blipFill>
          <a:blip r:embed="rId8"/>
          <a:stretch>
            <a:fillRect/>
          </a:stretch>
        </p:blipFill>
        <p:spPr>
          <a:xfrm>
            <a:off x="8459267" y="4491990"/>
            <a:ext cx="251460" cy="251460"/>
          </a:xfrm>
          <a:prstGeom prst="rect">
            <a:avLst/>
          </a:prstGeom>
        </p:spPr>
      </p:pic>
      <p:sp>
        <p:nvSpPr>
          <p:cNvPr id="33" name="Text 25"/>
          <p:cNvSpPr/>
          <p:nvPr/>
        </p:nvSpPr>
        <p:spPr>
          <a:xfrm>
            <a:off x="8356397" y="5029200"/>
            <a:ext cx="3058058" cy="41148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Higher Operating Cost</a:t>
            </a:r>
            <a:endParaRPr lang="en-US" sz="1450" dirty="0"/>
          </a:p>
        </p:txBody>
      </p:sp>
      <p:sp>
        <p:nvSpPr>
          <p:cNvPr id="34" name="Text 26"/>
          <p:cNvSpPr/>
          <p:nvPr/>
        </p:nvSpPr>
        <p:spPr>
          <a:xfrm>
            <a:off x="8356397" y="5440680"/>
            <a:ext cx="3058058" cy="731520"/>
          </a:xfrm>
          <a:prstGeom prst="rect">
            <a:avLst/>
          </a:prstGeom>
          <a:noFill/>
          <a:ln/>
        </p:spPr>
        <p:txBody>
          <a:bodyPr wrap="square" lIns="0" tIns="0" rIns="0" bIns="0" rtlCol="0" anchor="t"/>
          <a:lstStyle/>
          <a:p>
            <a:pPr marL="0" indent="0">
              <a:lnSpc>
                <a:spcPct val="105000"/>
              </a:lnSpc>
              <a:buNone/>
            </a:pPr>
            <a:r>
              <a:rPr lang="en-US" sz="1150" dirty="0">
                <a:solidFill>
                  <a:srgbClr val="5A6B8C"/>
                </a:solidFill>
                <a:latin typeface="Calibri" pitchFamily="34" charset="0"/>
                <a:ea typeface="Calibri" pitchFamily="34" charset="-122"/>
                <a:cs typeface="Calibri" pitchFamily="34" charset="-120"/>
              </a:rPr>
              <a:t>More channels usually mean more systems, processes and dedicated teams.</a:t>
            </a:r>
            <a:endParaRPr lang="en-US" sz="1150" dirty="0"/>
          </a:p>
        </p:txBody>
      </p:sp>
      <p:sp>
        <p:nvSpPr>
          <p:cNvPr id="35" name="Text 27"/>
          <p:cNvSpPr/>
          <p:nvPr/>
        </p:nvSpPr>
        <p:spPr>
          <a:xfrm>
            <a:off x="11551615" y="6446520"/>
            <a:ext cx="457200" cy="274320"/>
          </a:xfrm>
          <a:prstGeom prst="rect">
            <a:avLst/>
          </a:prstGeom>
          <a:noFill/>
          <a:ln/>
        </p:spPr>
        <p:txBody>
          <a:bodyPr wrap="square" lIns="0" tIns="0" rIns="0" bIns="0" rtlCol="0" anchor="ctr"/>
          <a:lstStyle/>
          <a:p>
            <a:pPr marL="0" indent="0" algn="r">
              <a:buNone/>
            </a:pPr>
            <a:r>
              <a:rPr lang="en-US" sz="1000" dirty="0">
                <a:solidFill>
                  <a:srgbClr val="5A6B8C"/>
                </a:solidFill>
                <a:latin typeface="Calibri" pitchFamily="34" charset="0"/>
                <a:ea typeface="Calibri" pitchFamily="34" charset="-122"/>
                <a:cs typeface="Calibri" pitchFamily="34" charset="-120"/>
              </a:rPr>
              <a:t>23</a:t>
            </a:r>
            <a:endParaRPr lang="en-US" sz="1000" dirty="0"/>
          </a:p>
        </p:txBody>
      </p:sp>
      <p:sp>
        <p:nvSpPr>
          <p:cNvPr id="37" name="Oval 36">
            <a:extLst>
              <a:ext uri="{FF2B5EF4-FFF2-40B4-BE49-F238E27FC236}">
                <a16:creationId xmlns:a16="http://schemas.microsoft.com/office/drawing/2014/main" id="{7307FC35-C042-51D5-FCAF-377B497CED5E}"/>
              </a:ext>
            </a:extLst>
          </p:cNvPr>
          <p:cNvSpPr/>
          <p:nvPr/>
        </p:nvSpPr>
        <p:spPr>
          <a:xfrm>
            <a:off x="9002683" y="-8094"/>
            <a:ext cx="3142211" cy="1184412"/>
          </a:xfrm>
          <a:prstGeom prst="ellipse">
            <a:avLst/>
          </a:prstGeom>
          <a:solidFill>
            <a:schemeClr val="accent2">
              <a:lumMod val="60000"/>
              <a:lumOff val="4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359DC863-5AC6-9E14-7866-5F91D8B787B2}"/>
              </a:ext>
            </a:extLst>
          </p:cNvPr>
          <p:cNvSpPr txBox="1"/>
          <p:nvPr/>
        </p:nvSpPr>
        <p:spPr>
          <a:xfrm>
            <a:off x="9343504" y="322502"/>
            <a:ext cx="2460567" cy="523220"/>
          </a:xfrm>
          <a:prstGeom prst="rect">
            <a:avLst/>
          </a:prstGeom>
          <a:noFill/>
        </p:spPr>
        <p:txBody>
          <a:bodyPr wrap="square" rtlCol="0">
            <a:spAutoFit/>
          </a:bodyPr>
          <a:lstStyle/>
          <a:p>
            <a:r>
              <a:rPr lang="en-US" sz="2800" b="1" dirty="0"/>
              <a:t>Important slide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C9962C"/>
                </a:solidFill>
                <a:latin typeface="Calibri" pitchFamily="34" charset="0"/>
                <a:ea typeface="Calibri" pitchFamily="34" charset="-122"/>
                <a:cs typeface="Calibri" pitchFamily="34" charset="-120"/>
              </a:rPr>
              <a:t>MULTI-CHANNEL</a:t>
            </a:r>
            <a:endParaRPr lang="en-US" sz="1200" dirty="0"/>
          </a:p>
        </p:txBody>
      </p:sp>
      <p:sp>
        <p:nvSpPr>
          <p:cNvPr id="3" name="Text 1"/>
          <p:cNvSpPr/>
          <p:nvPr/>
        </p:nvSpPr>
        <p:spPr>
          <a:xfrm>
            <a:off x="548640" y="621792"/>
            <a:ext cx="10515600" cy="73152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Multi-Channel vs. Omni-Channel Distribution</a:t>
            </a:r>
            <a:endParaRPr lang="en-US" sz="2800" dirty="0"/>
          </a:p>
        </p:txBody>
      </p:sp>
      <p:sp>
        <p:nvSpPr>
          <p:cNvPr id="4" name="Shape 2"/>
          <p:cNvSpPr/>
          <p:nvPr/>
        </p:nvSpPr>
        <p:spPr>
          <a:xfrm>
            <a:off x="566928" y="1298448"/>
            <a:ext cx="914400" cy="0"/>
          </a:xfrm>
          <a:prstGeom prst="line">
            <a:avLst/>
          </a:prstGeom>
          <a:noFill/>
          <a:ln w="31750">
            <a:solidFill>
              <a:srgbClr val="C9962C"/>
            </a:solidFill>
            <a:prstDash val="solid"/>
          </a:ln>
        </p:spPr>
        <p:txBody>
          <a:bodyPr/>
          <a:lstStyle/>
          <a:p>
            <a:endParaRPr lang="en-US"/>
          </a:p>
        </p:txBody>
      </p:sp>
      <p:sp>
        <p:nvSpPr>
          <p:cNvPr id="5" name="Shape 3"/>
          <p:cNvSpPr/>
          <p:nvPr/>
        </p:nvSpPr>
        <p:spPr>
          <a:xfrm>
            <a:off x="640080" y="1737360"/>
            <a:ext cx="5295748" cy="3931920"/>
          </a:xfrm>
          <a:prstGeom prst="roundRect">
            <a:avLst>
              <a:gd name="adj" fmla="val 1860"/>
            </a:avLst>
          </a:prstGeom>
          <a:solidFill>
            <a:srgbClr val="1E2761"/>
          </a:solidFill>
          <a:ln w="12700">
            <a:solidFill>
              <a:srgbClr val="1E2761"/>
            </a:solidFill>
            <a:prstDash val="solid"/>
          </a:ln>
        </p:spPr>
        <p:txBody>
          <a:bodyPr/>
          <a:lstStyle/>
          <a:p>
            <a:endParaRPr lang="en-US"/>
          </a:p>
        </p:txBody>
      </p:sp>
      <p:sp>
        <p:nvSpPr>
          <p:cNvPr id="6" name="Text 4"/>
          <p:cNvSpPr/>
          <p:nvPr/>
        </p:nvSpPr>
        <p:spPr>
          <a:xfrm>
            <a:off x="914400" y="1965960"/>
            <a:ext cx="4747108"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Multi-Channel</a:t>
            </a:r>
            <a:endParaRPr lang="en-US" sz="1800" dirty="0"/>
          </a:p>
        </p:txBody>
      </p:sp>
      <p:sp>
        <p:nvSpPr>
          <p:cNvPr id="7" name="Text 5"/>
          <p:cNvSpPr/>
          <p:nvPr/>
        </p:nvSpPr>
        <p:spPr>
          <a:xfrm>
            <a:off x="914400" y="2560320"/>
            <a:ext cx="4747108" cy="2926080"/>
          </a:xfrm>
          <a:prstGeom prst="rect">
            <a:avLst/>
          </a:prstGeom>
          <a:noFill/>
          <a:ln/>
        </p:spPr>
        <p:txBody>
          <a:bodyPr wrap="square" lIns="0" tIns="0" rIns="0" bIns="0" rtlCol="0" anchor="t"/>
          <a:lstStyle/>
          <a:p>
            <a:pPr marL="177800" indent="-177800">
              <a:lnSpc>
                <a:spcPct val="110000"/>
              </a:lnSpc>
              <a:spcAft>
                <a:spcPts val="1000"/>
              </a:spcAft>
              <a:buSzPct val="100000"/>
              <a:buChar char="•"/>
            </a:pPr>
            <a:r>
              <a:rPr lang="en-US" sz="1250" dirty="0">
                <a:solidFill>
                  <a:srgbClr val="CADCFC"/>
                </a:solidFill>
                <a:latin typeface="Calibri" pitchFamily="34" charset="0"/>
                <a:ea typeface="Calibri" pitchFamily="34" charset="-122"/>
                <a:cs typeface="Calibri" pitchFamily="34" charset="-120"/>
              </a:rPr>
              <a:t>Multiple channels operate largely independently</a:t>
            </a:r>
            <a:endParaRPr lang="en-US" sz="1250" dirty="0"/>
          </a:p>
          <a:p>
            <a:pPr marL="177800" indent="-177800">
              <a:lnSpc>
                <a:spcPct val="110000"/>
              </a:lnSpc>
              <a:spcAft>
                <a:spcPts val="1000"/>
              </a:spcAft>
              <a:buSzPct val="100000"/>
              <a:buChar char="•"/>
            </a:pPr>
            <a:r>
              <a:rPr lang="en-US" sz="1250" dirty="0">
                <a:solidFill>
                  <a:srgbClr val="CADCFC"/>
                </a:solidFill>
                <a:latin typeface="Calibri" pitchFamily="34" charset="0"/>
                <a:ea typeface="Calibri" pitchFamily="34" charset="-122"/>
                <a:cs typeface="Calibri" pitchFamily="34" charset="-120"/>
              </a:rPr>
              <a:t>Separate inventory, pricing and data per channel</a:t>
            </a:r>
            <a:endParaRPr lang="en-US" sz="1250" dirty="0"/>
          </a:p>
          <a:p>
            <a:pPr marL="177800" indent="-177800">
              <a:lnSpc>
                <a:spcPct val="110000"/>
              </a:lnSpc>
              <a:spcAft>
                <a:spcPts val="1000"/>
              </a:spcAft>
              <a:buSzPct val="100000"/>
              <a:buChar char="•"/>
            </a:pPr>
            <a:r>
              <a:rPr lang="en-US" sz="1250" dirty="0">
                <a:solidFill>
                  <a:srgbClr val="CADCFC"/>
                </a:solidFill>
                <a:latin typeface="Calibri" pitchFamily="34" charset="0"/>
                <a:ea typeface="Calibri" pitchFamily="34" charset="-122"/>
                <a:cs typeface="Calibri" pitchFamily="34" charset="-120"/>
              </a:rPr>
              <a:t>Customer experience differs channel to channel</a:t>
            </a:r>
            <a:endParaRPr lang="en-US" sz="1250" dirty="0"/>
          </a:p>
          <a:p>
            <a:pPr marL="177800" indent="-177800">
              <a:lnSpc>
                <a:spcPct val="110000"/>
              </a:lnSpc>
              <a:spcAft>
                <a:spcPts val="1000"/>
              </a:spcAft>
              <a:buSzPct val="100000"/>
              <a:buChar char="•"/>
            </a:pPr>
            <a:r>
              <a:rPr lang="en-US" sz="1250" dirty="0">
                <a:solidFill>
                  <a:srgbClr val="CADCFC"/>
                </a:solidFill>
                <a:latin typeface="Calibri" pitchFamily="34" charset="0"/>
                <a:ea typeface="Calibri" pitchFamily="34" charset="-122"/>
                <a:cs typeface="Calibri" pitchFamily="34" charset="-120"/>
              </a:rPr>
              <a:t>Simpler to run, but more prone to channel conflict</a:t>
            </a:r>
            <a:endParaRPr lang="en-US" sz="1250" dirty="0"/>
          </a:p>
        </p:txBody>
      </p:sp>
      <p:sp>
        <p:nvSpPr>
          <p:cNvPr id="8" name="Shape 6"/>
          <p:cNvSpPr/>
          <p:nvPr/>
        </p:nvSpPr>
        <p:spPr>
          <a:xfrm>
            <a:off x="6255868" y="1737360"/>
            <a:ext cx="5295748" cy="3931920"/>
          </a:xfrm>
          <a:prstGeom prst="roundRect">
            <a:avLst>
              <a:gd name="adj" fmla="val 1860"/>
            </a:avLst>
          </a:prstGeom>
          <a:solidFill>
            <a:srgbClr val="FFFFFF"/>
          </a:solidFill>
          <a:ln w="12700">
            <a:solidFill>
              <a:srgbClr val="D7E0F5"/>
            </a:solidFill>
            <a:prstDash val="solid"/>
          </a:ln>
        </p:spPr>
        <p:txBody>
          <a:bodyPr/>
          <a:lstStyle/>
          <a:p>
            <a:endParaRPr lang="en-US"/>
          </a:p>
        </p:txBody>
      </p:sp>
      <p:sp>
        <p:nvSpPr>
          <p:cNvPr id="9" name="Text 7"/>
          <p:cNvSpPr/>
          <p:nvPr/>
        </p:nvSpPr>
        <p:spPr>
          <a:xfrm>
            <a:off x="6530188" y="1965960"/>
            <a:ext cx="4747108" cy="457200"/>
          </a:xfrm>
          <a:prstGeom prst="rect">
            <a:avLst/>
          </a:prstGeom>
          <a:noFill/>
          <a:ln/>
        </p:spPr>
        <p:txBody>
          <a:bodyPr wrap="square" lIns="0" tIns="0" rIns="0" bIns="0" rtlCol="0" anchor="ctr"/>
          <a:lstStyle/>
          <a:p>
            <a:pPr marL="0" indent="0">
              <a:buNone/>
            </a:pPr>
            <a:r>
              <a:rPr lang="en-US" sz="1800" b="1" dirty="0">
                <a:solidFill>
                  <a:srgbClr val="1E2761"/>
                </a:solidFill>
                <a:latin typeface="Cambria" pitchFamily="34" charset="0"/>
                <a:ea typeface="Cambria" pitchFamily="34" charset="-122"/>
                <a:cs typeface="Cambria" pitchFamily="34" charset="-120"/>
              </a:rPr>
              <a:t>Omni-Channel</a:t>
            </a:r>
            <a:endParaRPr lang="en-US" sz="1800" dirty="0"/>
          </a:p>
        </p:txBody>
      </p:sp>
      <p:sp>
        <p:nvSpPr>
          <p:cNvPr id="10" name="Text 8"/>
          <p:cNvSpPr/>
          <p:nvPr/>
        </p:nvSpPr>
        <p:spPr>
          <a:xfrm>
            <a:off x="6530188" y="2560320"/>
            <a:ext cx="4747108" cy="2926080"/>
          </a:xfrm>
          <a:prstGeom prst="rect">
            <a:avLst/>
          </a:prstGeom>
          <a:noFill/>
          <a:ln/>
        </p:spPr>
        <p:txBody>
          <a:bodyPr wrap="square" lIns="0" tIns="0" rIns="0" bIns="0" rtlCol="0" anchor="t"/>
          <a:lstStyle/>
          <a:p>
            <a:pPr marL="177800" indent="-177800">
              <a:lnSpc>
                <a:spcPct val="110000"/>
              </a:lnSpc>
              <a:spcAft>
                <a:spcPts val="1000"/>
              </a:spcAft>
              <a:buSzPct val="100000"/>
              <a:buChar char="•"/>
            </a:pPr>
            <a:r>
              <a:rPr lang="en-US" sz="1250" dirty="0">
                <a:solidFill>
                  <a:srgbClr val="5A6B8C"/>
                </a:solidFill>
                <a:latin typeface="Calibri" pitchFamily="34" charset="0"/>
                <a:ea typeface="Calibri" pitchFamily="34" charset="-122"/>
                <a:cs typeface="Calibri" pitchFamily="34" charset="-120"/>
              </a:rPr>
              <a:t>Channels are integrated into one seamless system</a:t>
            </a:r>
            <a:endParaRPr lang="en-US" sz="1250" dirty="0"/>
          </a:p>
          <a:p>
            <a:pPr marL="177800" indent="-177800">
              <a:lnSpc>
                <a:spcPct val="110000"/>
              </a:lnSpc>
              <a:spcAft>
                <a:spcPts val="1000"/>
              </a:spcAft>
              <a:buSzPct val="100000"/>
              <a:buChar char="•"/>
            </a:pPr>
            <a:r>
              <a:rPr lang="en-US" sz="1250" dirty="0">
                <a:solidFill>
                  <a:srgbClr val="5A6B8C"/>
                </a:solidFill>
                <a:latin typeface="Calibri" pitchFamily="34" charset="0"/>
                <a:ea typeface="Calibri" pitchFamily="34" charset="-122"/>
                <a:cs typeface="Calibri" pitchFamily="34" charset="-120"/>
              </a:rPr>
              <a:t>Shared inventory visibility and consistent pricing</a:t>
            </a:r>
            <a:endParaRPr lang="en-US" sz="1250" dirty="0"/>
          </a:p>
          <a:p>
            <a:pPr marL="177800" indent="-177800">
              <a:lnSpc>
                <a:spcPct val="110000"/>
              </a:lnSpc>
              <a:spcAft>
                <a:spcPts val="1000"/>
              </a:spcAft>
              <a:buSzPct val="100000"/>
              <a:buChar char="•"/>
            </a:pPr>
            <a:r>
              <a:rPr lang="en-US" sz="1250" dirty="0">
                <a:solidFill>
                  <a:srgbClr val="5A6B8C"/>
                </a:solidFill>
                <a:latin typeface="Calibri" pitchFamily="34" charset="0"/>
                <a:ea typeface="Calibri" pitchFamily="34" charset="-122"/>
                <a:cs typeface="Calibri" pitchFamily="34" charset="-120"/>
              </a:rPr>
              <a:t>Customer can start in one channel, finish in another</a:t>
            </a:r>
            <a:endParaRPr lang="en-US" sz="1250" dirty="0"/>
          </a:p>
          <a:p>
            <a:pPr marL="177800" indent="-177800">
              <a:lnSpc>
                <a:spcPct val="110000"/>
              </a:lnSpc>
              <a:spcAft>
                <a:spcPts val="1000"/>
              </a:spcAft>
              <a:buSzPct val="100000"/>
              <a:buChar char="•"/>
            </a:pPr>
            <a:r>
              <a:rPr lang="en-US" sz="1250" dirty="0">
                <a:solidFill>
                  <a:srgbClr val="5A6B8C"/>
                </a:solidFill>
                <a:latin typeface="Calibri" pitchFamily="34" charset="0"/>
                <a:ea typeface="Calibri" pitchFamily="34" charset="-122"/>
                <a:cs typeface="Calibri" pitchFamily="34" charset="-120"/>
              </a:rPr>
              <a:t>Higher complexity, but a unified customer experience</a:t>
            </a:r>
            <a:endParaRPr lang="en-US" sz="1250" dirty="0"/>
          </a:p>
        </p:txBody>
      </p:sp>
      <p:sp>
        <p:nvSpPr>
          <p:cNvPr id="11" name="Text 9"/>
          <p:cNvSpPr/>
          <p:nvPr/>
        </p:nvSpPr>
        <p:spPr>
          <a:xfrm>
            <a:off x="11551615" y="6446520"/>
            <a:ext cx="457200" cy="274320"/>
          </a:xfrm>
          <a:prstGeom prst="rect">
            <a:avLst/>
          </a:prstGeom>
          <a:noFill/>
          <a:ln/>
        </p:spPr>
        <p:txBody>
          <a:bodyPr wrap="square" lIns="0" tIns="0" rIns="0" bIns="0" rtlCol="0" anchor="ctr"/>
          <a:lstStyle/>
          <a:p>
            <a:pPr marL="0" indent="0" algn="r">
              <a:buNone/>
            </a:pPr>
            <a:r>
              <a:rPr lang="en-US" sz="1000" dirty="0">
                <a:solidFill>
                  <a:srgbClr val="5A6B8C"/>
                </a:solidFill>
                <a:latin typeface="Calibri" pitchFamily="34" charset="0"/>
                <a:ea typeface="Calibri" pitchFamily="34" charset="-122"/>
                <a:cs typeface="Calibri" pitchFamily="34" charset="-120"/>
              </a:rPr>
              <a:t>24</a:t>
            </a:r>
            <a:endParaRPr lang="en-US" sz="1000" dirty="0"/>
          </a:p>
        </p:txBody>
      </p:sp>
      <p:sp>
        <p:nvSpPr>
          <p:cNvPr id="13" name="Oval 12">
            <a:extLst>
              <a:ext uri="{FF2B5EF4-FFF2-40B4-BE49-F238E27FC236}">
                <a16:creationId xmlns:a16="http://schemas.microsoft.com/office/drawing/2014/main" id="{DBB71570-7CBE-A5E3-F61F-E466EF26ECA3}"/>
              </a:ext>
            </a:extLst>
          </p:cNvPr>
          <p:cNvSpPr/>
          <p:nvPr/>
        </p:nvSpPr>
        <p:spPr>
          <a:xfrm>
            <a:off x="9049789" y="75042"/>
            <a:ext cx="3142211" cy="1184412"/>
          </a:xfrm>
          <a:prstGeom prst="ellipse">
            <a:avLst/>
          </a:prstGeom>
          <a:solidFill>
            <a:schemeClr val="accent2">
              <a:lumMod val="60000"/>
              <a:lumOff val="4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48DDC62E-1D5A-5314-9BA9-0A66CBD96C9B}"/>
              </a:ext>
            </a:extLst>
          </p:cNvPr>
          <p:cNvSpPr txBox="1"/>
          <p:nvPr/>
        </p:nvSpPr>
        <p:spPr>
          <a:xfrm>
            <a:off x="9390610" y="405638"/>
            <a:ext cx="2460567" cy="523220"/>
          </a:xfrm>
          <a:prstGeom prst="rect">
            <a:avLst/>
          </a:prstGeom>
          <a:noFill/>
        </p:spPr>
        <p:txBody>
          <a:bodyPr wrap="square" rtlCol="0">
            <a:spAutoFit/>
          </a:bodyPr>
          <a:lstStyle/>
          <a:p>
            <a:r>
              <a:rPr lang="en-US" sz="2800" b="1" dirty="0"/>
              <a:t>Important slide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EEF3FC"/>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C9962C"/>
                </a:solidFill>
                <a:latin typeface="Calibri" pitchFamily="34" charset="0"/>
                <a:ea typeface="Calibri" pitchFamily="34" charset="-122"/>
                <a:cs typeface="Calibri" pitchFamily="34" charset="-120"/>
              </a:rPr>
              <a:t>MULTI-CHANNEL</a:t>
            </a:r>
            <a:endParaRPr lang="en-US" sz="1200" dirty="0"/>
          </a:p>
        </p:txBody>
      </p:sp>
      <p:sp>
        <p:nvSpPr>
          <p:cNvPr id="3" name="Text 1"/>
          <p:cNvSpPr/>
          <p:nvPr/>
        </p:nvSpPr>
        <p:spPr>
          <a:xfrm>
            <a:off x="548640" y="621792"/>
            <a:ext cx="10515600" cy="73152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Designing a Multi-Channel Distribution Strategy</a:t>
            </a:r>
            <a:endParaRPr lang="en-US" sz="2800" dirty="0"/>
          </a:p>
        </p:txBody>
      </p:sp>
      <p:sp>
        <p:nvSpPr>
          <p:cNvPr id="4" name="Shape 2"/>
          <p:cNvSpPr/>
          <p:nvPr/>
        </p:nvSpPr>
        <p:spPr>
          <a:xfrm>
            <a:off x="566928" y="1298448"/>
            <a:ext cx="914400" cy="0"/>
          </a:xfrm>
          <a:prstGeom prst="line">
            <a:avLst/>
          </a:prstGeom>
          <a:noFill/>
          <a:ln w="31750">
            <a:solidFill>
              <a:srgbClr val="C9962C"/>
            </a:solidFill>
            <a:prstDash val="solid"/>
          </a:ln>
        </p:spPr>
        <p:txBody>
          <a:bodyPr/>
          <a:lstStyle/>
          <a:p>
            <a:endParaRPr lang="en-US"/>
          </a:p>
        </p:txBody>
      </p:sp>
      <p:sp>
        <p:nvSpPr>
          <p:cNvPr id="5" name="Shape 3"/>
          <p:cNvSpPr/>
          <p:nvPr/>
        </p:nvSpPr>
        <p:spPr>
          <a:xfrm>
            <a:off x="548640" y="2103120"/>
            <a:ext cx="2036003" cy="2651760"/>
          </a:xfrm>
          <a:prstGeom prst="roundRect">
            <a:avLst>
              <a:gd name="adj" fmla="val 3144"/>
            </a:avLst>
          </a:prstGeom>
          <a:solidFill>
            <a:srgbClr val="1E2761"/>
          </a:solidFill>
          <a:ln/>
        </p:spPr>
        <p:txBody>
          <a:bodyPr/>
          <a:lstStyle/>
          <a:p>
            <a:endParaRPr lang="en-US"/>
          </a:p>
        </p:txBody>
      </p:sp>
      <p:sp>
        <p:nvSpPr>
          <p:cNvPr id="6" name="Text 4"/>
          <p:cNvSpPr/>
          <p:nvPr/>
        </p:nvSpPr>
        <p:spPr>
          <a:xfrm>
            <a:off x="685800" y="2212848"/>
            <a:ext cx="1761683" cy="457200"/>
          </a:xfrm>
          <a:prstGeom prst="rect">
            <a:avLst/>
          </a:prstGeom>
          <a:noFill/>
          <a:ln/>
        </p:spPr>
        <p:txBody>
          <a:bodyPr wrap="square" lIns="0" tIns="0" rIns="0" bIns="0" rtlCol="0" anchor="ctr"/>
          <a:lstStyle/>
          <a:p>
            <a:pPr marL="0" indent="0">
              <a:buNone/>
            </a:pPr>
            <a:r>
              <a:rPr lang="en-US" sz="2200" b="1" dirty="0">
                <a:solidFill>
                  <a:srgbClr val="C9962C"/>
                </a:solidFill>
                <a:latin typeface="Cambria" pitchFamily="34" charset="0"/>
                <a:ea typeface="Cambria" pitchFamily="34" charset="-122"/>
                <a:cs typeface="Cambria" pitchFamily="34" charset="-120"/>
              </a:rPr>
              <a:t>1</a:t>
            </a:r>
            <a:endParaRPr lang="en-US" sz="2200" dirty="0"/>
          </a:p>
        </p:txBody>
      </p:sp>
      <p:sp>
        <p:nvSpPr>
          <p:cNvPr id="7" name="Text 5"/>
          <p:cNvSpPr/>
          <p:nvPr/>
        </p:nvSpPr>
        <p:spPr>
          <a:xfrm>
            <a:off x="713232" y="2724912"/>
            <a:ext cx="1706819" cy="685800"/>
          </a:xfrm>
          <a:prstGeom prst="rect">
            <a:avLst/>
          </a:prstGeom>
          <a:noFill/>
          <a:ln/>
        </p:spPr>
        <p:txBody>
          <a:bodyPr wrap="square" lIns="0" tIns="0" rIns="0" bIns="0" rtlCol="0" anchor="t"/>
          <a:lstStyle/>
          <a:p>
            <a:pPr marL="0" indent="0">
              <a:buNone/>
            </a:pPr>
            <a:r>
              <a:rPr lang="en-US" sz="1300" b="1" dirty="0">
                <a:solidFill>
                  <a:srgbClr val="FFFFFF"/>
                </a:solidFill>
                <a:latin typeface="Cambria" pitchFamily="34" charset="0"/>
                <a:ea typeface="Cambria" pitchFamily="34" charset="-122"/>
                <a:cs typeface="Cambria" pitchFamily="34" charset="-120"/>
              </a:rPr>
              <a:t>Segment Customers</a:t>
            </a:r>
            <a:endParaRPr lang="en-US" sz="1300" dirty="0"/>
          </a:p>
        </p:txBody>
      </p:sp>
      <p:sp>
        <p:nvSpPr>
          <p:cNvPr id="8" name="Text 6"/>
          <p:cNvSpPr/>
          <p:nvPr/>
        </p:nvSpPr>
        <p:spPr>
          <a:xfrm>
            <a:off x="713232" y="3474720"/>
            <a:ext cx="1706819" cy="1188720"/>
          </a:xfrm>
          <a:prstGeom prst="rect">
            <a:avLst/>
          </a:prstGeom>
          <a:noFill/>
          <a:ln/>
        </p:spPr>
        <p:txBody>
          <a:bodyPr wrap="square" lIns="0" tIns="0" rIns="0" bIns="0" rtlCol="0" anchor="t"/>
          <a:lstStyle/>
          <a:p>
            <a:pPr marL="0" indent="0">
              <a:lnSpc>
                <a:spcPct val="105000"/>
              </a:lnSpc>
              <a:buNone/>
            </a:pPr>
            <a:r>
              <a:rPr lang="en-US" sz="1050" dirty="0">
                <a:solidFill>
                  <a:srgbClr val="CADCFC"/>
                </a:solidFill>
                <a:latin typeface="Calibri" pitchFamily="34" charset="0"/>
                <a:ea typeface="Calibri" pitchFamily="34" charset="-122"/>
                <a:cs typeface="Calibri" pitchFamily="34" charset="-120"/>
              </a:rPr>
              <a:t>Identify who buys where, and why</a:t>
            </a:r>
            <a:endParaRPr lang="en-US" sz="1050" dirty="0"/>
          </a:p>
        </p:txBody>
      </p:sp>
      <p:sp>
        <p:nvSpPr>
          <p:cNvPr id="9" name="Text 7"/>
          <p:cNvSpPr/>
          <p:nvPr/>
        </p:nvSpPr>
        <p:spPr>
          <a:xfrm>
            <a:off x="2584643" y="3200400"/>
            <a:ext cx="228600" cy="457200"/>
          </a:xfrm>
          <a:prstGeom prst="rect">
            <a:avLst/>
          </a:prstGeom>
          <a:noFill/>
          <a:ln/>
        </p:spPr>
        <p:txBody>
          <a:bodyPr wrap="square" lIns="0" tIns="0" rIns="0" bIns="0" rtlCol="0" anchor="ctr"/>
          <a:lstStyle/>
          <a:p>
            <a:pPr marL="0" indent="0" algn="ctr">
              <a:buNone/>
            </a:pPr>
            <a:r>
              <a:rPr lang="en-US" sz="2000" b="1" dirty="0">
                <a:solidFill>
                  <a:srgbClr val="C9962C"/>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2813243" y="2103120"/>
            <a:ext cx="2036003" cy="2651760"/>
          </a:xfrm>
          <a:prstGeom prst="roundRect">
            <a:avLst>
              <a:gd name="adj" fmla="val 3144"/>
            </a:avLst>
          </a:prstGeom>
          <a:solidFill>
            <a:srgbClr val="141A3D"/>
          </a:solidFill>
          <a:ln/>
        </p:spPr>
        <p:txBody>
          <a:bodyPr/>
          <a:lstStyle/>
          <a:p>
            <a:endParaRPr lang="en-US"/>
          </a:p>
        </p:txBody>
      </p:sp>
      <p:sp>
        <p:nvSpPr>
          <p:cNvPr id="11" name="Text 9"/>
          <p:cNvSpPr/>
          <p:nvPr/>
        </p:nvSpPr>
        <p:spPr>
          <a:xfrm>
            <a:off x="2950403" y="2212848"/>
            <a:ext cx="1761683" cy="457200"/>
          </a:xfrm>
          <a:prstGeom prst="rect">
            <a:avLst/>
          </a:prstGeom>
          <a:noFill/>
          <a:ln/>
        </p:spPr>
        <p:txBody>
          <a:bodyPr wrap="square" lIns="0" tIns="0" rIns="0" bIns="0" rtlCol="0" anchor="ctr"/>
          <a:lstStyle/>
          <a:p>
            <a:pPr marL="0" indent="0">
              <a:buNone/>
            </a:pPr>
            <a:r>
              <a:rPr lang="en-US" sz="2200" b="1" dirty="0">
                <a:solidFill>
                  <a:srgbClr val="C9962C"/>
                </a:solidFill>
                <a:latin typeface="Cambria" pitchFamily="34" charset="0"/>
                <a:ea typeface="Cambria" pitchFamily="34" charset="-122"/>
                <a:cs typeface="Cambria" pitchFamily="34" charset="-120"/>
              </a:rPr>
              <a:t>2</a:t>
            </a:r>
            <a:endParaRPr lang="en-US" sz="2200" dirty="0"/>
          </a:p>
        </p:txBody>
      </p:sp>
      <p:sp>
        <p:nvSpPr>
          <p:cNvPr id="12" name="Text 10"/>
          <p:cNvSpPr/>
          <p:nvPr/>
        </p:nvSpPr>
        <p:spPr>
          <a:xfrm>
            <a:off x="2977835" y="2724912"/>
            <a:ext cx="1706819" cy="685800"/>
          </a:xfrm>
          <a:prstGeom prst="rect">
            <a:avLst/>
          </a:prstGeom>
          <a:noFill/>
          <a:ln/>
        </p:spPr>
        <p:txBody>
          <a:bodyPr wrap="square" lIns="0" tIns="0" rIns="0" bIns="0" rtlCol="0" anchor="t"/>
          <a:lstStyle/>
          <a:p>
            <a:pPr marL="0" indent="0">
              <a:buNone/>
            </a:pPr>
            <a:r>
              <a:rPr lang="en-US" sz="1300" b="1" dirty="0">
                <a:solidFill>
                  <a:srgbClr val="FFFFFF"/>
                </a:solidFill>
                <a:latin typeface="Cambria" pitchFamily="34" charset="0"/>
                <a:ea typeface="Cambria" pitchFamily="34" charset="-122"/>
                <a:cs typeface="Cambria" pitchFamily="34" charset="-120"/>
              </a:rPr>
              <a:t>Map Channel Roles</a:t>
            </a:r>
            <a:endParaRPr lang="en-US" sz="1300" dirty="0"/>
          </a:p>
        </p:txBody>
      </p:sp>
      <p:sp>
        <p:nvSpPr>
          <p:cNvPr id="13" name="Text 11"/>
          <p:cNvSpPr/>
          <p:nvPr/>
        </p:nvSpPr>
        <p:spPr>
          <a:xfrm>
            <a:off x="2977835" y="3474720"/>
            <a:ext cx="1706819" cy="1188720"/>
          </a:xfrm>
          <a:prstGeom prst="rect">
            <a:avLst/>
          </a:prstGeom>
          <a:noFill/>
          <a:ln/>
        </p:spPr>
        <p:txBody>
          <a:bodyPr wrap="square" lIns="0" tIns="0" rIns="0" bIns="0" rtlCol="0" anchor="t"/>
          <a:lstStyle/>
          <a:p>
            <a:pPr marL="0" indent="0">
              <a:lnSpc>
                <a:spcPct val="105000"/>
              </a:lnSpc>
              <a:buNone/>
            </a:pPr>
            <a:r>
              <a:rPr lang="en-US" sz="1050" dirty="0">
                <a:solidFill>
                  <a:srgbClr val="CADCFC"/>
                </a:solidFill>
                <a:latin typeface="Calibri" pitchFamily="34" charset="0"/>
                <a:ea typeface="Calibri" pitchFamily="34" charset="-122"/>
                <a:cs typeface="Calibri" pitchFamily="34" charset="-120"/>
              </a:rPr>
              <a:t>Assign a clear purpose to each channel</a:t>
            </a:r>
            <a:endParaRPr lang="en-US" sz="1050" dirty="0"/>
          </a:p>
        </p:txBody>
      </p:sp>
      <p:sp>
        <p:nvSpPr>
          <p:cNvPr id="14" name="Text 12"/>
          <p:cNvSpPr/>
          <p:nvPr/>
        </p:nvSpPr>
        <p:spPr>
          <a:xfrm>
            <a:off x="4849246" y="3200400"/>
            <a:ext cx="228600" cy="457200"/>
          </a:xfrm>
          <a:prstGeom prst="rect">
            <a:avLst/>
          </a:prstGeom>
          <a:noFill/>
          <a:ln/>
        </p:spPr>
        <p:txBody>
          <a:bodyPr wrap="square" lIns="0" tIns="0" rIns="0" bIns="0" rtlCol="0" anchor="ctr"/>
          <a:lstStyle/>
          <a:p>
            <a:pPr marL="0" indent="0" algn="ctr">
              <a:buNone/>
            </a:pPr>
            <a:r>
              <a:rPr lang="en-US" sz="2000" b="1" dirty="0">
                <a:solidFill>
                  <a:srgbClr val="C9962C"/>
                </a:solidFill>
                <a:latin typeface="Calibri" pitchFamily="34" charset="0"/>
                <a:ea typeface="Calibri" pitchFamily="34" charset="-122"/>
                <a:cs typeface="Calibri" pitchFamily="34" charset="-120"/>
              </a:rPr>
              <a:t>›</a:t>
            </a:r>
            <a:endParaRPr lang="en-US" sz="2000" dirty="0"/>
          </a:p>
        </p:txBody>
      </p:sp>
      <p:sp>
        <p:nvSpPr>
          <p:cNvPr id="15" name="Shape 13"/>
          <p:cNvSpPr/>
          <p:nvPr/>
        </p:nvSpPr>
        <p:spPr>
          <a:xfrm>
            <a:off x="5077846" y="2103120"/>
            <a:ext cx="2036003" cy="2651760"/>
          </a:xfrm>
          <a:prstGeom prst="roundRect">
            <a:avLst>
              <a:gd name="adj" fmla="val 3144"/>
            </a:avLst>
          </a:prstGeom>
          <a:solidFill>
            <a:srgbClr val="1E2761"/>
          </a:solidFill>
          <a:ln/>
        </p:spPr>
        <p:txBody>
          <a:bodyPr/>
          <a:lstStyle/>
          <a:p>
            <a:endParaRPr lang="en-US"/>
          </a:p>
        </p:txBody>
      </p:sp>
      <p:sp>
        <p:nvSpPr>
          <p:cNvPr id="16" name="Text 14"/>
          <p:cNvSpPr/>
          <p:nvPr/>
        </p:nvSpPr>
        <p:spPr>
          <a:xfrm>
            <a:off x="5215006" y="2212848"/>
            <a:ext cx="1761683" cy="457200"/>
          </a:xfrm>
          <a:prstGeom prst="rect">
            <a:avLst/>
          </a:prstGeom>
          <a:noFill/>
          <a:ln/>
        </p:spPr>
        <p:txBody>
          <a:bodyPr wrap="square" lIns="0" tIns="0" rIns="0" bIns="0" rtlCol="0" anchor="ctr"/>
          <a:lstStyle/>
          <a:p>
            <a:pPr marL="0" indent="0">
              <a:buNone/>
            </a:pPr>
            <a:r>
              <a:rPr lang="en-US" sz="2200" b="1" dirty="0">
                <a:solidFill>
                  <a:srgbClr val="C9962C"/>
                </a:solidFill>
                <a:latin typeface="Cambria" pitchFamily="34" charset="0"/>
                <a:ea typeface="Cambria" pitchFamily="34" charset="-122"/>
                <a:cs typeface="Cambria" pitchFamily="34" charset="-120"/>
              </a:rPr>
              <a:t>3</a:t>
            </a:r>
            <a:endParaRPr lang="en-US" sz="2200" dirty="0"/>
          </a:p>
        </p:txBody>
      </p:sp>
      <p:sp>
        <p:nvSpPr>
          <p:cNvPr id="17" name="Text 15"/>
          <p:cNvSpPr/>
          <p:nvPr/>
        </p:nvSpPr>
        <p:spPr>
          <a:xfrm>
            <a:off x="5242438" y="2724912"/>
            <a:ext cx="1706819" cy="685800"/>
          </a:xfrm>
          <a:prstGeom prst="rect">
            <a:avLst/>
          </a:prstGeom>
          <a:noFill/>
          <a:ln/>
        </p:spPr>
        <p:txBody>
          <a:bodyPr wrap="square" lIns="0" tIns="0" rIns="0" bIns="0" rtlCol="0" anchor="t"/>
          <a:lstStyle/>
          <a:p>
            <a:pPr marL="0" indent="0">
              <a:buNone/>
            </a:pPr>
            <a:r>
              <a:rPr lang="en-US" sz="1300" b="1" dirty="0">
                <a:solidFill>
                  <a:srgbClr val="FFFFFF"/>
                </a:solidFill>
                <a:latin typeface="Cambria" pitchFamily="34" charset="0"/>
                <a:ea typeface="Cambria" pitchFamily="34" charset="-122"/>
                <a:cs typeface="Cambria" pitchFamily="34" charset="-120"/>
              </a:rPr>
              <a:t>Set Channel Rules</a:t>
            </a:r>
            <a:endParaRPr lang="en-US" sz="1300" dirty="0"/>
          </a:p>
        </p:txBody>
      </p:sp>
      <p:sp>
        <p:nvSpPr>
          <p:cNvPr id="18" name="Text 16"/>
          <p:cNvSpPr/>
          <p:nvPr/>
        </p:nvSpPr>
        <p:spPr>
          <a:xfrm>
            <a:off x="5242438" y="3474720"/>
            <a:ext cx="1706819" cy="1188720"/>
          </a:xfrm>
          <a:prstGeom prst="rect">
            <a:avLst/>
          </a:prstGeom>
          <a:noFill/>
          <a:ln/>
        </p:spPr>
        <p:txBody>
          <a:bodyPr wrap="square" lIns="0" tIns="0" rIns="0" bIns="0" rtlCol="0" anchor="t"/>
          <a:lstStyle/>
          <a:p>
            <a:pPr marL="0" indent="0">
              <a:lnSpc>
                <a:spcPct val="105000"/>
              </a:lnSpc>
              <a:buNone/>
            </a:pPr>
            <a:r>
              <a:rPr lang="en-US" sz="1050" dirty="0">
                <a:solidFill>
                  <a:srgbClr val="CADCFC"/>
                </a:solidFill>
                <a:latin typeface="Calibri" pitchFamily="34" charset="0"/>
                <a:ea typeface="Calibri" pitchFamily="34" charset="-122"/>
                <a:cs typeface="Calibri" pitchFamily="34" charset="-120"/>
              </a:rPr>
              <a:t>Define pricing, territory and conflict rules</a:t>
            </a:r>
            <a:endParaRPr lang="en-US" sz="1050" dirty="0"/>
          </a:p>
        </p:txBody>
      </p:sp>
      <p:sp>
        <p:nvSpPr>
          <p:cNvPr id="19" name="Text 17"/>
          <p:cNvSpPr/>
          <p:nvPr/>
        </p:nvSpPr>
        <p:spPr>
          <a:xfrm>
            <a:off x="7113849" y="3200400"/>
            <a:ext cx="228600" cy="457200"/>
          </a:xfrm>
          <a:prstGeom prst="rect">
            <a:avLst/>
          </a:prstGeom>
          <a:noFill/>
          <a:ln/>
        </p:spPr>
        <p:txBody>
          <a:bodyPr wrap="square" lIns="0" tIns="0" rIns="0" bIns="0" rtlCol="0" anchor="ctr"/>
          <a:lstStyle/>
          <a:p>
            <a:pPr marL="0" indent="0" algn="ctr">
              <a:buNone/>
            </a:pPr>
            <a:r>
              <a:rPr lang="en-US" sz="2000" b="1" dirty="0">
                <a:solidFill>
                  <a:srgbClr val="C9962C"/>
                </a:solidFill>
                <a:latin typeface="Calibri" pitchFamily="34" charset="0"/>
                <a:ea typeface="Calibri" pitchFamily="34" charset="-122"/>
                <a:cs typeface="Calibri" pitchFamily="34" charset="-120"/>
              </a:rPr>
              <a:t>›</a:t>
            </a:r>
            <a:endParaRPr lang="en-US" sz="2000" dirty="0"/>
          </a:p>
        </p:txBody>
      </p:sp>
      <p:sp>
        <p:nvSpPr>
          <p:cNvPr id="20" name="Shape 18"/>
          <p:cNvSpPr/>
          <p:nvPr/>
        </p:nvSpPr>
        <p:spPr>
          <a:xfrm>
            <a:off x="7342449" y="2103120"/>
            <a:ext cx="2036003" cy="2651760"/>
          </a:xfrm>
          <a:prstGeom prst="roundRect">
            <a:avLst>
              <a:gd name="adj" fmla="val 3144"/>
            </a:avLst>
          </a:prstGeom>
          <a:solidFill>
            <a:srgbClr val="141A3D"/>
          </a:solidFill>
          <a:ln/>
        </p:spPr>
        <p:txBody>
          <a:bodyPr/>
          <a:lstStyle/>
          <a:p>
            <a:endParaRPr lang="en-US"/>
          </a:p>
        </p:txBody>
      </p:sp>
      <p:sp>
        <p:nvSpPr>
          <p:cNvPr id="21" name="Text 19"/>
          <p:cNvSpPr/>
          <p:nvPr/>
        </p:nvSpPr>
        <p:spPr>
          <a:xfrm>
            <a:off x="7479609" y="2212848"/>
            <a:ext cx="1761683" cy="457200"/>
          </a:xfrm>
          <a:prstGeom prst="rect">
            <a:avLst/>
          </a:prstGeom>
          <a:noFill/>
          <a:ln/>
        </p:spPr>
        <p:txBody>
          <a:bodyPr wrap="square" lIns="0" tIns="0" rIns="0" bIns="0" rtlCol="0" anchor="ctr"/>
          <a:lstStyle/>
          <a:p>
            <a:pPr marL="0" indent="0">
              <a:buNone/>
            </a:pPr>
            <a:r>
              <a:rPr lang="en-US" sz="2200" b="1" dirty="0">
                <a:solidFill>
                  <a:srgbClr val="C9962C"/>
                </a:solidFill>
                <a:latin typeface="Cambria" pitchFamily="34" charset="0"/>
                <a:ea typeface="Cambria" pitchFamily="34" charset="-122"/>
                <a:cs typeface="Cambria" pitchFamily="34" charset="-120"/>
              </a:rPr>
              <a:t>4</a:t>
            </a:r>
            <a:endParaRPr lang="en-US" sz="2200" dirty="0"/>
          </a:p>
        </p:txBody>
      </p:sp>
      <p:sp>
        <p:nvSpPr>
          <p:cNvPr id="22" name="Text 20"/>
          <p:cNvSpPr/>
          <p:nvPr/>
        </p:nvSpPr>
        <p:spPr>
          <a:xfrm>
            <a:off x="7507041" y="2724912"/>
            <a:ext cx="1706819" cy="685800"/>
          </a:xfrm>
          <a:prstGeom prst="rect">
            <a:avLst/>
          </a:prstGeom>
          <a:noFill/>
          <a:ln/>
        </p:spPr>
        <p:txBody>
          <a:bodyPr wrap="square" lIns="0" tIns="0" rIns="0" bIns="0" rtlCol="0" anchor="t"/>
          <a:lstStyle/>
          <a:p>
            <a:pPr marL="0" indent="0">
              <a:buNone/>
            </a:pPr>
            <a:r>
              <a:rPr lang="en-US" sz="1300" b="1" dirty="0">
                <a:solidFill>
                  <a:srgbClr val="FFFFFF"/>
                </a:solidFill>
                <a:latin typeface="Cambria" pitchFamily="34" charset="0"/>
                <a:ea typeface="Cambria" pitchFamily="34" charset="-122"/>
                <a:cs typeface="Cambria" pitchFamily="34" charset="-120"/>
              </a:rPr>
              <a:t>Integrate Systems</a:t>
            </a:r>
            <a:endParaRPr lang="en-US" sz="1300" dirty="0"/>
          </a:p>
        </p:txBody>
      </p:sp>
      <p:sp>
        <p:nvSpPr>
          <p:cNvPr id="23" name="Text 21"/>
          <p:cNvSpPr/>
          <p:nvPr/>
        </p:nvSpPr>
        <p:spPr>
          <a:xfrm>
            <a:off x="7507041" y="3474720"/>
            <a:ext cx="1706819" cy="1188720"/>
          </a:xfrm>
          <a:prstGeom prst="rect">
            <a:avLst/>
          </a:prstGeom>
          <a:noFill/>
          <a:ln/>
        </p:spPr>
        <p:txBody>
          <a:bodyPr wrap="square" lIns="0" tIns="0" rIns="0" bIns="0" rtlCol="0" anchor="t"/>
          <a:lstStyle/>
          <a:p>
            <a:pPr marL="0" indent="0">
              <a:lnSpc>
                <a:spcPct val="105000"/>
              </a:lnSpc>
              <a:buNone/>
            </a:pPr>
            <a:r>
              <a:rPr lang="en-US" sz="1050" dirty="0">
                <a:solidFill>
                  <a:srgbClr val="CADCFC"/>
                </a:solidFill>
                <a:latin typeface="Calibri" pitchFamily="34" charset="0"/>
                <a:ea typeface="Calibri" pitchFamily="34" charset="-122"/>
                <a:cs typeface="Calibri" pitchFamily="34" charset="-120"/>
              </a:rPr>
              <a:t>Connect inventory and order data across channels</a:t>
            </a:r>
            <a:endParaRPr lang="en-US" sz="1050" dirty="0"/>
          </a:p>
        </p:txBody>
      </p:sp>
      <p:sp>
        <p:nvSpPr>
          <p:cNvPr id="24" name="Text 22"/>
          <p:cNvSpPr/>
          <p:nvPr/>
        </p:nvSpPr>
        <p:spPr>
          <a:xfrm>
            <a:off x="9378452" y="3200400"/>
            <a:ext cx="228600" cy="457200"/>
          </a:xfrm>
          <a:prstGeom prst="rect">
            <a:avLst/>
          </a:prstGeom>
          <a:noFill/>
          <a:ln/>
        </p:spPr>
        <p:txBody>
          <a:bodyPr wrap="square" lIns="0" tIns="0" rIns="0" bIns="0" rtlCol="0" anchor="ctr"/>
          <a:lstStyle/>
          <a:p>
            <a:pPr marL="0" indent="0" algn="ctr">
              <a:buNone/>
            </a:pPr>
            <a:r>
              <a:rPr lang="en-US" sz="2000" b="1" dirty="0">
                <a:solidFill>
                  <a:srgbClr val="C9962C"/>
                </a:solidFill>
                <a:latin typeface="Calibri" pitchFamily="34" charset="0"/>
                <a:ea typeface="Calibri" pitchFamily="34" charset="-122"/>
                <a:cs typeface="Calibri" pitchFamily="34" charset="-120"/>
              </a:rPr>
              <a:t>›</a:t>
            </a:r>
            <a:endParaRPr lang="en-US" sz="2000" dirty="0"/>
          </a:p>
        </p:txBody>
      </p:sp>
      <p:sp>
        <p:nvSpPr>
          <p:cNvPr id="25" name="Shape 23"/>
          <p:cNvSpPr/>
          <p:nvPr/>
        </p:nvSpPr>
        <p:spPr>
          <a:xfrm>
            <a:off x="9607052" y="2103120"/>
            <a:ext cx="2036003" cy="2651760"/>
          </a:xfrm>
          <a:prstGeom prst="roundRect">
            <a:avLst>
              <a:gd name="adj" fmla="val 3144"/>
            </a:avLst>
          </a:prstGeom>
          <a:solidFill>
            <a:srgbClr val="1E2761"/>
          </a:solidFill>
          <a:ln/>
        </p:spPr>
        <p:txBody>
          <a:bodyPr/>
          <a:lstStyle/>
          <a:p>
            <a:endParaRPr lang="en-US"/>
          </a:p>
        </p:txBody>
      </p:sp>
      <p:sp>
        <p:nvSpPr>
          <p:cNvPr id="26" name="Text 24"/>
          <p:cNvSpPr/>
          <p:nvPr/>
        </p:nvSpPr>
        <p:spPr>
          <a:xfrm>
            <a:off x="9744212" y="2212848"/>
            <a:ext cx="1761683" cy="457200"/>
          </a:xfrm>
          <a:prstGeom prst="rect">
            <a:avLst/>
          </a:prstGeom>
          <a:noFill/>
          <a:ln/>
        </p:spPr>
        <p:txBody>
          <a:bodyPr wrap="square" lIns="0" tIns="0" rIns="0" bIns="0" rtlCol="0" anchor="ctr"/>
          <a:lstStyle/>
          <a:p>
            <a:pPr marL="0" indent="0">
              <a:buNone/>
            </a:pPr>
            <a:r>
              <a:rPr lang="en-US" sz="2200" b="1" dirty="0">
                <a:solidFill>
                  <a:srgbClr val="C9962C"/>
                </a:solidFill>
                <a:latin typeface="Cambria" pitchFamily="34" charset="0"/>
                <a:ea typeface="Cambria" pitchFamily="34" charset="-122"/>
                <a:cs typeface="Cambria" pitchFamily="34" charset="-120"/>
              </a:rPr>
              <a:t>5</a:t>
            </a:r>
            <a:endParaRPr lang="en-US" sz="2200" dirty="0"/>
          </a:p>
        </p:txBody>
      </p:sp>
      <p:sp>
        <p:nvSpPr>
          <p:cNvPr id="27" name="Text 25"/>
          <p:cNvSpPr/>
          <p:nvPr/>
        </p:nvSpPr>
        <p:spPr>
          <a:xfrm>
            <a:off x="9771644" y="2724912"/>
            <a:ext cx="1706819" cy="685800"/>
          </a:xfrm>
          <a:prstGeom prst="rect">
            <a:avLst/>
          </a:prstGeom>
          <a:noFill/>
          <a:ln/>
        </p:spPr>
        <p:txBody>
          <a:bodyPr wrap="square" lIns="0" tIns="0" rIns="0" bIns="0" rtlCol="0" anchor="t"/>
          <a:lstStyle/>
          <a:p>
            <a:pPr marL="0" indent="0">
              <a:buNone/>
            </a:pPr>
            <a:r>
              <a:rPr lang="en-US" sz="1300" b="1" dirty="0">
                <a:solidFill>
                  <a:srgbClr val="FFFFFF"/>
                </a:solidFill>
                <a:latin typeface="Cambria" pitchFamily="34" charset="0"/>
                <a:ea typeface="Cambria" pitchFamily="34" charset="-122"/>
                <a:cs typeface="Cambria" pitchFamily="34" charset="-120"/>
              </a:rPr>
              <a:t>Monitor &amp; Rebalance</a:t>
            </a:r>
            <a:endParaRPr lang="en-US" sz="1300" dirty="0"/>
          </a:p>
        </p:txBody>
      </p:sp>
      <p:sp>
        <p:nvSpPr>
          <p:cNvPr id="28" name="Text 26"/>
          <p:cNvSpPr/>
          <p:nvPr/>
        </p:nvSpPr>
        <p:spPr>
          <a:xfrm>
            <a:off x="9771644" y="3474720"/>
            <a:ext cx="1706819" cy="1188720"/>
          </a:xfrm>
          <a:prstGeom prst="rect">
            <a:avLst/>
          </a:prstGeom>
          <a:noFill/>
          <a:ln/>
        </p:spPr>
        <p:txBody>
          <a:bodyPr wrap="square" lIns="0" tIns="0" rIns="0" bIns="0" rtlCol="0" anchor="t"/>
          <a:lstStyle/>
          <a:p>
            <a:pPr marL="0" indent="0">
              <a:lnSpc>
                <a:spcPct val="105000"/>
              </a:lnSpc>
              <a:buNone/>
            </a:pPr>
            <a:r>
              <a:rPr lang="en-US" sz="1050" dirty="0">
                <a:solidFill>
                  <a:srgbClr val="CADCFC"/>
                </a:solidFill>
                <a:latin typeface="Calibri" pitchFamily="34" charset="0"/>
                <a:ea typeface="Calibri" pitchFamily="34" charset="-122"/>
                <a:cs typeface="Calibri" pitchFamily="34" charset="-120"/>
              </a:rPr>
              <a:t>Track channel performance and adjust the mix</a:t>
            </a:r>
            <a:endParaRPr lang="en-US" sz="1050" dirty="0"/>
          </a:p>
        </p:txBody>
      </p:sp>
      <p:sp>
        <p:nvSpPr>
          <p:cNvPr id="29" name="Text 27"/>
          <p:cNvSpPr/>
          <p:nvPr/>
        </p:nvSpPr>
        <p:spPr>
          <a:xfrm>
            <a:off x="640080" y="5074920"/>
            <a:ext cx="10881360" cy="457200"/>
          </a:xfrm>
          <a:prstGeom prst="rect">
            <a:avLst/>
          </a:prstGeom>
          <a:noFill/>
          <a:ln/>
        </p:spPr>
        <p:txBody>
          <a:bodyPr wrap="square" lIns="0" tIns="0" rIns="0" bIns="0" rtlCol="0" anchor="ctr"/>
          <a:lstStyle/>
          <a:p>
            <a:pPr marL="0" indent="0">
              <a:buNone/>
            </a:pPr>
            <a:r>
              <a:rPr lang="en-US" sz="1250" i="1" dirty="0">
                <a:solidFill>
                  <a:srgbClr val="5A6B8C"/>
                </a:solidFill>
                <a:latin typeface="Calibri" pitchFamily="34" charset="0"/>
                <a:ea typeface="Calibri" pitchFamily="34" charset="-122"/>
                <a:cs typeface="Calibri" pitchFamily="34" charset="-120"/>
              </a:rPr>
              <a:t>The goal is not to maximise every channel individually, but to maximise total profitable reach across the portfolio of channels together.</a:t>
            </a:r>
            <a:endParaRPr lang="en-US" sz="1250" dirty="0"/>
          </a:p>
        </p:txBody>
      </p:sp>
      <p:sp>
        <p:nvSpPr>
          <p:cNvPr id="30" name="Text 28"/>
          <p:cNvSpPr/>
          <p:nvPr/>
        </p:nvSpPr>
        <p:spPr>
          <a:xfrm>
            <a:off x="11551615" y="6446520"/>
            <a:ext cx="457200" cy="274320"/>
          </a:xfrm>
          <a:prstGeom prst="rect">
            <a:avLst/>
          </a:prstGeom>
          <a:noFill/>
          <a:ln/>
        </p:spPr>
        <p:txBody>
          <a:bodyPr wrap="square" lIns="0" tIns="0" rIns="0" bIns="0" rtlCol="0" anchor="ctr"/>
          <a:lstStyle/>
          <a:p>
            <a:pPr marL="0" indent="0" algn="r">
              <a:buNone/>
            </a:pPr>
            <a:r>
              <a:rPr lang="en-US" sz="1000" dirty="0">
                <a:solidFill>
                  <a:srgbClr val="5A6B8C"/>
                </a:solidFill>
                <a:latin typeface="Calibri" pitchFamily="34" charset="0"/>
                <a:ea typeface="Calibri" pitchFamily="34" charset="-122"/>
                <a:cs typeface="Calibri" pitchFamily="34" charset="-120"/>
              </a:rPr>
              <a:t>25</a:t>
            </a:r>
            <a:endParaRPr lang="en-US" sz="1000" dirty="0"/>
          </a:p>
        </p:txBody>
      </p:sp>
      <p:sp>
        <p:nvSpPr>
          <p:cNvPr id="32" name="Oval 31">
            <a:extLst>
              <a:ext uri="{FF2B5EF4-FFF2-40B4-BE49-F238E27FC236}">
                <a16:creationId xmlns:a16="http://schemas.microsoft.com/office/drawing/2014/main" id="{8DDA219C-A9EC-CA60-ADE2-87F0726FD075}"/>
              </a:ext>
            </a:extLst>
          </p:cNvPr>
          <p:cNvSpPr/>
          <p:nvPr/>
        </p:nvSpPr>
        <p:spPr>
          <a:xfrm>
            <a:off x="9043491" y="93594"/>
            <a:ext cx="3142211" cy="1184412"/>
          </a:xfrm>
          <a:prstGeom prst="ellipse">
            <a:avLst/>
          </a:prstGeom>
          <a:solidFill>
            <a:schemeClr val="accent1">
              <a:lumMod val="40000"/>
              <a:lumOff val="6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EEA36947-8EC4-7B3B-A984-7FCBFE634AFF}"/>
              </a:ext>
            </a:extLst>
          </p:cNvPr>
          <p:cNvSpPr txBox="1"/>
          <p:nvPr/>
        </p:nvSpPr>
        <p:spPr>
          <a:xfrm>
            <a:off x="9384312" y="424190"/>
            <a:ext cx="2460567" cy="523220"/>
          </a:xfrm>
          <a:prstGeom prst="rect">
            <a:avLst/>
          </a:prstGeom>
          <a:noFill/>
        </p:spPr>
        <p:txBody>
          <a:bodyPr wrap="square" rtlCol="0">
            <a:spAutoFit/>
          </a:bodyPr>
          <a:lstStyle/>
          <a:p>
            <a:r>
              <a:rPr lang="en-US" sz="2800" b="1" dirty="0"/>
              <a:t>Read this slide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C9962C"/>
                </a:solidFill>
                <a:latin typeface="Calibri" pitchFamily="34" charset="0"/>
                <a:ea typeface="Calibri" pitchFamily="34" charset="-122"/>
                <a:cs typeface="Calibri" pitchFamily="34" charset="-120"/>
              </a:rPr>
              <a:t>MULTI-CHANNEL</a:t>
            </a:r>
            <a:endParaRPr lang="en-US" sz="1200" dirty="0"/>
          </a:p>
        </p:txBody>
      </p:sp>
      <p:sp>
        <p:nvSpPr>
          <p:cNvPr id="3" name="Text 1"/>
          <p:cNvSpPr/>
          <p:nvPr/>
        </p:nvSpPr>
        <p:spPr>
          <a:xfrm>
            <a:off x="548640" y="621792"/>
            <a:ext cx="10515600" cy="73152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Example: Multi-Channel Distribution at a Consumer Electronics Brand</a:t>
            </a:r>
            <a:endParaRPr lang="en-US" sz="2800" dirty="0"/>
          </a:p>
        </p:txBody>
      </p:sp>
      <p:sp>
        <p:nvSpPr>
          <p:cNvPr id="4" name="Shape 2"/>
          <p:cNvSpPr/>
          <p:nvPr/>
        </p:nvSpPr>
        <p:spPr>
          <a:xfrm>
            <a:off x="566928" y="1298448"/>
            <a:ext cx="914400" cy="0"/>
          </a:xfrm>
          <a:prstGeom prst="line">
            <a:avLst/>
          </a:prstGeom>
          <a:noFill/>
          <a:ln w="31750">
            <a:solidFill>
              <a:srgbClr val="C9962C"/>
            </a:solidFill>
            <a:prstDash val="solid"/>
          </a:ln>
        </p:spPr>
        <p:txBody>
          <a:bodyPr/>
          <a:lstStyle/>
          <a:p>
            <a:endParaRPr lang="en-US"/>
          </a:p>
        </p:txBody>
      </p:sp>
      <p:sp>
        <p:nvSpPr>
          <p:cNvPr id="5" name="Text 3"/>
          <p:cNvSpPr/>
          <p:nvPr/>
        </p:nvSpPr>
        <p:spPr>
          <a:xfrm>
            <a:off x="640080" y="1691640"/>
            <a:ext cx="10881360" cy="548640"/>
          </a:xfrm>
          <a:prstGeom prst="rect">
            <a:avLst/>
          </a:prstGeom>
          <a:noFill/>
          <a:ln/>
        </p:spPr>
        <p:txBody>
          <a:bodyPr wrap="square" lIns="0" tIns="0" rIns="0" bIns="0" rtlCol="0" anchor="ctr"/>
          <a:lstStyle/>
          <a:p>
            <a:pPr marL="0" indent="0">
              <a:buNone/>
            </a:pPr>
            <a:r>
              <a:rPr lang="en-US" sz="1400" dirty="0">
                <a:solidFill>
                  <a:srgbClr val="1E2761"/>
                </a:solidFill>
                <a:latin typeface="Calibri" pitchFamily="34" charset="0"/>
                <a:ea typeface="Calibri" pitchFamily="34" charset="-122"/>
                <a:cs typeface="Calibri" pitchFamily="34" charset="-120"/>
              </a:rPr>
              <a:t>A mid-size electronics brand sells the same product line through four channels, each with a distinct role.</a:t>
            </a:r>
            <a:endParaRPr lang="en-US" sz="1400" dirty="0"/>
          </a:p>
        </p:txBody>
      </p:sp>
      <p:sp>
        <p:nvSpPr>
          <p:cNvPr id="6" name="Shape 4"/>
          <p:cNvSpPr/>
          <p:nvPr/>
        </p:nvSpPr>
        <p:spPr>
          <a:xfrm>
            <a:off x="640080" y="2423160"/>
            <a:ext cx="3454298" cy="1737360"/>
          </a:xfrm>
          <a:prstGeom prst="roundRect">
            <a:avLst>
              <a:gd name="adj" fmla="val 4211"/>
            </a:avLst>
          </a:prstGeom>
          <a:solidFill>
            <a:srgbClr val="FFFFFF"/>
          </a:solidFill>
          <a:ln w="12700">
            <a:solidFill>
              <a:srgbClr val="D7E0F5"/>
            </a:solidFill>
            <a:prstDash val="solid"/>
          </a:ln>
          <a:effectLst>
            <a:outerShdw blurRad="76200" dist="25400" dir="5400000" algn="bl" rotWithShape="0">
              <a:srgbClr val="1E2761">
                <a:alpha val="8000"/>
              </a:srgbClr>
            </a:outerShdw>
          </a:effectLst>
        </p:spPr>
        <p:txBody>
          <a:bodyPr/>
          <a:lstStyle/>
          <a:p>
            <a:endParaRPr lang="en-US"/>
          </a:p>
        </p:txBody>
      </p:sp>
      <p:sp>
        <p:nvSpPr>
          <p:cNvPr id="7" name="Text 5"/>
          <p:cNvSpPr/>
          <p:nvPr/>
        </p:nvSpPr>
        <p:spPr>
          <a:xfrm>
            <a:off x="640080" y="2587752"/>
            <a:ext cx="3454298" cy="685800"/>
          </a:xfrm>
          <a:prstGeom prst="rect">
            <a:avLst/>
          </a:prstGeom>
          <a:noFill/>
          <a:ln/>
        </p:spPr>
        <p:txBody>
          <a:bodyPr wrap="square" lIns="0" tIns="0" rIns="0" bIns="0" rtlCol="0" anchor="ctr"/>
          <a:lstStyle/>
          <a:p>
            <a:pPr marL="0" indent="0" algn="ctr">
              <a:buNone/>
            </a:pPr>
            <a:r>
              <a:rPr lang="en-US" sz="3000" b="1" dirty="0">
                <a:solidFill>
                  <a:srgbClr val="C9962C"/>
                </a:solidFill>
                <a:latin typeface="Cambria" pitchFamily="34" charset="0"/>
                <a:ea typeface="Cambria" pitchFamily="34" charset="-122"/>
                <a:cs typeface="Cambria" pitchFamily="34" charset="-120"/>
              </a:rPr>
              <a:t>Retail</a:t>
            </a:r>
            <a:endParaRPr lang="en-US" sz="3000" dirty="0"/>
          </a:p>
        </p:txBody>
      </p:sp>
      <p:sp>
        <p:nvSpPr>
          <p:cNvPr id="8" name="Text 6"/>
          <p:cNvSpPr/>
          <p:nvPr/>
        </p:nvSpPr>
        <p:spPr>
          <a:xfrm>
            <a:off x="777240" y="3291840"/>
            <a:ext cx="3179978" cy="777240"/>
          </a:xfrm>
          <a:prstGeom prst="rect">
            <a:avLst/>
          </a:prstGeom>
          <a:noFill/>
          <a:ln/>
        </p:spPr>
        <p:txBody>
          <a:bodyPr wrap="square" lIns="0" tIns="0" rIns="0" bIns="0" rtlCol="0" anchor="t"/>
          <a:lstStyle/>
          <a:p>
            <a:pPr marL="0" indent="0" algn="ctr">
              <a:buNone/>
            </a:pPr>
            <a:r>
              <a:rPr lang="en-US" sz="1100" dirty="0">
                <a:solidFill>
                  <a:srgbClr val="5A6B8C"/>
                </a:solidFill>
                <a:latin typeface="Calibri" pitchFamily="34" charset="0"/>
                <a:ea typeface="Calibri" pitchFamily="34" charset="-122"/>
                <a:cs typeface="Calibri" pitchFamily="34" charset="-120"/>
              </a:rPr>
              <a:t>Large-format stores drive volume and brand visibility in metros</a:t>
            </a:r>
            <a:endParaRPr lang="en-US" sz="1100" dirty="0"/>
          </a:p>
        </p:txBody>
      </p:sp>
      <p:sp>
        <p:nvSpPr>
          <p:cNvPr id="9" name="Shape 7"/>
          <p:cNvSpPr/>
          <p:nvPr/>
        </p:nvSpPr>
        <p:spPr>
          <a:xfrm>
            <a:off x="4368698" y="2423160"/>
            <a:ext cx="3454298" cy="1737360"/>
          </a:xfrm>
          <a:prstGeom prst="roundRect">
            <a:avLst>
              <a:gd name="adj" fmla="val 4211"/>
            </a:avLst>
          </a:prstGeom>
          <a:solidFill>
            <a:srgbClr val="FFFFFF"/>
          </a:solidFill>
          <a:ln w="12700">
            <a:solidFill>
              <a:srgbClr val="D7E0F5"/>
            </a:solidFill>
            <a:prstDash val="solid"/>
          </a:ln>
          <a:effectLst>
            <a:outerShdw blurRad="76200" dist="25400" dir="5400000" algn="bl" rotWithShape="0">
              <a:srgbClr val="1E2761">
                <a:alpha val="8000"/>
              </a:srgbClr>
            </a:outerShdw>
          </a:effectLst>
        </p:spPr>
        <p:txBody>
          <a:bodyPr/>
          <a:lstStyle/>
          <a:p>
            <a:endParaRPr lang="en-US"/>
          </a:p>
        </p:txBody>
      </p:sp>
      <p:sp>
        <p:nvSpPr>
          <p:cNvPr id="10" name="Text 8"/>
          <p:cNvSpPr/>
          <p:nvPr/>
        </p:nvSpPr>
        <p:spPr>
          <a:xfrm>
            <a:off x="4368698" y="2587752"/>
            <a:ext cx="3454298" cy="685800"/>
          </a:xfrm>
          <a:prstGeom prst="rect">
            <a:avLst/>
          </a:prstGeom>
          <a:noFill/>
          <a:ln/>
        </p:spPr>
        <p:txBody>
          <a:bodyPr wrap="square" lIns="0" tIns="0" rIns="0" bIns="0" rtlCol="0" anchor="ctr"/>
          <a:lstStyle/>
          <a:p>
            <a:pPr marL="0" indent="0" algn="ctr">
              <a:buNone/>
            </a:pPr>
            <a:r>
              <a:rPr lang="en-US" sz="3000" b="1" dirty="0">
                <a:solidFill>
                  <a:srgbClr val="C9962C"/>
                </a:solidFill>
                <a:latin typeface="Cambria" pitchFamily="34" charset="0"/>
                <a:ea typeface="Cambria" pitchFamily="34" charset="-122"/>
                <a:cs typeface="Cambria" pitchFamily="34" charset="-120"/>
              </a:rPr>
              <a:t>D2C Site</a:t>
            </a:r>
            <a:endParaRPr lang="en-US" sz="3000" dirty="0"/>
          </a:p>
        </p:txBody>
      </p:sp>
      <p:sp>
        <p:nvSpPr>
          <p:cNvPr id="11" name="Text 9"/>
          <p:cNvSpPr/>
          <p:nvPr/>
        </p:nvSpPr>
        <p:spPr>
          <a:xfrm>
            <a:off x="4505858" y="3291840"/>
            <a:ext cx="3179978" cy="777240"/>
          </a:xfrm>
          <a:prstGeom prst="rect">
            <a:avLst/>
          </a:prstGeom>
          <a:noFill/>
          <a:ln/>
        </p:spPr>
        <p:txBody>
          <a:bodyPr wrap="square" lIns="0" tIns="0" rIns="0" bIns="0" rtlCol="0" anchor="t"/>
          <a:lstStyle/>
          <a:p>
            <a:pPr marL="0" indent="0" algn="ctr">
              <a:buNone/>
            </a:pPr>
            <a:r>
              <a:rPr lang="en-US" sz="1100" dirty="0">
                <a:solidFill>
                  <a:srgbClr val="5A6B8C"/>
                </a:solidFill>
                <a:latin typeface="Calibri" pitchFamily="34" charset="0"/>
                <a:ea typeface="Calibri" pitchFamily="34" charset="-122"/>
                <a:cs typeface="Calibri" pitchFamily="34" charset="-120"/>
              </a:rPr>
              <a:t>Own website sells premium bundles at full margin with direct data</a:t>
            </a:r>
            <a:endParaRPr lang="en-US" sz="1100" dirty="0"/>
          </a:p>
        </p:txBody>
      </p:sp>
      <p:sp>
        <p:nvSpPr>
          <p:cNvPr id="12" name="Shape 10"/>
          <p:cNvSpPr/>
          <p:nvPr/>
        </p:nvSpPr>
        <p:spPr>
          <a:xfrm>
            <a:off x="8097317" y="2423160"/>
            <a:ext cx="3454298" cy="1737360"/>
          </a:xfrm>
          <a:prstGeom prst="roundRect">
            <a:avLst>
              <a:gd name="adj" fmla="val 4211"/>
            </a:avLst>
          </a:prstGeom>
          <a:solidFill>
            <a:srgbClr val="FFFFFF"/>
          </a:solidFill>
          <a:ln w="12700">
            <a:solidFill>
              <a:srgbClr val="D7E0F5"/>
            </a:solidFill>
            <a:prstDash val="solid"/>
          </a:ln>
          <a:effectLst>
            <a:outerShdw blurRad="76200" dist="25400" dir="5400000" algn="bl" rotWithShape="0">
              <a:srgbClr val="1E2761">
                <a:alpha val="8000"/>
              </a:srgbClr>
            </a:outerShdw>
          </a:effectLst>
        </p:spPr>
        <p:txBody>
          <a:bodyPr/>
          <a:lstStyle/>
          <a:p>
            <a:endParaRPr lang="en-US"/>
          </a:p>
        </p:txBody>
      </p:sp>
      <p:sp>
        <p:nvSpPr>
          <p:cNvPr id="13" name="Text 11"/>
          <p:cNvSpPr/>
          <p:nvPr/>
        </p:nvSpPr>
        <p:spPr>
          <a:xfrm>
            <a:off x="8097317" y="2587752"/>
            <a:ext cx="3454298" cy="685800"/>
          </a:xfrm>
          <a:prstGeom prst="rect">
            <a:avLst/>
          </a:prstGeom>
          <a:noFill/>
          <a:ln/>
        </p:spPr>
        <p:txBody>
          <a:bodyPr wrap="square" lIns="0" tIns="0" rIns="0" bIns="0" rtlCol="0" anchor="ctr"/>
          <a:lstStyle/>
          <a:p>
            <a:pPr marL="0" indent="0" algn="ctr">
              <a:buNone/>
            </a:pPr>
            <a:r>
              <a:rPr lang="en-US" sz="3000" b="1" dirty="0">
                <a:solidFill>
                  <a:srgbClr val="C9962C"/>
                </a:solidFill>
                <a:latin typeface="Cambria" pitchFamily="34" charset="0"/>
                <a:ea typeface="Cambria" pitchFamily="34" charset="-122"/>
                <a:cs typeface="Cambria" pitchFamily="34" charset="-120"/>
              </a:rPr>
              <a:t>Marketplace</a:t>
            </a:r>
            <a:endParaRPr lang="en-US" sz="3000" dirty="0"/>
          </a:p>
        </p:txBody>
      </p:sp>
      <p:sp>
        <p:nvSpPr>
          <p:cNvPr id="14" name="Text 12"/>
          <p:cNvSpPr/>
          <p:nvPr/>
        </p:nvSpPr>
        <p:spPr>
          <a:xfrm>
            <a:off x="8234477" y="3291840"/>
            <a:ext cx="3179978" cy="777240"/>
          </a:xfrm>
          <a:prstGeom prst="rect">
            <a:avLst/>
          </a:prstGeom>
          <a:noFill/>
          <a:ln/>
        </p:spPr>
        <p:txBody>
          <a:bodyPr wrap="square" lIns="0" tIns="0" rIns="0" bIns="0" rtlCol="0" anchor="t"/>
          <a:lstStyle/>
          <a:p>
            <a:pPr marL="0" indent="0" algn="ctr">
              <a:buNone/>
            </a:pPr>
            <a:r>
              <a:rPr lang="en-US" sz="1100" dirty="0">
                <a:solidFill>
                  <a:srgbClr val="5A6B8C"/>
                </a:solidFill>
                <a:latin typeface="Calibri" pitchFamily="34" charset="0"/>
                <a:ea typeface="Calibri" pitchFamily="34" charset="-122"/>
                <a:cs typeface="Calibri" pitchFamily="34" charset="-120"/>
              </a:rPr>
              <a:t>Third-party platforms clear older inventory and reach price-sensitive buyers</a:t>
            </a:r>
            <a:endParaRPr lang="en-US" sz="1100" dirty="0"/>
          </a:p>
        </p:txBody>
      </p:sp>
      <p:sp>
        <p:nvSpPr>
          <p:cNvPr id="15" name="Shape 13"/>
          <p:cNvSpPr/>
          <p:nvPr/>
        </p:nvSpPr>
        <p:spPr>
          <a:xfrm>
            <a:off x="640080" y="4343400"/>
            <a:ext cx="10881360" cy="1508760"/>
          </a:xfrm>
          <a:prstGeom prst="roundRect">
            <a:avLst>
              <a:gd name="adj" fmla="val 5455"/>
            </a:avLst>
          </a:prstGeom>
          <a:solidFill>
            <a:srgbClr val="1E2761"/>
          </a:solidFill>
          <a:ln/>
        </p:spPr>
        <p:txBody>
          <a:bodyPr/>
          <a:lstStyle/>
          <a:p>
            <a:endParaRPr lang="en-US"/>
          </a:p>
        </p:txBody>
      </p:sp>
      <p:sp>
        <p:nvSpPr>
          <p:cNvPr id="16" name="Shape 14"/>
          <p:cNvSpPr/>
          <p:nvPr/>
        </p:nvSpPr>
        <p:spPr>
          <a:xfrm>
            <a:off x="868680" y="4823460"/>
            <a:ext cx="548640" cy="548640"/>
          </a:xfrm>
          <a:prstGeom prst="ellipse">
            <a:avLst/>
          </a:prstGeom>
          <a:solidFill>
            <a:srgbClr val="C9962C"/>
          </a:solidFill>
          <a:ln/>
          <a:effectLst>
            <a:outerShdw blurRad="76200" dist="25400" dir="5400000" algn="bl" rotWithShape="0">
              <a:srgbClr val="1E2761">
                <a:alpha val="18000"/>
              </a:srgbClr>
            </a:outerShdw>
          </a:effectLst>
        </p:spPr>
        <p:txBody>
          <a:bodyPr/>
          <a:lstStyle/>
          <a:p>
            <a:endParaRPr lang="en-US"/>
          </a:p>
        </p:txBody>
      </p:sp>
      <p:pic>
        <p:nvPicPr>
          <p:cNvPr id="17" name="Image 0" descr="/home/claude/demand-mgmt-ppt/icons/lightbulb.png"/>
          <p:cNvPicPr>
            <a:picLocks noChangeAspect="1"/>
          </p:cNvPicPr>
          <p:nvPr/>
        </p:nvPicPr>
        <p:blipFill>
          <a:blip r:embed="rId3"/>
          <a:stretch>
            <a:fillRect/>
          </a:stretch>
        </p:blipFill>
        <p:spPr>
          <a:xfrm>
            <a:off x="1005840" y="4960620"/>
            <a:ext cx="274320" cy="274320"/>
          </a:xfrm>
          <a:prstGeom prst="rect">
            <a:avLst/>
          </a:prstGeom>
        </p:spPr>
      </p:pic>
      <p:sp>
        <p:nvSpPr>
          <p:cNvPr id="18" name="Text 15"/>
          <p:cNvSpPr/>
          <p:nvPr/>
        </p:nvSpPr>
        <p:spPr>
          <a:xfrm>
            <a:off x="1554480" y="4471416"/>
            <a:ext cx="9692640" cy="274320"/>
          </a:xfrm>
          <a:prstGeom prst="rect">
            <a:avLst/>
          </a:prstGeom>
          <a:noFill/>
          <a:ln/>
        </p:spPr>
        <p:txBody>
          <a:bodyPr wrap="square" lIns="0" tIns="0" rIns="0" bIns="0" rtlCol="0" anchor="ctr"/>
          <a:lstStyle/>
          <a:p>
            <a:pPr marL="0" indent="0">
              <a:buNone/>
            </a:pPr>
            <a:r>
              <a:rPr lang="en-US" sz="1100" b="1" kern="0" spc="150" dirty="0">
                <a:solidFill>
                  <a:srgbClr val="C9962C"/>
                </a:solidFill>
                <a:latin typeface="Calibri" pitchFamily="34" charset="0"/>
                <a:ea typeface="Calibri" pitchFamily="34" charset="-122"/>
                <a:cs typeface="Calibri" pitchFamily="34" charset="-120"/>
              </a:rPr>
              <a:t>MANAGING THE CONFLICT</a:t>
            </a:r>
            <a:endParaRPr lang="en-US" sz="1100" dirty="0"/>
          </a:p>
        </p:txBody>
      </p:sp>
      <p:sp>
        <p:nvSpPr>
          <p:cNvPr id="19" name="Text 16"/>
          <p:cNvSpPr/>
          <p:nvPr/>
        </p:nvSpPr>
        <p:spPr>
          <a:xfrm>
            <a:off x="1554480" y="4764024"/>
            <a:ext cx="9692640" cy="978408"/>
          </a:xfrm>
          <a:prstGeom prst="rect">
            <a:avLst/>
          </a:prstGeom>
          <a:noFill/>
          <a:ln/>
        </p:spPr>
        <p:txBody>
          <a:bodyPr wrap="square" lIns="0" tIns="0" rIns="0" bIns="0" rtlCol="0" anchor="t"/>
          <a:lstStyle/>
          <a:p>
            <a:pPr marL="0" indent="0">
              <a:lnSpc>
                <a:spcPct val="110000"/>
              </a:lnSpc>
              <a:buNone/>
            </a:pPr>
            <a:r>
              <a:rPr lang="en-US" sz="1250" dirty="0">
                <a:solidFill>
                  <a:srgbClr val="FFFFFF"/>
                </a:solidFill>
                <a:latin typeface="Calibri" pitchFamily="34" charset="0"/>
                <a:ea typeface="Calibri" pitchFamily="34" charset="-122"/>
                <a:cs typeface="Calibri" pitchFamily="34" charset="-120"/>
              </a:rPr>
              <a:t>To prevent channel conflict, the brand restricts marketplace listings to older SKUs only and enforces a minimum advertised price across every channel — keeping retail partners loyal while still growing online.</a:t>
            </a:r>
            <a:endParaRPr lang="en-US" sz="1250" dirty="0"/>
          </a:p>
        </p:txBody>
      </p:sp>
      <p:sp>
        <p:nvSpPr>
          <p:cNvPr id="20" name="Text 17"/>
          <p:cNvSpPr/>
          <p:nvPr/>
        </p:nvSpPr>
        <p:spPr>
          <a:xfrm>
            <a:off x="11551615" y="6446520"/>
            <a:ext cx="457200" cy="274320"/>
          </a:xfrm>
          <a:prstGeom prst="rect">
            <a:avLst/>
          </a:prstGeom>
          <a:noFill/>
          <a:ln/>
        </p:spPr>
        <p:txBody>
          <a:bodyPr wrap="square" lIns="0" tIns="0" rIns="0" bIns="0" rtlCol="0" anchor="ctr"/>
          <a:lstStyle/>
          <a:p>
            <a:pPr marL="0" indent="0" algn="r">
              <a:buNone/>
            </a:pPr>
            <a:r>
              <a:rPr lang="en-US" sz="1000" dirty="0">
                <a:solidFill>
                  <a:srgbClr val="5A6B8C"/>
                </a:solidFill>
                <a:latin typeface="Calibri" pitchFamily="34" charset="0"/>
                <a:ea typeface="Calibri" pitchFamily="34" charset="-122"/>
                <a:cs typeface="Calibri" pitchFamily="34" charset="-120"/>
              </a:rPr>
              <a:t>26</a:t>
            </a:r>
            <a:endParaRPr lang="en-US" sz="1000" dirty="0"/>
          </a:p>
        </p:txBody>
      </p:sp>
      <p:sp>
        <p:nvSpPr>
          <p:cNvPr id="22" name="Oval 21">
            <a:extLst>
              <a:ext uri="{FF2B5EF4-FFF2-40B4-BE49-F238E27FC236}">
                <a16:creationId xmlns:a16="http://schemas.microsoft.com/office/drawing/2014/main" id="{2ECE332E-05F4-2C27-B2C5-A07435FD5787}"/>
              </a:ext>
            </a:extLst>
          </p:cNvPr>
          <p:cNvSpPr/>
          <p:nvPr/>
        </p:nvSpPr>
        <p:spPr>
          <a:xfrm>
            <a:off x="8702668" y="1017908"/>
            <a:ext cx="3142211" cy="1184412"/>
          </a:xfrm>
          <a:prstGeom prst="ellipse">
            <a:avLst/>
          </a:prstGeom>
          <a:solidFill>
            <a:schemeClr val="accent1">
              <a:lumMod val="40000"/>
              <a:lumOff val="6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70ADA72B-2613-B764-9E40-4F436ECA2AD8}"/>
              </a:ext>
            </a:extLst>
          </p:cNvPr>
          <p:cNvSpPr txBox="1"/>
          <p:nvPr/>
        </p:nvSpPr>
        <p:spPr>
          <a:xfrm>
            <a:off x="9043489" y="1348504"/>
            <a:ext cx="2460567" cy="523220"/>
          </a:xfrm>
          <a:prstGeom prst="rect">
            <a:avLst/>
          </a:prstGeom>
          <a:noFill/>
        </p:spPr>
        <p:txBody>
          <a:bodyPr wrap="square" rtlCol="0">
            <a:spAutoFit/>
          </a:bodyPr>
          <a:lstStyle/>
          <a:p>
            <a:r>
              <a:rPr lang="en-US" sz="2800" b="1" dirty="0"/>
              <a:t>Read this slide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7863840" y="548640"/>
            <a:ext cx="3840480" cy="5486400"/>
          </a:xfrm>
          <a:prstGeom prst="rect">
            <a:avLst/>
          </a:prstGeom>
          <a:noFill/>
          <a:ln/>
        </p:spPr>
        <p:txBody>
          <a:bodyPr wrap="square" lIns="0" tIns="0" rIns="0" bIns="0" rtlCol="0" anchor="ctr"/>
          <a:lstStyle/>
          <a:p>
            <a:pPr marL="0" indent="0" algn="r">
              <a:buNone/>
            </a:pPr>
            <a:r>
              <a:rPr lang="en-US" sz="34000" b="1" dirty="0">
                <a:solidFill>
                  <a:srgbClr val="141A3D"/>
                </a:solidFill>
                <a:latin typeface="Cambria" pitchFamily="34" charset="0"/>
                <a:ea typeface="Cambria" pitchFamily="34" charset="-122"/>
                <a:cs typeface="Cambria" pitchFamily="34" charset="-120"/>
              </a:rPr>
              <a:t>04</a:t>
            </a:r>
            <a:endParaRPr lang="en-US" sz="34000" dirty="0"/>
          </a:p>
        </p:txBody>
      </p:sp>
      <p:sp>
        <p:nvSpPr>
          <p:cNvPr id="3" name="Shape 1"/>
          <p:cNvSpPr/>
          <p:nvPr/>
        </p:nvSpPr>
        <p:spPr>
          <a:xfrm>
            <a:off x="1005840" y="2057400"/>
            <a:ext cx="1371600" cy="1371600"/>
          </a:xfrm>
          <a:prstGeom prst="ellipse">
            <a:avLst/>
          </a:prstGeom>
          <a:solidFill>
            <a:srgbClr val="C9962C"/>
          </a:solidFill>
          <a:ln/>
          <a:effectLst>
            <a:outerShdw blurRad="76200" dist="25400" dir="5400000" algn="bl" rotWithShape="0">
              <a:srgbClr val="1E2761">
                <a:alpha val="18000"/>
              </a:srgbClr>
            </a:outerShdw>
          </a:effectLst>
        </p:spPr>
        <p:txBody>
          <a:bodyPr/>
          <a:lstStyle/>
          <a:p>
            <a:endParaRPr lang="en-US"/>
          </a:p>
        </p:txBody>
      </p:sp>
      <p:pic>
        <p:nvPicPr>
          <p:cNvPr id="4" name="Image 0" descr="/home/claude/demand-mgmt-ppt/icons/layer.png"/>
          <p:cNvPicPr>
            <a:picLocks noChangeAspect="1"/>
          </p:cNvPicPr>
          <p:nvPr/>
        </p:nvPicPr>
        <p:blipFill>
          <a:blip r:embed="rId3"/>
          <a:stretch>
            <a:fillRect/>
          </a:stretch>
        </p:blipFill>
        <p:spPr>
          <a:xfrm>
            <a:off x="1348740" y="2400300"/>
            <a:ext cx="685800" cy="685800"/>
          </a:xfrm>
          <a:prstGeom prst="rect">
            <a:avLst/>
          </a:prstGeom>
        </p:spPr>
      </p:pic>
      <p:sp>
        <p:nvSpPr>
          <p:cNvPr id="5" name="Text 2"/>
          <p:cNvSpPr/>
          <p:nvPr/>
        </p:nvSpPr>
        <p:spPr>
          <a:xfrm>
            <a:off x="822960" y="3703320"/>
            <a:ext cx="7315200" cy="365760"/>
          </a:xfrm>
          <a:prstGeom prst="rect">
            <a:avLst/>
          </a:prstGeom>
          <a:noFill/>
          <a:ln/>
        </p:spPr>
        <p:txBody>
          <a:bodyPr wrap="square" lIns="0" tIns="0" rIns="0" bIns="0" rtlCol="0" anchor="ctr"/>
          <a:lstStyle/>
          <a:p>
            <a:pPr marL="0" indent="0">
              <a:buNone/>
            </a:pPr>
            <a:r>
              <a:rPr lang="en-US" sz="1400" b="1" kern="0" spc="300" dirty="0">
                <a:solidFill>
                  <a:srgbClr val="C9962C"/>
                </a:solidFill>
                <a:latin typeface="Calibri" pitchFamily="34" charset="0"/>
                <a:ea typeface="Calibri" pitchFamily="34" charset="-122"/>
                <a:cs typeface="Calibri" pitchFamily="34" charset="-120"/>
              </a:rPr>
              <a:t>SECTION 04</a:t>
            </a:r>
            <a:endParaRPr lang="en-US" sz="1400" dirty="0"/>
          </a:p>
        </p:txBody>
      </p:sp>
      <p:sp>
        <p:nvSpPr>
          <p:cNvPr id="6" name="Text 3"/>
          <p:cNvSpPr/>
          <p:nvPr/>
        </p:nvSpPr>
        <p:spPr>
          <a:xfrm>
            <a:off x="822960" y="4069080"/>
            <a:ext cx="8686800" cy="118872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Multi-Echelon System</a:t>
            </a:r>
            <a:endParaRPr lang="en-US" sz="4000" dirty="0"/>
          </a:p>
        </p:txBody>
      </p:sp>
      <p:sp>
        <p:nvSpPr>
          <p:cNvPr id="7" name="Text 4"/>
          <p:cNvSpPr/>
          <p:nvPr/>
        </p:nvSpPr>
        <p:spPr>
          <a:xfrm>
            <a:off x="822960" y="5166360"/>
            <a:ext cx="8046720" cy="731520"/>
          </a:xfrm>
          <a:prstGeom prst="rect">
            <a:avLst/>
          </a:prstGeom>
          <a:noFill/>
          <a:ln/>
        </p:spPr>
        <p:txBody>
          <a:bodyPr wrap="square" lIns="0" tIns="0" rIns="0" bIns="0" rtlCol="0" anchor="ctr"/>
          <a:lstStyle/>
          <a:p>
            <a:pPr marL="0" indent="0">
              <a:buNone/>
            </a:pPr>
            <a:r>
              <a:rPr lang="en-US" sz="1500" i="1" dirty="0">
                <a:solidFill>
                  <a:srgbClr val="CADCFC"/>
                </a:solidFill>
                <a:latin typeface="Calibri" pitchFamily="34" charset="0"/>
                <a:ea typeface="Calibri" pitchFamily="34" charset="-122"/>
                <a:cs typeface="Calibri" pitchFamily="34" charset="-120"/>
              </a:rPr>
              <a:t>Most real distribution networks are not one hop from factory to customer — they are chains of tiers, each holding stock and adding lead time</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C9962C"/>
                </a:solidFill>
                <a:latin typeface="Calibri" pitchFamily="34" charset="0"/>
                <a:ea typeface="Calibri" pitchFamily="34" charset="-122"/>
                <a:cs typeface="Calibri" pitchFamily="34" charset="-120"/>
              </a:rPr>
              <a:t>MULTI-ECHELON</a:t>
            </a:r>
            <a:endParaRPr lang="en-US" sz="1200" dirty="0"/>
          </a:p>
        </p:txBody>
      </p:sp>
      <p:sp>
        <p:nvSpPr>
          <p:cNvPr id="3" name="Text 1"/>
          <p:cNvSpPr/>
          <p:nvPr/>
        </p:nvSpPr>
        <p:spPr>
          <a:xfrm>
            <a:off x="548640" y="621792"/>
            <a:ext cx="10515600" cy="73152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What is a Multi-Echelon System?</a:t>
            </a:r>
            <a:endParaRPr lang="en-US" sz="2800" dirty="0"/>
          </a:p>
        </p:txBody>
      </p:sp>
      <p:sp>
        <p:nvSpPr>
          <p:cNvPr id="4" name="Shape 2"/>
          <p:cNvSpPr/>
          <p:nvPr/>
        </p:nvSpPr>
        <p:spPr>
          <a:xfrm>
            <a:off x="566928" y="1298448"/>
            <a:ext cx="914400" cy="0"/>
          </a:xfrm>
          <a:prstGeom prst="line">
            <a:avLst/>
          </a:prstGeom>
          <a:noFill/>
          <a:ln w="31750">
            <a:solidFill>
              <a:srgbClr val="C9962C"/>
            </a:solidFill>
            <a:prstDash val="solid"/>
          </a:ln>
        </p:spPr>
        <p:txBody>
          <a:bodyPr/>
          <a:lstStyle/>
          <a:p>
            <a:endParaRPr lang="en-US"/>
          </a:p>
        </p:txBody>
      </p:sp>
      <p:sp>
        <p:nvSpPr>
          <p:cNvPr id="5" name="Text 3"/>
          <p:cNvSpPr/>
          <p:nvPr/>
        </p:nvSpPr>
        <p:spPr>
          <a:xfrm>
            <a:off x="640080" y="1691640"/>
            <a:ext cx="10881360" cy="1280160"/>
          </a:xfrm>
          <a:prstGeom prst="rect">
            <a:avLst/>
          </a:prstGeom>
          <a:noFill/>
          <a:ln/>
        </p:spPr>
        <p:txBody>
          <a:bodyPr wrap="square" lIns="0" tIns="0" rIns="0" bIns="0" rtlCol="0" anchor="t"/>
          <a:lstStyle/>
          <a:p>
            <a:pPr marL="0" indent="0">
              <a:lnSpc>
                <a:spcPct val="130000"/>
              </a:lnSpc>
              <a:buNone/>
            </a:pPr>
            <a:r>
              <a:rPr lang="en-US" sz="1450" dirty="0">
                <a:solidFill>
                  <a:srgbClr val="1E2761"/>
                </a:solidFill>
                <a:latin typeface="Calibri" pitchFamily="34" charset="0"/>
                <a:ea typeface="Calibri" pitchFamily="34" charset="-122"/>
                <a:cs typeface="Calibri" pitchFamily="34" charset="-120"/>
              </a:rPr>
              <a:t>A multi-echelon system is a distribution network with more than one tier (echelon) of inventory-holding locations between the factory and the final customer — for example, plant → central warehouse → regional distribution centre → retail store. Each echelon holds stock, adds lead time, and interacts with the ones above and below it.</a:t>
            </a:r>
            <a:endParaRPr lang="en-US" sz="1450" dirty="0"/>
          </a:p>
        </p:txBody>
      </p:sp>
      <p:sp>
        <p:nvSpPr>
          <p:cNvPr id="6" name="Shape 4"/>
          <p:cNvSpPr/>
          <p:nvPr/>
        </p:nvSpPr>
        <p:spPr>
          <a:xfrm>
            <a:off x="548640" y="3246120"/>
            <a:ext cx="2567864" cy="2377440"/>
          </a:xfrm>
          <a:prstGeom prst="roundRect">
            <a:avLst>
              <a:gd name="adj" fmla="val 2692"/>
            </a:avLst>
          </a:prstGeom>
          <a:solidFill>
            <a:srgbClr val="1E2761"/>
          </a:solidFill>
          <a:ln/>
        </p:spPr>
        <p:txBody>
          <a:bodyPr/>
          <a:lstStyle/>
          <a:p>
            <a:endParaRPr lang="en-US"/>
          </a:p>
        </p:txBody>
      </p:sp>
      <p:sp>
        <p:nvSpPr>
          <p:cNvPr id="7" name="Text 5"/>
          <p:cNvSpPr/>
          <p:nvPr/>
        </p:nvSpPr>
        <p:spPr>
          <a:xfrm>
            <a:off x="685800" y="3355848"/>
            <a:ext cx="2293544" cy="457200"/>
          </a:xfrm>
          <a:prstGeom prst="rect">
            <a:avLst/>
          </a:prstGeom>
          <a:noFill/>
          <a:ln/>
        </p:spPr>
        <p:txBody>
          <a:bodyPr wrap="square" lIns="0" tIns="0" rIns="0" bIns="0" rtlCol="0" anchor="ctr"/>
          <a:lstStyle/>
          <a:p>
            <a:pPr marL="0" indent="0">
              <a:buNone/>
            </a:pPr>
            <a:r>
              <a:rPr lang="en-US" sz="2200" b="1" dirty="0">
                <a:solidFill>
                  <a:srgbClr val="C9962C"/>
                </a:solidFill>
                <a:latin typeface="Cambria" pitchFamily="34" charset="0"/>
                <a:ea typeface="Cambria" pitchFamily="34" charset="-122"/>
                <a:cs typeface="Cambria" pitchFamily="34" charset="-120"/>
              </a:rPr>
              <a:t>1</a:t>
            </a:r>
            <a:endParaRPr lang="en-US" sz="2200" dirty="0"/>
          </a:p>
        </p:txBody>
      </p:sp>
      <p:sp>
        <p:nvSpPr>
          <p:cNvPr id="8" name="Text 6"/>
          <p:cNvSpPr/>
          <p:nvPr/>
        </p:nvSpPr>
        <p:spPr>
          <a:xfrm>
            <a:off x="713232" y="3867912"/>
            <a:ext cx="2238680" cy="685800"/>
          </a:xfrm>
          <a:prstGeom prst="rect">
            <a:avLst/>
          </a:prstGeom>
          <a:noFill/>
          <a:ln/>
        </p:spPr>
        <p:txBody>
          <a:bodyPr wrap="square" lIns="0" tIns="0" rIns="0" bIns="0" rtlCol="0" anchor="t"/>
          <a:lstStyle/>
          <a:p>
            <a:pPr marL="0" indent="0">
              <a:buNone/>
            </a:pPr>
            <a:r>
              <a:rPr lang="en-US" sz="1300" b="1" dirty="0">
                <a:solidFill>
                  <a:srgbClr val="FFFFFF"/>
                </a:solidFill>
                <a:latin typeface="Cambria" pitchFamily="34" charset="0"/>
                <a:ea typeface="Cambria" pitchFamily="34" charset="-122"/>
                <a:cs typeface="Cambria" pitchFamily="34" charset="-120"/>
              </a:rPr>
              <a:t>Plant</a:t>
            </a:r>
            <a:endParaRPr lang="en-US" sz="1300" dirty="0"/>
          </a:p>
        </p:txBody>
      </p:sp>
      <p:sp>
        <p:nvSpPr>
          <p:cNvPr id="9" name="Text 7"/>
          <p:cNvSpPr/>
          <p:nvPr/>
        </p:nvSpPr>
        <p:spPr>
          <a:xfrm>
            <a:off x="713232" y="4617720"/>
            <a:ext cx="2238680" cy="914400"/>
          </a:xfrm>
          <a:prstGeom prst="rect">
            <a:avLst/>
          </a:prstGeom>
          <a:noFill/>
          <a:ln/>
        </p:spPr>
        <p:txBody>
          <a:bodyPr wrap="square" lIns="0" tIns="0" rIns="0" bIns="0" rtlCol="0" anchor="t"/>
          <a:lstStyle/>
          <a:p>
            <a:pPr marL="0" indent="0">
              <a:lnSpc>
                <a:spcPct val="105000"/>
              </a:lnSpc>
              <a:buNone/>
            </a:pPr>
            <a:r>
              <a:rPr lang="en-US" sz="1050" dirty="0">
                <a:solidFill>
                  <a:srgbClr val="CADCFC"/>
                </a:solidFill>
                <a:latin typeface="Calibri" pitchFamily="34" charset="0"/>
                <a:ea typeface="Calibri" pitchFamily="34" charset="-122"/>
                <a:cs typeface="Calibri" pitchFamily="34" charset="-120"/>
              </a:rPr>
              <a:t>Echelon 1: production</a:t>
            </a:r>
            <a:endParaRPr lang="en-US" sz="1050" dirty="0"/>
          </a:p>
        </p:txBody>
      </p:sp>
      <p:sp>
        <p:nvSpPr>
          <p:cNvPr id="10" name="Text 8"/>
          <p:cNvSpPr/>
          <p:nvPr/>
        </p:nvSpPr>
        <p:spPr>
          <a:xfrm>
            <a:off x="3116504" y="4206240"/>
            <a:ext cx="274320" cy="457200"/>
          </a:xfrm>
          <a:prstGeom prst="rect">
            <a:avLst/>
          </a:prstGeom>
          <a:noFill/>
          <a:ln/>
        </p:spPr>
        <p:txBody>
          <a:bodyPr wrap="square" lIns="0" tIns="0" rIns="0" bIns="0" rtlCol="0" anchor="ctr"/>
          <a:lstStyle/>
          <a:p>
            <a:pPr marL="0" indent="0" algn="ctr">
              <a:buNone/>
            </a:pPr>
            <a:r>
              <a:rPr lang="en-US" sz="2000" b="1" dirty="0">
                <a:solidFill>
                  <a:srgbClr val="C9962C"/>
                </a:solidFill>
                <a:latin typeface="Calibri" pitchFamily="34" charset="0"/>
                <a:ea typeface="Calibri" pitchFamily="34" charset="-122"/>
                <a:cs typeface="Calibri" pitchFamily="34" charset="-120"/>
              </a:rPr>
              <a:t>›</a:t>
            </a:r>
            <a:endParaRPr lang="en-US" sz="2000" dirty="0"/>
          </a:p>
        </p:txBody>
      </p:sp>
      <p:sp>
        <p:nvSpPr>
          <p:cNvPr id="11" name="Shape 9"/>
          <p:cNvSpPr/>
          <p:nvPr/>
        </p:nvSpPr>
        <p:spPr>
          <a:xfrm>
            <a:off x="3390824" y="3246120"/>
            <a:ext cx="2567864" cy="2377440"/>
          </a:xfrm>
          <a:prstGeom prst="roundRect">
            <a:avLst>
              <a:gd name="adj" fmla="val 2692"/>
            </a:avLst>
          </a:prstGeom>
          <a:solidFill>
            <a:srgbClr val="141A3D"/>
          </a:solidFill>
          <a:ln/>
        </p:spPr>
        <p:txBody>
          <a:bodyPr/>
          <a:lstStyle/>
          <a:p>
            <a:endParaRPr lang="en-US"/>
          </a:p>
        </p:txBody>
      </p:sp>
      <p:sp>
        <p:nvSpPr>
          <p:cNvPr id="12" name="Text 10"/>
          <p:cNvSpPr/>
          <p:nvPr/>
        </p:nvSpPr>
        <p:spPr>
          <a:xfrm>
            <a:off x="3527984" y="3355848"/>
            <a:ext cx="2293544" cy="457200"/>
          </a:xfrm>
          <a:prstGeom prst="rect">
            <a:avLst/>
          </a:prstGeom>
          <a:noFill/>
          <a:ln/>
        </p:spPr>
        <p:txBody>
          <a:bodyPr wrap="square" lIns="0" tIns="0" rIns="0" bIns="0" rtlCol="0" anchor="ctr"/>
          <a:lstStyle/>
          <a:p>
            <a:pPr marL="0" indent="0">
              <a:buNone/>
            </a:pPr>
            <a:r>
              <a:rPr lang="en-US" sz="2200" b="1" dirty="0">
                <a:solidFill>
                  <a:srgbClr val="C9962C"/>
                </a:solidFill>
                <a:latin typeface="Cambria" pitchFamily="34" charset="0"/>
                <a:ea typeface="Cambria" pitchFamily="34" charset="-122"/>
                <a:cs typeface="Cambria" pitchFamily="34" charset="-120"/>
              </a:rPr>
              <a:t>2</a:t>
            </a:r>
            <a:endParaRPr lang="en-US" sz="2200" dirty="0"/>
          </a:p>
        </p:txBody>
      </p:sp>
      <p:sp>
        <p:nvSpPr>
          <p:cNvPr id="13" name="Text 11"/>
          <p:cNvSpPr/>
          <p:nvPr/>
        </p:nvSpPr>
        <p:spPr>
          <a:xfrm>
            <a:off x="3555416" y="3867912"/>
            <a:ext cx="2238680" cy="685800"/>
          </a:xfrm>
          <a:prstGeom prst="rect">
            <a:avLst/>
          </a:prstGeom>
          <a:noFill/>
          <a:ln/>
        </p:spPr>
        <p:txBody>
          <a:bodyPr wrap="square" lIns="0" tIns="0" rIns="0" bIns="0" rtlCol="0" anchor="t"/>
          <a:lstStyle/>
          <a:p>
            <a:pPr marL="0" indent="0">
              <a:buNone/>
            </a:pPr>
            <a:r>
              <a:rPr lang="en-US" sz="1300" b="1" dirty="0">
                <a:solidFill>
                  <a:srgbClr val="FFFFFF"/>
                </a:solidFill>
                <a:latin typeface="Cambria" pitchFamily="34" charset="0"/>
                <a:ea typeface="Cambria" pitchFamily="34" charset="-122"/>
                <a:cs typeface="Cambria" pitchFamily="34" charset="-120"/>
              </a:rPr>
              <a:t>Central Warehouse</a:t>
            </a:r>
            <a:endParaRPr lang="en-US" sz="1300" dirty="0"/>
          </a:p>
        </p:txBody>
      </p:sp>
      <p:sp>
        <p:nvSpPr>
          <p:cNvPr id="14" name="Text 12"/>
          <p:cNvSpPr/>
          <p:nvPr/>
        </p:nvSpPr>
        <p:spPr>
          <a:xfrm>
            <a:off x="3555416" y="4617720"/>
            <a:ext cx="2238680" cy="914400"/>
          </a:xfrm>
          <a:prstGeom prst="rect">
            <a:avLst/>
          </a:prstGeom>
          <a:noFill/>
          <a:ln/>
        </p:spPr>
        <p:txBody>
          <a:bodyPr wrap="square" lIns="0" tIns="0" rIns="0" bIns="0" rtlCol="0" anchor="t"/>
          <a:lstStyle/>
          <a:p>
            <a:pPr marL="0" indent="0">
              <a:lnSpc>
                <a:spcPct val="105000"/>
              </a:lnSpc>
              <a:buNone/>
            </a:pPr>
            <a:r>
              <a:rPr lang="en-US" sz="1050" dirty="0">
                <a:solidFill>
                  <a:srgbClr val="CADCFC"/>
                </a:solidFill>
                <a:latin typeface="Calibri" pitchFamily="34" charset="0"/>
                <a:ea typeface="Calibri" pitchFamily="34" charset="-122"/>
                <a:cs typeface="Calibri" pitchFamily="34" charset="-120"/>
              </a:rPr>
              <a:t>Echelon 2: national buffer</a:t>
            </a:r>
            <a:endParaRPr lang="en-US" sz="1050" dirty="0"/>
          </a:p>
        </p:txBody>
      </p:sp>
      <p:sp>
        <p:nvSpPr>
          <p:cNvPr id="15" name="Text 13"/>
          <p:cNvSpPr/>
          <p:nvPr/>
        </p:nvSpPr>
        <p:spPr>
          <a:xfrm>
            <a:off x="5958688" y="4206240"/>
            <a:ext cx="274320" cy="457200"/>
          </a:xfrm>
          <a:prstGeom prst="rect">
            <a:avLst/>
          </a:prstGeom>
          <a:noFill/>
          <a:ln/>
        </p:spPr>
        <p:txBody>
          <a:bodyPr wrap="square" lIns="0" tIns="0" rIns="0" bIns="0" rtlCol="0" anchor="ctr"/>
          <a:lstStyle/>
          <a:p>
            <a:pPr marL="0" indent="0" algn="ctr">
              <a:buNone/>
            </a:pPr>
            <a:r>
              <a:rPr lang="en-US" sz="2000" b="1" dirty="0">
                <a:solidFill>
                  <a:srgbClr val="C9962C"/>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233008" y="3246120"/>
            <a:ext cx="2567864" cy="2377440"/>
          </a:xfrm>
          <a:prstGeom prst="roundRect">
            <a:avLst>
              <a:gd name="adj" fmla="val 2692"/>
            </a:avLst>
          </a:prstGeom>
          <a:solidFill>
            <a:srgbClr val="1E2761"/>
          </a:solidFill>
          <a:ln/>
        </p:spPr>
        <p:txBody>
          <a:bodyPr/>
          <a:lstStyle/>
          <a:p>
            <a:endParaRPr lang="en-US"/>
          </a:p>
        </p:txBody>
      </p:sp>
      <p:sp>
        <p:nvSpPr>
          <p:cNvPr id="17" name="Text 15"/>
          <p:cNvSpPr/>
          <p:nvPr/>
        </p:nvSpPr>
        <p:spPr>
          <a:xfrm>
            <a:off x="6370168" y="3355848"/>
            <a:ext cx="2293544" cy="457200"/>
          </a:xfrm>
          <a:prstGeom prst="rect">
            <a:avLst/>
          </a:prstGeom>
          <a:noFill/>
          <a:ln/>
        </p:spPr>
        <p:txBody>
          <a:bodyPr wrap="square" lIns="0" tIns="0" rIns="0" bIns="0" rtlCol="0" anchor="ctr"/>
          <a:lstStyle/>
          <a:p>
            <a:pPr marL="0" indent="0">
              <a:buNone/>
            </a:pPr>
            <a:r>
              <a:rPr lang="en-US" sz="2200" b="1" dirty="0">
                <a:solidFill>
                  <a:srgbClr val="C9962C"/>
                </a:solidFill>
                <a:latin typeface="Cambria" pitchFamily="34" charset="0"/>
                <a:ea typeface="Cambria" pitchFamily="34" charset="-122"/>
                <a:cs typeface="Cambria" pitchFamily="34" charset="-120"/>
              </a:rPr>
              <a:t>3</a:t>
            </a:r>
            <a:endParaRPr lang="en-US" sz="2200" dirty="0"/>
          </a:p>
        </p:txBody>
      </p:sp>
      <p:sp>
        <p:nvSpPr>
          <p:cNvPr id="18" name="Text 16"/>
          <p:cNvSpPr/>
          <p:nvPr/>
        </p:nvSpPr>
        <p:spPr>
          <a:xfrm>
            <a:off x="6397600" y="3867912"/>
            <a:ext cx="2238680" cy="685800"/>
          </a:xfrm>
          <a:prstGeom prst="rect">
            <a:avLst/>
          </a:prstGeom>
          <a:noFill/>
          <a:ln/>
        </p:spPr>
        <p:txBody>
          <a:bodyPr wrap="square" lIns="0" tIns="0" rIns="0" bIns="0" rtlCol="0" anchor="t"/>
          <a:lstStyle/>
          <a:p>
            <a:pPr marL="0" indent="0">
              <a:buNone/>
            </a:pPr>
            <a:r>
              <a:rPr lang="en-US" sz="1300" b="1" dirty="0">
                <a:solidFill>
                  <a:srgbClr val="FFFFFF"/>
                </a:solidFill>
                <a:latin typeface="Cambria" pitchFamily="34" charset="0"/>
                <a:ea typeface="Cambria" pitchFamily="34" charset="-122"/>
                <a:cs typeface="Cambria" pitchFamily="34" charset="-120"/>
              </a:rPr>
              <a:t>Regional DC</a:t>
            </a:r>
            <a:endParaRPr lang="en-US" sz="1300" dirty="0"/>
          </a:p>
        </p:txBody>
      </p:sp>
      <p:sp>
        <p:nvSpPr>
          <p:cNvPr id="19" name="Text 17"/>
          <p:cNvSpPr/>
          <p:nvPr/>
        </p:nvSpPr>
        <p:spPr>
          <a:xfrm>
            <a:off x="6397600" y="4617720"/>
            <a:ext cx="2238680" cy="914400"/>
          </a:xfrm>
          <a:prstGeom prst="rect">
            <a:avLst/>
          </a:prstGeom>
          <a:noFill/>
          <a:ln/>
        </p:spPr>
        <p:txBody>
          <a:bodyPr wrap="square" lIns="0" tIns="0" rIns="0" bIns="0" rtlCol="0" anchor="t"/>
          <a:lstStyle/>
          <a:p>
            <a:pPr marL="0" indent="0">
              <a:lnSpc>
                <a:spcPct val="105000"/>
              </a:lnSpc>
              <a:buNone/>
            </a:pPr>
            <a:r>
              <a:rPr lang="en-US" sz="1050" dirty="0">
                <a:solidFill>
                  <a:srgbClr val="CADCFC"/>
                </a:solidFill>
                <a:latin typeface="Calibri" pitchFamily="34" charset="0"/>
                <a:ea typeface="Calibri" pitchFamily="34" charset="-122"/>
                <a:cs typeface="Calibri" pitchFamily="34" charset="-120"/>
              </a:rPr>
              <a:t>Echelon 3: regional buffer</a:t>
            </a:r>
            <a:endParaRPr lang="en-US" sz="1050" dirty="0"/>
          </a:p>
        </p:txBody>
      </p:sp>
      <p:sp>
        <p:nvSpPr>
          <p:cNvPr id="20" name="Text 18"/>
          <p:cNvSpPr/>
          <p:nvPr/>
        </p:nvSpPr>
        <p:spPr>
          <a:xfrm>
            <a:off x="8800871" y="4206240"/>
            <a:ext cx="274320" cy="457200"/>
          </a:xfrm>
          <a:prstGeom prst="rect">
            <a:avLst/>
          </a:prstGeom>
          <a:noFill/>
          <a:ln/>
        </p:spPr>
        <p:txBody>
          <a:bodyPr wrap="square" lIns="0" tIns="0" rIns="0" bIns="0" rtlCol="0" anchor="ctr"/>
          <a:lstStyle/>
          <a:p>
            <a:pPr marL="0" indent="0" algn="ctr">
              <a:buNone/>
            </a:pPr>
            <a:r>
              <a:rPr lang="en-US" sz="2000" b="1" dirty="0">
                <a:solidFill>
                  <a:srgbClr val="C9962C"/>
                </a:solidFill>
                <a:latin typeface="Calibri" pitchFamily="34" charset="0"/>
                <a:ea typeface="Calibri" pitchFamily="34" charset="-122"/>
                <a:cs typeface="Calibri" pitchFamily="34" charset="-120"/>
              </a:rPr>
              <a:t>›</a:t>
            </a:r>
            <a:endParaRPr lang="en-US" sz="2000" dirty="0"/>
          </a:p>
        </p:txBody>
      </p:sp>
      <p:sp>
        <p:nvSpPr>
          <p:cNvPr id="21" name="Shape 19"/>
          <p:cNvSpPr/>
          <p:nvPr/>
        </p:nvSpPr>
        <p:spPr>
          <a:xfrm>
            <a:off x="9075191" y="3246120"/>
            <a:ext cx="2567864" cy="2377440"/>
          </a:xfrm>
          <a:prstGeom prst="roundRect">
            <a:avLst>
              <a:gd name="adj" fmla="val 2692"/>
            </a:avLst>
          </a:prstGeom>
          <a:solidFill>
            <a:srgbClr val="141A3D"/>
          </a:solidFill>
          <a:ln/>
        </p:spPr>
        <p:txBody>
          <a:bodyPr/>
          <a:lstStyle/>
          <a:p>
            <a:endParaRPr lang="en-US"/>
          </a:p>
        </p:txBody>
      </p:sp>
      <p:sp>
        <p:nvSpPr>
          <p:cNvPr id="22" name="Text 20"/>
          <p:cNvSpPr/>
          <p:nvPr/>
        </p:nvSpPr>
        <p:spPr>
          <a:xfrm>
            <a:off x="9212351" y="3355848"/>
            <a:ext cx="2293544" cy="457200"/>
          </a:xfrm>
          <a:prstGeom prst="rect">
            <a:avLst/>
          </a:prstGeom>
          <a:noFill/>
          <a:ln/>
        </p:spPr>
        <p:txBody>
          <a:bodyPr wrap="square" lIns="0" tIns="0" rIns="0" bIns="0" rtlCol="0" anchor="ctr"/>
          <a:lstStyle/>
          <a:p>
            <a:pPr marL="0" indent="0">
              <a:buNone/>
            </a:pPr>
            <a:r>
              <a:rPr lang="en-US" sz="2200" b="1" dirty="0">
                <a:solidFill>
                  <a:srgbClr val="C9962C"/>
                </a:solidFill>
                <a:latin typeface="Cambria" pitchFamily="34" charset="0"/>
                <a:ea typeface="Cambria" pitchFamily="34" charset="-122"/>
                <a:cs typeface="Cambria" pitchFamily="34" charset="-120"/>
              </a:rPr>
              <a:t>4</a:t>
            </a:r>
            <a:endParaRPr lang="en-US" sz="2200" dirty="0"/>
          </a:p>
        </p:txBody>
      </p:sp>
      <p:sp>
        <p:nvSpPr>
          <p:cNvPr id="23" name="Text 21"/>
          <p:cNvSpPr/>
          <p:nvPr/>
        </p:nvSpPr>
        <p:spPr>
          <a:xfrm>
            <a:off x="9239783" y="3867912"/>
            <a:ext cx="2238680" cy="685800"/>
          </a:xfrm>
          <a:prstGeom prst="rect">
            <a:avLst/>
          </a:prstGeom>
          <a:noFill/>
          <a:ln/>
        </p:spPr>
        <p:txBody>
          <a:bodyPr wrap="square" lIns="0" tIns="0" rIns="0" bIns="0" rtlCol="0" anchor="t"/>
          <a:lstStyle/>
          <a:p>
            <a:pPr marL="0" indent="0">
              <a:buNone/>
            </a:pPr>
            <a:r>
              <a:rPr lang="en-US" sz="1300" b="1" dirty="0">
                <a:solidFill>
                  <a:srgbClr val="FFFFFF"/>
                </a:solidFill>
                <a:latin typeface="Cambria" pitchFamily="34" charset="0"/>
                <a:ea typeface="Cambria" pitchFamily="34" charset="-122"/>
                <a:cs typeface="Cambria" pitchFamily="34" charset="-120"/>
              </a:rPr>
              <a:t>Retail Store</a:t>
            </a:r>
            <a:endParaRPr lang="en-US" sz="1300" dirty="0"/>
          </a:p>
        </p:txBody>
      </p:sp>
      <p:sp>
        <p:nvSpPr>
          <p:cNvPr id="24" name="Text 22"/>
          <p:cNvSpPr/>
          <p:nvPr/>
        </p:nvSpPr>
        <p:spPr>
          <a:xfrm>
            <a:off x="9239783" y="4617720"/>
            <a:ext cx="2238680" cy="914400"/>
          </a:xfrm>
          <a:prstGeom prst="rect">
            <a:avLst/>
          </a:prstGeom>
          <a:noFill/>
          <a:ln/>
        </p:spPr>
        <p:txBody>
          <a:bodyPr wrap="square" lIns="0" tIns="0" rIns="0" bIns="0" rtlCol="0" anchor="t"/>
          <a:lstStyle/>
          <a:p>
            <a:pPr marL="0" indent="0">
              <a:lnSpc>
                <a:spcPct val="105000"/>
              </a:lnSpc>
              <a:buNone/>
            </a:pPr>
            <a:r>
              <a:rPr lang="en-US" sz="1050" dirty="0">
                <a:solidFill>
                  <a:srgbClr val="CADCFC"/>
                </a:solidFill>
                <a:latin typeface="Calibri" pitchFamily="34" charset="0"/>
                <a:ea typeface="Calibri" pitchFamily="34" charset="-122"/>
                <a:cs typeface="Calibri" pitchFamily="34" charset="-120"/>
              </a:rPr>
              <a:t>Echelon 4: customer-facing</a:t>
            </a:r>
            <a:endParaRPr lang="en-US" sz="1050" dirty="0"/>
          </a:p>
        </p:txBody>
      </p:sp>
      <p:sp>
        <p:nvSpPr>
          <p:cNvPr id="25" name="Text 23"/>
          <p:cNvSpPr/>
          <p:nvPr/>
        </p:nvSpPr>
        <p:spPr>
          <a:xfrm>
            <a:off x="11551615" y="6446520"/>
            <a:ext cx="457200" cy="274320"/>
          </a:xfrm>
          <a:prstGeom prst="rect">
            <a:avLst/>
          </a:prstGeom>
          <a:noFill/>
          <a:ln/>
        </p:spPr>
        <p:txBody>
          <a:bodyPr wrap="square" lIns="0" tIns="0" rIns="0" bIns="0" rtlCol="0" anchor="ctr"/>
          <a:lstStyle/>
          <a:p>
            <a:pPr marL="0" indent="0" algn="r">
              <a:buNone/>
            </a:pPr>
            <a:r>
              <a:rPr lang="en-US" sz="1000" dirty="0">
                <a:solidFill>
                  <a:srgbClr val="5A6B8C"/>
                </a:solidFill>
                <a:latin typeface="Calibri" pitchFamily="34" charset="0"/>
                <a:ea typeface="Calibri" pitchFamily="34" charset="-122"/>
                <a:cs typeface="Calibri" pitchFamily="34" charset="-120"/>
              </a:rPr>
              <a:t>28</a:t>
            </a:r>
            <a:endParaRPr lang="en-US" sz="1000" dirty="0"/>
          </a:p>
        </p:txBody>
      </p:sp>
      <p:sp>
        <p:nvSpPr>
          <p:cNvPr id="27" name="Oval 26">
            <a:extLst>
              <a:ext uri="{FF2B5EF4-FFF2-40B4-BE49-F238E27FC236}">
                <a16:creationId xmlns:a16="http://schemas.microsoft.com/office/drawing/2014/main" id="{62C88F4E-48E8-EB46-7D26-3C9B494DDEDD}"/>
              </a:ext>
            </a:extLst>
          </p:cNvPr>
          <p:cNvSpPr/>
          <p:nvPr/>
        </p:nvSpPr>
        <p:spPr>
          <a:xfrm>
            <a:off x="9075191" y="21952"/>
            <a:ext cx="3142211" cy="1184412"/>
          </a:xfrm>
          <a:prstGeom prst="ellipse">
            <a:avLst/>
          </a:prstGeom>
          <a:solidFill>
            <a:schemeClr val="accent2">
              <a:lumMod val="60000"/>
              <a:lumOff val="4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5BCAC9BF-3F95-B0C9-C122-4F3E997E2D5F}"/>
              </a:ext>
            </a:extLst>
          </p:cNvPr>
          <p:cNvSpPr txBox="1"/>
          <p:nvPr/>
        </p:nvSpPr>
        <p:spPr>
          <a:xfrm>
            <a:off x="9416012" y="352548"/>
            <a:ext cx="2460567" cy="523220"/>
          </a:xfrm>
          <a:prstGeom prst="rect">
            <a:avLst/>
          </a:prstGeom>
          <a:noFill/>
        </p:spPr>
        <p:txBody>
          <a:bodyPr wrap="square" rtlCol="0">
            <a:spAutoFit/>
          </a:bodyPr>
          <a:lstStyle/>
          <a:p>
            <a:r>
              <a:rPr lang="en-US" sz="2800" b="1" dirty="0"/>
              <a:t>Important slide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EEF3FC"/>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C9962C"/>
                </a:solidFill>
                <a:latin typeface="Calibri" pitchFamily="34" charset="0"/>
                <a:ea typeface="Calibri" pitchFamily="34" charset="-122"/>
                <a:cs typeface="Calibri" pitchFamily="34" charset="-120"/>
              </a:rPr>
              <a:t>MULTI-ECHELON</a:t>
            </a:r>
            <a:endParaRPr lang="en-US" sz="1200" dirty="0"/>
          </a:p>
        </p:txBody>
      </p:sp>
      <p:sp>
        <p:nvSpPr>
          <p:cNvPr id="3" name="Text 1"/>
          <p:cNvSpPr/>
          <p:nvPr/>
        </p:nvSpPr>
        <p:spPr>
          <a:xfrm>
            <a:off x="548640" y="621792"/>
            <a:ext cx="10515600" cy="73152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The Structure of a Multi-Echelon Network</a:t>
            </a:r>
            <a:endParaRPr lang="en-US" sz="2800" dirty="0"/>
          </a:p>
        </p:txBody>
      </p:sp>
      <p:sp>
        <p:nvSpPr>
          <p:cNvPr id="4" name="Shape 2"/>
          <p:cNvSpPr/>
          <p:nvPr/>
        </p:nvSpPr>
        <p:spPr>
          <a:xfrm>
            <a:off x="566928" y="1298448"/>
            <a:ext cx="914400" cy="0"/>
          </a:xfrm>
          <a:prstGeom prst="line">
            <a:avLst/>
          </a:prstGeom>
          <a:noFill/>
          <a:ln w="31750">
            <a:solidFill>
              <a:srgbClr val="C9962C"/>
            </a:solidFill>
            <a:prstDash val="solid"/>
          </a:ln>
        </p:spPr>
        <p:txBody>
          <a:bodyPr/>
          <a:lstStyle/>
          <a:p>
            <a:endParaRPr lang="en-US"/>
          </a:p>
        </p:txBody>
      </p:sp>
      <p:sp>
        <p:nvSpPr>
          <p:cNvPr id="5" name="Shape 3"/>
          <p:cNvSpPr/>
          <p:nvPr/>
        </p:nvSpPr>
        <p:spPr>
          <a:xfrm>
            <a:off x="640080" y="1691640"/>
            <a:ext cx="566928" cy="566928"/>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6" name="Image 0" descr="/home/claude/demand-mgmt-ppt/icons/factory.png"/>
          <p:cNvPicPr>
            <a:picLocks noChangeAspect="1"/>
          </p:cNvPicPr>
          <p:nvPr/>
        </p:nvPicPr>
        <p:blipFill>
          <a:blip r:embed="rId3"/>
          <a:stretch>
            <a:fillRect/>
          </a:stretch>
        </p:blipFill>
        <p:spPr>
          <a:xfrm>
            <a:off x="781812" y="1833372"/>
            <a:ext cx="283464" cy="283464"/>
          </a:xfrm>
          <a:prstGeom prst="rect">
            <a:avLst/>
          </a:prstGeom>
        </p:spPr>
      </p:pic>
      <p:sp>
        <p:nvSpPr>
          <p:cNvPr id="7" name="Text 4"/>
          <p:cNvSpPr/>
          <p:nvPr/>
        </p:nvSpPr>
        <p:spPr>
          <a:xfrm>
            <a:off x="1463040" y="1664208"/>
            <a:ext cx="10040112" cy="32004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Upstream Echelon (Plant / Supplier)</a:t>
            </a:r>
            <a:endParaRPr lang="en-US" sz="1600" dirty="0"/>
          </a:p>
        </p:txBody>
      </p:sp>
      <p:sp>
        <p:nvSpPr>
          <p:cNvPr id="8" name="Text 5"/>
          <p:cNvSpPr/>
          <p:nvPr/>
        </p:nvSpPr>
        <p:spPr>
          <a:xfrm>
            <a:off x="1463040" y="1984248"/>
            <a:ext cx="10040112" cy="640080"/>
          </a:xfrm>
          <a:prstGeom prst="rect">
            <a:avLst/>
          </a:prstGeom>
          <a:noFill/>
          <a:ln/>
        </p:spPr>
        <p:txBody>
          <a:bodyPr wrap="square" lIns="0" tIns="0" rIns="0" bIns="0" rtlCol="0" anchor="t"/>
          <a:lstStyle/>
          <a:p>
            <a:pPr marL="0" indent="0">
              <a:lnSpc>
                <a:spcPct val="105000"/>
              </a:lnSpc>
              <a:buNone/>
            </a:pPr>
            <a:r>
              <a:rPr lang="en-US" sz="1250" dirty="0">
                <a:solidFill>
                  <a:srgbClr val="5A6B8C"/>
                </a:solidFill>
                <a:latin typeface="Calibri" pitchFamily="34" charset="0"/>
                <a:ea typeface="Calibri" pitchFamily="34" charset="-122"/>
                <a:cs typeface="Calibri" pitchFamily="34" charset="-120"/>
              </a:rPr>
              <a:t>Holds raw material and finished-goods buffer stock; the source of all downstream replenishment.</a:t>
            </a:r>
            <a:endParaRPr lang="en-US" sz="1250" dirty="0"/>
          </a:p>
        </p:txBody>
      </p:sp>
      <p:sp>
        <p:nvSpPr>
          <p:cNvPr id="9" name="Shape 6"/>
          <p:cNvSpPr/>
          <p:nvPr/>
        </p:nvSpPr>
        <p:spPr>
          <a:xfrm>
            <a:off x="640080" y="2697480"/>
            <a:ext cx="566928" cy="566928"/>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10" name="Image 1" descr="/home/claude/demand-mgmt-ppt/icons/warehouse.png"/>
          <p:cNvPicPr>
            <a:picLocks noChangeAspect="1"/>
          </p:cNvPicPr>
          <p:nvPr/>
        </p:nvPicPr>
        <p:blipFill>
          <a:blip r:embed="rId4"/>
          <a:stretch>
            <a:fillRect/>
          </a:stretch>
        </p:blipFill>
        <p:spPr>
          <a:xfrm>
            <a:off x="781812" y="2839212"/>
            <a:ext cx="283464" cy="283464"/>
          </a:xfrm>
          <a:prstGeom prst="rect">
            <a:avLst/>
          </a:prstGeom>
        </p:spPr>
      </p:pic>
      <p:sp>
        <p:nvSpPr>
          <p:cNvPr id="11" name="Text 7"/>
          <p:cNvSpPr/>
          <p:nvPr/>
        </p:nvSpPr>
        <p:spPr>
          <a:xfrm>
            <a:off x="1463040" y="2670048"/>
            <a:ext cx="10040112" cy="32004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Intermediate Echelon (Central / Regional DC)</a:t>
            </a:r>
            <a:endParaRPr lang="en-US" sz="1600" dirty="0"/>
          </a:p>
        </p:txBody>
      </p:sp>
      <p:sp>
        <p:nvSpPr>
          <p:cNvPr id="12" name="Text 8"/>
          <p:cNvSpPr/>
          <p:nvPr/>
        </p:nvSpPr>
        <p:spPr>
          <a:xfrm>
            <a:off x="1463040" y="2990088"/>
            <a:ext cx="10040112" cy="640080"/>
          </a:xfrm>
          <a:prstGeom prst="rect">
            <a:avLst/>
          </a:prstGeom>
          <a:noFill/>
          <a:ln/>
        </p:spPr>
        <p:txBody>
          <a:bodyPr wrap="square" lIns="0" tIns="0" rIns="0" bIns="0" rtlCol="0" anchor="t"/>
          <a:lstStyle/>
          <a:p>
            <a:pPr marL="0" indent="0">
              <a:lnSpc>
                <a:spcPct val="105000"/>
              </a:lnSpc>
              <a:buNone/>
            </a:pPr>
            <a:r>
              <a:rPr lang="en-US" sz="1250" dirty="0">
                <a:solidFill>
                  <a:srgbClr val="5A6B8C"/>
                </a:solidFill>
                <a:latin typeface="Calibri" pitchFamily="34" charset="0"/>
                <a:ea typeface="Calibri" pitchFamily="34" charset="-122"/>
                <a:cs typeface="Calibri" pitchFamily="34" charset="-120"/>
              </a:rPr>
              <a:t>Aggregates demand across a region, pooling risk and smoothing variability before it reaches stores.</a:t>
            </a:r>
            <a:endParaRPr lang="en-US" sz="1250" dirty="0"/>
          </a:p>
        </p:txBody>
      </p:sp>
      <p:sp>
        <p:nvSpPr>
          <p:cNvPr id="13" name="Shape 9"/>
          <p:cNvSpPr/>
          <p:nvPr/>
        </p:nvSpPr>
        <p:spPr>
          <a:xfrm>
            <a:off x="640080" y="3703320"/>
            <a:ext cx="566928" cy="566928"/>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14" name="Image 2" descr="/home/claude/demand-mgmt-ppt/icons/store.png"/>
          <p:cNvPicPr>
            <a:picLocks noChangeAspect="1"/>
          </p:cNvPicPr>
          <p:nvPr/>
        </p:nvPicPr>
        <p:blipFill>
          <a:blip r:embed="rId5"/>
          <a:stretch>
            <a:fillRect/>
          </a:stretch>
        </p:blipFill>
        <p:spPr>
          <a:xfrm>
            <a:off x="781812" y="3845052"/>
            <a:ext cx="283464" cy="283464"/>
          </a:xfrm>
          <a:prstGeom prst="rect">
            <a:avLst/>
          </a:prstGeom>
        </p:spPr>
      </p:pic>
      <p:sp>
        <p:nvSpPr>
          <p:cNvPr id="15" name="Text 10"/>
          <p:cNvSpPr/>
          <p:nvPr/>
        </p:nvSpPr>
        <p:spPr>
          <a:xfrm>
            <a:off x="1463040" y="3675888"/>
            <a:ext cx="10040112" cy="32004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Downstream Echelon (Retail / Point of Sale)</a:t>
            </a:r>
            <a:endParaRPr lang="en-US" sz="1600" dirty="0"/>
          </a:p>
        </p:txBody>
      </p:sp>
      <p:sp>
        <p:nvSpPr>
          <p:cNvPr id="16" name="Text 11"/>
          <p:cNvSpPr/>
          <p:nvPr/>
        </p:nvSpPr>
        <p:spPr>
          <a:xfrm>
            <a:off x="1463040" y="3995928"/>
            <a:ext cx="10040112" cy="640080"/>
          </a:xfrm>
          <a:prstGeom prst="rect">
            <a:avLst/>
          </a:prstGeom>
          <a:noFill/>
          <a:ln/>
        </p:spPr>
        <p:txBody>
          <a:bodyPr wrap="square" lIns="0" tIns="0" rIns="0" bIns="0" rtlCol="0" anchor="t"/>
          <a:lstStyle/>
          <a:p>
            <a:pPr marL="0" indent="0">
              <a:lnSpc>
                <a:spcPct val="105000"/>
              </a:lnSpc>
              <a:buNone/>
            </a:pPr>
            <a:r>
              <a:rPr lang="en-US" sz="1250" dirty="0">
                <a:solidFill>
                  <a:srgbClr val="5A6B8C"/>
                </a:solidFill>
                <a:latin typeface="Calibri" pitchFamily="34" charset="0"/>
                <a:ea typeface="Calibri" pitchFamily="34" charset="-122"/>
                <a:cs typeface="Calibri" pitchFamily="34" charset="-120"/>
              </a:rPr>
              <a:t>Closest to the customer; holds the least stock but faces the most direct demand uncertainty.</a:t>
            </a:r>
            <a:endParaRPr lang="en-US" sz="1250" dirty="0"/>
          </a:p>
        </p:txBody>
      </p:sp>
      <p:sp>
        <p:nvSpPr>
          <p:cNvPr id="17" name="Shape 12"/>
          <p:cNvSpPr/>
          <p:nvPr/>
        </p:nvSpPr>
        <p:spPr>
          <a:xfrm>
            <a:off x="640080" y="4709160"/>
            <a:ext cx="566928" cy="566928"/>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18" name="Image 3" descr="/home/claude/demand-mgmt-ppt/icons/route.png"/>
          <p:cNvPicPr>
            <a:picLocks noChangeAspect="1"/>
          </p:cNvPicPr>
          <p:nvPr/>
        </p:nvPicPr>
        <p:blipFill>
          <a:blip r:embed="rId6"/>
          <a:stretch>
            <a:fillRect/>
          </a:stretch>
        </p:blipFill>
        <p:spPr>
          <a:xfrm>
            <a:off x="781812" y="4850892"/>
            <a:ext cx="283464" cy="283464"/>
          </a:xfrm>
          <a:prstGeom prst="rect">
            <a:avLst/>
          </a:prstGeom>
        </p:spPr>
      </p:pic>
      <p:sp>
        <p:nvSpPr>
          <p:cNvPr id="19" name="Text 13"/>
          <p:cNvSpPr/>
          <p:nvPr/>
        </p:nvSpPr>
        <p:spPr>
          <a:xfrm>
            <a:off x="1463040" y="4681728"/>
            <a:ext cx="10040112" cy="32004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Inter-Echelon Flows</a:t>
            </a:r>
            <a:endParaRPr lang="en-US" sz="1600" dirty="0"/>
          </a:p>
        </p:txBody>
      </p:sp>
      <p:sp>
        <p:nvSpPr>
          <p:cNvPr id="20" name="Text 14"/>
          <p:cNvSpPr/>
          <p:nvPr/>
        </p:nvSpPr>
        <p:spPr>
          <a:xfrm>
            <a:off x="1463040" y="5001768"/>
            <a:ext cx="10040112" cy="640080"/>
          </a:xfrm>
          <a:prstGeom prst="rect">
            <a:avLst/>
          </a:prstGeom>
          <a:noFill/>
          <a:ln/>
        </p:spPr>
        <p:txBody>
          <a:bodyPr wrap="square" lIns="0" tIns="0" rIns="0" bIns="0" rtlCol="0" anchor="t"/>
          <a:lstStyle/>
          <a:p>
            <a:pPr marL="0" indent="0">
              <a:lnSpc>
                <a:spcPct val="105000"/>
              </a:lnSpc>
              <a:buNone/>
            </a:pPr>
            <a:r>
              <a:rPr lang="en-US" sz="1250" dirty="0">
                <a:solidFill>
                  <a:srgbClr val="5A6B8C"/>
                </a:solidFill>
                <a:latin typeface="Calibri" pitchFamily="34" charset="0"/>
                <a:ea typeface="Calibri" pitchFamily="34" charset="-122"/>
                <a:cs typeface="Calibri" pitchFamily="34" charset="-120"/>
              </a:rPr>
              <a:t>Replenishment orders flow upward as information; product flows downward as physical stock.</a:t>
            </a:r>
            <a:endParaRPr lang="en-US" sz="1250" dirty="0"/>
          </a:p>
        </p:txBody>
      </p:sp>
      <p:sp>
        <p:nvSpPr>
          <p:cNvPr id="21" name="Text 15"/>
          <p:cNvSpPr/>
          <p:nvPr/>
        </p:nvSpPr>
        <p:spPr>
          <a:xfrm>
            <a:off x="11551615" y="6446520"/>
            <a:ext cx="457200" cy="274320"/>
          </a:xfrm>
          <a:prstGeom prst="rect">
            <a:avLst/>
          </a:prstGeom>
          <a:noFill/>
          <a:ln/>
        </p:spPr>
        <p:txBody>
          <a:bodyPr wrap="square" lIns="0" tIns="0" rIns="0" bIns="0" rtlCol="0" anchor="ctr"/>
          <a:lstStyle/>
          <a:p>
            <a:pPr marL="0" indent="0" algn="r">
              <a:buNone/>
            </a:pPr>
            <a:r>
              <a:rPr lang="en-US" sz="1000" dirty="0">
                <a:solidFill>
                  <a:srgbClr val="5A6B8C"/>
                </a:solidFill>
                <a:latin typeface="Calibri" pitchFamily="34" charset="0"/>
                <a:ea typeface="Calibri" pitchFamily="34" charset="-122"/>
                <a:cs typeface="Calibri" pitchFamily="34" charset="-120"/>
              </a:rPr>
              <a:t>29</a:t>
            </a:r>
            <a:endParaRPr lang="en-US" sz="1000" dirty="0"/>
          </a:p>
        </p:txBody>
      </p:sp>
      <p:sp>
        <p:nvSpPr>
          <p:cNvPr id="23" name="Oval 22">
            <a:extLst>
              <a:ext uri="{FF2B5EF4-FFF2-40B4-BE49-F238E27FC236}">
                <a16:creationId xmlns:a16="http://schemas.microsoft.com/office/drawing/2014/main" id="{5C86CAC6-FD78-9673-782F-AFD842E762DE}"/>
              </a:ext>
            </a:extLst>
          </p:cNvPr>
          <p:cNvSpPr/>
          <p:nvPr/>
        </p:nvSpPr>
        <p:spPr>
          <a:xfrm>
            <a:off x="8866604" y="47874"/>
            <a:ext cx="3142211" cy="1184412"/>
          </a:xfrm>
          <a:prstGeom prst="ellipse">
            <a:avLst/>
          </a:prstGeom>
          <a:solidFill>
            <a:schemeClr val="accent2">
              <a:lumMod val="60000"/>
              <a:lumOff val="4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7FA16E3A-E052-338C-F680-A2C5E6F885A9}"/>
              </a:ext>
            </a:extLst>
          </p:cNvPr>
          <p:cNvSpPr txBox="1"/>
          <p:nvPr/>
        </p:nvSpPr>
        <p:spPr>
          <a:xfrm>
            <a:off x="9207425" y="378470"/>
            <a:ext cx="2460567" cy="523220"/>
          </a:xfrm>
          <a:prstGeom prst="rect">
            <a:avLst/>
          </a:prstGeom>
          <a:noFill/>
        </p:spPr>
        <p:txBody>
          <a:bodyPr wrap="square" rtlCol="0">
            <a:spAutoFit/>
          </a:bodyPr>
          <a:lstStyle/>
          <a:p>
            <a:r>
              <a:rPr lang="en-US" sz="2800" b="1" dirty="0"/>
              <a:t>Important slide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C9962C"/>
                </a:solidFill>
                <a:latin typeface="Calibri" pitchFamily="34" charset="0"/>
                <a:ea typeface="Calibri" pitchFamily="34" charset="-122"/>
                <a:cs typeface="Calibri" pitchFamily="34" charset="-120"/>
              </a:rPr>
              <a:t>MULTI-ECHELON</a:t>
            </a:r>
            <a:endParaRPr lang="en-US" sz="1200" dirty="0"/>
          </a:p>
        </p:txBody>
      </p:sp>
      <p:sp>
        <p:nvSpPr>
          <p:cNvPr id="3" name="Text 1"/>
          <p:cNvSpPr/>
          <p:nvPr/>
        </p:nvSpPr>
        <p:spPr>
          <a:xfrm>
            <a:off x="548640" y="621792"/>
            <a:ext cx="10515600" cy="73152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Why Multi-Echelon Beats a Single Warehouse</a:t>
            </a:r>
            <a:endParaRPr lang="en-US" sz="2800" dirty="0"/>
          </a:p>
        </p:txBody>
      </p:sp>
      <p:sp>
        <p:nvSpPr>
          <p:cNvPr id="4" name="Shape 2"/>
          <p:cNvSpPr/>
          <p:nvPr/>
        </p:nvSpPr>
        <p:spPr>
          <a:xfrm>
            <a:off x="566928" y="1298448"/>
            <a:ext cx="914400" cy="0"/>
          </a:xfrm>
          <a:prstGeom prst="line">
            <a:avLst/>
          </a:prstGeom>
          <a:noFill/>
          <a:ln w="31750">
            <a:solidFill>
              <a:srgbClr val="C9962C"/>
            </a:solidFill>
            <a:prstDash val="solid"/>
          </a:ln>
        </p:spPr>
        <p:txBody>
          <a:bodyPr/>
          <a:lstStyle/>
          <a:p>
            <a:endParaRPr lang="en-US"/>
          </a:p>
        </p:txBody>
      </p:sp>
      <p:sp>
        <p:nvSpPr>
          <p:cNvPr id="5" name="Shape 3"/>
          <p:cNvSpPr/>
          <p:nvPr/>
        </p:nvSpPr>
        <p:spPr>
          <a:xfrm>
            <a:off x="548640" y="1737360"/>
            <a:ext cx="2567864" cy="2148840"/>
          </a:xfrm>
          <a:prstGeom prst="roundRect">
            <a:avLst>
              <a:gd name="adj" fmla="val 3404"/>
            </a:avLst>
          </a:prstGeom>
          <a:solidFill>
            <a:srgbClr val="FFFFFF"/>
          </a:solidFill>
          <a:ln w="12700">
            <a:solidFill>
              <a:srgbClr val="D7E0F5"/>
            </a:solidFill>
            <a:prstDash val="solid"/>
          </a:ln>
          <a:effectLst>
            <a:outerShdw blurRad="101600" dist="25400" dir="5400000" algn="bl" rotWithShape="0">
              <a:srgbClr val="1E2761">
                <a:alpha val="10000"/>
              </a:srgbClr>
            </a:outerShdw>
          </a:effectLst>
        </p:spPr>
        <p:txBody>
          <a:bodyPr/>
          <a:lstStyle/>
          <a:p>
            <a:endParaRPr lang="en-US"/>
          </a:p>
        </p:txBody>
      </p:sp>
      <p:sp>
        <p:nvSpPr>
          <p:cNvPr id="6" name="Shape 4"/>
          <p:cNvSpPr/>
          <p:nvPr/>
        </p:nvSpPr>
        <p:spPr>
          <a:xfrm>
            <a:off x="754380" y="1943100"/>
            <a:ext cx="502920" cy="502920"/>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7" name="Image 0" descr="/home/claude/demand-mgmt-ppt/icons/balance.png"/>
          <p:cNvPicPr>
            <a:picLocks noChangeAspect="1"/>
          </p:cNvPicPr>
          <p:nvPr/>
        </p:nvPicPr>
        <p:blipFill>
          <a:blip r:embed="rId3"/>
          <a:stretch>
            <a:fillRect/>
          </a:stretch>
        </p:blipFill>
        <p:spPr>
          <a:xfrm>
            <a:off x="880110" y="2068830"/>
            <a:ext cx="251460" cy="251460"/>
          </a:xfrm>
          <a:prstGeom prst="rect">
            <a:avLst/>
          </a:prstGeom>
        </p:spPr>
      </p:pic>
      <p:sp>
        <p:nvSpPr>
          <p:cNvPr id="8" name="Text 5"/>
          <p:cNvSpPr/>
          <p:nvPr/>
        </p:nvSpPr>
        <p:spPr>
          <a:xfrm>
            <a:off x="777240" y="2606040"/>
            <a:ext cx="2110664" cy="41148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Risk Pooling</a:t>
            </a:r>
            <a:endParaRPr lang="en-US" sz="1450" dirty="0"/>
          </a:p>
        </p:txBody>
      </p:sp>
      <p:sp>
        <p:nvSpPr>
          <p:cNvPr id="9" name="Text 6"/>
          <p:cNvSpPr/>
          <p:nvPr/>
        </p:nvSpPr>
        <p:spPr>
          <a:xfrm>
            <a:off x="777240" y="3017520"/>
            <a:ext cx="2110664" cy="731520"/>
          </a:xfrm>
          <a:prstGeom prst="rect">
            <a:avLst/>
          </a:prstGeom>
          <a:noFill/>
          <a:ln/>
        </p:spPr>
        <p:txBody>
          <a:bodyPr wrap="square" lIns="0" tIns="0" rIns="0" bIns="0" rtlCol="0" anchor="t"/>
          <a:lstStyle/>
          <a:p>
            <a:pPr marL="0" indent="0">
              <a:lnSpc>
                <a:spcPct val="105000"/>
              </a:lnSpc>
              <a:buNone/>
            </a:pPr>
            <a:r>
              <a:rPr lang="en-US" sz="1150" dirty="0">
                <a:solidFill>
                  <a:srgbClr val="5A6B8C"/>
                </a:solidFill>
                <a:latin typeface="Calibri" pitchFamily="34" charset="0"/>
                <a:ea typeface="Calibri" pitchFamily="34" charset="-122"/>
                <a:cs typeface="Calibri" pitchFamily="34" charset="-120"/>
              </a:rPr>
              <a:t>Aggregating demand at a regional DC smooths out store-level variability, needing less total safety stock.</a:t>
            </a:r>
            <a:endParaRPr lang="en-US" sz="1150" dirty="0"/>
          </a:p>
        </p:txBody>
      </p:sp>
      <p:sp>
        <p:nvSpPr>
          <p:cNvPr id="10" name="Shape 7"/>
          <p:cNvSpPr/>
          <p:nvPr/>
        </p:nvSpPr>
        <p:spPr>
          <a:xfrm>
            <a:off x="3390824" y="1737360"/>
            <a:ext cx="2567864" cy="2148840"/>
          </a:xfrm>
          <a:prstGeom prst="roundRect">
            <a:avLst>
              <a:gd name="adj" fmla="val 3404"/>
            </a:avLst>
          </a:prstGeom>
          <a:solidFill>
            <a:srgbClr val="FFFFFF"/>
          </a:solidFill>
          <a:ln w="12700">
            <a:solidFill>
              <a:srgbClr val="D7E0F5"/>
            </a:solidFill>
            <a:prstDash val="solid"/>
          </a:ln>
          <a:effectLst>
            <a:outerShdw blurRad="101600" dist="25400" dir="5400000" algn="bl" rotWithShape="0">
              <a:srgbClr val="1E2761">
                <a:alpha val="10000"/>
              </a:srgbClr>
            </a:outerShdw>
          </a:effectLst>
        </p:spPr>
        <p:txBody>
          <a:bodyPr/>
          <a:lstStyle/>
          <a:p>
            <a:endParaRPr lang="en-US"/>
          </a:p>
        </p:txBody>
      </p:sp>
      <p:sp>
        <p:nvSpPr>
          <p:cNvPr id="11" name="Shape 8"/>
          <p:cNvSpPr/>
          <p:nvPr/>
        </p:nvSpPr>
        <p:spPr>
          <a:xfrm>
            <a:off x="3596564" y="1943100"/>
            <a:ext cx="502920" cy="502920"/>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12" name="Image 1" descr="/home/claude/demand-mgmt-ppt/icons/boxes.png"/>
          <p:cNvPicPr>
            <a:picLocks noChangeAspect="1"/>
          </p:cNvPicPr>
          <p:nvPr/>
        </p:nvPicPr>
        <p:blipFill>
          <a:blip r:embed="rId4"/>
          <a:stretch>
            <a:fillRect/>
          </a:stretch>
        </p:blipFill>
        <p:spPr>
          <a:xfrm>
            <a:off x="3722294" y="2068830"/>
            <a:ext cx="251460" cy="251460"/>
          </a:xfrm>
          <a:prstGeom prst="rect">
            <a:avLst/>
          </a:prstGeom>
        </p:spPr>
      </p:pic>
      <p:sp>
        <p:nvSpPr>
          <p:cNvPr id="13" name="Text 9"/>
          <p:cNvSpPr/>
          <p:nvPr/>
        </p:nvSpPr>
        <p:spPr>
          <a:xfrm>
            <a:off x="3619424" y="2606040"/>
            <a:ext cx="2110664" cy="41148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Lower System-Wide Inventory</a:t>
            </a:r>
            <a:endParaRPr lang="en-US" sz="1450" dirty="0"/>
          </a:p>
        </p:txBody>
      </p:sp>
      <p:sp>
        <p:nvSpPr>
          <p:cNvPr id="14" name="Text 10"/>
          <p:cNvSpPr/>
          <p:nvPr/>
        </p:nvSpPr>
        <p:spPr>
          <a:xfrm>
            <a:off x="3619424" y="3017520"/>
            <a:ext cx="2110664" cy="731520"/>
          </a:xfrm>
          <a:prstGeom prst="rect">
            <a:avLst/>
          </a:prstGeom>
          <a:noFill/>
          <a:ln/>
        </p:spPr>
        <p:txBody>
          <a:bodyPr wrap="square" lIns="0" tIns="0" rIns="0" bIns="0" rtlCol="0" anchor="t"/>
          <a:lstStyle/>
          <a:p>
            <a:pPr marL="0" indent="0">
              <a:lnSpc>
                <a:spcPct val="105000"/>
              </a:lnSpc>
              <a:buNone/>
            </a:pPr>
            <a:r>
              <a:rPr lang="en-US" sz="1150" dirty="0">
                <a:solidFill>
                  <a:srgbClr val="5A6B8C"/>
                </a:solidFill>
                <a:latin typeface="Calibri" pitchFamily="34" charset="0"/>
                <a:ea typeface="Calibri" pitchFamily="34" charset="-122"/>
                <a:cs typeface="Calibri" pitchFamily="34" charset="-120"/>
              </a:rPr>
              <a:t>Stock is held at the echelon best positioned to absorb its specific type of uncertainty.</a:t>
            </a:r>
            <a:endParaRPr lang="en-US" sz="1150" dirty="0"/>
          </a:p>
        </p:txBody>
      </p:sp>
      <p:sp>
        <p:nvSpPr>
          <p:cNvPr id="15" name="Shape 11"/>
          <p:cNvSpPr/>
          <p:nvPr/>
        </p:nvSpPr>
        <p:spPr>
          <a:xfrm>
            <a:off x="6233008" y="1737360"/>
            <a:ext cx="2567864" cy="2148840"/>
          </a:xfrm>
          <a:prstGeom prst="roundRect">
            <a:avLst>
              <a:gd name="adj" fmla="val 3404"/>
            </a:avLst>
          </a:prstGeom>
          <a:solidFill>
            <a:srgbClr val="FFFFFF"/>
          </a:solidFill>
          <a:ln w="12700">
            <a:solidFill>
              <a:srgbClr val="D7E0F5"/>
            </a:solidFill>
            <a:prstDash val="solid"/>
          </a:ln>
          <a:effectLst>
            <a:outerShdw blurRad="101600" dist="25400" dir="5400000" algn="bl" rotWithShape="0">
              <a:srgbClr val="1E2761">
                <a:alpha val="10000"/>
              </a:srgbClr>
            </a:outerShdw>
          </a:effectLst>
        </p:spPr>
        <p:txBody>
          <a:bodyPr/>
          <a:lstStyle/>
          <a:p>
            <a:endParaRPr lang="en-US"/>
          </a:p>
        </p:txBody>
      </p:sp>
      <p:sp>
        <p:nvSpPr>
          <p:cNvPr id="16" name="Shape 12"/>
          <p:cNvSpPr/>
          <p:nvPr/>
        </p:nvSpPr>
        <p:spPr>
          <a:xfrm>
            <a:off x="6438748" y="1943100"/>
            <a:ext cx="502920" cy="502920"/>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17" name="Image 2" descr="/home/claude/demand-mgmt-ppt/icons/clock.png"/>
          <p:cNvPicPr>
            <a:picLocks noChangeAspect="1"/>
          </p:cNvPicPr>
          <p:nvPr/>
        </p:nvPicPr>
        <p:blipFill>
          <a:blip r:embed="rId5"/>
          <a:stretch>
            <a:fillRect/>
          </a:stretch>
        </p:blipFill>
        <p:spPr>
          <a:xfrm>
            <a:off x="6564478" y="2068830"/>
            <a:ext cx="251460" cy="251460"/>
          </a:xfrm>
          <a:prstGeom prst="rect">
            <a:avLst/>
          </a:prstGeom>
        </p:spPr>
      </p:pic>
      <p:sp>
        <p:nvSpPr>
          <p:cNvPr id="18" name="Text 13"/>
          <p:cNvSpPr/>
          <p:nvPr/>
        </p:nvSpPr>
        <p:spPr>
          <a:xfrm>
            <a:off x="6461608" y="2606040"/>
            <a:ext cx="2110664" cy="41148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Faster Local Response</a:t>
            </a:r>
            <a:endParaRPr lang="en-US" sz="1450" dirty="0"/>
          </a:p>
        </p:txBody>
      </p:sp>
      <p:sp>
        <p:nvSpPr>
          <p:cNvPr id="19" name="Text 14"/>
          <p:cNvSpPr/>
          <p:nvPr/>
        </p:nvSpPr>
        <p:spPr>
          <a:xfrm>
            <a:off x="6461608" y="3017520"/>
            <a:ext cx="2110664" cy="731520"/>
          </a:xfrm>
          <a:prstGeom prst="rect">
            <a:avLst/>
          </a:prstGeom>
          <a:noFill/>
          <a:ln/>
        </p:spPr>
        <p:txBody>
          <a:bodyPr wrap="square" lIns="0" tIns="0" rIns="0" bIns="0" rtlCol="0" anchor="t"/>
          <a:lstStyle/>
          <a:p>
            <a:pPr marL="0" indent="0">
              <a:lnSpc>
                <a:spcPct val="105000"/>
              </a:lnSpc>
              <a:buNone/>
            </a:pPr>
            <a:r>
              <a:rPr lang="en-US" sz="1150" dirty="0">
                <a:solidFill>
                  <a:srgbClr val="5A6B8C"/>
                </a:solidFill>
                <a:latin typeface="Calibri" pitchFamily="34" charset="0"/>
                <a:ea typeface="Calibri" pitchFamily="34" charset="-122"/>
                <a:cs typeface="Calibri" pitchFamily="34" charset="-120"/>
              </a:rPr>
              <a:t>Downstream echelons still respond quickly to local demand without waiting on the factory.</a:t>
            </a:r>
            <a:endParaRPr lang="en-US" sz="1150" dirty="0"/>
          </a:p>
        </p:txBody>
      </p:sp>
      <p:sp>
        <p:nvSpPr>
          <p:cNvPr id="20" name="Shape 15"/>
          <p:cNvSpPr/>
          <p:nvPr/>
        </p:nvSpPr>
        <p:spPr>
          <a:xfrm>
            <a:off x="9075191" y="1737360"/>
            <a:ext cx="2567864" cy="2148840"/>
          </a:xfrm>
          <a:prstGeom prst="roundRect">
            <a:avLst>
              <a:gd name="adj" fmla="val 3404"/>
            </a:avLst>
          </a:prstGeom>
          <a:solidFill>
            <a:srgbClr val="FFFFFF"/>
          </a:solidFill>
          <a:ln w="12700">
            <a:solidFill>
              <a:srgbClr val="D7E0F5"/>
            </a:solidFill>
            <a:prstDash val="solid"/>
          </a:ln>
          <a:effectLst>
            <a:outerShdw blurRad="101600" dist="25400" dir="5400000" algn="bl" rotWithShape="0">
              <a:srgbClr val="1E2761">
                <a:alpha val="10000"/>
              </a:srgbClr>
            </a:outerShdw>
          </a:effectLst>
        </p:spPr>
        <p:txBody>
          <a:bodyPr/>
          <a:lstStyle/>
          <a:p>
            <a:endParaRPr lang="en-US"/>
          </a:p>
        </p:txBody>
      </p:sp>
      <p:sp>
        <p:nvSpPr>
          <p:cNvPr id="21" name="Shape 16"/>
          <p:cNvSpPr/>
          <p:nvPr/>
        </p:nvSpPr>
        <p:spPr>
          <a:xfrm>
            <a:off x="9280931" y="1943100"/>
            <a:ext cx="502920" cy="502920"/>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22" name="Image 3" descr="/home/claude/demand-mgmt-ppt/icons/globe.png"/>
          <p:cNvPicPr>
            <a:picLocks noChangeAspect="1"/>
          </p:cNvPicPr>
          <p:nvPr/>
        </p:nvPicPr>
        <p:blipFill>
          <a:blip r:embed="rId6"/>
          <a:stretch>
            <a:fillRect/>
          </a:stretch>
        </p:blipFill>
        <p:spPr>
          <a:xfrm>
            <a:off x="9406661" y="2068830"/>
            <a:ext cx="251460" cy="251460"/>
          </a:xfrm>
          <a:prstGeom prst="rect">
            <a:avLst/>
          </a:prstGeom>
        </p:spPr>
      </p:pic>
      <p:sp>
        <p:nvSpPr>
          <p:cNvPr id="23" name="Text 17"/>
          <p:cNvSpPr/>
          <p:nvPr/>
        </p:nvSpPr>
        <p:spPr>
          <a:xfrm>
            <a:off x="9303791" y="2606040"/>
            <a:ext cx="2110664" cy="41148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Scalable Geographic Reach</a:t>
            </a:r>
            <a:endParaRPr lang="en-US" sz="1450" dirty="0"/>
          </a:p>
        </p:txBody>
      </p:sp>
      <p:sp>
        <p:nvSpPr>
          <p:cNvPr id="24" name="Text 18"/>
          <p:cNvSpPr/>
          <p:nvPr/>
        </p:nvSpPr>
        <p:spPr>
          <a:xfrm>
            <a:off x="9303791" y="3017520"/>
            <a:ext cx="2110664" cy="731520"/>
          </a:xfrm>
          <a:prstGeom prst="rect">
            <a:avLst/>
          </a:prstGeom>
          <a:noFill/>
          <a:ln/>
        </p:spPr>
        <p:txBody>
          <a:bodyPr wrap="square" lIns="0" tIns="0" rIns="0" bIns="0" rtlCol="0" anchor="t"/>
          <a:lstStyle/>
          <a:p>
            <a:pPr marL="0" indent="0">
              <a:lnSpc>
                <a:spcPct val="105000"/>
              </a:lnSpc>
              <a:buNone/>
            </a:pPr>
            <a:r>
              <a:rPr lang="en-US" sz="1150" dirty="0">
                <a:solidFill>
                  <a:srgbClr val="5A6B8C"/>
                </a:solidFill>
                <a:latin typeface="Calibri" pitchFamily="34" charset="0"/>
                <a:ea typeface="Calibri" pitchFamily="34" charset="-122"/>
                <a:cs typeface="Calibri" pitchFamily="34" charset="-120"/>
              </a:rPr>
              <a:t>New markets are added by extending the network, not rebuilding it.</a:t>
            </a:r>
            <a:endParaRPr lang="en-US" sz="1150" dirty="0"/>
          </a:p>
        </p:txBody>
      </p:sp>
      <p:sp>
        <p:nvSpPr>
          <p:cNvPr id="25" name="Text 19"/>
          <p:cNvSpPr/>
          <p:nvPr/>
        </p:nvSpPr>
        <p:spPr>
          <a:xfrm>
            <a:off x="11551615" y="6446520"/>
            <a:ext cx="457200" cy="274320"/>
          </a:xfrm>
          <a:prstGeom prst="rect">
            <a:avLst/>
          </a:prstGeom>
          <a:noFill/>
          <a:ln/>
        </p:spPr>
        <p:txBody>
          <a:bodyPr wrap="square" lIns="0" tIns="0" rIns="0" bIns="0" rtlCol="0" anchor="ctr"/>
          <a:lstStyle/>
          <a:p>
            <a:pPr marL="0" indent="0" algn="r">
              <a:buNone/>
            </a:pPr>
            <a:r>
              <a:rPr lang="en-US" sz="1000" dirty="0">
                <a:solidFill>
                  <a:srgbClr val="5A6B8C"/>
                </a:solidFill>
                <a:latin typeface="Calibri" pitchFamily="34" charset="0"/>
                <a:ea typeface="Calibri" pitchFamily="34" charset="-122"/>
                <a:cs typeface="Calibri" pitchFamily="34" charset="-120"/>
              </a:rPr>
              <a:t>30</a:t>
            </a:r>
            <a:endParaRPr lang="en-US" sz="1000" dirty="0"/>
          </a:p>
        </p:txBody>
      </p:sp>
      <p:sp>
        <p:nvSpPr>
          <p:cNvPr id="27" name="Oval 26">
            <a:extLst>
              <a:ext uri="{FF2B5EF4-FFF2-40B4-BE49-F238E27FC236}">
                <a16:creationId xmlns:a16="http://schemas.microsoft.com/office/drawing/2014/main" id="{11FEA7FB-B368-B7C4-F3A6-292CD8C52BCA}"/>
              </a:ext>
            </a:extLst>
          </p:cNvPr>
          <p:cNvSpPr/>
          <p:nvPr/>
        </p:nvSpPr>
        <p:spPr>
          <a:xfrm>
            <a:off x="8876252" y="47874"/>
            <a:ext cx="3142211" cy="1184412"/>
          </a:xfrm>
          <a:prstGeom prst="ellipse">
            <a:avLst/>
          </a:prstGeom>
          <a:solidFill>
            <a:schemeClr val="accent2">
              <a:lumMod val="60000"/>
              <a:lumOff val="4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49D60F74-FFB9-2BD7-FC96-ABEC175E80E1}"/>
              </a:ext>
            </a:extLst>
          </p:cNvPr>
          <p:cNvSpPr txBox="1"/>
          <p:nvPr/>
        </p:nvSpPr>
        <p:spPr>
          <a:xfrm>
            <a:off x="9217073" y="378470"/>
            <a:ext cx="2460567" cy="523220"/>
          </a:xfrm>
          <a:prstGeom prst="rect">
            <a:avLst/>
          </a:prstGeom>
          <a:noFill/>
        </p:spPr>
        <p:txBody>
          <a:bodyPr wrap="square" rtlCol="0">
            <a:spAutoFit/>
          </a:bodyPr>
          <a:lstStyle/>
          <a:p>
            <a:r>
              <a:rPr lang="en-US" sz="2800" b="1" dirty="0"/>
              <a:t>Important slide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bg>
      <p:bgPr>
        <a:solidFill>
          <a:srgbClr val="EEF3FC"/>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C9962C"/>
                </a:solidFill>
                <a:latin typeface="Calibri" pitchFamily="34" charset="0"/>
                <a:ea typeface="Calibri" pitchFamily="34" charset="-122"/>
                <a:cs typeface="Calibri" pitchFamily="34" charset="-120"/>
              </a:rPr>
              <a:t>MULTI-ECHELON</a:t>
            </a:r>
            <a:endParaRPr lang="en-US" sz="1200" dirty="0"/>
          </a:p>
        </p:txBody>
      </p:sp>
      <p:sp>
        <p:nvSpPr>
          <p:cNvPr id="3" name="Text 1"/>
          <p:cNvSpPr/>
          <p:nvPr/>
        </p:nvSpPr>
        <p:spPr>
          <a:xfrm>
            <a:off x="548640" y="621792"/>
            <a:ext cx="10515600" cy="73152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Multi-Echelon Inventory Optimisation (MEIO)</a:t>
            </a:r>
            <a:endParaRPr lang="en-US" sz="2800" dirty="0"/>
          </a:p>
        </p:txBody>
      </p:sp>
      <p:sp>
        <p:nvSpPr>
          <p:cNvPr id="4" name="Shape 2"/>
          <p:cNvSpPr/>
          <p:nvPr/>
        </p:nvSpPr>
        <p:spPr>
          <a:xfrm>
            <a:off x="566928" y="1298448"/>
            <a:ext cx="914400" cy="0"/>
          </a:xfrm>
          <a:prstGeom prst="line">
            <a:avLst/>
          </a:prstGeom>
          <a:noFill/>
          <a:ln w="31750">
            <a:solidFill>
              <a:srgbClr val="C9962C"/>
            </a:solidFill>
            <a:prstDash val="solid"/>
          </a:ln>
        </p:spPr>
        <p:txBody>
          <a:bodyPr/>
          <a:lstStyle/>
          <a:p>
            <a:endParaRPr lang="en-US"/>
          </a:p>
        </p:txBody>
      </p:sp>
      <p:sp>
        <p:nvSpPr>
          <p:cNvPr id="5" name="Text 3"/>
          <p:cNvSpPr/>
          <p:nvPr/>
        </p:nvSpPr>
        <p:spPr>
          <a:xfrm>
            <a:off x="640080" y="1691640"/>
            <a:ext cx="10881360" cy="914400"/>
          </a:xfrm>
          <a:prstGeom prst="rect">
            <a:avLst/>
          </a:prstGeom>
          <a:noFill/>
          <a:ln/>
        </p:spPr>
        <p:txBody>
          <a:bodyPr wrap="square" lIns="0" tIns="0" rIns="0" bIns="0" rtlCol="0" anchor="t"/>
          <a:lstStyle/>
          <a:p>
            <a:pPr marL="0" indent="0">
              <a:lnSpc>
                <a:spcPct val="130000"/>
              </a:lnSpc>
              <a:buNone/>
            </a:pPr>
            <a:r>
              <a:rPr lang="en-US" sz="1400" dirty="0">
                <a:solidFill>
                  <a:srgbClr val="1E2761"/>
                </a:solidFill>
                <a:latin typeface="Calibri" pitchFamily="34" charset="0"/>
                <a:ea typeface="Calibri" pitchFamily="34" charset="-122"/>
                <a:cs typeface="Calibri" pitchFamily="34" charset="-120"/>
              </a:rPr>
              <a:t>MEIO sets inventory and safety-stock targets simultaneously across every echelon, instead of optimising each location independently — recognising that a stockout downstream can often be covered by stock one echelon upstream.</a:t>
            </a:r>
            <a:endParaRPr lang="en-US" sz="1400" dirty="0"/>
          </a:p>
        </p:txBody>
      </p:sp>
      <p:sp>
        <p:nvSpPr>
          <p:cNvPr id="6" name="Text 4"/>
          <p:cNvSpPr/>
          <p:nvPr/>
        </p:nvSpPr>
        <p:spPr>
          <a:xfrm>
            <a:off x="640080" y="2788920"/>
            <a:ext cx="10881360" cy="2103120"/>
          </a:xfrm>
          <a:prstGeom prst="rect">
            <a:avLst/>
          </a:prstGeom>
          <a:noFill/>
          <a:ln/>
        </p:spPr>
        <p:txBody>
          <a:bodyPr wrap="square" lIns="0" tIns="0" rIns="0" bIns="0" rtlCol="0" anchor="t"/>
          <a:lstStyle/>
          <a:p>
            <a:pPr marL="203200" indent="-203200">
              <a:lnSpc>
                <a:spcPct val="115000"/>
              </a:lnSpc>
              <a:spcAft>
                <a:spcPts val="1200"/>
              </a:spcAft>
              <a:buSzPct val="100000"/>
              <a:buChar char="•"/>
            </a:pPr>
            <a:r>
              <a:rPr lang="en-US" sz="1350" dirty="0">
                <a:solidFill>
                  <a:srgbClr val="1E2761"/>
                </a:solidFill>
                <a:latin typeface="Calibri" pitchFamily="34" charset="0"/>
                <a:ea typeface="Calibri" pitchFamily="34" charset="-122"/>
                <a:cs typeface="Calibri" pitchFamily="34" charset="-120"/>
              </a:rPr>
              <a:t>Considers lead time and demand variability at every echelon, not just the final one</a:t>
            </a:r>
            <a:endParaRPr lang="en-US" sz="1350" dirty="0"/>
          </a:p>
          <a:p>
            <a:pPr marL="203200" indent="-203200">
              <a:lnSpc>
                <a:spcPct val="115000"/>
              </a:lnSpc>
              <a:spcAft>
                <a:spcPts val="1200"/>
              </a:spcAft>
              <a:buSzPct val="100000"/>
              <a:buChar char="•"/>
            </a:pPr>
            <a:r>
              <a:rPr lang="en-US" sz="1350" dirty="0">
                <a:solidFill>
                  <a:srgbClr val="1E2761"/>
                </a:solidFill>
                <a:latin typeface="Calibri" pitchFamily="34" charset="0"/>
                <a:ea typeface="Calibri" pitchFamily="34" charset="-122"/>
                <a:cs typeface="Calibri" pitchFamily="34" charset="-120"/>
              </a:rPr>
              <a:t>Recognises that upstream stock can act as a shared buffer for multiple downstream locations</a:t>
            </a:r>
            <a:endParaRPr lang="en-US" sz="1350" dirty="0"/>
          </a:p>
          <a:p>
            <a:pPr marL="203200" indent="-203200">
              <a:lnSpc>
                <a:spcPct val="115000"/>
              </a:lnSpc>
              <a:spcAft>
                <a:spcPts val="1200"/>
              </a:spcAft>
              <a:buSzPct val="100000"/>
              <a:buChar char="•"/>
            </a:pPr>
            <a:r>
              <a:rPr lang="en-US" sz="1350" dirty="0">
                <a:solidFill>
                  <a:srgbClr val="1E2761"/>
                </a:solidFill>
                <a:latin typeface="Calibri" pitchFamily="34" charset="0"/>
                <a:ea typeface="Calibri" pitchFamily="34" charset="-122"/>
                <a:cs typeface="Calibri" pitchFamily="34" charset="-120"/>
              </a:rPr>
              <a:t>Typically reduces total network inventory by 15–30% versus independently optimised echelons</a:t>
            </a:r>
            <a:endParaRPr lang="en-US" sz="1350" dirty="0"/>
          </a:p>
          <a:p>
            <a:pPr marL="203200" indent="-203200">
              <a:lnSpc>
                <a:spcPct val="115000"/>
              </a:lnSpc>
              <a:spcAft>
                <a:spcPts val="1200"/>
              </a:spcAft>
              <a:buSzPct val="100000"/>
              <a:buChar char="•"/>
            </a:pPr>
            <a:r>
              <a:rPr lang="en-US" sz="1350" dirty="0">
                <a:solidFill>
                  <a:srgbClr val="1E2761"/>
                </a:solidFill>
                <a:latin typeface="Calibri" pitchFamily="34" charset="0"/>
                <a:ea typeface="Calibri" pitchFamily="34" charset="-122"/>
                <a:cs typeface="Calibri" pitchFamily="34" charset="-120"/>
              </a:rPr>
              <a:t>Requires reliable, shared demand and inventory data across the whole network to work well</a:t>
            </a:r>
            <a:endParaRPr lang="en-US" sz="1350" dirty="0"/>
          </a:p>
        </p:txBody>
      </p:sp>
      <p:sp>
        <p:nvSpPr>
          <p:cNvPr id="7" name="Text 5"/>
          <p:cNvSpPr/>
          <p:nvPr/>
        </p:nvSpPr>
        <p:spPr>
          <a:xfrm>
            <a:off x="11551615" y="6446520"/>
            <a:ext cx="457200" cy="274320"/>
          </a:xfrm>
          <a:prstGeom prst="rect">
            <a:avLst/>
          </a:prstGeom>
          <a:noFill/>
          <a:ln/>
        </p:spPr>
        <p:txBody>
          <a:bodyPr wrap="square" lIns="0" tIns="0" rIns="0" bIns="0" rtlCol="0" anchor="ctr"/>
          <a:lstStyle/>
          <a:p>
            <a:pPr marL="0" indent="0" algn="r">
              <a:buNone/>
            </a:pPr>
            <a:r>
              <a:rPr lang="en-US" sz="1000" dirty="0">
                <a:solidFill>
                  <a:srgbClr val="5A6B8C"/>
                </a:solidFill>
                <a:latin typeface="Calibri" pitchFamily="34" charset="0"/>
                <a:ea typeface="Calibri" pitchFamily="34" charset="-122"/>
                <a:cs typeface="Calibri" pitchFamily="34" charset="-120"/>
              </a:rPr>
              <a:t>31</a:t>
            </a:r>
            <a:endParaRPr lang="en-US" sz="1000" dirty="0"/>
          </a:p>
        </p:txBody>
      </p:sp>
      <p:sp>
        <p:nvSpPr>
          <p:cNvPr id="9" name="Oval 8">
            <a:extLst>
              <a:ext uri="{FF2B5EF4-FFF2-40B4-BE49-F238E27FC236}">
                <a16:creationId xmlns:a16="http://schemas.microsoft.com/office/drawing/2014/main" id="{9F9F6FF0-1BA5-AAE1-E342-0D0608FB7985}"/>
              </a:ext>
            </a:extLst>
          </p:cNvPr>
          <p:cNvSpPr/>
          <p:nvPr/>
        </p:nvSpPr>
        <p:spPr>
          <a:xfrm>
            <a:off x="9049789" y="47874"/>
            <a:ext cx="3142211" cy="1184412"/>
          </a:xfrm>
          <a:prstGeom prst="ellipse">
            <a:avLst/>
          </a:prstGeom>
          <a:solidFill>
            <a:schemeClr val="accent2">
              <a:lumMod val="60000"/>
              <a:lumOff val="4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5B29B05B-1766-6016-9ABA-AC4217C2632E}"/>
              </a:ext>
            </a:extLst>
          </p:cNvPr>
          <p:cNvSpPr txBox="1"/>
          <p:nvPr/>
        </p:nvSpPr>
        <p:spPr>
          <a:xfrm>
            <a:off x="9390610" y="378470"/>
            <a:ext cx="2460567" cy="523220"/>
          </a:xfrm>
          <a:prstGeom prst="rect">
            <a:avLst/>
          </a:prstGeom>
          <a:noFill/>
        </p:spPr>
        <p:txBody>
          <a:bodyPr wrap="square" rtlCol="0">
            <a:spAutoFit/>
          </a:bodyPr>
          <a:lstStyle/>
          <a:p>
            <a:r>
              <a:rPr lang="en-US" sz="2800" b="1" dirty="0"/>
              <a:t>Important slide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C9962C"/>
                </a:solidFill>
                <a:latin typeface="Calibri" pitchFamily="34" charset="0"/>
                <a:ea typeface="Calibri" pitchFamily="34" charset="-122"/>
                <a:cs typeface="Calibri" pitchFamily="34" charset="-120"/>
              </a:rPr>
              <a:t>MULTI-ECHELON</a:t>
            </a:r>
            <a:endParaRPr lang="en-US" sz="1200" dirty="0"/>
          </a:p>
        </p:txBody>
      </p:sp>
      <p:sp>
        <p:nvSpPr>
          <p:cNvPr id="3" name="Text 1"/>
          <p:cNvSpPr/>
          <p:nvPr/>
        </p:nvSpPr>
        <p:spPr>
          <a:xfrm>
            <a:off x="548640" y="621792"/>
            <a:ext cx="10515600" cy="73152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The Bullwhip Effect in Multi-Echelon Systems</a:t>
            </a:r>
            <a:endParaRPr lang="en-US" sz="2800" dirty="0"/>
          </a:p>
        </p:txBody>
      </p:sp>
      <p:sp>
        <p:nvSpPr>
          <p:cNvPr id="4" name="Shape 2"/>
          <p:cNvSpPr/>
          <p:nvPr/>
        </p:nvSpPr>
        <p:spPr>
          <a:xfrm>
            <a:off x="566928" y="1298448"/>
            <a:ext cx="914400" cy="0"/>
          </a:xfrm>
          <a:prstGeom prst="line">
            <a:avLst/>
          </a:prstGeom>
          <a:noFill/>
          <a:ln w="31750">
            <a:solidFill>
              <a:srgbClr val="C9962C"/>
            </a:solidFill>
            <a:prstDash val="solid"/>
          </a:ln>
        </p:spPr>
        <p:txBody>
          <a:bodyPr/>
          <a:lstStyle/>
          <a:p>
            <a:endParaRPr lang="en-US"/>
          </a:p>
        </p:txBody>
      </p:sp>
      <p:sp>
        <p:nvSpPr>
          <p:cNvPr id="5" name="Text 3"/>
          <p:cNvSpPr/>
          <p:nvPr/>
        </p:nvSpPr>
        <p:spPr>
          <a:xfrm>
            <a:off x="640080" y="1691640"/>
            <a:ext cx="10881360" cy="640080"/>
          </a:xfrm>
          <a:prstGeom prst="rect">
            <a:avLst/>
          </a:prstGeom>
          <a:noFill/>
          <a:ln/>
        </p:spPr>
        <p:txBody>
          <a:bodyPr wrap="square" lIns="0" tIns="0" rIns="0" bIns="0" rtlCol="0" anchor="t"/>
          <a:lstStyle/>
          <a:p>
            <a:pPr marL="0" indent="0">
              <a:lnSpc>
                <a:spcPct val="125000"/>
              </a:lnSpc>
              <a:buNone/>
            </a:pPr>
            <a:r>
              <a:rPr lang="en-US" sz="1400" dirty="0">
                <a:solidFill>
                  <a:srgbClr val="1E2761"/>
                </a:solidFill>
                <a:latin typeface="Calibri" pitchFamily="34" charset="0"/>
                <a:ea typeface="Calibri" pitchFamily="34" charset="-122"/>
                <a:cs typeface="Calibri" pitchFamily="34" charset="-120"/>
              </a:rPr>
              <a:t>Small fluctuations in customer demand get amplified into large swings in orders as they travel upstream through each echelon — known as the bullwhip effect.</a:t>
            </a:r>
            <a:endParaRPr lang="en-US" sz="1400" dirty="0"/>
          </a:p>
        </p:txBody>
      </p:sp>
      <p:sp>
        <p:nvSpPr>
          <p:cNvPr id="6" name="Shape 4"/>
          <p:cNvSpPr/>
          <p:nvPr/>
        </p:nvSpPr>
        <p:spPr>
          <a:xfrm>
            <a:off x="640080" y="2468880"/>
            <a:ext cx="566928" cy="566928"/>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7" name="Image 0" descr="/home/claude/demand-mgmt-ppt/icons/chart.png"/>
          <p:cNvPicPr>
            <a:picLocks noChangeAspect="1"/>
          </p:cNvPicPr>
          <p:nvPr/>
        </p:nvPicPr>
        <p:blipFill>
          <a:blip r:embed="rId3"/>
          <a:stretch>
            <a:fillRect/>
          </a:stretch>
        </p:blipFill>
        <p:spPr>
          <a:xfrm>
            <a:off x="781812" y="2610612"/>
            <a:ext cx="283464" cy="283464"/>
          </a:xfrm>
          <a:prstGeom prst="rect">
            <a:avLst/>
          </a:prstGeom>
        </p:spPr>
      </p:pic>
      <p:sp>
        <p:nvSpPr>
          <p:cNvPr id="8" name="Text 5"/>
          <p:cNvSpPr/>
          <p:nvPr/>
        </p:nvSpPr>
        <p:spPr>
          <a:xfrm>
            <a:off x="1463040" y="2441448"/>
            <a:ext cx="10040112" cy="32004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Causes</a:t>
            </a:r>
            <a:endParaRPr lang="en-US" sz="1600" dirty="0"/>
          </a:p>
        </p:txBody>
      </p:sp>
      <p:sp>
        <p:nvSpPr>
          <p:cNvPr id="9" name="Text 6"/>
          <p:cNvSpPr/>
          <p:nvPr/>
        </p:nvSpPr>
        <p:spPr>
          <a:xfrm>
            <a:off x="1463040" y="2761488"/>
            <a:ext cx="10040112" cy="685800"/>
          </a:xfrm>
          <a:prstGeom prst="rect">
            <a:avLst/>
          </a:prstGeom>
          <a:noFill/>
          <a:ln/>
        </p:spPr>
        <p:txBody>
          <a:bodyPr wrap="square" lIns="0" tIns="0" rIns="0" bIns="0" rtlCol="0" anchor="t"/>
          <a:lstStyle/>
          <a:p>
            <a:pPr marL="0" indent="0">
              <a:lnSpc>
                <a:spcPct val="105000"/>
              </a:lnSpc>
              <a:buNone/>
            </a:pPr>
            <a:r>
              <a:rPr lang="en-US" sz="1250" dirty="0">
                <a:solidFill>
                  <a:srgbClr val="5A6B8C"/>
                </a:solidFill>
                <a:latin typeface="Calibri" pitchFamily="34" charset="0"/>
                <a:ea typeface="Calibri" pitchFamily="34" charset="-122"/>
                <a:cs typeface="Calibri" pitchFamily="34" charset="-120"/>
              </a:rPr>
              <a:t>Order-batching, promotions, demand-signal distortion, and rationing behaviour during shortages all amplify variability upstream.</a:t>
            </a:r>
            <a:endParaRPr lang="en-US" sz="1250" dirty="0"/>
          </a:p>
        </p:txBody>
      </p:sp>
      <p:sp>
        <p:nvSpPr>
          <p:cNvPr id="10" name="Shape 7"/>
          <p:cNvSpPr/>
          <p:nvPr/>
        </p:nvSpPr>
        <p:spPr>
          <a:xfrm>
            <a:off x="640080" y="3520440"/>
            <a:ext cx="566928" cy="566928"/>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11" name="Image 1" descr="/home/claude/demand-mgmt-ppt/icons/shield.png"/>
          <p:cNvPicPr>
            <a:picLocks noChangeAspect="1"/>
          </p:cNvPicPr>
          <p:nvPr/>
        </p:nvPicPr>
        <p:blipFill>
          <a:blip r:embed="rId4"/>
          <a:stretch>
            <a:fillRect/>
          </a:stretch>
        </p:blipFill>
        <p:spPr>
          <a:xfrm>
            <a:off x="781812" y="3662172"/>
            <a:ext cx="283464" cy="283464"/>
          </a:xfrm>
          <a:prstGeom prst="rect">
            <a:avLst/>
          </a:prstGeom>
        </p:spPr>
      </p:pic>
      <p:sp>
        <p:nvSpPr>
          <p:cNvPr id="12" name="Text 8"/>
          <p:cNvSpPr/>
          <p:nvPr/>
        </p:nvSpPr>
        <p:spPr>
          <a:xfrm>
            <a:off x="1463040" y="3493008"/>
            <a:ext cx="10040112" cy="32004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Consequences</a:t>
            </a:r>
            <a:endParaRPr lang="en-US" sz="1600" dirty="0"/>
          </a:p>
        </p:txBody>
      </p:sp>
      <p:sp>
        <p:nvSpPr>
          <p:cNvPr id="13" name="Text 9"/>
          <p:cNvSpPr/>
          <p:nvPr/>
        </p:nvSpPr>
        <p:spPr>
          <a:xfrm>
            <a:off x="1463040" y="3813048"/>
            <a:ext cx="10040112" cy="685800"/>
          </a:xfrm>
          <a:prstGeom prst="rect">
            <a:avLst/>
          </a:prstGeom>
          <a:noFill/>
          <a:ln/>
        </p:spPr>
        <p:txBody>
          <a:bodyPr wrap="square" lIns="0" tIns="0" rIns="0" bIns="0" rtlCol="0" anchor="t"/>
          <a:lstStyle/>
          <a:p>
            <a:pPr marL="0" indent="0">
              <a:lnSpc>
                <a:spcPct val="105000"/>
              </a:lnSpc>
              <a:buNone/>
            </a:pPr>
            <a:r>
              <a:rPr lang="en-US" sz="1250" dirty="0">
                <a:solidFill>
                  <a:srgbClr val="5A6B8C"/>
                </a:solidFill>
                <a:latin typeface="Calibri" pitchFamily="34" charset="0"/>
                <a:ea typeface="Calibri" pitchFamily="34" charset="-122"/>
                <a:cs typeface="Calibri" pitchFamily="34" charset="-120"/>
              </a:rPr>
              <a:t>Excess inventory at upstream echelons, poor forecast accuracy, and inefficient production scheduling.</a:t>
            </a:r>
            <a:endParaRPr lang="en-US" sz="1250" dirty="0"/>
          </a:p>
        </p:txBody>
      </p:sp>
      <p:sp>
        <p:nvSpPr>
          <p:cNvPr id="14" name="Shape 10"/>
          <p:cNvSpPr/>
          <p:nvPr/>
        </p:nvSpPr>
        <p:spPr>
          <a:xfrm>
            <a:off x="640080" y="4572000"/>
            <a:ext cx="566928" cy="566928"/>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15" name="Image 2" descr="/home/claude/demand-mgmt-ppt/icons/sync.png"/>
          <p:cNvPicPr>
            <a:picLocks noChangeAspect="1"/>
          </p:cNvPicPr>
          <p:nvPr/>
        </p:nvPicPr>
        <p:blipFill>
          <a:blip r:embed="rId5"/>
          <a:stretch>
            <a:fillRect/>
          </a:stretch>
        </p:blipFill>
        <p:spPr>
          <a:xfrm>
            <a:off x="781812" y="4713732"/>
            <a:ext cx="283464" cy="283464"/>
          </a:xfrm>
          <a:prstGeom prst="rect">
            <a:avLst/>
          </a:prstGeom>
        </p:spPr>
      </p:pic>
      <p:sp>
        <p:nvSpPr>
          <p:cNvPr id="16" name="Text 11"/>
          <p:cNvSpPr/>
          <p:nvPr/>
        </p:nvSpPr>
        <p:spPr>
          <a:xfrm>
            <a:off x="1463040" y="4544568"/>
            <a:ext cx="10040112" cy="32004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Mitigation</a:t>
            </a:r>
            <a:endParaRPr lang="en-US" sz="1600" dirty="0"/>
          </a:p>
        </p:txBody>
      </p:sp>
      <p:sp>
        <p:nvSpPr>
          <p:cNvPr id="17" name="Text 12"/>
          <p:cNvSpPr/>
          <p:nvPr/>
        </p:nvSpPr>
        <p:spPr>
          <a:xfrm>
            <a:off x="1463040" y="4864608"/>
            <a:ext cx="10040112" cy="685800"/>
          </a:xfrm>
          <a:prstGeom prst="rect">
            <a:avLst/>
          </a:prstGeom>
          <a:noFill/>
          <a:ln/>
        </p:spPr>
        <p:txBody>
          <a:bodyPr wrap="square" lIns="0" tIns="0" rIns="0" bIns="0" rtlCol="0" anchor="t"/>
          <a:lstStyle/>
          <a:p>
            <a:pPr marL="0" indent="0">
              <a:lnSpc>
                <a:spcPct val="105000"/>
              </a:lnSpc>
              <a:buNone/>
            </a:pPr>
            <a:r>
              <a:rPr lang="en-US" sz="1250" dirty="0">
                <a:solidFill>
                  <a:srgbClr val="5A6B8C"/>
                </a:solidFill>
                <a:latin typeface="Calibri" pitchFamily="34" charset="0"/>
                <a:ea typeface="Calibri" pitchFamily="34" charset="-122"/>
                <a:cs typeface="Calibri" pitchFamily="34" charset="-120"/>
              </a:rPr>
              <a:t>Shared point-of-sale data, smaller and more frequent replenishment, and stable pricing all dampen the effect.</a:t>
            </a:r>
            <a:endParaRPr lang="en-US" sz="1250" dirty="0"/>
          </a:p>
        </p:txBody>
      </p:sp>
      <p:sp>
        <p:nvSpPr>
          <p:cNvPr id="18" name="Text 13"/>
          <p:cNvSpPr/>
          <p:nvPr/>
        </p:nvSpPr>
        <p:spPr>
          <a:xfrm>
            <a:off x="11551615" y="6446520"/>
            <a:ext cx="457200" cy="274320"/>
          </a:xfrm>
          <a:prstGeom prst="rect">
            <a:avLst/>
          </a:prstGeom>
          <a:noFill/>
          <a:ln/>
        </p:spPr>
        <p:txBody>
          <a:bodyPr wrap="square" lIns="0" tIns="0" rIns="0" bIns="0" rtlCol="0" anchor="ctr"/>
          <a:lstStyle/>
          <a:p>
            <a:pPr marL="0" indent="0" algn="r">
              <a:buNone/>
            </a:pPr>
            <a:r>
              <a:rPr lang="en-US" sz="1000" dirty="0">
                <a:solidFill>
                  <a:srgbClr val="5A6B8C"/>
                </a:solidFill>
                <a:latin typeface="Calibri" pitchFamily="34" charset="0"/>
                <a:ea typeface="Calibri" pitchFamily="34" charset="-122"/>
                <a:cs typeface="Calibri" pitchFamily="34" charset="-120"/>
              </a:rPr>
              <a:t>32</a:t>
            </a:r>
            <a:endParaRPr lang="en-US" sz="1000" dirty="0"/>
          </a:p>
        </p:txBody>
      </p:sp>
      <p:sp>
        <p:nvSpPr>
          <p:cNvPr id="20" name="Oval 19">
            <a:extLst>
              <a:ext uri="{FF2B5EF4-FFF2-40B4-BE49-F238E27FC236}">
                <a16:creationId xmlns:a16="http://schemas.microsoft.com/office/drawing/2014/main" id="{454CB120-1DE2-18F3-F56E-BF8F403BDAD6}"/>
              </a:ext>
            </a:extLst>
          </p:cNvPr>
          <p:cNvSpPr/>
          <p:nvPr/>
        </p:nvSpPr>
        <p:spPr>
          <a:xfrm>
            <a:off x="9049789" y="0"/>
            <a:ext cx="3142211" cy="1184412"/>
          </a:xfrm>
          <a:prstGeom prst="ellipse">
            <a:avLst/>
          </a:prstGeom>
          <a:solidFill>
            <a:schemeClr val="accent2">
              <a:lumMod val="60000"/>
              <a:lumOff val="4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E72B9421-8C34-D806-912E-D79FF19BE42B}"/>
              </a:ext>
            </a:extLst>
          </p:cNvPr>
          <p:cNvSpPr txBox="1"/>
          <p:nvPr/>
        </p:nvSpPr>
        <p:spPr>
          <a:xfrm>
            <a:off x="9390610" y="330596"/>
            <a:ext cx="2460567" cy="523220"/>
          </a:xfrm>
          <a:prstGeom prst="rect">
            <a:avLst/>
          </a:prstGeom>
          <a:noFill/>
        </p:spPr>
        <p:txBody>
          <a:bodyPr wrap="square" rtlCol="0">
            <a:spAutoFit/>
          </a:bodyPr>
          <a:lstStyle/>
          <a:p>
            <a:r>
              <a:rPr lang="en-US" sz="2800" b="1" dirty="0"/>
              <a:t>Important slide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3">
    <p:bg>
      <p:bgPr>
        <a:solidFill>
          <a:srgbClr val="EEF3FC"/>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C9962C"/>
                </a:solidFill>
                <a:latin typeface="Calibri" pitchFamily="34" charset="0"/>
                <a:ea typeface="Calibri" pitchFamily="34" charset="-122"/>
                <a:cs typeface="Calibri" pitchFamily="34" charset="-120"/>
              </a:rPr>
              <a:t>MULTI-ECHELON</a:t>
            </a:r>
            <a:endParaRPr lang="en-US" sz="1200" dirty="0"/>
          </a:p>
        </p:txBody>
      </p:sp>
      <p:sp>
        <p:nvSpPr>
          <p:cNvPr id="3" name="Text 1"/>
          <p:cNvSpPr/>
          <p:nvPr/>
        </p:nvSpPr>
        <p:spPr>
          <a:xfrm>
            <a:off x="548640" y="621792"/>
            <a:ext cx="10515600" cy="73152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Example: A Four-Echelon Network for a Personal Care Brand</a:t>
            </a:r>
            <a:endParaRPr lang="en-US" sz="2800" dirty="0"/>
          </a:p>
        </p:txBody>
      </p:sp>
      <p:sp>
        <p:nvSpPr>
          <p:cNvPr id="4" name="Shape 2"/>
          <p:cNvSpPr/>
          <p:nvPr/>
        </p:nvSpPr>
        <p:spPr>
          <a:xfrm>
            <a:off x="566928" y="1298448"/>
            <a:ext cx="914400" cy="0"/>
          </a:xfrm>
          <a:prstGeom prst="line">
            <a:avLst/>
          </a:prstGeom>
          <a:noFill/>
          <a:ln w="31750">
            <a:solidFill>
              <a:srgbClr val="C9962C"/>
            </a:solidFill>
            <a:prstDash val="solid"/>
          </a:ln>
        </p:spPr>
        <p:txBody>
          <a:bodyPr/>
          <a:lstStyle/>
          <a:p>
            <a:endParaRPr lang="en-US"/>
          </a:p>
        </p:txBody>
      </p:sp>
      <p:sp>
        <p:nvSpPr>
          <p:cNvPr id="5" name="Text 3"/>
          <p:cNvSpPr/>
          <p:nvPr/>
        </p:nvSpPr>
        <p:spPr>
          <a:xfrm>
            <a:off x="640080" y="1691640"/>
            <a:ext cx="10881360" cy="548640"/>
          </a:xfrm>
          <a:prstGeom prst="rect">
            <a:avLst/>
          </a:prstGeom>
          <a:noFill/>
          <a:ln/>
        </p:spPr>
        <p:txBody>
          <a:bodyPr wrap="square" lIns="0" tIns="0" rIns="0" bIns="0" rtlCol="0" anchor="t"/>
          <a:lstStyle/>
          <a:p>
            <a:pPr marL="0" indent="0">
              <a:buNone/>
            </a:pPr>
            <a:r>
              <a:rPr lang="en-US" sz="1400" dirty="0">
                <a:solidFill>
                  <a:srgbClr val="1E2761"/>
                </a:solidFill>
                <a:latin typeface="Calibri" pitchFamily="34" charset="0"/>
                <a:ea typeface="Calibri" pitchFamily="34" charset="-122"/>
                <a:cs typeface="Calibri" pitchFamily="34" charset="-120"/>
              </a:rPr>
              <a:t>A personal care brand runs a 4-echelon network: 1 plant, 2 central warehouses, 12 regional DCs, and over 5,000 retail outlets.</a:t>
            </a:r>
            <a:endParaRPr lang="en-US" sz="1400" dirty="0"/>
          </a:p>
        </p:txBody>
      </p:sp>
      <p:sp>
        <p:nvSpPr>
          <p:cNvPr id="6" name="Text 4"/>
          <p:cNvSpPr/>
          <p:nvPr/>
        </p:nvSpPr>
        <p:spPr>
          <a:xfrm>
            <a:off x="640080" y="2423160"/>
            <a:ext cx="10881360" cy="1737360"/>
          </a:xfrm>
          <a:prstGeom prst="rect">
            <a:avLst/>
          </a:prstGeom>
          <a:noFill/>
          <a:ln/>
        </p:spPr>
        <p:txBody>
          <a:bodyPr wrap="square" lIns="0" tIns="0" rIns="0" bIns="0" rtlCol="0" anchor="t"/>
          <a:lstStyle/>
          <a:p>
            <a:pPr marL="203200" indent="-203200">
              <a:lnSpc>
                <a:spcPct val="115000"/>
              </a:lnSpc>
              <a:spcAft>
                <a:spcPts val="1400"/>
              </a:spcAft>
              <a:buSzPct val="100000"/>
              <a:buChar char="•"/>
            </a:pPr>
            <a:r>
              <a:rPr lang="en-US" sz="1350" dirty="0">
                <a:solidFill>
                  <a:srgbClr val="1E2761"/>
                </a:solidFill>
                <a:latin typeface="Calibri" pitchFamily="34" charset="0"/>
                <a:ea typeface="Calibri" pitchFamily="34" charset="-122"/>
                <a:cs typeface="Calibri" pitchFamily="34" charset="-120"/>
              </a:rPr>
              <a:t>Retail outlets hold only 1–2 weeks of stock, replenished twice weekly from the nearest regional DC</a:t>
            </a:r>
            <a:endParaRPr lang="en-US" sz="1350" dirty="0"/>
          </a:p>
          <a:p>
            <a:pPr marL="203200" indent="-203200">
              <a:lnSpc>
                <a:spcPct val="115000"/>
              </a:lnSpc>
              <a:spcAft>
                <a:spcPts val="1400"/>
              </a:spcAft>
              <a:buSzPct val="100000"/>
              <a:buChar char="•"/>
            </a:pPr>
            <a:r>
              <a:rPr lang="en-US" sz="1350" dirty="0">
                <a:solidFill>
                  <a:srgbClr val="1E2761"/>
                </a:solidFill>
                <a:latin typeface="Calibri" pitchFamily="34" charset="0"/>
                <a:ea typeface="Calibri" pitchFamily="34" charset="-122"/>
                <a:cs typeface="Calibri" pitchFamily="34" charset="-120"/>
              </a:rPr>
              <a:t>Regional DCs pool demand from 400+ outlets each, absorbing local spikes without needing outlet-level safety stock</a:t>
            </a:r>
            <a:endParaRPr lang="en-US" sz="1350" dirty="0"/>
          </a:p>
          <a:p>
            <a:pPr marL="203200" indent="-203200">
              <a:lnSpc>
                <a:spcPct val="115000"/>
              </a:lnSpc>
              <a:spcAft>
                <a:spcPts val="1400"/>
              </a:spcAft>
              <a:buSzPct val="100000"/>
              <a:buChar char="•"/>
            </a:pPr>
            <a:r>
              <a:rPr lang="en-US" sz="1350" dirty="0">
                <a:solidFill>
                  <a:srgbClr val="1E2761"/>
                </a:solidFill>
                <a:latin typeface="Calibri" pitchFamily="34" charset="0"/>
                <a:ea typeface="Calibri" pitchFamily="34" charset="-122"/>
                <a:cs typeface="Calibri" pitchFamily="34" charset="-120"/>
              </a:rPr>
              <a:t>Central warehouses hold strategic buffer stock, shared across all 12 regions, for the rare event a region runs short</a:t>
            </a:r>
            <a:endParaRPr lang="en-US" sz="1350" dirty="0"/>
          </a:p>
        </p:txBody>
      </p:sp>
      <p:sp>
        <p:nvSpPr>
          <p:cNvPr id="7" name="Shape 5"/>
          <p:cNvSpPr/>
          <p:nvPr/>
        </p:nvSpPr>
        <p:spPr>
          <a:xfrm>
            <a:off x="640080" y="4343400"/>
            <a:ext cx="10881360" cy="1508760"/>
          </a:xfrm>
          <a:prstGeom prst="roundRect">
            <a:avLst>
              <a:gd name="adj" fmla="val 5455"/>
            </a:avLst>
          </a:prstGeom>
          <a:solidFill>
            <a:srgbClr val="1E2761"/>
          </a:solidFill>
          <a:ln/>
        </p:spPr>
        <p:txBody>
          <a:bodyPr/>
          <a:lstStyle/>
          <a:p>
            <a:endParaRPr lang="en-US"/>
          </a:p>
        </p:txBody>
      </p:sp>
      <p:sp>
        <p:nvSpPr>
          <p:cNvPr id="8" name="Shape 6"/>
          <p:cNvSpPr/>
          <p:nvPr/>
        </p:nvSpPr>
        <p:spPr>
          <a:xfrm>
            <a:off x="868680" y="4823460"/>
            <a:ext cx="548640" cy="548640"/>
          </a:xfrm>
          <a:prstGeom prst="ellipse">
            <a:avLst/>
          </a:prstGeom>
          <a:solidFill>
            <a:srgbClr val="C9962C"/>
          </a:solidFill>
          <a:ln/>
          <a:effectLst>
            <a:outerShdw blurRad="76200" dist="25400" dir="5400000" algn="bl" rotWithShape="0">
              <a:srgbClr val="1E2761">
                <a:alpha val="18000"/>
              </a:srgbClr>
            </a:outerShdw>
          </a:effectLst>
        </p:spPr>
        <p:txBody>
          <a:bodyPr/>
          <a:lstStyle/>
          <a:p>
            <a:endParaRPr lang="en-US"/>
          </a:p>
        </p:txBody>
      </p:sp>
      <p:pic>
        <p:nvPicPr>
          <p:cNvPr id="9" name="Image 0" descr="/home/claude/demand-mgmt-ppt/icons/lightbulb.png"/>
          <p:cNvPicPr>
            <a:picLocks noChangeAspect="1"/>
          </p:cNvPicPr>
          <p:nvPr/>
        </p:nvPicPr>
        <p:blipFill>
          <a:blip r:embed="rId3"/>
          <a:stretch>
            <a:fillRect/>
          </a:stretch>
        </p:blipFill>
        <p:spPr>
          <a:xfrm>
            <a:off x="1005840" y="4960620"/>
            <a:ext cx="274320" cy="274320"/>
          </a:xfrm>
          <a:prstGeom prst="rect">
            <a:avLst/>
          </a:prstGeom>
        </p:spPr>
      </p:pic>
      <p:sp>
        <p:nvSpPr>
          <p:cNvPr id="10" name="Text 7"/>
          <p:cNvSpPr/>
          <p:nvPr/>
        </p:nvSpPr>
        <p:spPr>
          <a:xfrm>
            <a:off x="1554480" y="4471416"/>
            <a:ext cx="9692640" cy="274320"/>
          </a:xfrm>
          <a:prstGeom prst="rect">
            <a:avLst/>
          </a:prstGeom>
          <a:noFill/>
          <a:ln/>
        </p:spPr>
        <p:txBody>
          <a:bodyPr wrap="square" lIns="0" tIns="0" rIns="0" bIns="0" rtlCol="0" anchor="ctr"/>
          <a:lstStyle/>
          <a:p>
            <a:pPr marL="0" indent="0">
              <a:buNone/>
            </a:pPr>
            <a:r>
              <a:rPr lang="en-US" sz="1100" b="1" kern="0" spc="150" dirty="0">
                <a:solidFill>
                  <a:srgbClr val="C9962C"/>
                </a:solidFill>
                <a:latin typeface="Calibri" pitchFamily="34" charset="0"/>
                <a:ea typeface="Calibri" pitchFamily="34" charset="-122"/>
                <a:cs typeface="Calibri" pitchFamily="34" charset="-120"/>
              </a:rPr>
              <a:t>RESULT</a:t>
            </a:r>
            <a:endParaRPr lang="en-US" sz="1100" dirty="0"/>
          </a:p>
        </p:txBody>
      </p:sp>
      <p:sp>
        <p:nvSpPr>
          <p:cNvPr id="11" name="Text 8"/>
          <p:cNvSpPr/>
          <p:nvPr/>
        </p:nvSpPr>
        <p:spPr>
          <a:xfrm>
            <a:off x="1554480" y="4764024"/>
            <a:ext cx="9692640" cy="978408"/>
          </a:xfrm>
          <a:prstGeom prst="rect">
            <a:avLst/>
          </a:prstGeom>
          <a:noFill/>
          <a:ln/>
        </p:spPr>
        <p:txBody>
          <a:bodyPr wrap="square" lIns="0" tIns="0" rIns="0" bIns="0" rtlCol="0" anchor="t"/>
          <a:lstStyle/>
          <a:p>
            <a:pPr marL="0" indent="0">
              <a:lnSpc>
                <a:spcPct val="110000"/>
              </a:lnSpc>
              <a:buNone/>
            </a:pPr>
            <a:r>
              <a:rPr lang="en-US" sz="1250" dirty="0">
                <a:solidFill>
                  <a:srgbClr val="FFFFFF"/>
                </a:solidFill>
                <a:latin typeface="Calibri" pitchFamily="34" charset="0"/>
                <a:ea typeface="Calibri" pitchFamily="34" charset="-122"/>
                <a:cs typeface="Calibri" pitchFamily="34" charset="-120"/>
              </a:rPr>
              <a:t>Introducing MEIO across the four echelons cut total network inventory by 22% while improving store-level fill rate from 91% to 97% — proving that more echelons, managed well, need less total stock, not more.</a:t>
            </a:r>
            <a:endParaRPr lang="en-US" sz="1250" dirty="0"/>
          </a:p>
        </p:txBody>
      </p:sp>
      <p:sp>
        <p:nvSpPr>
          <p:cNvPr id="12" name="Text 9"/>
          <p:cNvSpPr/>
          <p:nvPr/>
        </p:nvSpPr>
        <p:spPr>
          <a:xfrm>
            <a:off x="11551615" y="6446520"/>
            <a:ext cx="457200" cy="274320"/>
          </a:xfrm>
          <a:prstGeom prst="rect">
            <a:avLst/>
          </a:prstGeom>
          <a:noFill/>
          <a:ln/>
        </p:spPr>
        <p:txBody>
          <a:bodyPr wrap="square" lIns="0" tIns="0" rIns="0" bIns="0" rtlCol="0" anchor="ctr"/>
          <a:lstStyle/>
          <a:p>
            <a:pPr marL="0" indent="0" algn="r">
              <a:buNone/>
            </a:pPr>
            <a:r>
              <a:rPr lang="en-US" sz="1000" dirty="0">
                <a:solidFill>
                  <a:srgbClr val="5A6B8C"/>
                </a:solidFill>
                <a:latin typeface="Calibri" pitchFamily="34" charset="0"/>
                <a:ea typeface="Calibri" pitchFamily="34" charset="-122"/>
                <a:cs typeface="Calibri" pitchFamily="34" charset="-120"/>
              </a:rPr>
              <a:t>33</a:t>
            </a:r>
            <a:endParaRPr lang="en-US" sz="1000" dirty="0"/>
          </a:p>
        </p:txBody>
      </p:sp>
      <p:sp>
        <p:nvSpPr>
          <p:cNvPr id="14" name="Oval 13">
            <a:extLst>
              <a:ext uri="{FF2B5EF4-FFF2-40B4-BE49-F238E27FC236}">
                <a16:creationId xmlns:a16="http://schemas.microsoft.com/office/drawing/2014/main" id="{FBD663AE-F837-FCD1-2F6D-AA0D5FB1806B}"/>
              </a:ext>
            </a:extLst>
          </p:cNvPr>
          <p:cNvSpPr/>
          <p:nvPr/>
        </p:nvSpPr>
        <p:spPr>
          <a:xfrm>
            <a:off x="9049789" y="2099675"/>
            <a:ext cx="3142211" cy="1184412"/>
          </a:xfrm>
          <a:prstGeom prst="ellipse">
            <a:avLst/>
          </a:prstGeom>
          <a:solidFill>
            <a:schemeClr val="accent1">
              <a:lumMod val="40000"/>
              <a:lumOff val="6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C1BE96C0-7DDB-91BB-7176-0C6259478B88}"/>
              </a:ext>
            </a:extLst>
          </p:cNvPr>
          <p:cNvSpPr txBox="1"/>
          <p:nvPr/>
        </p:nvSpPr>
        <p:spPr>
          <a:xfrm>
            <a:off x="9390610" y="2430271"/>
            <a:ext cx="2460567" cy="523220"/>
          </a:xfrm>
          <a:prstGeom prst="rect">
            <a:avLst/>
          </a:prstGeom>
          <a:noFill/>
        </p:spPr>
        <p:txBody>
          <a:bodyPr wrap="square" rtlCol="0">
            <a:spAutoFit/>
          </a:bodyPr>
          <a:lstStyle/>
          <a:p>
            <a:r>
              <a:rPr lang="en-US" sz="2800" b="1" dirty="0"/>
              <a:t>Read this slide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4">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7863840" y="548640"/>
            <a:ext cx="3840480" cy="5486400"/>
          </a:xfrm>
          <a:prstGeom prst="rect">
            <a:avLst/>
          </a:prstGeom>
          <a:noFill/>
          <a:ln/>
        </p:spPr>
        <p:txBody>
          <a:bodyPr wrap="square" lIns="0" tIns="0" rIns="0" bIns="0" rtlCol="0" anchor="ctr"/>
          <a:lstStyle/>
          <a:p>
            <a:pPr marL="0" indent="0" algn="r">
              <a:buNone/>
            </a:pPr>
            <a:r>
              <a:rPr lang="en-US" sz="34000" b="1" dirty="0">
                <a:solidFill>
                  <a:srgbClr val="141A3D"/>
                </a:solidFill>
                <a:latin typeface="Cambria" pitchFamily="34" charset="0"/>
                <a:ea typeface="Cambria" pitchFamily="34" charset="-122"/>
                <a:cs typeface="Cambria" pitchFamily="34" charset="-120"/>
              </a:rPr>
              <a:t>05</a:t>
            </a:r>
            <a:endParaRPr lang="en-US" sz="34000" dirty="0"/>
          </a:p>
        </p:txBody>
      </p:sp>
      <p:sp>
        <p:nvSpPr>
          <p:cNvPr id="3" name="Shape 1"/>
          <p:cNvSpPr/>
          <p:nvPr/>
        </p:nvSpPr>
        <p:spPr>
          <a:xfrm>
            <a:off x="1005840" y="2057400"/>
            <a:ext cx="1371600" cy="1371600"/>
          </a:xfrm>
          <a:prstGeom prst="ellipse">
            <a:avLst/>
          </a:prstGeom>
          <a:solidFill>
            <a:srgbClr val="C9962C"/>
          </a:solidFill>
          <a:ln/>
          <a:effectLst>
            <a:outerShdw blurRad="76200" dist="25400" dir="5400000" algn="bl" rotWithShape="0">
              <a:srgbClr val="1E2761">
                <a:alpha val="18000"/>
              </a:srgbClr>
            </a:outerShdw>
          </a:effectLst>
        </p:spPr>
        <p:txBody>
          <a:bodyPr/>
          <a:lstStyle/>
          <a:p>
            <a:endParaRPr lang="en-US"/>
          </a:p>
        </p:txBody>
      </p:sp>
      <p:pic>
        <p:nvPicPr>
          <p:cNvPr id="4" name="Image 0" descr="/home/claude/demand-mgmt-ppt/icons/flask.png"/>
          <p:cNvPicPr>
            <a:picLocks noChangeAspect="1"/>
          </p:cNvPicPr>
          <p:nvPr/>
        </p:nvPicPr>
        <p:blipFill>
          <a:blip r:embed="rId3"/>
          <a:stretch>
            <a:fillRect/>
          </a:stretch>
        </p:blipFill>
        <p:spPr>
          <a:xfrm>
            <a:off x="1348740" y="2400300"/>
            <a:ext cx="685800" cy="685800"/>
          </a:xfrm>
          <a:prstGeom prst="rect">
            <a:avLst/>
          </a:prstGeom>
        </p:spPr>
      </p:pic>
      <p:sp>
        <p:nvSpPr>
          <p:cNvPr id="5" name="Text 2"/>
          <p:cNvSpPr/>
          <p:nvPr/>
        </p:nvSpPr>
        <p:spPr>
          <a:xfrm>
            <a:off x="822960" y="3703320"/>
            <a:ext cx="7315200" cy="365760"/>
          </a:xfrm>
          <a:prstGeom prst="rect">
            <a:avLst/>
          </a:prstGeom>
          <a:noFill/>
          <a:ln/>
        </p:spPr>
        <p:txBody>
          <a:bodyPr wrap="square" lIns="0" tIns="0" rIns="0" bIns="0" rtlCol="0" anchor="ctr"/>
          <a:lstStyle/>
          <a:p>
            <a:pPr marL="0" indent="0">
              <a:buNone/>
            </a:pPr>
            <a:r>
              <a:rPr lang="en-US" sz="1400" b="1" kern="0" spc="300" dirty="0">
                <a:solidFill>
                  <a:srgbClr val="C9962C"/>
                </a:solidFill>
                <a:latin typeface="Calibri" pitchFamily="34" charset="0"/>
                <a:ea typeface="Calibri" pitchFamily="34" charset="-122"/>
                <a:cs typeface="Calibri" pitchFamily="34" charset="-120"/>
              </a:rPr>
              <a:t>SECTION 05</a:t>
            </a:r>
            <a:endParaRPr lang="en-US" sz="1400" dirty="0"/>
          </a:p>
        </p:txBody>
      </p:sp>
      <p:sp>
        <p:nvSpPr>
          <p:cNvPr id="6" name="Text 3"/>
          <p:cNvSpPr/>
          <p:nvPr/>
        </p:nvSpPr>
        <p:spPr>
          <a:xfrm>
            <a:off x="822960" y="4069080"/>
            <a:ext cx="8686800" cy="118872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Model Development</a:t>
            </a:r>
            <a:endParaRPr lang="en-US" sz="4000" dirty="0"/>
          </a:p>
        </p:txBody>
      </p:sp>
      <p:sp>
        <p:nvSpPr>
          <p:cNvPr id="7" name="Text 4"/>
          <p:cNvSpPr/>
          <p:nvPr/>
        </p:nvSpPr>
        <p:spPr>
          <a:xfrm>
            <a:off x="822960" y="5166360"/>
            <a:ext cx="8046720" cy="731520"/>
          </a:xfrm>
          <a:prstGeom prst="rect">
            <a:avLst/>
          </a:prstGeom>
          <a:noFill/>
          <a:ln/>
        </p:spPr>
        <p:txBody>
          <a:bodyPr wrap="square" lIns="0" tIns="0" rIns="0" bIns="0" rtlCol="0" anchor="ctr"/>
          <a:lstStyle/>
          <a:p>
            <a:pPr marL="0" indent="0">
              <a:buNone/>
            </a:pPr>
            <a:r>
              <a:rPr lang="en-US" sz="1500" i="1" dirty="0">
                <a:solidFill>
                  <a:srgbClr val="CADCFC"/>
                </a:solidFill>
                <a:latin typeface="Calibri" pitchFamily="34" charset="0"/>
                <a:ea typeface="Calibri" pitchFamily="34" charset="-122"/>
                <a:cs typeface="Calibri" pitchFamily="34" charset="-120"/>
              </a:rPr>
              <a:t>Turning logistics design decisions into quantitative models that can be tested, compared and trusted before a single facility is built</a:t>
            </a:r>
            <a:endParaRPr lang="en-US" sz="1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C9962C"/>
                </a:solidFill>
                <a:latin typeface="Calibri" pitchFamily="34" charset="0"/>
                <a:ea typeface="Calibri" pitchFamily="34" charset="-122"/>
                <a:cs typeface="Calibri" pitchFamily="34" charset="-120"/>
              </a:rPr>
              <a:t>MODEL DEVELOPMENT</a:t>
            </a:r>
            <a:endParaRPr lang="en-US" sz="1200" dirty="0"/>
          </a:p>
        </p:txBody>
      </p:sp>
      <p:sp>
        <p:nvSpPr>
          <p:cNvPr id="3" name="Text 1"/>
          <p:cNvSpPr/>
          <p:nvPr/>
        </p:nvSpPr>
        <p:spPr>
          <a:xfrm>
            <a:off x="548640" y="621792"/>
            <a:ext cx="10515600" cy="73152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Why Build a Model at All?</a:t>
            </a:r>
            <a:endParaRPr lang="en-US" sz="2800" dirty="0"/>
          </a:p>
        </p:txBody>
      </p:sp>
      <p:sp>
        <p:nvSpPr>
          <p:cNvPr id="4" name="Shape 2"/>
          <p:cNvSpPr/>
          <p:nvPr/>
        </p:nvSpPr>
        <p:spPr>
          <a:xfrm>
            <a:off x="566928" y="1298448"/>
            <a:ext cx="914400" cy="0"/>
          </a:xfrm>
          <a:prstGeom prst="line">
            <a:avLst/>
          </a:prstGeom>
          <a:noFill/>
          <a:ln w="31750">
            <a:solidFill>
              <a:srgbClr val="C9962C"/>
            </a:solidFill>
            <a:prstDash val="solid"/>
          </a:ln>
        </p:spPr>
        <p:txBody>
          <a:bodyPr/>
          <a:lstStyle/>
          <a:p>
            <a:endParaRPr lang="en-US"/>
          </a:p>
        </p:txBody>
      </p:sp>
      <p:sp>
        <p:nvSpPr>
          <p:cNvPr id="5" name="Text 3"/>
          <p:cNvSpPr/>
          <p:nvPr/>
        </p:nvSpPr>
        <p:spPr>
          <a:xfrm>
            <a:off x="640080" y="1691640"/>
            <a:ext cx="6400800" cy="2103120"/>
          </a:xfrm>
          <a:prstGeom prst="rect">
            <a:avLst/>
          </a:prstGeom>
          <a:noFill/>
          <a:ln/>
        </p:spPr>
        <p:txBody>
          <a:bodyPr wrap="square" lIns="0" tIns="0" rIns="0" bIns="0" rtlCol="0" anchor="t"/>
          <a:lstStyle/>
          <a:p>
            <a:pPr marL="0" indent="0">
              <a:lnSpc>
                <a:spcPct val="130000"/>
              </a:lnSpc>
              <a:buNone/>
            </a:pPr>
            <a:r>
              <a:rPr lang="en-US" sz="1450" dirty="0">
                <a:solidFill>
                  <a:srgbClr val="1E2761"/>
                </a:solidFill>
                <a:latin typeface="Calibri" pitchFamily="34" charset="0"/>
                <a:ea typeface="Calibri" pitchFamily="34" charset="-122"/>
                <a:cs typeface="Calibri" pitchFamily="34" charset="-120"/>
              </a:rPr>
              <a:t>Logistics networks are too large and interconnected to design by intuition alone — a model lets planners test "what if" scenarios on paper, at near-zero cost, before committing real capital to facilities, fleets or contracts.</a:t>
            </a:r>
            <a:endParaRPr lang="en-US" sz="1450" dirty="0"/>
          </a:p>
        </p:txBody>
      </p:sp>
      <p:sp>
        <p:nvSpPr>
          <p:cNvPr id="6" name="Shape 4"/>
          <p:cNvSpPr/>
          <p:nvPr/>
        </p:nvSpPr>
        <p:spPr>
          <a:xfrm>
            <a:off x="8229600" y="1554480"/>
            <a:ext cx="2377440" cy="2377440"/>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7" name="Image 0" descr="/home/claude/demand-mgmt-ppt/icons/flask.png"/>
          <p:cNvPicPr>
            <a:picLocks noChangeAspect="1"/>
          </p:cNvPicPr>
          <p:nvPr/>
        </p:nvPicPr>
        <p:blipFill>
          <a:blip r:embed="rId3"/>
          <a:stretch>
            <a:fillRect/>
          </a:stretch>
        </p:blipFill>
        <p:spPr>
          <a:xfrm>
            <a:off x="8847734" y="2172614"/>
            <a:ext cx="1141171" cy="1141171"/>
          </a:xfrm>
          <a:prstGeom prst="rect">
            <a:avLst/>
          </a:prstGeom>
        </p:spPr>
      </p:pic>
      <p:sp>
        <p:nvSpPr>
          <p:cNvPr id="8" name="Shape 5"/>
          <p:cNvSpPr/>
          <p:nvPr/>
        </p:nvSpPr>
        <p:spPr>
          <a:xfrm>
            <a:off x="640080" y="4892040"/>
            <a:ext cx="10881360" cy="1417320"/>
          </a:xfrm>
          <a:prstGeom prst="roundRect">
            <a:avLst>
              <a:gd name="adj" fmla="val 5806"/>
            </a:avLst>
          </a:prstGeom>
          <a:solidFill>
            <a:srgbClr val="1E2761"/>
          </a:solidFill>
          <a:ln/>
        </p:spPr>
        <p:txBody>
          <a:bodyPr/>
          <a:lstStyle/>
          <a:p>
            <a:endParaRPr lang="en-US"/>
          </a:p>
        </p:txBody>
      </p:sp>
      <p:sp>
        <p:nvSpPr>
          <p:cNvPr id="9" name="Shape 6"/>
          <p:cNvSpPr/>
          <p:nvPr/>
        </p:nvSpPr>
        <p:spPr>
          <a:xfrm>
            <a:off x="868680" y="5326380"/>
            <a:ext cx="548640" cy="548640"/>
          </a:xfrm>
          <a:prstGeom prst="ellipse">
            <a:avLst/>
          </a:prstGeom>
          <a:solidFill>
            <a:srgbClr val="C9962C"/>
          </a:solidFill>
          <a:ln/>
          <a:effectLst>
            <a:outerShdw blurRad="76200" dist="25400" dir="5400000" algn="bl" rotWithShape="0">
              <a:srgbClr val="1E2761">
                <a:alpha val="18000"/>
              </a:srgbClr>
            </a:outerShdw>
          </a:effectLst>
        </p:spPr>
        <p:txBody>
          <a:bodyPr/>
          <a:lstStyle/>
          <a:p>
            <a:endParaRPr lang="en-US"/>
          </a:p>
        </p:txBody>
      </p:sp>
      <p:pic>
        <p:nvPicPr>
          <p:cNvPr id="10" name="Image 1" descr="/home/claude/demand-mgmt-ppt/icons/lightbulb.png"/>
          <p:cNvPicPr>
            <a:picLocks noChangeAspect="1"/>
          </p:cNvPicPr>
          <p:nvPr/>
        </p:nvPicPr>
        <p:blipFill>
          <a:blip r:embed="rId4"/>
          <a:stretch>
            <a:fillRect/>
          </a:stretch>
        </p:blipFill>
        <p:spPr>
          <a:xfrm>
            <a:off x="1005840" y="5463540"/>
            <a:ext cx="274320" cy="274320"/>
          </a:xfrm>
          <a:prstGeom prst="rect">
            <a:avLst/>
          </a:prstGeom>
        </p:spPr>
      </p:pic>
      <p:sp>
        <p:nvSpPr>
          <p:cNvPr id="11" name="Text 7"/>
          <p:cNvSpPr/>
          <p:nvPr/>
        </p:nvSpPr>
        <p:spPr>
          <a:xfrm>
            <a:off x="1554480" y="5020056"/>
            <a:ext cx="9692640" cy="274320"/>
          </a:xfrm>
          <a:prstGeom prst="rect">
            <a:avLst/>
          </a:prstGeom>
          <a:noFill/>
          <a:ln/>
        </p:spPr>
        <p:txBody>
          <a:bodyPr wrap="square" lIns="0" tIns="0" rIns="0" bIns="0" rtlCol="0" anchor="ctr"/>
          <a:lstStyle/>
          <a:p>
            <a:pPr marL="0" indent="0">
              <a:buNone/>
            </a:pPr>
            <a:r>
              <a:rPr lang="en-US" sz="1100" b="1" kern="0" spc="150" dirty="0">
                <a:solidFill>
                  <a:srgbClr val="C9962C"/>
                </a:solidFill>
                <a:latin typeface="Calibri" pitchFamily="34" charset="0"/>
                <a:ea typeface="Calibri" pitchFamily="34" charset="-122"/>
                <a:cs typeface="Calibri" pitchFamily="34" charset="-120"/>
              </a:rPr>
              <a:t>EXAMPLE</a:t>
            </a:r>
            <a:endParaRPr lang="en-US" sz="1100" dirty="0"/>
          </a:p>
        </p:txBody>
      </p:sp>
      <p:sp>
        <p:nvSpPr>
          <p:cNvPr id="12" name="Text 8"/>
          <p:cNvSpPr/>
          <p:nvPr/>
        </p:nvSpPr>
        <p:spPr>
          <a:xfrm>
            <a:off x="1554480" y="5312664"/>
            <a:ext cx="9692640" cy="886968"/>
          </a:xfrm>
          <a:prstGeom prst="rect">
            <a:avLst/>
          </a:prstGeom>
          <a:noFill/>
          <a:ln/>
        </p:spPr>
        <p:txBody>
          <a:bodyPr wrap="square" lIns="0" tIns="0" rIns="0" bIns="0" rtlCol="0" anchor="t"/>
          <a:lstStyle/>
          <a:p>
            <a:pPr marL="0" indent="0">
              <a:lnSpc>
                <a:spcPct val="110000"/>
              </a:lnSpc>
              <a:buNone/>
            </a:pPr>
            <a:r>
              <a:rPr lang="en-US" sz="1250" dirty="0">
                <a:solidFill>
                  <a:srgbClr val="FFFFFF"/>
                </a:solidFill>
                <a:latin typeface="Calibri" pitchFamily="34" charset="0"/>
                <a:ea typeface="Calibri" pitchFamily="34" charset="-122"/>
                <a:cs typeface="Calibri" pitchFamily="34" charset="-120"/>
              </a:rPr>
              <a:t>Before committing ₹50 crore to a new distribution centre, a company models three candidate locations against five years of demand scenarios — in weeks, not years.</a:t>
            </a:r>
            <a:endParaRPr lang="en-US" sz="1250" dirty="0"/>
          </a:p>
        </p:txBody>
      </p:sp>
      <p:sp>
        <p:nvSpPr>
          <p:cNvPr id="13" name="Text 9"/>
          <p:cNvSpPr/>
          <p:nvPr/>
        </p:nvSpPr>
        <p:spPr>
          <a:xfrm>
            <a:off x="11551615" y="6446520"/>
            <a:ext cx="457200" cy="274320"/>
          </a:xfrm>
          <a:prstGeom prst="rect">
            <a:avLst/>
          </a:prstGeom>
          <a:noFill/>
          <a:ln/>
        </p:spPr>
        <p:txBody>
          <a:bodyPr wrap="square" lIns="0" tIns="0" rIns="0" bIns="0" rtlCol="0" anchor="ctr"/>
          <a:lstStyle/>
          <a:p>
            <a:pPr marL="0" indent="0" algn="r">
              <a:buNone/>
            </a:pPr>
            <a:r>
              <a:rPr lang="en-US" sz="1000" dirty="0">
                <a:solidFill>
                  <a:srgbClr val="5A6B8C"/>
                </a:solidFill>
                <a:latin typeface="Calibri" pitchFamily="34" charset="0"/>
                <a:ea typeface="Calibri" pitchFamily="34" charset="-122"/>
                <a:cs typeface="Calibri" pitchFamily="34" charset="-120"/>
              </a:rPr>
              <a:t>35</a:t>
            </a:r>
            <a:endParaRPr lang="en-US" sz="1000" dirty="0"/>
          </a:p>
        </p:txBody>
      </p:sp>
      <p:sp>
        <p:nvSpPr>
          <p:cNvPr id="15" name="Oval 14">
            <a:extLst>
              <a:ext uri="{FF2B5EF4-FFF2-40B4-BE49-F238E27FC236}">
                <a16:creationId xmlns:a16="http://schemas.microsoft.com/office/drawing/2014/main" id="{BF57D2A6-BE13-A9D8-6A76-1191706DA198}"/>
              </a:ext>
            </a:extLst>
          </p:cNvPr>
          <p:cNvSpPr/>
          <p:nvPr/>
        </p:nvSpPr>
        <p:spPr>
          <a:xfrm>
            <a:off x="9043491" y="93594"/>
            <a:ext cx="3142211" cy="1184412"/>
          </a:xfrm>
          <a:prstGeom prst="ellipse">
            <a:avLst/>
          </a:prstGeom>
          <a:solidFill>
            <a:schemeClr val="accent1">
              <a:lumMod val="40000"/>
              <a:lumOff val="6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FF536726-C901-D914-A9CC-D659858D566B}"/>
              </a:ext>
            </a:extLst>
          </p:cNvPr>
          <p:cNvSpPr txBox="1"/>
          <p:nvPr/>
        </p:nvSpPr>
        <p:spPr>
          <a:xfrm>
            <a:off x="9384312" y="424190"/>
            <a:ext cx="2460567" cy="523220"/>
          </a:xfrm>
          <a:prstGeom prst="rect">
            <a:avLst/>
          </a:prstGeom>
          <a:noFill/>
        </p:spPr>
        <p:txBody>
          <a:bodyPr wrap="square" rtlCol="0">
            <a:spAutoFit/>
          </a:bodyPr>
          <a:lstStyle/>
          <a:p>
            <a:r>
              <a:rPr lang="en-US" sz="2800" b="1" dirty="0"/>
              <a:t>Read this slide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6">
    <p:bg>
      <p:bgPr>
        <a:solidFill>
          <a:srgbClr val="EEF3FC"/>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C9962C"/>
                </a:solidFill>
                <a:latin typeface="Calibri" pitchFamily="34" charset="0"/>
                <a:ea typeface="Calibri" pitchFamily="34" charset="-122"/>
                <a:cs typeface="Calibri" pitchFamily="34" charset="-120"/>
              </a:rPr>
              <a:t>MODEL DEVELOPMENT</a:t>
            </a:r>
            <a:endParaRPr lang="en-US" sz="1200" dirty="0"/>
          </a:p>
        </p:txBody>
      </p:sp>
      <p:sp>
        <p:nvSpPr>
          <p:cNvPr id="3" name="Text 1"/>
          <p:cNvSpPr/>
          <p:nvPr/>
        </p:nvSpPr>
        <p:spPr>
          <a:xfrm>
            <a:off x="548640" y="621792"/>
            <a:ext cx="10515600" cy="73152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Types of Logistics Models</a:t>
            </a:r>
            <a:endParaRPr lang="en-US" sz="2800" dirty="0"/>
          </a:p>
        </p:txBody>
      </p:sp>
      <p:sp>
        <p:nvSpPr>
          <p:cNvPr id="4" name="Shape 2"/>
          <p:cNvSpPr/>
          <p:nvPr/>
        </p:nvSpPr>
        <p:spPr>
          <a:xfrm>
            <a:off x="566928" y="1298448"/>
            <a:ext cx="914400" cy="0"/>
          </a:xfrm>
          <a:prstGeom prst="line">
            <a:avLst/>
          </a:prstGeom>
          <a:noFill/>
          <a:ln w="31750">
            <a:solidFill>
              <a:srgbClr val="C9962C"/>
            </a:solidFill>
            <a:prstDash val="solid"/>
          </a:ln>
        </p:spPr>
        <p:txBody>
          <a:bodyPr/>
          <a:lstStyle/>
          <a:p>
            <a:endParaRPr lang="en-US"/>
          </a:p>
        </p:txBody>
      </p:sp>
      <p:sp>
        <p:nvSpPr>
          <p:cNvPr id="5" name="Shape 3"/>
          <p:cNvSpPr/>
          <p:nvPr/>
        </p:nvSpPr>
        <p:spPr>
          <a:xfrm>
            <a:off x="548640" y="1737360"/>
            <a:ext cx="2567864" cy="2148840"/>
          </a:xfrm>
          <a:prstGeom prst="roundRect">
            <a:avLst>
              <a:gd name="adj" fmla="val 3404"/>
            </a:avLst>
          </a:prstGeom>
          <a:solidFill>
            <a:srgbClr val="FFFFFF"/>
          </a:solidFill>
          <a:ln w="12700">
            <a:solidFill>
              <a:srgbClr val="D7E0F5"/>
            </a:solidFill>
            <a:prstDash val="solid"/>
          </a:ln>
          <a:effectLst>
            <a:outerShdw blurRad="101600" dist="25400" dir="5400000" algn="bl" rotWithShape="0">
              <a:srgbClr val="1E2761">
                <a:alpha val="10000"/>
              </a:srgbClr>
            </a:outerShdw>
          </a:effectLst>
        </p:spPr>
        <p:txBody>
          <a:bodyPr/>
          <a:lstStyle/>
          <a:p>
            <a:endParaRPr lang="en-US"/>
          </a:p>
        </p:txBody>
      </p:sp>
      <p:sp>
        <p:nvSpPr>
          <p:cNvPr id="6" name="Shape 4"/>
          <p:cNvSpPr/>
          <p:nvPr/>
        </p:nvSpPr>
        <p:spPr>
          <a:xfrm>
            <a:off x="754380" y="1943100"/>
            <a:ext cx="502920" cy="502920"/>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7" name="Image 0" descr="/home/claude/demand-mgmt-ppt/icons/target.png"/>
          <p:cNvPicPr>
            <a:picLocks noChangeAspect="1"/>
          </p:cNvPicPr>
          <p:nvPr/>
        </p:nvPicPr>
        <p:blipFill>
          <a:blip r:embed="rId3"/>
          <a:stretch>
            <a:fillRect/>
          </a:stretch>
        </p:blipFill>
        <p:spPr>
          <a:xfrm>
            <a:off x="880110" y="2068830"/>
            <a:ext cx="251460" cy="251460"/>
          </a:xfrm>
          <a:prstGeom prst="rect">
            <a:avLst/>
          </a:prstGeom>
        </p:spPr>
      </p:pic>
      <p:sp>
        <p:nvSpPr>
          <p:cNvPr id="8" name="Text 5"/>
          <p:cNvSpPr/>
          <p:nvPr/>
        </p:nvSpPr>
        <p:spPr>
          <a:xfrm>
            <a:off x="777240" y="2606040"/>
            <a:ext cx="2110664" cy="41148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Optimisation Models</a:t>
            </a:r>
            <a:endParaRPr lang="en-US" sz="1450" dirty="0"/>
          </a:p>
        </p:txBody>
      </p:sp>
      <p:sp>
        <p:nvSpPr>
          <p:cNvPr id="9" name="Text 6"/>
          <p:cNvSpPr/>
          <p:nvPr/>
        </p:nvSpPr>
        <p:spPr>
          <a:xfrm>
            <a:off x="777240" y="3017520"/>
            <a:ext cx="2110664" cy="731520"/>
          </a:xfrm>
          <a:prstGeom prst="rect">
            <a:avLst/>
          </a:prstGeom>
          <a:noFill/>
          <a:ln/>
        </p:spPr>
        <p:txBody>
          <a:bodyPr wrap="square" lIns="0" tIns="0" rIns="0" bIns="0" rtlCol="0" anchor="t"/>
          <a:lstStyle/>
          <a:p>
            <a:pPr marL="0" indent="0">
              <a:lnSpc>
                <a:spcPct val="105000"/>
              </a:lnSpc>
              <a:buNone/>
            </a:pPr>
            <a:r>
              <a:rPr lang="en-US" sz="1150" dirty="0">
                <a:solidFill>
                  <a:srgbClr val="5A6B8C"/>
                </a:solidFill>
                <a:latin typeface="Calibri" pitchFamily="34" charset="0"/>
                <a:ea typeface="Calibri" pitchFamily="34" charset="-122"/>
                <a:cs typeface="Calibri" pitchFamily="34" charset="-120"/>
              </a:rPr>
              <a:t>Mathematical programming that finds the best solution against defined constraints — e.g. minimise cost subject to service levels.</a:t>
            </a:r>
            <a:endParaRPr lang="en-US" sz="1150" dirty="0"/>
          </a:p>
        </p:txBody>
      </p:sp>
      <p:sp>
        <p:nvSpPr>
          <p:cNvPr id="10" name="Shape 7"/>
          <p:cNvSpPr/>
          <p:nvPr/>
        </p:nvSpPr>
        <p:spPr>
          <a:xfrm>
            <a:off x="3390824" y="1737360"/>
            <a:ext cx="2567864" cy="2148840"/>
          </a:xfrm>
          <a:prstGeom prst="roundRect">
            <a:avLst>
              <a:gd name="adj" fmla="val 3404"/>
            </a:avLst>
          </a:prstGeom>
          <a:solidFill>
            <a:srgbClr val="FFFFFF"/>
          </a:solidFill>
          <a:ln w="12700">
            <a:solidFill>
              <a:srgbClr val="D7E0F5"/>
            </a:solidFill>
            <a:prstDash val="solid"/>
          </a:ln>
          <a:effectLst>
            <a:outerShdw blurRad="101600" dist="25400" dir="5400000" algn="bl" rotWithShape="0">
              <a:srgbClr val="1E2761">
                <a:alpha val="10000"/>
              </a:srgbClr>
            </a:outerShdw>
          </a:effectLst>
        </p:spPr>
        <p:txBody>
          <a:bodyPr/>
          <a:lstStyle/>
          <a:p>
            <a:endParaRPr lang="en-US"/>
          </a:p>
        </p:txBody>
      </p:sp>
      <p:sp>
        <p:nvSpPr>
          <p:cNvPr id="11" name="Shape 8"/>
          <p:cNvSpPr/>
          <p:nvPr/>
        </p:nvSpPr>
        <p:spPr>
          <a:xfrm>
            <a:off x="3596564" y="1943100"/>
            <a:ext cx="502920" cy="502920"/>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12" name="Image 1" descr="/home/claude/demand-mgmt-ppt/icons/sync.png"/>
          <p:cNvPicPr>
            <a:picLocks noChangeAspect="1"/>
          </p:cNvPicPr>
          <p:nvPr/>
        </p:nvPicPr>
        <p:blipFill>
          <a:blip r:embed="rId4"/>
          <a:stretch>
            <a:fillRect/>
          </a:stretch>
        </p:blipFill>
        <p:spPr>
          <a:xfrm>
            <a:off x="3722294" y="2068830"/>
            <a:ext cx="251460" cy="251460"/>
          </a:xfrm>
          <a:prstGeom prst="rect">
            <a:avLst/>
          </a:prstGeom>
        </p:spPr>
      </p:pic>
      <p:sp>
        <p:nvSpPr>
          <p:cNvPr id="13" name="Text 9"/>
          <p:cNvSpPr/>
          <p:nvPr/>
        </p:nvSpPr>
        <p:spPr>
          <a:xfrm>
            <a:off x="3619424" y="2606040"/>
            <a:ext cx="2110664" cy="41148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Simulation Models</a:t>
            </a:r>
            <a:endParaRPr lang="en-US" sz="1450" dirty="0"/>
          </a:p>
        </p:txBody>
      </p:sp>
      <p:sp>
        <p:nvSpPr>
          <p:cNvPr id="14" name="Text 10"/>
          <p:cNvSpPr/>
          <p:nvPr/>
        </p:nvSpPr>
        <p:spPr>
          <a:xfrm>
            <a:off x="3619424" y="3017520"/>
            <a:ext cx="2110664" cy="731520"/>
          </a:xfrm>
          <a:prstGeom prst="rect">
            <a:avLst/>
          </a:prstGeom>
          <a:noFill/>
          <a:ln/>
        </p:spPr>
        <p:txBody>
          <a:bodyPr wrap="square" lIns="0" tIns="0" rIns="0" bIns="0" rtlCol="0" anchor="t"/>
          <a:lstStyle/>
          <a:p>
            <a:pPr marL="0" indent="0">
              <a:lnSpc>
                <a:spcPct val="105000"/>
              </a:lnSpc>
              <a:buNone/>
            </a:pPr>
            <a:r>
              <a:rPr lang="en-US" sz="1150" dirty="0">
                <a:solidFill>
                  <a:srgbClr val="5A6B8C"/>
                </a:solidFill>
                <a:latin typeface="Calibri" pitchFamily="34" charset="0"/>
                <a:ea typeface="Calibri" pitchFamily="34" charset="-122"/>
                <a:cs typeface="Calibri" pitchFamily="34" charset="-120"/>
              </a:rPr>
              <a:t>Mimic system behaviour over time under uncertainty — useful when randomness and interactions are too complex to solve analytically.</a:t>
            </a:r>
            <a:endParaRPr lang="en-US" sz="1150" dirty="0"/>
          </a:p>
        </p:txBody>
      </p:sp>
      <p:sp>
        <p:nvSpPr>
          <p:cNvPr id="15" name="Shape 11"/>
          <p:cNvSpPr/>
          <p:nvPr/>
        </p:nvSpPr>
        <p:spPr>
          <a:xfrm>
            <a:off x="6233008" y="1737360"/>
            <a:ext cx="2567864" cy="2148840"/>
          </a:xfrm>
          <a:prstGeom prst="roundRect">
            <a:avLst>
              <a:gd name="adj" fmla="val 3404"/>
            </a:avLst>
          </a:prstGeom>
          <a:solidFill>
            <a:srgbClr val="FFFFFF"/>
          </a:solidFill>
          <a:ln w="12700">
            <a:solidFill>
              <a:srgbClr val="D7E0F5"/>
            </a:solidFill>
            <a:prstDash val="solid"/>
          </a:ln>
          <a:effectLst>
            <a:outerShdw blurRad="101600" dist="25400" dir="5400000" algn="bl" rotWithShape="0">
              <a:srgbClr val="1E2761">
                <a:alpha val="10000"/>
              </a:srgbClr>
            </a:outerShdw>
          </a:effectLst>
        </p:spPr>
        <p:txBody>
          <a:bodyPr/>
          <a:lstStyle/>
          <a:p>
            <a:endParaRPr lang="en-US"/>
          </a:p>
        </p:txBody>
      </p:sp>
      <p:sp>
        <p:nvSpPr>
          <p:cNvPr id="16" name="Shape 12"/>
          <p:cNvSpPr/>
          <p:nvPr/>
        </p:nvSpPr>
        <p:spPr>
          <a:xfrm>
            <a:off x="6438748" y="1943100"/>
            <a:ext cx="502920" cy="502920"/>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17" name="Image 2" descr="/home/claude/demand-mgmt-ppt/icons/compass.png"/>
          <p:cNvPicPr>
            <a:picLocks noChangeAspect="1"/>
          </p:cNvPicPr>
          <p:nvPr/>
        </p:nvPicPr>
        <p:blipFill>
          <a:blip r:embed="rId5"/>
          <a:stretch>
            <a:fillRect/>
          </a:stretch>
        </p:blipFill>
        <p:spPr>
          <a:xfrm>
            <a:off x="6564478" y="2068830"/>
            <a:ext cx="251460" cy="251460"/>
          </a:xfrm>
          <a:prstGeom prst="rect">
            <a:avLst/>
          </a:prstGeom>
        </p:spPr>
      </p:pic>
      <p:sp>
        <p:nvSpPr>
          <p:cNvPr id="18" name="Text 13"/>
          <p:cNvSpPr/>
          <p:nvPr/>
        </p:nvSpPr>
        <p:spPr>
          <a:xfrm>
            <a:off x="6461608" y="2606040"/>
            <a:ext cx="2110664" cy="41148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Heuristic Models</a:t>
            </a:r>
            <a:endParaRPr lang="en-US" sz="1450" dirty="0"/>
          </a:p>
        </p:txBody>
      </p:sp>
      <p:sp>
        <p:nvSpPr>
          <p:cNvPr id="19" name="Text 14"/>
          <p:cNvSpPr/>
          <p:nvPr/>
        </p:nvSpPr>
        <p:spPr>
          <a:xfrm>
            <a:off x="6461608" y="3017520"/>
            <a:ext cx="2110664" cy="731520"/>
          </a:xfrm>
          <a:prstGeom prst="rect">
            <a:avLst/>
          </a:prstGeom>
          <a:noFill/>
          <a:ln/>
        </p:spPr>
        <p:txBody>
          <a:bodyPr wrap="square" lIns="0" tIns="0" rIns="0" bIns="0" rtlCol="0" anchor="t"/>
          <a:lstStyle/>
          <a:p>
            <a:pPr marL="0" indent="0">
              <a:lnSpc>
                <a:spcPct val="105000"/>
              </a:lnSpc>
              <a:buNone/>
            </a:pPr>
            <a:r>
              <a:rPr lang="en-US" sz="1150" dirty="0">
                <a:solidFill>
                  <a:srgbClr val="5A6B8C"/>
                </a:solidFill>
                <a:latin typeface="Calibri" pitchFamily="34" charset="0"/>
                <a:ea typeface="Calibri" pitchFamily="34" charset="-122"/>
                <a:cs typeface="Calibri" pitchFamily="34" charset="-120"/>
              </a:rPr>
              <a:t>Rule-of-thumb approaches that find a good (not necessarily optimal) solution quickly for very large problems.</a:t>
            </a:r>
            <a:endParaRPr lang="en-US" sz="1150" dirty="0"/>
          </a:p>
        </p:txBody>
      </p:sp>
      <p:sp>
        <p:nvSpPr>
          <p:cNvPr id="20" name="Shape 15"/>
          <p:cNvSpPr/>
          <p:nvPr/>
        </p:nvSpPr>
        <p:spPr>
          <a:xfrm>
            <a:off x="9075191" y="1737360"/>
            <a:ext cx="2567864" cy="2148840"/>
          </a:xfrm>
          <a:prstGeom prst="roundRect">
            <a:avLst>
              <a:gd name="adj" fmla="val 3404"/>
            </a:avLst>
          </a:prstGeom>
          <a:solidFill>
            <a:srgbClr val="FFFFFF"/>
          </a:solidFill>
          <a:ln w="12700">
            <a:solidFill>
              <a:srgbClr val="D7E0F5"/>
            </a:solidFill>
            <a:prstDash val="solid"/>
          </a:ln>
          <a:effectLst>
            <a:outerShdw blurRad="101600" dist="25400" dir="5400000" algn="bl" rotWithShape="0">
              <a:srgbClr val="1E2761">
                <a:alpha val="10000"/>
              </a:srgbClr>
            </a:outerShdw>
          </a:effectLst>
        </p:spPr>
        <p:txBody>
          <a:bodyPr/>
          <a:lstStyle/>
          <a:p>
            <a:endParaRPr lang="en-US"/>
          </a:p>
        </p:txBody>
      </p:sp>
      <p:sp>
        <p:nvSpPr>
          <p:cNvPr id="21" name="Shape 16"/>
          <p:cNvSpPr/>
          <p:nvPr/>
        </p:nvSpPr>
        <p:spPr>
          <a:xfrm>
            <a:off x="9280931" y="1943100"/>
            <a:ext cx="502920" cy="502920"/>
          </a:xfrm>
          <a:prstGeom prst="ellipse">
            <a:avLst/>
          </a:prstGeom>
          <a:solidFill>
            <a:srgbClr val="1E2761"/>
          </a:solidFill>
          <a:ln/>
          <a:effectLst>
            <a:outerShdw blurRad="76200" dist="25400" dir="5400000" algn="bl" rotWithShape="0">
              <a:srgbClr val="1E2761">
                <a:alpha val="18000"/>
              </a:srgbClr>
            </a:outerShdw>
          </a:effectLst>
        </p:spPr>
        <p:txBody>
          <a:bodyPr/>
          <a:lstStyle/>
          <a:p>
            <a:endParaRPr lang="en-US"/>
          </a:p>
        </p:txBody>
      </p:sp>
      <p:pic>
        <p:nvPicPr>
          <p:cNvPr id="22" name="Image 3" descr="/home/claude/demand-mgmt-ppt/icons/chart.png"/>
          <p:cNvPicPr>
            <a:picLocks noChangeAspect="1"/>
          </p:cNvPicPr>
          <p:nvPr/>
        </p:nvPicPr>
        <p:blipFill>
          <a:blip r:embed="rId6"/>
          <a:stretch>
            <a:fillRect/>
          </a:stretch>
        </p:blipFill>
        <p:spPr>
          <a:xfrm>
            <a:off x="9406661" y="2068830"/>
            <a:ext cx="251460" cy="251460"/>
          </a:xfrm>
          <a:prstGeom prst="rect">
            <a:avLst/>
          </a:prstGeom>
        </p:spPr>
      </p:pic>
      <p:sp>
        <p:nvSpPr>
          <p:cNvPr id="23" name="Text 17"/>
          <p:cNvSpPr/>
          <p:nvPr/>
        </p:nvSpPr>
        <p:spPr>
          <a:xfrm>
            <a:off x="9303791" y="2606040"/>
            <a:ext cx="2110664" cy="41148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Descriptive / Analytical Models</a:t>
            </a:r>
            <a:endParaRPr lang="en-US" sz="1450" dirty="0"/>
          </a:p>
        </p:txBody>
      </p:sp>
      <p:sp>
        <p:nvSpPr>
          <p:cNvPr id="24" name="Text 18"/>
          <p:cNvSpPr/>
          <p:nvPr/>
        </p:nvSpPr>
        <p:spPr>
          <a:xfrm>
            <a:off x="9303791" y="3017520"/>
            <a:ext cx="2110664" cy="731520"/>
          </a:xfrm>
          <a:prstGeom prst="rect">
            <a:avLst/>
          </a:prstGeom>
          <a:noFill/>
          <a:ln/>
        </p:spPr>
        <p:txBody>
          <a:bodyPr wrap="square" lIns="0" tIns="0" rIns="0" bIns="0" rtlCol="0" anchor="t"/>
          <a:lstStyle/>
          <a:p>
            <a:pPr marL="0" indent="0">
              <a:lnSpc>
                <a:spcPct val="105000"/>
              </a:lnSpc>
              <a:buNone/>
            </a:pPr>
            <a:r>
              <a:rPr lang="en-US" sz="1150" dirty="0">
                <a:solidFill>
                  <a:srgbClr val="5A6B8C"/>
                </a:solidFill>
                <a:latin typeface="Calibri" pitchFamily="34" charset="0"/>
                <a:ea typeface="Calibri" pitchFamily="34" charset="-122"/>
                <a:cs typeface="Calibri" pitchFamily="34" charset="-120"/>
              </a:rPr>
              <a:t>Formulas like EOQ or centre-of-gravity that give a direct, closed-form answer for a well-defined question.</a:t>
            </a:r>
            <a:endParaRPr lang="en-US" sz="1150" dirty="0"/>
          </a:p>
        </p:txBody>
      </p:sp>
      <p:sp>
        <p:nvSpPr>
          <p:cNvPr id="25" name="Text 19"/>
          <p:cNvSpPr/>
          <p:nvPr/>
        </p:nvSpPr>
        <p:spPr>
          <a:xfrm>
            <a:off x="11551615" y="6446520"/>
            <a:ext cx="457200" cy="274320"/>
          </a:xfrm>
          <a:prstGeom prst="rect">
            <a:avLst/>
          </a:prstGeom>
          <a:noFill/>
          <a:ln/>
        </p:spPr>
        <p:txBody>
          <a:bodyPr wrap="square" lIns="0" tIns="0" rIns="0" bIns="0" rtlCol="0" anchor="ctr"/>
          <a:lstStyle/>
          <a:p>
            <a:pPr marL="0" indent="0" algn="r">
              <a:buNone/>
            </a:pPr>
            <a:r>
              <a:rPr lang="en-US" sz="1000" dirty="0">
                <a:solidFill>
                  <a:srgbClr val="5A6B8C"/>
                </a:solidFill>
                <a:latin typeface="Calibri" pitchFamily="34" charset="0"/>
                <a:ea typeface="Calibri" pitchFamily="34" charset="-122"/>
                <a:cs typeface="Calibri" pitchFamily="34" charset="-120"/>
              </a:rPr>
              <a:t>36</a:t>
            </a:r>
            <a:endParaRPr lang="en-US" sz="1000" dirty="0"/>
          </a:p>
        </p:txBody>
      </p:sp>
      <p:sp>
        <p:nvSpPr>
          <p:cNvPr id="27" name="Oval 26">
            <a:extLst>
              <a:ext uri="{FF2B5EF4-FFF2-40B4-BE49-F238E27FC236}">
                <a16:creationId xmlns:a16="http://schemas.microsoft.com/office/drawing/2014/main" id="{6EED0FC2-25B5-F1D1-599B-F30D4E87C7EF}"/>
              </a:ext>
            </a:extLst>
          </p:cNvPr>
          <p:cNvSpPr/>
          <p:nvPr/>
        </p:nvSpPr>
        <p:spPr>
          <a:xfrm>
            <a:off x="9002683" y="0"/>
            <a:ext cx="3142211" cy="1184412"/>
          </a:xfrm>
          <a:prstGeom prst="ellipse">
            <a:avLst/>
          </a:prstGeom>
          <a:solidFill>
            <a:schemeClr val="accent2">
              <a:lumMod val="60000"/>
              <a:lumOff val="4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07053640-2918-24CD-BCB8-0F2CFCC3CF09}"/>
              </a:ext>
            </a:extLst>
          </p:cNvPr>
          <p:cNvSpPr txBox="1"/>
          <p:nvPr/>
        </p:nvSpPr>
        <p:spPr>
          <a:xfrm>
            <a:off x="9343504" y="330596"/>
            <a:ext cx="2460567" cy="523220"/>
          </a:xfrm>
          <a:prstGeom prst="rect">
            <a:avLst/>
          </a:prstGeom>
          <a:noFill/>
        </p:spPr>
        <p:txBody>
          <a:bodyPr wrap="square" rtlCol="0">
            <a:spAutoFit/>
          </a:bodyPr>
          <a:lstStyle/>
          <a:p>
            <a:r>
              <a:rPr lang="en-US" sz="2800" b="1" dirty="0"/>
              <a:t>Important slide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C9962C"/>
                </a:solidFill>
                <a:latin typeface="Calibri" pitchFamily="34" charset="0"/>
                <a:ea typeface="Calibri" pitchFamily="34" charset="-122"/>
                <a:cs typeface="Calibri" pitchFamily="34" charset="-120"/>
              </a:rPr>
              <a:t>MODEL DEVELOPMENT</a:t>
            </a:r>
            <a:endParaRPr lang="en-US" sz="1200" dirty="0"/>
          </a:p>
        </p:txBody>
      </p:sp>
      <p:sp>
        <p:nvSpPr>
          <p:cNvPr id="3" name="Text 1"/>
          <p:cNvSpPr/>
          <p:nvPr/>
        </p:nvSpPr>
        <p:spPr>
          <a:xfrm>
            <a:off x="548640" y="621792"/>
            <a:ext cx="10515600" cy="73152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The Model Development Process</a:t>
            </a:r>
            <a:endParaRPr lang="en-US" sz="2800" dirty="0"/>
          </a:p>
        </p:txBody>
      </p:sp>
      <p:sp>
        <p:nvSpPr>
          <p:cNvPr id="4" name="Shape 2"/>
          <p:cNvSpPr/>
          <p:nvPr/>
        </p:nvSpPr>
        <p:spPr>
          <a:xfrm>
            <a:off x="566928" y="1298448"/>
            <a:ext cx="914400" cy="0"/>
          </a:xfrm>
          <a:prstGeom prst="line">
            <a:avLst/>
          </a:prstGeom>
          <a:noFill/>
          <a:ln w="31750">
            <a:solidFill>
              <a:srgbClr val="C9962C"/>
            </a:solidFill>
            <a:prstDash val="solid"/>
          </a:ln>
        </p:spPr>
        <p:txBody>
          <a:bodyPr/>
          <a:lstStyle/>
          <a:p>
            <a:endParaRPr lang="en-US"/>
          </a:p>
        </p:txBody>
      </p:sp>
      <p:sp>
        <p:nvSpPr>
          <p:cNvPr id="5" name="Shape 3"/>
          <p:cNvSpPr/>
          <p:nvPr/>
        </p:nvSpPr>
        <p:spPr>
          <a:xfrm>
            <a:off x="548640" y="2103120"/>
            <a:ext cx="2036003" cy="2651760"/>
          </a:xfrm>
          <a:prstGeom prst="roundRect">
            <a:avLst>
              <a:gd name="adj" fmla="val 3144"/>
            </a:avLst>
          </a:prstGeom>
          <a:solidFill>
            <a:srgbClr val="1E2761"/>
          </a:solidFill>
          <a:ln/>
        </p:spPr>
        <p:txBody>
          <a:bodyPr/>
          <a:lstStyle/>
          <a:p>
            <a:endParaRPr lang="en-US"/>
          </a:p>
        </p:txBody>
      </p:sp>
      <p:sp>
        <p:nvSpPr>
          <p:cNvPr id="6" name="Text 4"/>
          <p:cNvSpPr/>
          <p:nvPr/>
        </p:nvSpPr>
        <p:spPr>
          <a:xfrm>
            <a:off x="685800" y="2212848"/>
            <a:ext cx="1761683" cy="457200"/>
          </a:xfrm>
          <a:prstGeom prst="rect">
            <a:avLst/>
          </a:prstGeom>
          <a:noFill/>
          <a:ln/>
        </p:spPr>
        <p:txBody>
          <a:bodyPr wrap="square" lIns="0" tIns="0" rIns="0" bIns="0" rtlCol="0" anchor="ctr"/>
          <a:lstStyle/>
          <a:p>
            <a:pPr marL="0" indent="0">
              <a:buNone/>
            </a:pPr>
            <a:r>
              <a:rPr lang="en-US" sz="2200" b="1" dirty="0">
                <a:solidFill>
                  <a:srgbClr val="C9962C"/>
                </a:solidFill>
                <a:latin typeface="Cambria" pitchFamily="34" charset="0"/>
                <a:ea typeface="Cambria" pitchFamily="34" charset="-122"/>
                <a:cs typeface="Cambria" pitchFamily="34" charset="-120"/>
              </a:rPr>
              <a:t>1</a:t>
            </a:r>
            <a:endParaRPr lang="en-US" sz="2200" dirty="0"/>
          </a:p>
        </p:txBody>
      </p:sp>
      <p:sp>
        <p:nvSpPr>
          <p:cNvPr id="7" name="Text 5"/>
          <p:cNvSpPr/>
          <p:nvPr/>
        </p:nvSpPr>
        <p:spPr>
          <a:xfrm>
            <a:off x="713232" y="2724912"/>
            <a:ext cx="1706819" cy="685800"/>
          </a:xfrm>
          <a:prstGeom prst="rect">
            <a:avLst/>
          </a:prstGeom>
          <a:noFill/>
          <a:ln/>
        </p:spPr>
        <p:txBody>
          <a:bodyPr wrap="square" lIns="0" tIns="0" rIns="0" bIns="0" rtlCol="0" anchor="t"/>
          <a:lstStyle/>
          <a:p>
            <a:pPr marL="0" indent="0">
              <a:buNone/>
            </a:pPr>
            <a:r>
              <a:rPr lang="en-US" sz="1300" b="1" dirty="0">
                <a:solidFill>
                  <a:srgbClr val="FFFFFF"/>
                </a:solidFill>
                <a:latin typeface="Cambria" pitchFamily="34" charset="0"/>
                <a:ea typeface="Cambria" pitchFamily="34" charset="-122"/>
                <a:cs typeface="Cambria" pitchFamily="34" charset="-120"/>
              </a:rPr>
              <a:t>Define the Problem</a:t>
            </a:r>
            <a:endParaRPr lang="en-US" sz="1300" dirty="0"/>
          </a:p>
        </p:txBody>
      </p:sp>
      <p:sp>
        <p:nvSpPr>
          <p:cNvPr id="8" name="Text 6"/>
          <p:cNvSpPr/>
          <p:nvPr/>
        </p:nvSpPr>
        <p:spPr>
          <a:xfrm>
            <a:off x="713232" y="3474720"/>
            <a:ext cx="1706819" cy="1188720"/>
          </a:xfrm>
          <a:prstGeom prst="rect">
            <a:avLst/>
          </a:prstGeom>
          <a:noFill/>
          <a:ln/>
        </p:spPr>
        <p:txBody>
          <a:bodyPr wrap="square" lIns="0" tIns="0" rIns="0" bIns="0" rtlCol="0" anchor="t"/>
          <a:lstStyle/>
          <a:p>
            <a:pPr marL="0" indent="0">
              <a:lnSpc>
                <a:spcPct val="105000"/>
              </a:lnSpc>
              <a:buNone/>
            </a:pPr>
            <a:r>
              <a:rPr lang="en-US" sz="1050" dirty="0">
                <a:solidFill>
                  <a:srgbClr val="CADCFC"/>
                </a:solidFill>
                <a:latin typeface="Calibri" pitchFamily="34" charset="0"/>
                <a:ea typeface="Calibri" pitchFamily="34" charset="-122"/>
                <a:cs typeface="Calibri" pitchFamily="34" charset="-120"/>
              </a:rPr>
              <a:t>What decision must the model support?</a:t>
            </a:r>
            <a:endParaRPr lang="en-US" sz="1050" dirty="0"/>
          </a:p>
        </p:txBody>
      </p:sp>
      <p:sp>
        <p:nvSpPr>
          <p:cNvPr id="9" name="Text 7"/>
          <p:cNvSpPr/>
          <p:nvPr/>
        </p:nvSpPr>
        <p:spPr>
          <a:xfrm>
            <a:off x="2584643" y="3200400"/>
            <a:ext cx="228600" cy="457200"/>
          </a:xfrm>
          <a:prstGeom prst="rect">
            <a:avLst/>
          </a:prstGeom>
          <a:noFill/>
          <a:ln/>
        </p:spPr>
        <p:txBody>
          <a:bodyPr wrap="square" lIns="0" tIns="0" rIns="0" bIns="0" rtlCol="0" anchor="ctr"/>
          <a:lstStyle/>
          <a:p>
            <a:pPr marL="0" indent="0" algn="ctr">
              <a:buNone/>
            </a:pPr>
            <a:r>
              <a:rPr lang="en-US" sz="2000" b="1" dirty="0">
                <a:solidFill>
                  <a:srgbClr val="C9962C"/>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2813243" y="2103120"/>
            <a:ext cx="2036003" cy="2651760"/>
          </a:xfrm>
          <a:prstGeom prst="roundRect">
            <a:avLst>
              <a:gd name="adj" fmla="val 3144"/>
            </a:avLst>
          </a:prstGeom>
          <a:solidFill>
            <a:srgbClr val="141A3D"/>
          </a:solidFill>
          <a:ln/>
        </p:spPr>
        <p:txBody>
          <a:bodyPr/>
          <a:lstStyle/>
          <a:p>
            <a:endParaRPr lang="en-US"/>
          </a:p>
        </p:txBody>
      </p:sp>
      <p:sp>
        <p:nvSpPr>
          <p:cNvPr id="11" name="Text 9"/>
          <p:cNvSpPr/>
          <p:nvPr/>
        </p:nvSpPr>
        <p:spPr>
          <a:xfrm>
            <a:off x="2950403" y="2212848"/>
            <a:ext cx="1761683" cy="457200"/>
          </a:xfrm>
          <a:prstGeom prst="rect">
            <a:avLst/>
          </a:prstGeom>
          <a:noFill/>
          <a:ln/>
        </p:spPr>
        <p:txBody>
          <a:bodyPr wrap="square" lIns="0" tIns="0" rIns="0" bIns="0" rtlCol="0" anchor="ctr"/>
          <a:lstStyle/>
          <a:p>
            <a:pPr marL="0" indent="0">
              <a:buNone/>
            </a:pPr>
            <a:r>
              <a:rPr lang="en-US" sz="2200" b="1" dirty="0">
                <a:solidFill>
                  <a:srgbClr val="C9962C"/>
                </a:solidFill>
                <a:latin typeface="Cambria" pitchFamily="34" charset="0"/>
                <a:ea typeface="Cambria" pitchFamily="34" charset="-122"/>
                <a:cs typeface="Cambria" pitchFamily="34" charset="-120"/>
              </a:rPr>
              <a:t>2</a:t>
            </a:r>
            <a:endParaRPr lang="en-US" sz="2200" dirty="0"/>
          </a:p>
        </p:txBody>
      </p:sp>
      <p:sp>
        <p:nvSpPr>
          <p:cNvPr id="12" name="Text 10"/>
          <p:cNvSpPr/>
          <p:nvPr/>
        </p:nvSpPr>
        <p:spPr>
          <a:xfrm>
            <a:off x="2977835" y="2724912"/>
            <a:ext cx="1706819" cy="685800"/>
          </a:xfrm>
          <a:prstGeom prst="rect">
            <a:avLst/>
          </a:prstGeom>
          <a:noFill/>
          <a:ln/>
        </p:spPr>
        <p:txBody>
          <a:bodyPr wrap="square" lIns="0" tIns="0" rIns="0" bIns="0" rtlCol="0" anchor="t"/>
          <a:lstStyle/>
          <a:p>
            <a:pPr marL="0" indent="0">
              <a:buNone/>
            </a:pPr>
            <a:r>
              <a:rPr lang="en-US" sz="1300" b="1" dirty="0">
                <a:solidFill>
                  <a:srgbClr val="FFFFFF"/>
                </a:solidFill>
                <a:latin typeface="Cambria" pitchFamily="34" charset="0"/>
                <a:ea typeface="Cambria" pitchFamily="34" charset="-122"/>
                <a:cs typeface="Cambria" pitchFamily="34" charset="-120"/>
              </a:rPr>
              <a:t>Collect &amp; Clean Data</a:t>
            </a:r>
            <a:endParaRPr lang="en-US" sz="1300" dirty="0"/>
          </a:p>
        </p:txBody>
      </p:sp>
      <p:sp>
        <p:nvSpPr>
          <p:cNvPr id="13" name="Text 11"/>
          <p:cNvSpPr/>
          <p:nvPr/>
        </p:nvSpPr>
        <p:spPr>
          <a:xfrm>
            <a:off x="2977835" y="3474720"/>
            <a:ext cx="1706819" cy="1188720"/>
          </a:xfrm>
          <a:prstGeom prst="rect">
            <a:avLst/>
          </a:prstGeom>
          <a:noFill/>
          <a:ln/>
        </p:spPr>
        <p:txBody>
          <a:bodyPr wrap="square" lIns="0" tIns="0" rIns="0" bIns="0" rtlCol="0" anchor="t"/>
          <a:lstStyle/>
          <a:p>
            <a:pPr marL="0" indent="0">
              <a:lnSpc>
                <a:spcPct val="105000"/>
              </a:lnSpc>
              <a:buNone/>
            </a:pPr>
            <a:r>
              <a:rPr lang="en-US" sz="1050" dirty="0">
                <a:solidFill>
                  <a:srgbClr val="CADCFC"/>
                </a:solidFill>
                <a:latin typeface="Calibri" pitchFamily="34" charset="0"/>
                <a:ea typeface="Calibri" pitchFamily="34" charset="-122"/>
                <a:cs typeface="Calibri" pitchFamily="34" charset="-120"/>
              </a:rPr>
              <a:t>Demand, cost, capacity and network data</a:t>
            </a:r>
            <a:endParaRPr lang="en-US" sz="1050" dirty="0"/>
          </a:p>
        </p:txBody>
      </p:sp>
      <p:sp>
        <p:nvSpPr>
          <p:cNvPr id="14" name="Text 12"/>
          <p:cNvSpPr/>
          <p:nvPr/>
        </p:nvSpPr>
        <p:spPr>
          <a:xfrm>
            <a:off x="4849246" y="3200400"/>
            <a:ext cx="228600" cy="457200"/>
          </a:xfrm>
          <a:prstGeom prst="rect">
            <a:avLst/>
          </a:prstGeom>
          <a:noFill/>
          <a:ln/>
        </p:spPr>
        <p:txBody>
          <a:bodyPr wrap="square" lIns="0" tIns="0" rIns="0" bIns="0" rtlCol="0" anchor="ctr"/>
          <a:lstStyle/>
          <a:p>
            <a:pPr marL="0" indent="0" algn="ctr">
              <a:buNone/>
            </a:pPr>
            <a:r>
              <a:rPr lang="en-US" sz="2000" b="1" dirty="0">
                <a:solidFill>
                  <a:srgbClr val="C9962C"/>
                </a:solidFill>
                <a:latin typeface="Calibri" pitchFamily="34" charset="0"/>
                <a:ea typeface="Calibri" pitchFamily="34" charset="-122"/>
                <a:cs typeface="Calibri" pitchFamily="34" charset="-120"/>
              </a:rPr>
              <a:t>›</a:t>
            </a:r>
            <a:endParaRPr lang="en-US" sz="2000" dirty="0"/>
          </a:p>
        </p:txBody>
      </p:sp>
      <p:sp>
        <p:nvSpPr>
          <p:cNvPr id="15" name="Shape 13"/>
          <p:cNvSpPr/>
          <p:nvPr/>
        </p:nvSpPr>
        <p:spPr>
          <a:xfrm>
            <a:off x="5077846" y="2103120"/>
            <a:ext cx="2036003" cy="2651760"/>
          </a:xfrm>
          <a:prstGeom prst="roundRect">
            <a:avLst>
              <a:gd name="adj" fmla="val 3144"/>
            </a:avLst>
          </a:prstGeom>
          <a:solidFill>
            <a:srgbClr val="1E2761"/>
          </a:solidFill>
          <a:ln/>
        </p:spPr>
        <p:txBody>
          <a:bodyPr/>
          <a:lstStyle/>
          <a:p>
            <a:endParaRPr lang="en-US"/>
          </a:p>
        </p:txBody>
      </p:sp>
      <p:sp>
        <p:nvSpPr>
          <p:cNvPr id="16" name="Text 14"/>
          <p:cNvSpPr/>
          <p:nvPr/>
        </p:nvSpPr>
        <p:spPr>
          <a:xfrm>
            <a:off x="5215006" y="2212848"/>
            <a:ext cx="1761683" cy="457200"/>
          </a:xfrm>
          <a:prstGeom prst="rect">
            <a:avLst/>
          </a:prstGeom>
          <a:noFill/>
          <a:ln/>
        </p:spPr>
        <p:txBody>
          <a:bodyPr wrap="square" lIns="0" tIns="0" rIns="0" bIns="0" rtlCol="0" anchor="ctr"/>
          <a:lstStyle/>
          <a:p>
            <a:pPr marL="0" indent="0">
              <a:buNone/>
            </a:pPr>
            <a:r>
              <a:rPr lang="en-US" sz="2200" b="1" dirty="0">
                <a:solidFill>
                  <a:srgbClr val="C9962C"/>
                </a:solidFill>
                <a:latin typeface="Cambria" pitchFamily="34" charset="0"/>
                <a:ea typeface="Cambria" pitchFamily="34" charset="-122"/>
                <a:cs typeface="Cambria" pitchFamily="34" charset="-120"/>
              </a:rPr>
              <a:t>3</a:t>
            </a:r>
            <a:endParaRPr lang="en-US" sz="2200" dirty="0"/>
          </a:p>
        </p:txBody>
      </p:sp>
      <p:sp>
        <p:nvSpPr>
          <p:cNvPr id="17" name="Text 15"/>
          <p:cNvSpPr/>
          <p:nvPr/>
        </p:nvSpPr>
        <p:spPr>
          <a:xfrm>
            <a:off x="5242438" y="2724912"/>
            <a:ext cx="1706819" cy="685800"/>
          </a:xfrm>
          <a:prstGeom prst="rect">
            <a:avLst/>
          </a:prstGeom>
          <a:noFill/>
          <a:ln/>
        </p:spPr>
        <p:txBody>
          <a:bodyPr wrap="square" lIns="0" tIns="0" rIns="0" bIns="0" rtlCol="0" anchor="t"/>
          <a:lstStyle/>
          <a:p>
            <a:pPr marL="0" indent="0">
              <a:buNone/>
            </a:pPr>
            <a:r>
              <a:rPr lang="en-US" sz="1300" b="1" dirty="0">
                <a:solidFill>
                  <a:srgbClr val="FFFFFF"/>
                </a:solidFill>
                <a:latin typeface="Cambria" pitchFamily="34" charset="0"/>
                <a:ea typeface="Cambria" pitchFamily="34" charset="-122"/>
                <a:cs typeface="Cambria" pitchFamily="34" charset="-120"/>
              </a:rPr>
              <a:t>Build the Model</a:t>
            </a:r>
            <a:endParaRPr lang="en-US" sz="1300" dirty="0"/>
          </a:p>
        </p:txBody>
      </p:sp>
      <p:sp>
        <p:nvSpPr>
          <p:cNvPr id="18" name="Text 16"/>
          <p:cNvSpPr/>
          <p:nvPr/>
        </p:nvSpPr>
        <p:spPr>
          <a:xfrm>
            <a:off x="5242438" y="3474720"/>
            <a:ext cx="1706819" cy="1188720"/>
          </a:xfrm>
          <a:prstGeom prst="rect">
            <a:avLst/>
          </a:prstGeom>
          <a:noFill/>
          <a:ln/>
        </p:spPr>
        <p:txBody>
          <a:bodyPr wrap="square" lIns="0" tIns="0" rIns="0" bIns="0" rtlCol="0" anchor="t"/>
          <a:lstStyle/>
          <a:p>
            <a:pPr marL="0" indent="0">
              <a:lnSpc>
                <a:spcPct val="105000"/>
              </a:lnSpc>
              <a:buNone/>
            </a:pPr>
            <a:r>
              <a:rPr lang="en-US" sz="1050" dirty="0">
                <a:solidFill>
                  <a:srgbClr val="CADCFC"/>
                </a:solidFill>
                <a:latin typeface="Calibri" pitchFamily="34" charset="0"/>
                <a:ea typeface="Calibri" pitchFamily="34" charset="-122"/>
                <a:cs typeface="Calibri" pitchFamily="34" charset="-120"/>
              </a:rPr>
              <a:t>Choose the right technique and structure it</a:t>
            </a:r>
            <a:endParaRPr lang="en-US" sz="1050" dirty="0"/>
          </a:p>
        </p:txBody>
      </p:sp>
      <p:sp>
        <p:nvSpPr>
          <p:cNvPr id="19" name="Text 17"/>
          <p:cNvSpPr/>
          <p:nvPr/>
        </p:nvSpPr>
        <p:spPr>
          <a:xfrm>
            <a:off x="7113849" y="3200400"/>
            <a:ext cx="228600" cy="457200"/>
          </a:xfrm>
          <a:prstGeom prst="rect">
            <a:avLst/>
          </a:prstGeom>
          <a:noFill/>
          <a:ln/>
        </p:spPr>
        <p:txBody>
          <a:bodyPr wrap="square" lIns="0" tIns="0" rIns="0" bIns="0" rtlCol="0" anchor="ctr"/>
          <a:lstStyle/>
          <a:p>
            <a:pPr marL="0" indent="0" algn="ctr">
              <a:buNone/>
            </a:pPr>
            <a:r>
              <a:rPr lang="en-US" sz="2000" b="1" dirty="0">
                <a:solidFill>
                  <a:srgbClr val="C9962C"/>
                </a:solidFill>
                <a:latin typeface="Calibri" pitchFamily="34" charset="0"/>
                <a:ea typeface="Calibri" pitchFamily="34" charset="-122"/>
                <a:cs typeface="Calibri" pitchFamily="34" charset="-120"/>
              </a:rPr>
              <a:t>›</a:t>
            </a:r>
            <a:endParaRPr lang="en-US" sz="2000" dirty="0"/>
          </a:p>
        </p:txBody>
      </p:sp>
      <p:sp>
        <p:nvSpPr>
          <p:cNvPr id="20" name="Shape 18"/>
          <p:cNvSpPr/>
          <p:nvPr/>
        </p:nvSpPr>
        <p:spPr>
          <a:xfrm>
            <a:off x="7342449" y="2103120"/>
            <a:ext cx="2036003" cy="2651760"/>
          </a:xfrm>
          <a:prstGeom prst="roundRect">
            <a:avLst>
              <a:gd name="adj" fmla="val 3144"/>
            </a:avLst>
          </a:prstGeom>
          <a:solidFill>
            <a:srgbClr val="141A3D"/>
          </a:solidFill>
          <a:ln/>
        </p:spPr>
        <p:txBody>
          <a:bodyPr/>
          <a:lstStyle/>
          <a:p>
            <a:endParaRPr lang="en-US"/>
          </a:p>
        </p:txBody>
      </p:sp>
      <p:sp>
        <p:nvSpPr>
          <p:cNvPr id="21" name="Text 19"/>
          <p:cNvSpPr/>
          <p:nvPr/>
        </p:nvSpPr>
        <p:spPr>
          <a:xfrm>
            <a:off x="7479609" y="2212848"/>
            <a:ext cx="1761683" cy="457200"/>
          </a:xfrm>
          <a:prstGeom prst="rect">
            <a:avLst/>
          </a:prstGeom>
          <a:noFill/>
          <a:ln/>
        </p:spPr>
        <p:txBody>
          <a:bodyPr wrap="square" lIns="0" tIns="0" rIns="0" bIns="0" rtlCol="0" anchor="ctr"/>
          <a:lstStyle/>
          <a:p>
            <a:pPr marL="0" indent="0">
              <a:buNone/>
            </a:pPr>
            <a:r>
              <a:rPr lang="en-US" sz="2200" b="1" dirty="0">
                <a:solidFill>
                  <a:srgbClr val="C9962C"/>
                </a:solidFill>
                <a:latin typeface="Cambria" pitchFamily="34" charset="0"/>
                <a:ea typeface="Cambria" pitchFamily="34" charset="-122"/>
                <a:cs typeface="Cambria" pitchFamily="34" charset="-120"/>
              </a:rPr>
              <a:t>4</a:t>
            </a:r>
            <a:endParaRPr lang="en-US" sz="2200" dirty="0"/>
          </a:p>
        </p:txBody>
      </p:sp>
      <p:sp>
        <p:nvSpPr>
          <p:cNvPr id="22" name="Text 20"/>
          <p:cNvSpPr/>
          <p:nvPr/>
        </p:nvSpPr>
        <p:spPr>
          <a:xfrm>
            <a:off x="7507041" y="2724912"/>
            <a:ext cx="1706819" cy="685800"/>
          </a:xfrm>
          <a:prstGeom prst="rect">
            <a:avLst/>
          </a:prstGeom>
          <a:noFill/>
          <a:ln/>
        </p:spPr>
        <p:txBody>
          <a:bodyPr wrap="square" lIns="0" tIns="0" rIns="0" bIns="0" rtlCol="0" anchor="t"/>
          <a:lstStyle/>
          <a:p>
            <a:pPr marL="0" indent="0">
              <a:buNone/>
            </a:pPr>
            <a:r>
              <a:rPr lang="en-US" sz="1300" b="1" dirty="0">
                <a:solidFill>
                  <a:srgbClr val="FFFFFF"/>
                </a:solidFill>
                <a:latin typeface="Cambria" pitchFamily="34" charset="0"/>
                <a:ea typeface="Cambria" pitchFamily="34" charset="-122"/>
                <a:cs typeface="Cambria" pitchFamily="34" charset="-120"/>
              </a:rPr>
              <a:t>Validate the Model</a:t>
            </a:r>
            <a:endParaRPr lang="en-US" sz="1300" dirty="0"/>
          </a:p>
        </p:txBody>
      </p:sp>
      <p:sp>
        <p:nvSpPr>
          <p:cNvPr id="23" name="Text 21"/>
          <p:cNvSpPr/>
          <p:nvPr/>
        </p:nvSpPr>
        <p:spPr>
          <a:xfrm>
            <a:off x="7507041" y="3474720"/>
            <a:ext cx="1706819" cy="1188720"/>
          </a:xfrm>
          <a:prstGeom prst="rect">
            <a:avLst/>
          </a:prstGeom>
          <a:noFill/>
          <a:ln/>
        </p:spPr>
        <p:txBody>
          <a:bodyPr wrap="square" lIns="0" tIns="0" rIns="0" bIns="0" rtlCol="0" anchor="t"/>
          <a:lstStyle/>
          <a:p>
            <a:pPr marL="0" indent="0">
              <a:lnSpc>
                <a:spcPct val="105000"/>
              </a:lnSpc>
              <a:buNone/>
            </a:pPr>
            <a:r>
              <a:rPr lang="en-US" sz="1050" dirty="0">
                <a:solidFill>
                  <a:srgbClr val="CADCFC"/>
                </a:solidFill>
                <a:latin typeface="Calibri" pitchFamily="34" charset="0"/>
                <a:ea typeface="Calibri" pitchFamily="34" charset="-122"/>
                <a:cs typeface="Calibri" pitchFamily="34" charset="-120"/>
              </a:rPr>
              <a:t>Test against known/historical outcomes</a:t>
            </a:r>
            <a:endParaRPr lang="en-US" sz="1050" dirty="0"/>
          </a:p>
        </p:txBody>
      </p:sp>
      <p:sp>
        <p:nvSpPr>
          <p:cNvPr id="24" name="Text 22"/>
          <p:cNvSpPr/>
          <p:nvPr/>
        </p:nvSpPr>
        <p:spPr>
          <a:xfrm>
            <a:off x="9378452" y="3200400"/>
            <a:ext cx="228600" cy="457200"/>
          </a:xfrm>
          <a:prstGeom prst="rect">
            <a:avLst/>
          </a:prstGeom>
          <a:noFill/>
          <a:ln/>
        </p:spPr>
        <p:txBody>
          <a:bodyPr wrap="square" lIns="0" tIns="0" rIns="0" bIns="0" rtlCol="0" anchor="ctr"/>
          <a:lstStyle/>
          <a:p>
            <a:pPr marL="0" indent="0" algn="ctr">
              <a:buNone/>
            </a:pPr>
            <a:r>
              <a:rPr lang="en-US" sz="2000" b="1" dirty="0">
                <a:solidFill>
                  <a:srgbClr val="C9962C"/>
                </a:solidFill>
                <a:latin typeface="Calibri" pitchFamily="34" charset="0"/>
                <a:ea typeface="Calibri" pitchFamily="34" charset="-122"/>
                <a:cs typeface="Calibri" pitchFamily="34" charset="-120"/>
              </a:rPr>
              <a:t>›</a:t>
            </a:r>
            <a:endParaRPr lang="en-US" sz="2000" dirty="0"/>
          </a:p>
        </p:txBody>
      </p:sp>
      <p:sp>
        <p:nvSpPr>
          <p:cNvPr id="25" name="Shape 23"/>
          <p:cNvSpPr/>
          <p:nvPr/>
        </p:nvSpPr>
        <p:spPr>
          <a:xfrm>
            <a:off x="9607052" y="2103120"/>
            <a:ext cx="2036003" cy="2651760"/>
          </a:xfrm>
          <a:prstGeom prst="roundRect">
            <a:avLst>
              <a:gd name="adj" fmla="val 3144"/>
            </a:avLst>
          </a:prstGeom>
          <a:solidFill>
            <a:srgbClr val="1E2761"/>
          </a:solidFill>
          <a:ln/>
        </p:spPr>
        <p:txBody>
          <a:bodyPr/>
          <a:lstStyle/>
          <a:p>
            <a:endParaRPr lang="en-US"/>
          </a:p>
        </p:txBody>
      </p:sp>
      <p:sp>
        <p:nvSpPr>
          <p:cNvPr id="26" name="Text 24"/>
          <p:cNvSpPr/>
          <p:nvPr/>
        </p:nvSpPr>
        <p:spPr>
          <a:xfrm>
            <a:off x="9744212" y="2212848"/>
            <a:ext cx="1761683" cy="457200"/>
          </a:xfrm>
          <a:prstGeom prst="rect">
            <a:avLst/>
          </a:prstGeom>
          <a:noFill/>
          <a:ln/>
        </p:spPr>
        <p:txBody>
          <a:bodyPr wrap="square" lIns="0" tIns="0" rIns="0" bIns="0" rtlCol="0" anchor="ctr"/>
          <a:lstStyle/>
          <a:p>
            <a:pPr marL="0" indent="0">
              <a:buNone/>
            </a:pPr>
            <a:r>
              <a:rPr lang="en-US" sz="2200" b="1" dirty="0">
                <a:solidFill>
                  <a:srgbClr val="C9962C"/>
                </a:solidFill>
                <a:latin typeface="Cambria" pitchFamily="34" charset="0"/>
                <a:ea typeface="Cambria" pitchFamily="34" charset="-122"/>
                <a:cs typeface="Cambria" pitchFamily="34" charset="-120"/>
              </a:rPr>
              <a:t>5</a:t>
            </a:r>
            <a:endParaRPr lang="en-US" sz="2200" dirty="0"/>
          </a:p>
        </p:txBody>
      </p:sp>
      <p:sp>
        <p:nvSpPr>
          <p:cNvPr id="27" name="Text 25"/>
          <p:cNvSpPr/>
          <p:nvPr/>
        </p:nvSpPr>
        <p:spPr>
          <a:xfrm>
            <a:off x="9771644" y="2724912"/>
            <a:ext cx="1706819" cy="685800"/>
          </a:xfrm>
          <a:prstGeom prst="rect">
            <a:avLst/>
          </a:prstGeom>
          <a:noFill/>
          <a:ln/>
        </p:spPr>
        <p:txBody>
          <a:bodyPr wrap="square" lIns="0" tIns="0" rIns="0" bIns="0" rtlCol="0" anchor="t"/>
          <a:lstStyle/>
          <a:p>
            <a:pPr marL="0" indent="0">
              <a:buNone/>
            </a:pPr>
            <a:r>
              <a:rPr lang="en-US" sz="1300" b="1" dirty="0">
                <a:solidFill>
                  <a:srgbClr val="FFFFFF"/>
                </a:solidFill>
                <a:latin typeface="Cambria" pitchFamily="34" charset="0"/>
                <a:ea typeface="Cambria" pitchFamily="34" charset="-122"/>
                <a:cs typeface="Cambria" pitchFamily="34" charset="-120"/>
              </a:rPr>
              <a:t>Run Scenarios &amp; Decide</a:t>
            </a:r>
            <a:endParaRPr lang="en-US" sz="1300" dirty="0"/>
          </a:p>
        </p:txBody>
      </p:sp>
      <p:sp>
        <p:nvSpPr>
          <p:cNvPr id="28" name="Text 26"/>
          <p:cNvSpPr/>
          <p:nvPr/>
        </p:nvSpPr>
        <p:spPr>
          <a:xfrm>
            <a:off x="9771644" y="3474720"/>
            <a:ext cx="1706819" cy="1188720"/>
          </a:xfrm>
          <a:prstGeom prst="rect">
            <a:avLst/>
          </a:prstGeom>
          <a:noFill/>
          <a:ln/>
        </p:spPr>
        <p:txBody>
          <a:bodyPr wrap="square" lIns="0" tIns="0" rIns="0" bIns="0" rtlCol="0" anchor="t"/>
          <a:lstStyle/>
          <a:p>
            <a:pPr marL="0" indent="0">
              <a:lnSpc>
                <a:spcPct val="105000"/>
              </a:lnSpc>
              <a:buNone/>
            </a:pPr>
            <a:r>
              <a:rPr lang="en-US" sz="1050" dirty="0">
                <a:solidFill>
                  <a:srgbClr val="CADCFC"/>
                </a:solidFill>
                <a:latin typeface="Calibri" pitchFamily="34" charset="0"/>
                <a:ea typeface="Calibri" pitchFamily="34" charset="-122"/>
                <a:cs typeface="Calibri" pitchFamily="34" charset="-120"/>
              </a:rPr>
              <a:t>Compare alternatives and support the decision</a:t>
            </a:r>
            <a:endParaRPr lang="en-US" sz="1050" dirty="0"/>
          </a:p>
        </p:txBody>
      </p:sp>
      <p:sp>
        <p:nvSpPr>
          <p:cNvPr id="29" name="Text 27"/>
          <p:cNvSpPr/>
          <p:nvPr/>
        </p:nvSpPr>
        <p:spPr>
          <a:xfrm>
            <a:off x="640080" y="5074920"/>
            <a:ext cx="10881360" cy="457200"/>
          </a:xfrm>
          <a:prstGeom prst="rect">
            <a:avLst/>
          </a:prstGeom>
          <a:noFill/>
          <a:ln/>
        </p:spPr>
        <p:txBody>
          <a:bodyPr wrap="square" lIns="0" tIns="0" rIns="0" bIns="0" rtlCol="0" anchor="ctr"/>
          <a:lstStyle/>
          <a:p>
            <a:pPr marL="0" indent="0">
              <a:buNone/>
            </a:pPr>
            <a:r>
              <a:rPr lang="en-US" sz="1250" i="1" dirty="0">
                <a:solidFill>
                  <a:srgbClr val="5A6B8C"/>
                </a:solidFill>
                <a:latin typeface="Calibri" pitchFamily="34" charset="0"/>
                <a:ea typeface="Calibri" pitchFamily="34" charset="-122"/>
                <a:cs typeface="Calibri" pitchFamily="34" charset="-120"/>
              </a:rPr>
              <a:t>A model is only as good as the data behind it — most real-world model failures trace back to poor data quality, not a flawed technique.</a:t>
            </a:r>
            <a:endParaRPr lang="en-US" sz="1250" dirty="0"/>
          </a:p>
        </p:txBody>
      </p:sp>
      <p:sp>
        <p:nvSpPr>
          <p:cNvPr id="30" name="Text 28"/>
          <p:cNvSpPr/>
          <p:nvPr/>
        </p:nvSpPr>
        <p:spPr>
          <a:xfrm>
            <a:off x="11551615" y="6446520"/>
            <a:ext cx="457200" cy="274320"/>
          </a:xfrm>
          <a:prstGeom prst="rect">
            <a:avLst/>
          </a:prstGeom>
          <a:noFill/>
          <a:ln/>
        </p:spPr>
        <p:txBody>
          <a:bodyPr wrap="square" lIns="0" tIns="0" rIns="0" bIns="0" rtlCol="0" anchor="ctr"/>
          <a:lstStyle/>
          <a:p>
            <a:pPr marL="0" indent="0" algn="r">
              <a:buNone/>
            </a:pPr>
            <a:r>
              <a:rPr lang="en-US" sz="1000" dirty="0">
                <a:solidFill>
                  <a:srgbClr val="5A6B8C"/>
                </a:solidFill>
                <a:latin typeface="Calibri" pitchFamily="34" charset="0"/>
                <a:ea typeface="Calibri" pitchFamily="34" charset="-122"/>
                <a:cs typeface="Calibri" pitchFamily="34" charset="-120"/>
              </a:rPr>
              <a:t>37</a:t>
            </a:r>
            <a:endParaRPr lang="en-US" sz="1000" dirty="0"/>
          </a:p>
        </p:txBody>
      </p:sp>
      <p:sp>
        <p:nvSpPr>
          <p:cNvPr id="32" name="Oval 31">
            <a:extLst>
              <a:ext uri="{FF2B5EF4-FFF2-40B4-BE49-F238E27FC236}">
                <a16:creationId xmlns:a16="http://schemas.microsoft.com/office/drawing/2014/main" id="{DD7EB906-E207-83B5-FCE0-410FA0517448}"/>
              </a:ext>
            </a:extLst>
          </p:cNvPr>
          <p:cNvSpPr/>
          <p:nvPr/>
        </p:nvSpPr>
        <p:spPr>
          <a:xfrm>
            <a:off x="9049789" y="104892"/>
            <a:ext cx="3142211" cy="1184412"/>
          </a:xfrm>
          <a:prstGeom prst="ellipse">
            <a:avLst/>
          </a:prstGeom>
          <a:solidFill>
            <a:schemeClr val="accent2">
              <a:lumMod val="60000"/>
              <a:lumOff val="4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EA035BB1-DDDC-5550-E3B2-F8E7AF9B5ED2}"/>
              </a:ext>
            </a:extLst>
          </p:cNvPr>
          <p:cNvSpPr txBox="1"/>
          <p:nvPr/>
        </p:nvSpPr>
        <p:spPr>
          <a:xfrm>
            <a:off x="9390610" y="435488"/>
            <a:ext cx="2460567" cy="523220"/>
          </a:xfrm>
          <a:prstGeom prst="rect">
            <a:avLst/>
          </a:prstGeom>
          <a:noFill/>
        </p:spPr>
        <p:txBody>
          <a:bodyPr wrap="square" rtlCol="0">
            <a:spAutoFit/>
          </a:bodyPr>
          <a:lstStyle/>
          <a:p>
            <a:r>
              <a:rPr lang="en-US" sz="2800" b="1" dirty="0"/>
              <a:t>Important slide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8">
    <p:bg>
      <p:bgPr>
        <a:solidFill>
          <a:srgbClr val="EEF3FC"/>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C9962C"/>
                </a:solidFill>
                <a:latin typeface="Calibri" pitchFamily="34" charset="0"/>
                <a:ea typeface="Calibri" pitchFamily="34" charset="-122"/>
                <a:cs typeface="Calibri" pitchFamily="34" charset="-120"/>
              </a:rPr>
              <a:t>MODEL DEVELOPMENT</a:t>
            </a:r>
            <a:endParaRPr lang="en-US" sz="1200" dirty="0"/>
          </a:p>
        </p:txBody>
      </p:sp>
      <p:sp>
        <p:nvSpPr>
          <p:cNvPr id="3" name="Text 1"/>
          <p:cNvSpPr/>
          <p:nvPr/>
        </p:nvSpPr>
        <p:spPr>
          <a:xfrm>
            <a:off x="548640" y="621792"/>
            <a:ext cx="10515600" cy="73152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Example: A Network Design Optimisation Model</a:t>
            </a:r>
            <a:endParaRPr lang="en-US" sz="2800" dirty="0"/>
          </a:p>
        </p:txBody>
      </p:sp>
      <p:sp>
        <p:nvSpPr>
          <p:cNvPr id="4" name="Shape 2"/>
          <p:cNvSpPr/>
          <p:nvPr/>
        </p:nvSpPr>
        <p:spPr>
          <a:xfrm>
            <a:off x="566928" y="1298448"/>
            <a:ext cx="914400" cy="0"/>
          </a:xfrm>
          <a:prstGeom prst="line">
            <a:avLst/>
          </a:prstGeom>
          <a:noFill/>
          <a:ln w="31750">
            <a:solidFill>
              <a:srgbClr val="C9962C"/>
            </a:solidFill>
            <a:prstDash val="solid"/>
          </a:ln>
        </p:spPr>
        <p:txBody>
          <a:bodyPr/>
          <a:lstStyle/>
          <a:p>
            <a:endParaRPr lang="en-US"/>
          </a:p>
        </p:txBody>
      </p:sp>
      <p:sp>
        <p:nvSpPr>
          <p:cNvPr id="5" name="Text 3"/>
          <p:cNvSpPr/>
          <p:nvPr/>
        </p:nvSpPr>
        <p:spPr>
          <a:xfrm>
            <a:off x="640080" y="1691640"/>
            <a:ext cx="10881360" cy="502920"/>
          </a:xfrm>
          <a:prstGeom prst="rect">
            <a:avLst/>
          </a:prstGeom>
          <a:noFill/>
          <a:ln/>
        </p:spPr>
        <p:txBody>
          <a:bodyPr wrap="square" lIns="0" tIns="0" rIns="0" bIns="0" rtlCol="0" anchor="ctr"/>
          <a:lstStyle/>
          <a:p>
            <a:pPr marL="0" indent="0">
              <a:buNone/>
            </a:pPr>
            <a:r>
              <a:rPr lang="en-US" sz="1400" dirty="0">
                <a:solidFill>
                  <a:srgbClr val="1E2761"/>
                </a:solidFill>
                <a:latin typeface="Calibri" pitchFamily="34" charset="0"/>
                <a:ea typeface="Calibri" pitchFamily="34" charset="-122"/>
                <a:cs typeface="Calibri" pitchFamily="34" charset="-120"/>
              </a:rPr>
              <a:t>A national distributor wants to decide how many regional DCs to run — 3, 5, or 7 — and where to locate them.</a:t>
            </a:r>
            <a:endParaRPr lang="en-US" sz="1400" dirty="0"/>
          </a:p>
        </p:txBody>
      </p:sp>
      <p:sp>
        <p:nvSpPr>
          <p:cNvPr id="6" name="Shape 4"/>
          <p:cNvSpPr/>
          <p:nvPr/>
        </p:nvSpPr>
        <p:spPr>
          <a:xfrm>
            <a:off x="640080" y="2331720"/>
            <a:ext cx="10881360" cy="1188720"/>
          </a:xfrm>
          <a:prstGeom prst="roundRect">
            <a:avLst>
              <a:gd name="adj" fmla="val 6154"/>
            </a:avLst>
          </a:prstGeom>
          <a:solidFill>
            <a:srgbClr val="EEF3FC"/>
          </a:solidFill>
          <a:ln w="19050">
            <a:solidFill>
              <a:srgbClr val="CADCFC"/>
            </a:solidFill>
            <a:prstDash val="solid"/>
          </a:ln>
        </p:spPr>
        <p:txBody>
          <a:bodyPr/>
          <a:lstStyle/>
          <a:p>
            <a:endParaRPr lang="en-US"/>
          </a:p>
        </p:txBody>
      </p:sp>
      <p:sp>
        <p:nvSpPr>
          <p:cNvPr id="7" name="Text 5"/>
          <p:cNvSpPr/>
          <p:nvPr/>
        </p:nvSpPr>
        <p:spPr>
          <a:xfrm>
            <a:off x="914400" y="2496312"/>
            <a:ext cx="10332720" cy="548640"/>
          </a:xfrm>
          <a:prstGeom prst="rect">
            <a:avLst/>
          </a:prstGeom>
          <a:noFill/>
          <a:ln/>
        </p:spPr>
        <p:txBody>
          <a:bodyPr wrap="square" lIns="0" tIns="0" rIns="0" bIns="0" rtlCol="0" anchor="ctr"/>
          <a:lstStyle/>
          <a:p>
            <a:pPr marL="0" indent="0" algn="ctr">
              <a:buNone/>
            </a:pPr>
            <a:r>
              <a:rPr lang="en-US" sz="1800" b="1" dirty="0">
                <a:solidFill>
                  <a:srgbClr val="1E2761"/>
                </a:solidFill>
                <a:latin typeface="Cambria" pitchFamily="34" charset="0"/>
                <a:ea typeface="Cambria" pitchFamily="34" charset="-122"/>
                <a:cs typeface="Cambria" pitchFamily="34" charset="-120"/>
              </a:rPr>
              <a:t>Minimise: Total Cost = Facility Cost + Inventory Cost + Transportation Cost</a:t>
            </a:r>
            <a:endParaRPr lang="en-US" sz="1800" dirty="0"/>
          </a:p>
        </p:txBody>
      </p:sp>
      <p:sp>
        <p:nvSpPr>
          <p:cNvPr id="8" name="Text 6"/>
          <p:cNvSpPr/>
          <p:nvPr/>
        </p:nvSpPr>
        <p:spPr>
          <a:xfrm>
            <a:off x="914400" y="3063240"/>
            <a:ext cx="10332720" cy="365760"/>
          </a:xfrm>
          <a:prstGeom prst="rect">
            <a:avLst/>
          </a:prstGeom>
          <a:noFill/>
          <a:ln/>
        </p:spPr>
        <p:txBody>
          <a:bodyPr wrap="square" lIns="0" tIns="0" rIns="0" bIns="0" rtlCol="0" anchor="ctr"/>
          <a:lstStyle/>
          <a:p>
            <a:pPr marL="0" indent="0" algn="ctr">
              <a:buNone/>
            </a:pPr>
            <a:r>
              <a:rPr lang="en-US" sz="1050" i="1" dirty="0">
                <a:solidFill>
                  <a:srgbClr val="5A6B8C"/>
                </a:solidFill>
                <a:latin typeface="Calibri" pitchFamily="34" charset="0"/>
                <a:ea typeface="Calibri" pitchFamily="34" charset="-122"/>
                <a:cs typeface="Calibri" pitchFamily="34" charset="-120"/>
              </a:rPr>
              <a:t>Subject to: every customer’s service-level requirement must be met</a:t>
            </a:r>
            <a:endParaRPr lang="en-US" sz="1050" dirty="0"/>
          </a:p>
        </p:txBody>
      </p:sp>
      <p:sp>
        <p:nvSpPr>
          <p:cNvPr id="9" name="Shape 7"/>
          <p:cNvSpPr/>
          <p:nvPr/>
        </p:nvSpPr>
        <p:spPr>
          <a:xfrm>
            <a:off x="640080" y="3703320"/>
            <a:ext cx="3454298" cy="1691640"/>
          </a:xfrm>
          <a:prstGeom prst="roundRect">
            <a:avLst>
              <a:gd name="adj" fmla="val 4324"/>
            </a:avLst>
          </a:prstGeom>
          <a:solidFill>
            <a:srgbClr val="FFFFFF"/>
          </a:solidFill>
          <a:ln w="12700">
            <a:solidFill>
              <a:srgbClr val="D7E0F5"/>
            </a:solidFill>
            <a:prstDash val="solid"/>
          </a:ln>
          <a:effectLst>
            <a:outerShdw blurRad="76200" dist="25400" dir="5400000" algn="bl" rotWithShape="0">
              <a:srgbClr val="1E2761">
                <a:alpha val="8000"/>
              </a:srgbClr>
            </a:outerShdw>
          </a:effectLst>
        </p:spPr>
        <p:txBody>
          <a:bodyPr/>
          <a:lstStyle/>
          <a:p>
            <a:endParaRPr lang="en-US"/>
          </a:p>
        </p:txBody>
      </p:sp>
      <p:sp>
        <p:nvSpPr>
          <p:cNvPr id="10" name="Text 8"/>
          <p:cNvSpPr/>
          <p:nvPr/>
        </p:nvSpPr>
        <p:spPr>
          <a:xfrm>
            <a:off x="640080" y="3867912"/>
            <a:ext cx="3454298" cy="685800"/>
          </a:xfrm>
          <a:prstGeom prst="rect">
            <a:avLst/>
          </a:prstGeom>
          <a:noFill/>
          <a:ln/>
        </p:spPr>
        <p:txBody>
          <a:bodyPr wrap="square" lIns="0" tIns="0" rIns="0" bIns="0" rtlCol="0" anchor="ctr"/>
          <a:lstStyle/>
          <a:p>
            <a:pPr marL="0" indent="0" algn="ctr">
              <a:buNone/>
            </a:pPr>
            <a:r>
              <a:rPr lang="en-US" sz="3000" b="1" dirty="0">
                <a:solidFill>
                  <a:srgbClr val="C9962C"/>
                </a:solidFill>
                <a:latin typeface="Cambria" pitchFamily="34" charset="0"/>
                <a:ea typeface="Cambria" pitchFamily="34" charset="-122"/>
                <a:cs typeface="Cambria" pitchFamily="34" charset="-120"/>
              </a:rPr>
              <a:t>3 DCs</a:t>
            </a:r>
            <a:endParaRPr lang="en-US" sz="3000" dirty="0"/>
          </a:p>
        </p:txBody>
      </p:sp>
      <p:sp>
        <p:nvSpPr>
          <p:cNvPr id="11" name="Text 9"/>
          <p:cNvSpPr/>
          <p:nvPr/>
        </p:nvSpPr>
        <p:spPr>
          <a:xfrm>
            <a:off x="777240" y="4572000"/>
            <a:ext cx="3179978" cy="731520"/>
          </a:xfrm>
          <a:prstGeom prst="rect">
            <a:avLst/>
          </a:prstGeom>
          <a:noFill/>
          <a:ln/>
        </p:spPr>
        <p:txBody>
          <a:bodyPr wrap="square" lIns="0" tIns="0" rIns="0" bIns="0" rtlCol="0" anchor="t"/>
          <a:lstStyle/>
          <a:p>
            <a:pPr marL="0" indent="0" algn="ctr">
              <a:buNone/>
            </a:pPr>
            <a:r>
              <a:rPr lang="en-US" sz="1100" dirty="0">
                <a:solidFill>
                  <a:srgbClr val="5A6B8C"/>
                </a:solidFill>
                <a:latin typeface="Calibri" pitchFamily="34" charset="0"/>
                <a:ea typeface="Calibri" pitchFamily="34" charset="-122"/>
                <a:cs typeface="Calibri" pitchFamily="34" charset="-120"/>
              </a:rPr>
              <a:t>Lowest facility cost, but highest transportation cost and slowest service</a:t>
            </a:r>
            <a:endParaRPr lang="en-US" sz="1100" dirty="0"/>
          </a:p>
        </p:txBody>
      </p:sp>
      <p:sp>
        <p:nvSpPr>
          <p:cNvPr id="12" name="Shape 10"/>
          <p:cNvSpPr/>
          <p:nvPr/>
        </p:nvSpPr>
        <p:spPr>
          <a:xfrm>
            <a:off x="4368698" y="3703320"/>
            <a:ext cx="3454298" cy="1691640"/>
          </a:xfrm>
          <a:prstGeom prst="roundRect">
            <a:avLst>
              <a:gd name="adj" fmla="val 4324"/>
            </a:avLst>
          </a:prstGeom>
          <a:solidFill>
            <a:srgbClr val="FFFFFF"/>
          </a:solidFill>
          <a:ln w="12700">
            <a:solidFill>
              <a:srgbClr val="D7E0F5"/>
            </a:solidFill>
            <a:prstDash val="solid"/>
          </a:ln>
          <a:effectLst>
            <a:outerShdw blurRad="76200" dist="25400" dir="5400000" algn="bl" rotWithShape="0">
              <a:srgbClr val="1E2761">
                <a:alpha val="8000"/>
              </a:srgbClr>
            </a:outerShdw>
          </a:effectLst>
        </p:spPr>
        <p:txBody>
          <a:bodyPr/>
          <a:lstStyle/>
          <a:p>
            <a:endParaRPr lang="en-US"/>
          </a:p>
        </p:txBody>
      </p:sp>
      <p:sp>
        <p:nvSpPr>
          <p:cNvPr id="13" name="Text 11"/>
          <p:cNvSpPr/>
          <p:nvPr/>
        </p:nvSpPr>
        <p:spPr>
          <a:xfrm>
            <a:off x="4368698" y="3867912"/>
            <a:ext cx="3454298" cy="685800"/>
          </a:xfrm>
          <a:prstGeom prst="rect">
            <a:avLst/>
          </a:prstGeom>
          <a:noFill/>
          <a:ln/>
        </p:spPr>
        <p:txBody>
          <a:bodyPr wrap="square" lIns="0" tIns="0" rIns="0" bIns="0" rtlCol="0" anchor="ctr"/>
          <a:lstStyle/>
          <a:p>
            <a:pPr marL="0" indent="0" algn="ctr">
              <a:buNone/>
            </a:pPr>
            <a:r>
              <a:rPr lang="en-US" sz="3000" b="1" dirty="0">
                <a:solidFill>
                  <a:srgbClr val="C9962C"/>
                </a:solidFill>
                <a:latin typeface="Cambria" pitchFamily="34" charset="0"/>
                <a:ea typeface="Cambria" pitchFamily="34" charset="-122"/>
                <a:cs typeface="Cambria" pitchFamily="34" charset="-120"/>
              </a:rPr>
              <a:t>5 DCs</a:t>
            </a:r>
            <a:endParaRPr lang="en-US" sz="3000" dirty="0"/>
          </a:p>
        </p:txBody>
      </p:sp>
      <p:sp>
        <p:nvSpPr>
          <p:cNvPr id="14" name="Text 12"/>
          <p:cNvSpPr/>
          <p:nvPr/>
        </p:nvSpPr>
        <p:spPr>
          <a:xfrm>
            <a:off x="4505858" y="4572000"/>
            <a:ext cx="3179978" cy="731520"/>
          </a:xfrm>
          <a:prstGeom prst="rect">
            <a:avLst/>
          </a:prstGeom>
          <a:noFill/>
          <a:ln/>
        </p:spPr>
        <p:txBody>
          <a:bodyPr wrap="square" lIns="0" tIns="0" rIns="0" bIns="0" rtlCol="0" anchor="t"/>
          <a:lstStyle/>
          <a:p>
            <a:pPr marL="0" indent="0" algn="ctr">
              <a:buNone/>
            </a:pPr>
            <a:r>
              <a:rPr lang="en-US" sz="1100" dirty="0">
                <a:solidFill>
                  <a:srgbClr val="5A6B8C"/>
                </a:solidFill>
                <a:latin typeface="Calibri" pitchFamily="34" charset="0"/>
                <a:ea typeface="Calibri" pitchFamily="34" charset="-122"/>
                <a:cs typeface="Calibri" pitchFamily="34" charset="-120"/>
              </a:rPr>
              <a:t>The model’s recommended balance of total cost and delivery speed</a:t>
            </a:r>
            <a:endParaRPr lang="en-US" sz="1100" dirty="0"/>
          </a:p>
        </p:txBody>
      </p:sp>
      <p:sp>
        <p:nvSpPr>
          <p:cNvPr id="15" name="Shape 13"/>
          <p:cNvSpPr/>
          <p:nvPr/>
        </p:nvSpPr>
        <p:spPr>
          <a:xfrm>
            <a:off x="8097317" y="3703320"/>
            <a:ext cx="3454298" cy="1691640"/>
          </a:xfrm>
          <a:prstGeom prst="roundRect">
            <a:avLst>
              <a:gd name="adj" fmla="val 4324"/>
            </a:avLst>
          </a:prstGeom>
          <a:solidFill>
            <a:srgbClr val="FFFFFF"/>
          </a:solidFill>
          <a:ln w="12700">
            <a:solidFill>
              <a:srgbClr val="D7E0F5"/>
            </a:solidFill>
            <a:prstDash val="solid"/>
          </a:ln>
          <a:effectLst>
            <a:outerShdw blurRad="76200" dist="25400" dir="5400000" algn="bl" rotWithShape="0">
              <a:srgbClr val="1E2761">
                <a:alpha val="8000"/>
              </a:srgbClr>
            </a:outerShdw>
          </a:effectLst>
        </p:spPr>
        <p:txBody>
          <a:bodyPr/>
          <a:lstStyle/>
          <a:p>
            <a:endParaRPr lang="en-US"/>
          </a:p>
        </p:txBody>
      </p:sp>
      <p:sp>
        <p:nvSpPr>
          <p:cNvPr id="16" name="Text 14"/>
          <p:cNvSpPr/>
          <p:nvPr/>
        </p:nvSpPr>
        <p:spPr>
          <a:xfrm>
            <a:off x="8097317" y="3867912"/>
            <a:ext cx="3454298" cy="685800"/>
          </a:xfrm>
          <a:prstGeom prst="rect">
            <a:avLst/>
          </a:prstGeom>
          <a:noFill/>
          <a:ln/>
        </p:spPr>
        <p:txBody>
          <a:bodyPr wrap="square" lIns="0" tIns="0" rIns="0" bIns="0" rtlCol="0" anchor="ctr"/>
          <a:lstStyle/>
          <a:p>
            <a:pPr marL="0" indent="0" algn="ctr">
              <a:buNone/>
            </a:pPr>
            <a:r>
              <a:rPr lang="en-US" sz="3000" b="1" dirty="0">
                <a:solidFill>
                  <a:srgbClr val="C9962C"/>
                </a:solidFill>
                <a:latin typeface="Cambria" pitchFamily="34" charset="0"/>
                <a:ea typeface="Cambria" pitchFamily="34" charset="-122"/>
                <a:cs typeface="Cambria" pitchFamily="34" charset="-120"/>
              </a:rPr>
              <a:t>7 DCs</a:t>
            </a:r>
            <a:endParaRPr lang="en-US" sz="3000" dirty="0"/>
          </a:p>
        </p:txBody>
      </p:sp>
      <p:sp>
        <p:nvSpPr>
          <p:cNvPr id="17" name="Text 15"/>
          <p:cNvSpPr/>
          <p:nvPr/>
        </p:nvSpPr>
        <p:spPr>
          <a:xfrm>
            <a:off x="8234477" y="4572000"/>
            <a:ext cx="3179978" cy="731520"/>
          </a:xfrm>
          <a:prstGeom prst="rect">
            <a:avLst/>
          </a:prstGeom>
          <a:noFill/>
          <a:ln/>
        </p:spPr>
        <p:txBody>
          <a:bodyPr wrap="square" lIns="0" tIns="0" rIns="0" bIns="0" rtlCol="0" anchor="t"/>
          <a:lstStyle/>
          <a:p>
            <a:pPr marL="0" indent="0" algn="ctr">
              <a:buNone/>
            </a:pPr>
            <a:r>
              <a:rPr lang="en-US" sz="1100" dirty="0">
                <a:solidFill>
                  <a:srgbClr val="5A6B8C"/>
                </a:solidFill>
                <a:latin typeface="Calibri" pitchFamily="34" charset="0"/>
                <a:ea typeface="Calibri" pitchFamily="34" charset="-122"/>
                <a:cs typeface="Calibri" pitchFamily="34" charset="-120"/>
              </a:rPr>
              <a:t>Fastest service, but facility and inventory cost outweigh the benefit</a:t>
            </a:r>
            <a:endParaRPr lang="en-US" sz="1100" dirty="0"/>
          </a:p>
        </p:txBody>
      </p:sp>
      <p:sp>
        <p:nvSpPr>
          <p:cNvPr id="18" name="Text 16"/>
          <p:cNvSpPr/>
          <p:nvPr/>
        </p:nvSpPr>
        <p:spPr>
          <a:xfrm>
            <a:off x="11551615" y="6446520"/>
            <a:ext cx="457200" cy="274320"/>
          </a:xfrm>
          <a:prstGeom prst="rect">
            <a:avLst/>
          </a:prstGeom>
          <a:noFill/>
          <a:ln/>
        </p:spPr>
        <p:txBody>
          <a:bodyPr wrap="square" lIns="0" tIns="0" rIns="0" bIns="0" rtlCol="0" anchor="ctr"/>
          <a:lstStyle/>
          <a:p>
            <a:pPr marL="0" indent="0" algn="r">
              <a:buNone/>
            </a:pPr>
            <a:r>
              <a:rPr lang="en-US" sz="1000" dirty="0">
                <a:solidFill>
                  <a:srgbClr val="5A6B8C"/>
                </a:solidFill>
                <a:latin typeface="Calibri" pitchFamily="34" charset="0"/>
                <a:ea typeface="Calibri" pitchFamily="34" charset="-122"/>
                <a:cs typeface="Calibri" pitchFamily="34" charset="-120"/>
              </a:rPr>
              <a:t>38</a:t>
            </a:r>
            <a:endParaRPr lang="en-US" sz="1000" dirty="0"/>
          </a:p>
        </p:txBody>
      </p:sp>
      <p:sp>
        <p:nvSpPr>
          <p:cNvPr id="20" name="Oval 19">
            <a:extLst>
              <a:ext uri="{FF2B5EF4-FFF2-40B4-BE49-F238E27FC236}">
                <a16:creationId xmlns:a16="http://schemas.microsoft.com/office/drawing/2014/main" id="{DD288D47-76D0-3E35-98FB-26D727051A9D}"/>
              </a:ext>
            </a:extLst>
          </p:cNvPr>
          <p:cNvSpPr/>
          <p:nvPr/>
        </p:nvSpPr>
        <p:spPr>
          <a:xfrm>
            <a:off x="9043491" y="93594"/>
            <a:ext cx="3142211" cy="1184412"/>
          </a:xfrm>
          <a:prstGeom prst="ellipse">
            <a:avLst/>
          </a:prstGeom>
          <a:solidFill>
            <a:schemeClr val="accent1">
              <a:lumMod val="40000"/>
              <a:lumOff val="6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4E28BE73-E537-C3D8-4A3A-0F671D12B2DA}"/>
              </a:ext>
            </a:extLst>
          </p:cNvPr>
          <p:cNvSpPr txBox="1"/>
          <p:nvPr/>
        </p:nvSpPr>
        <p:spPr>
          <a:xfrm>
            <a:off x="9384312" y="424190"/>
            <a:ext cx="2460567" cy="523220"/>
          </a:xfrm>
          <a:prstGeom prst="rect">
            <a:avLst/>
          </a:prstGeom>
          <a:noFill/>
        </p:spPr>
        <p:txBody>
          <a:bodyPr wrap="square" rtlCol="0">
            <a:spAutoFit/>
          </a:bodyPr>
          <a:lstStyle/>
          <a:p>
            <a:r>
              <a:rPr lang="en-US" sz="2800" b="1" dirty="0"/>
              <a:t>Read this slide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C9962C"/>
                </a:solidFill>
                <a:latin typeface="Calibri" pitchFamily="34" charset="0"/>
                <a:ea typeface="Calibri" pitchFamily="34" charset="-122"/>
                <a:cs typeface="Calibri" pitchFamily="34" charset="-120"/>
              </a:rPr>
              <a:t>MODEL DEVELOPMENT</a:t>
            </a:r>
            <a:endParaRPr lang="en-US" sz="1200" dirty="0"/>
          </a:p>
        </p:txBody>
      </p:sp>
      <p:sp>
        <p:nvSpPr>
          <p:cNvPr id="3" name="Text 1"/>
          <p:cNvSpPr/>
          <p:nvPr/>
        </p:nvSpPr>
        <p:spPr>
          <a:xfrm>
            <a:off x="548640" y="621792"/>
            <a:ext cx="10515600" cy="73152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Best Practices in Logistics Model Development</a:t>
            </a:r>
            <a:endParaRPr lang="en-US" sz="2800" dirty="0"/>
          </a:p>
        </p:txBody>
      </p:sp>
      <p:sp>
        <p:nvSpPr>
          <p:cNvPr id="4" name="Shape 2"/>
          <p:cNvSpPr/>
          <p:nvPr/>
        </p:nvSpPr>
        <p:spPr>
          <a:xfrm>
            <a:off x="566928" y="1298448"/>
            <a:ext cx="914400" cy="0"/>
          </a:xfrm>
          <a:prstGeom prst="line">
            <a:avLst/>
          </a:prstGeom>
          <a:noFill/>
          <a:ln w="31750">
            <a:solidFill>
              <a:srgbClr val="C9962C"/>
            </a:solidFill>
            <a:prstDash val="solid"/>
          </a:ln>
        </p:spPr>
        <p:txBody>
          <a:bodyPr/>
          <a:lstStyle/>
          <a:p>
            <a:endParaRPr lang="en-US"/>
          </a:p>
        </p:txBody>
      </p:sp>
      <p:sp>
        <p:nvSpPr>
          <p:cNvPr id="5" name="Text 3"/>
          <p:cNvSpPr/>
          <p:nvPr/>
        </p:nvSpPr>
        <p:spPr>
          <a:xfrm>
            <a:off x="640080" y="1737360"/>
            <a:ext cx="10881360" cy="4206240"/>
          </a:xfrm>
          <a:prstGeom prst="rect">
            <a:avLst/>
          </a:prstGeom>
          <a:noFill/>
          <a:ln/>
        </p:spPr>
        <p:txBody>
          <a:bodyPr wrap="square" lIns="0" tIns="0" rIns="0" bIns="0" rtlCol="0" anchor="t"/>
          <a:lstStyle/>
          <a:p>
            <a:pPr marL="203200" indent="-203200">
              <a:lnSpc>
                <a:spcPct val="115000"/>
              </a:lnSpc>
              <a:spcAft>
                <a:spcPts val="1500"/>
              </a:spcAft>
              <a:buSzPct val="100000"/>
              <a:buChar char="•"/>
            </a:pPr>
            <a:r>
              <a:rPr lang="en-US" sz="1450" dirty="0">
                <a:solidFill>
                  <a:srgbClr val="1E2761"/>
                </a:solidFill>
                <a:latin typeface="Calibri" pitchFamily="34" charset="0"/>
                <a:ea typeface="Calibri" pitchFamily="34" charset="-122"/>
                <a:cs typeface="Calibri" pitchFamily="34" charset="-120"/>
              </a:rPr>
              <a:t>Start simple — a basic model that runs and is trusted beats a complex one nobody understands</a:t>
            </a:r>
            <a:endParaRPr lang="en-US" sz="1450" dirty="0"/>
          </a:p>
          <a:p>
            <a:pPr marL="203200" indent="-203200">
              <a:lnSpc>
                <a:spcPct val="115000"/>
              </a:lnSpc>
              <a:spcAft>
                <a:spcPts val="1500"/>
              </a:spcAft>
              <a:buSzPct val="100000"/>
              <a:buChar char="•"/>
            </a:pPr>
            <a:r>
              <a:rPr lang="en-US" sz="1450" dirty="0">
                <a:solidFill>
                  <a:srgbClr val="1E2761"/>
                </a:solidFill>
                <a:latin typeface="Calibri" pitchFamily="34" charset="0"/>
                <a:ea typeface="Calibri" pitchFamily="34" charset="-122"/>
                <a:cs typeface="Calibri" pitchFamily="34" charset="-120"/>
              </a:rPr>
              <a:t>Validate against real historical data before using a model to make forward-looking decisions</a:t>
            </a:r>
            <a:endParaRPr lang="en-US" sz="1450" dirty="0"/>
          </a:p>
          <a:p>
            <a:pPr marL="203200" indent="-203200">
              <a:lnSpc>
                <a:spcPct val="115000"/>
              </a:lnSpc>
              <a:spcAft>
                <a:spcPts val="1500"/>
              </a:spcAft>
              <a:buSzPct val="100000"/>
              <a:buChar char="•"/>
            </a:pPr>
            <a:r>
              <a:rPr lang="en-US" sz="1450" dirty="0">
                <a:solidFill>
                  <a:srgbClr val="1E2761"/>
                </a:solidFill>
                <a:latin typeface="Calibri" pitchFamily="34" charset="0"/>
                <a:ea typeface="Calibri" pitchFamily="34" charset="-122"/>
                <a:cs typeface="Calibri" pitchFamily="34" charset="-120"/>
              </a:rPr>
              <a:t>Always test sensitivity: how much does the answer change if key assumptions shift by 10–20%?</a:t>
            </a:r>
            <a:endParaRPr lang="en-US" sz="1450" dirty="0"/>
          </a:p>
          <a:p>
            <a:pPr marL="203200" indent="-203200">
              <a:lnSpc>
                <a:spcPct val="115000"/>
              </a:lnSpc>
              <a:spcAft>
                <a:spcPts val="1500"/>
              </a:spcAft>
              <a:buSzPct val="100000"/>
              <a:buChar char="•"/>
            </a:pPr>
            <a:r>
              <a:rPr lang="en-US" sz="1450" dirty="0">
                <a:solidFill>
                  <a:srgbClr val="1E2761"/>
                </a:solidFill>
                <a:latin typeface="Calibri" pitchFamily="34" charset="0"/>
                <a:ea typeface="Calibri" pitchFamily="34" charset="-122"/>
                <a:cs typeface="Calibri" pitchFamily="34" charset="-120"/>
              </a:rPr>
              <a:t>Involve the people who will act on the model’s output early, not just at the final presentation</a:t>
            </a:r>
            <a:endParaRPr lang="en-US" sz="1450" dirty="0"/>
          </a:p>
          <a:p>
            <a:pPr marL="203200" indent="-203200">
              <a:lnSpc>
                <a:spcPct val="115000"/>
              </a:lnSpc>
              <a:spcAft>
                <a:spcPts val="1500"/>
              </a:spcAft>
              <a:buSzPct val="100000"/>
              <a:buChar char="•"/>
            </a:pPr>
            <a:r>
              <a:rPr lang="en-US" sz="1450" dirty="0">
                <a:solidFill>
                  <a:srgbClr val="1E2761"/>
                </a:solidFill>
                <a:latin typeface="Calibri" pitchFamily="34" charset="0"/>
                <a:ea typeface="Calibri" pitchFamily="34" charset="-122"/>
                <a:cs typeface="Calibri" pitchFamily="34" charset="-120"/>
              </a:rPr>
              <a:t>Document assumptions clearly — models get reused long after the person who built them has moved on</a:t>
            </a:r>
            <a:endParaRPr lang="en-US" sz="1450" dirty="0"/>
          </a:p>
          <a:p>
            <a:pPr marL="203200" indent="-203200">
              <a:lnSpc>
                <a:spcPct val="115000"/>
              </a:lnSpc>
              <a:spcAft>
                <a:spcPts val="1500"/>
              </a:spcAft>
              <a:buSzPct val="100000"/>
              <a:buChar char="•"/>
            </a:pPr>
            <a:r>
              <a:rPr lang="en-US" sz="1450" dirty="0">
                <a:solidFill>
                  <a:srgbClr val="1E2761"/>
                </a:solidFill>
                <a:latin typeface="Calibri" pitchFamily="34" charset="0"/>
                <a:ea typeface="Calibri" pitchFamily="34" charset="-122"/>
                <a:cs typeface="Calibri" pitchFamily="34" charset="-120"/>
              </a:rPr>
              <a:t>Treat the model as a decision-support tool, not a decision-maker — judgement still has the final say</a:t>
            </a:r>
            <a:endParaRPr lang="en-US" sz="1450" dirty="0"/>
          </a:p>
        </p:txBody>
      </p:sp>
      <p:sp>
        <p:nvSpPr>
          <p:cNvPr id="6" name="Text 4"/>
          <p:cNvSpPr/>
          <p:nvPr/>
        </p:nvSpPr>
        <p:spPr>
          <a:xfrm>
            <a:off x="11551615" y="6446520"/>
            <a:ext cx="457200" cy="274320"/>
          </a:xfrm>
          <a:prstGeom prst="rect">
            <a:avLst/>
          </a:prstGeom>
          <a:noFill/>
          <a:ln/>
        </p:spPr>
        <p:txBody>
          <a:bodyPr wrap="square" lIns="0" tIns="0" rIns="0" bIns="0" rtlCol="0" anchor="ctr"/>
          <a:lstStyle/>
          <a:p>
            <a:pPr marL="0" indent="0" algn="r">
              <a:buNone/>
            </a:pPr>
            <a:r>
              <a:rPr lang="en-US" sz="1000" dirty="0">
                <a:solidFill>
                  <a:srgbClr val="5A6B8C"/>
                </a:solidFill>
                <a:latin typeface="Calibri" pitchFamily="34" charset="0"/>
                <a:ea typeface="Calibri" pitchFamily="34" charset="-122"/>
                <a:cs typeface="Calibri" pitchFamily="34" charset="-120"/>
              </a:rPr>
              <a:t>39</a:t>
            </a:r>
            <a:endParaRPr lang="en-US" sz="1000" dirty="0"/>
          </a:p>
        </p:txBody>
      </p:sp>
      <p:sp>
        <p:nvSpPr>
          <p:cNvPr id="8" name="Oval 7">
            <a:extLst>
              <a:ext uri="{FF2B5EF4-FFF2-40B4-BE49-F238E27FC236}">
                <a16:creationId xmlns:a16="http://schemas.microsoft.com/office/drawing/2014/main" id="{95CAEF71-D206-17FE-5AD4-C9F12C6E4302}"/>
              </a:ext>
            </a:extLst>
          </p:cNvPr>
          <p:cNvSpPr/>
          <p:nvPr/>
        </p:nvSpPr>
        <p:spPr>
          <a:xfrm>
            <a:off x="9043491" y="93594"/>
            <a:ext cx="3142211" cy="1184412"/>
          </a:xfrm>
          <a:prstGeom prst="ellipse">
            <a:avLst/>
          </a:prstGeom>
          <a:solidFill>
            <a:schemeClr val="accent1">
              <a:lumMod val="40000"/>
              <a:lumOff val="6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B14E5B5-F392-52FE-995B-BF1800C835A3}"/>
              </a:ext>
            </a:extLst>
          </p:cNvPr>
          <p:cNvSpPr txBox="1"/>
          <p:nvPr/>
        </p:nvSpPr>
        <p:spPr>
          <a:xfrm>
            <a:off x="9384312" y="424190"/>
            <a:ext cx="2460567" cy="523220"/>
          </a:xfrm>
          <a:prstGeom prst="rect">
            <a:avLst/>
          </a:prstGeom>
          <a:noFill/>
        </p:spPr>
        <p:txBody>
          <a:bodyPr wrap="square" rtlCol="0">
            <a:spAutoFit/>
          </a:bodyPr>
          <a:lstStyle/>
          <a:p>
            <a:r>
              <a:rPr lang="en-US" sz="2800" b="1" dirty="0"/>
              <a:t>Read this slide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0">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1143000" y="914400"/>
            <a:ext cx="1097280" cy="1097280"/>
          </a:xfrm>
          <a:prstGeom prst="ellipse">
            <a:avLst/>
          </a:prstGeom>
          <a:solidFill>
            <a:srgbClr val="C9962C"/>
          </a:solidFill>
          <a:ln/>
          <a:effectLst>
            <a:outerShdw blurRad="76200" dist="25400" dir="5400000" algn="bl" rotWithShape="0">
              <a:srgbClr val="1E2761">
                <a:alpha val="18000"/>
              </a:srgbClr>
            </a:outerShdw>
          </a:effectLst>
        </p:spPr>
        <p:txBody>
          <a:bodyPr/>
          <a:lstStyle/>
          <a:p>
            <a:endParaRPr lang="en-US"/>
          </a:p>
        </p:txBody>
      </p:sp>
      <p:pic>
        <p:nvPicPr>
          <p:cNvPr id="3" name="Image 0" descr="/home/claude/demand-mgmt-ppt/icons/flag.png"/>
          <p:cNvPicPr>
            <a:picLocks noChangeAspect="1"/>
          </p:cNvPicPr>
          <p:nvPr/>
        </p:nvPicPr>
        <p:blipFill>
          <a:blip r:embed="rId3"/>
          <a:stretch>
            <a:fillRect/>
          </a:stretch>
        </p:blipFill>
        <p:spPr>
          <a:xfrm>
            <a:off x="1417320" y="1188720"/>
            <a:ext cx="548640" cy="548640"/>
          </a:xfrm>
          <a:prstGeom prst="rect">
            <a:avLst/>
          </a:prstGeom>
        </p:spPr>
      </p:pic>
      <p:sp>
        <p:nvSpPr>
          <p:cNvPr id="4" name="Text 1"/>
          <p:cNvSpPr/>
          <p:nvPr/>
        </p:nvSpPr>
        <p:spPr>
          <a:xfrm>
            <a:off x="777240" y="2194560"/>
            <a:ext cx="7315200" cy="365760"/>
          </a:xfrm>
          <a:prstGeom prst="rect">
            <a:avLst/>
          </a:prstGeom>
          <a:noFill/>
          <a:ln/>
        </p:spPr>
        <p:txBody>
          <a:bodyPr wrap="square" lIns="0" tIns="0" rIns="0" bIns="0" rtlCol="0" anchor="ctr"/>
          <a:lstStyle/>
          <a:p>
            <a:pPr marL="0" indent="0">
              <a:buNone/>
            </a:pPr>
            <a:r>
              <a:rPr lang="en-US" sz="1300" b="1" kern="0" spc="300" dirty="0">
                <a:solidFill>
                  <a:srgbClr val="C9962C"/>
                </a:solidFill>
                <a:latin typeface="Calibri" pitchFamily="34" charset="0"/>
                <a:ea typeface="Calibri" pitchFamily="34" charset="-122"/>
                <a:cs typeface="Calibri" pitchFamily="34" charset="-120"/>
              </a:rPr>
              <a:t>KEY TAKEAWAYS</a:t>
            </a:r>
            <a:endParaRPr lang="en-US" sz="1300" dirty="0"/>
          </a:p>
        </p:txBody>
      </p:sp>
      <p:sp>
        <p:nvSpPr>
          <p:cNvPr id="5" name="Text 2"/>
          <p:cNvSpPr/>
          <p:nvPr/>
        </p:nvSpPr>
        <p:spPr>
          <a:xfrm>
            <a:off x="777240" y="2560320"/>
            <a:ext cx="9601200" cy="7315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Designing Networks That Actually Work</a:t>
            </a:r>
            <a:endParaRPr lang="en-US" sz="3000" dirty="0"/>
          </a:p>
        </p:txBody>
      </p:sp>
      <p:sp>
        <p:nvSpPr>
          <p:cNvPr id="6" name="Text 3"/>
          <p:cNvSpPr/>
          <p:nvPr/>
        </p:nvSpPr>
        <p:spPr>
          <a:xfrm>
            <a:off x="822960" y="3429000"/>
            <a:ext cx="9966960" cy="2651760"/>
          </a:xfrm>
          <a:prstGeom prst="rect">
            <a:avLst/>
          </a:prstGeom>
          <a:noFill/>
          <a:ln/>
        </p:spPr>
        <p:txBody>
          <a:bodyPr wrap="square" lIns="0" tIns="0" rIns="0" bIns="0" rtlCol="0" anchor="t"/>
          <a:lstStyle/>
          <a:p>
            <a:pPr marL="203200" indent="-203200">
              <a:lnSpc>
                <a:spcPct val="120000"/>
              </a:lnSpc>
              <a:spcAft>
                <a:spcPts val="1200"/>
              </a:spcAft>
              <a:buSzPct val="100000"/>
              <a:buChar char="•"/>
            </a:pPr>
            <a:r>
              <a:rPr lang="en-US" sz="1350" dirty="0">
                <a:solidFill>
                  <a:srgbClr val="CADCFC"/>
                </a:solidFill>
                <a:latin typeface="Calibri" pitchFamily="34" charset="0"/>
                <a:ea typeface="Calibri" pitchFamily="34" charset="-122"/>
                <a:cs typeface="Calibri" pitchFamily="34" charset="-120"/>
              </a:rPr>
              <a:t>Logistics system design balances cost and service across facilities, transport, inventory and information</a:t>
            </a:r>
            <a:endParaRPr lang="en-US" sz="1350" dirty="0"/>
          </a:p>
          <a:p>
            <a:pPr marL="203200" indent="-203200">
              <a:lnSpc>
                <a:spcPct val="120000"/>
              </a:lnSpc>
              <a:spcAft>
                <a:spcPts val="1200"/>
              </a:spcAft>
              <a:buSzPct val="100000"/>
              <a:buChar char="•"/>
            </a:pPr>
            <a:r>
              <a:rPr lang="en-US" sz="1350" dirty="0">
                <a:solidFill>
                  <a:srgbClr val="CADCFC"/>
                </a:solidFill>
                <a:latin typeface="Calibri" pitchFamily="34" charset="0"/>
                <a:ea typeface="Calibri" pitchFamily="34" charset="-122"/>
                <a:cs typeface="Calibri" pitchFamily="34" charset="-120"/>
              </a:rPr>
              <a:t>Infrastructure — physical, digital and institutional — sets the ceiling on what any network design can achieve</a:t>
            </a:r>
            <a:endParaRPr lang="en-US" sz="1350" dirty="0"/>
          </a:p>
          <a:p>
            <a:pPr marL="203200" indent="-203200">
              <a:lnSpc>
                <a:spcPct val="120000"/>
              </a:lnSpc>
              <a:spcAft>
                <a:spcPts val="1200"/>
              </a:spcAft>
              <a:buSzPct val="100000"/>
              <a:buChar char="•"/>
            </a:pPr>
            <a:r>
              <a:rPr lang="en-US" sz="1350" dirty="0">
                <a:solidFill>
                  <a:srgbClr val="CADCFC"/>
                </a:solidFill>
                <a:latin typeface="Calibri" pitchFamily="34" charset="0"/>
                <a:ea typeface="Calibri" pitchFamily="34" charset="-122"/>
                <a:cs typeface="Calibri" pitchFamily="34" charset="-120"/>
              </a:rPr>
              <a:t>Multiple channels expand reach but must be actively coordinated to avoid conflict and fragmentation</a:t>
            </a:r>
            <a:endParaRPr lang="en-US" sz="1350" dirty="0"/>
          </a:p>
          <a:p>
            <a:pPr marL="203200" indent="-203200">
              <a:lnSpc>
                <a:spcPct val="120000"/>
              </a:lnSpc>
              <a:spcAft>
                <a:spcPts val="1200"/>
              </a:spcAft>
              <a:buSzPct val="100000"/>
              <a:buChar char="•"/>
            </a:pPr>
            <a:r>
              <a:rPr lang="en-US" sz="1350" dirty="0">
                <a:solidFill>
                  <a:srgbClr val="CADCFC"/>
                </a:solidFill>
                <a:latin typeface="Calibri" pitchFamily="34" charset="0"/>
                <a:ea typeface="Calibri" pitchFamily="34" charset="-122"/>
                <a:cs typeface="Calibri" pitchFamily="34" charset="-120"/>
              </a:rPr>
              <a:t>Multi-echelon systems, optimised together rather than location by location, need less total inventory</a:t>
            </a:r>
            <a:endParaRPr lang="en-US" sz="1350" dirty="0"/>
          </a:p>
          <a:p>
            <a:pPr marL="203200" indent="-203200">
              <a:lnSpc>
                <a:spcPct val="120000"/>
              </a:lnSpc>
              <a:spcAft>
                <a:spcPts val="1200"/>
              </a:spcAft>
              <a:buSzPct val="100000"/>
              <a:buChar char="•"/>
            </a:pPr>
            <a:r>
              <a:rPr lang="en-US" sz="1350" dirty="0">
                <a:solidFill>
                  <a:srgbClr val="CADCFC"/>
                </a:solidFill>
                <a:latin typeface="Calibri" pitchFamily="34" charset="0"/>
                <a:ea typeface="Calibri" pitchFamily="34" charset="-122"/>
                <a:cs typeface="Calibri" pitchFamily="34" charset="-120"/>
              </a:rPr>
              <a:t>Models turn design decisions into testable, data-backed choices instead of intuition alone</a:t>
            </a:r>
            <a:endParaRPr lang="en-US" sz="1350" dirty="0"/>
          </a:p>
        </p:txBody>
      </p:sp>
      <p:sp>
        <p:nvSpPr>
          <p:cNvPr id="7" name="Shape 4"/>
          <p:cNvSpPr/>
          <p:nvPr/>
        </p:nvSpPr>
        <p:spPr>
          <a:xfrm>
            <a:off x="841248" y="6035040"/>
            <a:ext cx="1005840" cy="0"/>
          </a:xfrm>
          <a:prstGeom prst="line">
            <a:avLst/>
          </a:prstGeom>
          <a:noFill/>
          <a:ln w="38100">
            <a:solidFill>
              <a:srgbClr val="C9962C"/>
            </a:solidFill>
            <a:prstDash val="solid"/>
          </a:ln>
        </p:spPr>
        <p:txBody>
          <a:bodyPr/>
          <a:lstStyle/>
          <a:p>
            <a:endParaRPr lang="en-US"/>
          </a:p>
        </p:txBody>
      </p:sp>
      <p:sp>
        <p:nvSpPr>
          <p:cNvPr id="8" name="Text 5"/>
          <p:cNvSpPr/>
          <p:nvPr/>
        </p:nvSpPr>
        <p:spPr>
          <a:xfrm>
            <a:off x="822960" y="6172200"/>
            <a:ext cx="5486400"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Thank You</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TotalTime>
  <Words>3480</Words>
  <Application>Microsoft Office PowerPoint</Application>
  <PresentationFormat>Widescreen</PresentationFormat>
  <Paragraphs>526</Paragraphs>
  <Slides>41</Slides>
  <Notes>40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41</vt:i4>
      </vt:variant>
    </vt:vector>
  </HeadingPairs>
  <TitlesOfParts>
    <vt:vector size="47" baseType="lpstr">
      <vt:lpstr>Platypi Medium</vt:lpstr>
      <vt:lpstr>Aptos</vt:lpstr>
      <vt:lpstr>Arial</vt:lpstr>
      <vt:lpstr>Calibri</vt:lpstr>
      <vt:lpstr>Cambria</vt:lpstr>
      <vt:lpstr>Office Theme</vt:lpstr>
      <vt:lpstr>Subject Name: Logistics and Supply Chain Management Session No: 03 Faculty Name: Prof Ajit M Maurya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Ajit Maurya</cp:lastModifiedBy>
  <cp:revision>3</cp:revision>
  <dcterms:created xsi:type="dcterms:W3CDTF">2026-07-17T12:22:29Z</dcterms:created>
  <dcterms:modified xsi:type="dcterms:W3CDTF">2026-08-08T16:43:06Z</dcterms:modified>
</cp:coreProperties>
</file>